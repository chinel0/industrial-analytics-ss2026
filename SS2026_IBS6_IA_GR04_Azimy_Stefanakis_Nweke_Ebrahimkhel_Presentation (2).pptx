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2" r:id="rId5"/>
    <p:sldMasterId id="2147483676" r:id="rId6"/>
    <p:sldMasterId id="2147483688" r:id="rId7"/>
    <p:sldMasterId id="2147483700"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 id="336" r:id="rId90"/>
    <p:sldId id="337" r:id="rId91"/>
    <p:sldId id="338" r:id="rId92"/>
    <p:sldId id="339" r:id="rId93"/>
    <p:sldId id="340" r:id="rId94"/>
    <p:sldId id="341" r:id="rId95"/>
    <p:sldId id="342" r:id="rId96"/>
    <p:sldId id="343" r:id="rId97"/>
    <p:sldId id="344" r:id="rId98"/>
    <p:sldId id="345" r:id="rId99"/>
    <p:sldId id="346" r:id="rId100"/>
    <p:sldId id="347" r:id="rId101"/>
    <p:sldId id="348" r:id="rId102"/>
    <p:sldId id="349" r:id="rId103"/>
    <p:sldId id="350" r:id="rId104"/>
    <p:sldId id="351" r:id="rId105"/>
    <p:sldId id="352" r:id="rId106"/>
    <p:sldId id="353" r:id="rId107"/>
    <p:sldId id="354" r:id="rId108"/>
    <p:sldId id="355" r:id="rId109"/>
    <p:sldId id="356" r:id="rId110"/>
    <p:sldId id="357" r:id="rId111"/>
    <p:sldId id="358" r:id="rId112"/>
    <p:sldId id="359" r:id="rId113"/>
    <p:sldId id="360" r:id="rId114"/>
    <p:sldId id="361" r:id="rId115"/>
    <p:sldId id="362" r:id="rId116"/>
    <p:sldId id="363" r:id="rId117"/>
    <p:sldId id="364" r:id="rId118"/>
    <p:sldId id="365" r:id="rId119"/>
    <p:sldId id="366" r:id="rId120"/>
    <p:sldId id="367" r:id="rId121"/>
    <p:sldId id="368" r:id="rId122"/>
    <p:sldId id="369" r:id="rId123"/>
    <p:sldId id="370" r:id="rId124"/>
    <p:sldId id="371" r:id="rId125"/>
    <p:sldId id="372" r:id="rId126"/>
    <p:sldId id="373" r:id="rId127"/>
    <p:sldId id="374" r:id="rId128"/>
    <p:sldId id="375" r:id="rId129"/>
    <p:sldId id="376" r:id="rId130"/>
    <p:sldId id="377" r:id="rId131"/>
    <p:sldId id="378" r:id="rId132"/>
  </p:sldIdLst>
  <p:sldSz cy="6858000" cx="12192000"/>
  <p:notesSz cx="6858000" cy="9144000"/>
  <p:embeddedFontLst>
    <p:embeddedFont>
      <p:font typeface="Play"/>
      <p:regular r:id="rId133"/>
      <p:bold r:id="rId134"/>
    </p:embeddedFont>
    <p:embeddedFont>
      <p:font typeface="Roboto"/>
      <p:regular r:id="rId135"/>
      <p:bold r:id="rId136"/>
      <p:italic r:id="rId137"/>
      <p:boldItalic r:id="rId138"/>
    </p:embeddedFont>
    <p:embeddedFont>
      <p:font typeface="Poppins"/>
      <p:regular r:id="rId139"/>
      <p:bold r:id="rId140"/>
      <p:italic r:id="rId141"/>
      <p:boldItalic r:id="rId142"/>
    </p:embeddedFont>
    <p:embeddedFont>
      <p:font typeface="Montserrat"/>
      <p:bold r:id="rId143"/>
      <p:boldItalic r:id="rId144"/>
    </p:embeddedFont>
    <p:embeddedFont>
      <p:font typeface="Inter"/>
      <p:regular r:id="rId145"/>
      <p:bold r:id="rId146"/>
      <p:italic r:id="rId147"/>
      <p:boldItalic r:id="rId148"/>
    </p:embeddedFont>
    <p:embeddedFont>
      <p:font typeface="Google Sans"/>
      <p:regular r:id="rId149"/>
      <p:bold r:id="rId150"/>
      <p:italic r:id="rId151"/>
      <p:boldItalic r:id="rId1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3" roundtripDataSignature="AMtx7miSLYxbJtwKFZvqOTRbKiMq1sfn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5EFA893-811E-4007-9D9D-CAB5BEB4294B}">
  <a:tblStyle styleId="{45EFA893-811E-4007-9D9D-CAB5BEB4294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2FAE7AA-D153-4C55-879D-9C651F9EDE64}" styleName="Table_1">
    <a:wholeTbl>
      <a:tcTxStyle b="off" i="off">
        <a:font>
          <a:latin typeface="Aptos"/>
          <a:ea typeface="Aptos"/>
          <a:cs typeface="Aptos"/>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tcStyle>
        <a:fill>
          <a:solidFill>
            <a:schemeClr val="dk1">
              <a:alpha val="20000"/>
            </a:schemeClr>
          </a:solidFill>
        </a:fill>
      </a:tcStyle>
    </a:band1H>
    <a:band2H>
      <a:tcTxStyle/>
    </a:band2H>
    <a:band1V>
      <a:tcTxStyle/>
      <a:tcStyle>
        <a:fill>
          <a:solidFill>
            <a:schemeClr val="dk1">
              <a:alpha val="20000"/>
            </a:schemeClr>
          </a:solidFill>
        </a:fill>
      </a:tcStyle>
    </a:band1V>
    <a:band2V>
      <a:tcTxStyle/>
    </a:band2V>
    <a:lastCol>
      <a:tcTxStyle b="on" i="off"/>
    </a:lastCol>
    <a:firstCol>
      <a:tcTxStyle b="on" i="off"/>
    </a:firstCol>
    <a:lastRow>
      <a:tcTxStyle b="on" i="off"/>
      <a:tcStyle>
        <a:tcBdr>
          <a:top>
            <a:ln cap="flat" cmpd="sng" w="50800">
              <a:solidFill>
                <a:schemeClr val="dk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dk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46787DB9-2A6F-4B94-8EA5-5A55CF4389D6}"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107" Type="http://schemas.openxmlformats.org/officeDocument/2006/relationships/slide" Target="slides/slide98.xml"/><Relationship Id="rId106" Type="http://schemas.openxmlformats.org/officeDocument/2006/relationships/slide" Target="slides/slide97.xml"/><Relationship Id="rId105" Type="http://schemas.openxmlformats.org/officeDocument/2006/relationships/slide" Target="slides/slide96.xml"/><Relationship Id="rId104" Type="http://schemas.openxmlformats.org/officeDocument/2006/relationships/slide" Target="slides/slide95.xml"/><Relationship Id="rId109" Type="http://schemas.openxmlformats.org/officeDocument/2006/relationships/slide" Target="slides/slide100.xml"/><Relationship Id="rId108" Type="http://schemas.openxmlformats.org/officeDocument/2006/relationships/slide" Target="slides/slide99.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103" Type="http://schemas.openxmlformats.org/officeDocument/2006/relationships/slide" Target="slides/slide94.xml"/><Relationship Id="rId102" Type="http://schemas.openxmlformats.org/officeDocument/2006/relationships/slide" Target="slides/slide93.xml"/><Relationship Id="rId101" Type="http://schemas.openxmlformats.org/officeDocument/2006/relationships/slide" Target="slides/slide92.xml"/><Relationship Id="rId100" Type="http://schemas.openxmlformats.org/officeDocument/2006/relationships/slide" Target="slides/slide91.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129" Type="http://schemas.openxmlformats.org/officeDocument/2006/relationships/slide" Target="slides/slide120.xml"/><Relationship Id="rId128" Type="http://schemas.openxmlformats.org/officeDocument/2006/relationships/slide" Target="slides/slide119.xml"/><Relationship Id="rId127" Type="http://schemas.openxmlformats.org/officeDocument/2006/relationships/slide" Target="slides/slide118.xml"/><Relationship Id="rId126" Type="http://schemas.openxmlformats.org/officeDocument/2006/relationships/slide" Target="slides/slide117.xml"/><Relationship Id="rId26" Type="http://schemas.openxmlformats.org/officeDocument/2006/relationships/slide" Target="slides/slide17.xml"/><Relationship Id="rId121" Type="http://schemas.openxmlformats.org/officeDocument/2006/relationships/slide" Target="slides/slide112.xml"/><Relationship Id="rId25" Type="http://schemas.openxmlformats.org/officeDocument/2006/relationships/slide" Target="slides/slide16.xml"/><Relationship Id="rId120" Type="http://schemas.openxmlformats.org/officeDocument/2006/relationships/slide" Target="slides/slide111.xml"/><Relationship Id="rId28" Type="http://schemas.openxmlformats.org/officeDocument/2006/relationships/slide" Target="slides/slide19.xml"/><Relationship Id="rId27" Type="http://schemas.openxmlformats.org/officeDocument/2006/relationships/slide" Target="slides/slide18.xml"/><Relationship Id="rId125" Type="http://schemas.openxmlformats.org/officeDocument/2006/relationships/slide" Target="slides/slide116.xml"/><Relationship Id="rId29" Type="http://schemas.openxmlformats.org/officeDocument/2006/relationships/slide" Target="slides/slide20.xml"/><Relationship Id="rId124" Type="http://schemas.openxmlformats.org/officeDocument/2006/relationships/slide" Target="slides/slide115.xml"/><Relationship Id="rId123" Type="http://schemas.openxmlformats.org/officeDocument/2006/relationships/slide" Target="slides/slide114.xml"/><Relationship Id="rId122" Type="http://schemas.openxmlformats.org/officeDocument/2006/relationships/slide" Target="slides/slide113.xml"/><Relationship Id="rId95" Type="http://schemas.openxmlformats.org/officeDocument/2006/relationships/slide" Target="slides/slide86.xml"/><Relationship Id="rId94" Type="http://schemas.openxmlformats.org/officeDocument/2006/relationships/slide" Target="slides/slide85.xml"/><Relationship Id="rId97" Type="http://schemas.openxmlformats.org/officeDocument/2006/relationships/slide" Target="slides/slide88.xml"/><Relationship Id="rId96" Type="http://schemas.openxmlformats.org/officeDocument/2006/relationships/slide" Target="slides/slide87.xml"/><Relationship Id="rId11" Type="http://schemas.openxmlformats.org/officeDocument/2006/relationships/slide" Target="slides/slide2.xml"/><Relationship Id="rId99" Type="http://schemas.openxmlformats.org/officeDocument/2006/relationships/slide" Target="slides/slide90.xml"/><Relationship Id="rId10" Type="http://schemas.openxmlformats.org/officeDocument/2006/relationships/slide" Target="slides/slide1.xml"/><Relationship Id="rId98" Type="http://schemas.openxmlformats.org/officeDocument/2006/relationships/slide" Target="slides/slide89.xml"/><Relationship Id="rId13" Type="http://schemas.openxmlformats.org/officeDocument/2006/relationships/slide" Target="slides/slide4.xml"/><Relationship Id="rId12" Type="http://schemas.openxmlformats.org/officeDocument/2006/relationships/slide" Target="slides/slide3.xml"/><Relationship Id="rId91" Type="http://schemas.openxmlformats.org/officeDocument/2006/relationships/slide" Target="slides/slide82.xml"/><Relationship Id="rId90" Type="http://schemas.openxmlformats.org/officeDocument/2006/relationships/slide" Target="slides/slide81.xml"/><Relationship Id="rId93" Type="http://schemas.openxmlformats.org/officeDocument/2006/relationships/slide" Target="slides/slide84.xml"/><Relationship Id="rId92" Type="http://schemas.openxmlformats.org/officeDocument/2006/relationships/slide" Target="slides/slide83.xml"/><Relationship Id="rId118" Type="http://schemas.openxmlformats.org/officeDocument/2006/relationships/slide" Target="slides/slide109.xml"/><Relationship Id="rId117" Type="http://schemas.openxmlformats.org/officeDocument/2006/relationships/slide" Target="slides/slide108.xml"/><Relationship Id="rId116" Type="http://schemas.openxmlformats.org/officeDocument/2006/relationships/slide" Target="slides/slide107.xml"/><Relationship Id="rId115" Type="http://schemas.openxmlformats.org/officeDocument/2006/relationships/slide" Target="slides/slide106.xml"/><Relationship Id="rId119" Type="http://schemas.openxmlformats.org/officeDocument/2006/relationships/slide" Target="slides/slide110.xml"/><Relationship Id="rId15" Type="http://schemas.openxmlformats.org/officeDocument/2006/relationships/slide" Target="slides/slide6.xml"/><Relationship Id="rId110" Type="http://schemas.openxmlformats.org/officeDocument/2006/relationships/slide" Target="slides/slide101.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14" Type="http://schemas.openxmlformats.org/officeDocument/2006/relationships/slide" Target="slides/slide105.xml"/><Relationship Id="rId18" Type="http://schemas.openxmlformats.org/officeDocument/2006/relationships/slide" Target="slides/slide9.xml"/><Relationship Id="rId113" Type="http://schemas.openxmlformats.org/officeDocument/2006/relationships/slide" Target="slides/slide104.xml"/><Relationship Id="rId112" Type="http://schemas.openxmlformats.org/officeDocument/2006/relationships/slide" Target="slides/slide103.xml"/><Relationship Id="rId111" Type="http://schemas.openxmlformats.org/officeDocument/2006/relationships/slide" Target="slides/slide102.xml"/><Relationship Id="rId84" Type="http://schemas.openxmlformats.org/officeDocument/2006/relationships/slide" Target="slides/slide75.xml"/><Relationship Id="rId83" Type="http://schemas.openxmlformats.org/officeDocument/2006/relationships/slide" Target="slides/slide74.xml"/><Relationship Id="rId86" Type="http://schemas.openxmlformats.org/officeDocument/2006/relationships/slide" Target="slides/slide77.xml"/><Relationship Id="rId85" Type="http://schemas.openxmlformats.org/officeDocument/2006/relationships/slide" Target="slides/slide76.xml"/><Relationship Id="rId88" Type="http://schemas.openxmlformats.org/officeDocument/2006/relationships/slide" Target="slides/slide79.xml"/><Relationship Id="rId150" Type="http://schemas.openxmlformats.org/officeDocument/2006/relationships/font" Target="fonts/GoogleSans-bold.fntdata"/><Relationship Id="rId87" Type="http://schemas.openxmlformats.org/officeDocument/2006/relationships/slide" Target="slides/slide78.xml"/><Relationship Id="rId89" Type="http://schemas.openxmlformats.org/officeDocument/2006/relationships/slide" Target="slides/slide80.xml"/><Relationship Id="rId80" Type="http://schemas.openxmlformats.org/officeDocument/2006/relationships/slide" Target="slides/slide71.xml"/><Relationship Id="rId82" Type="http://schemas.openxmlformats.org/officeDocument/2006/relationships/slide" Target="slides/slide73.xml"/><Relationship Id="rId81" Type="http://schemas.openxmlformats.org/officeDocument/2006/relationships/slide" Target="slides/slide72.xml"/><Relationship Id="rId1" Type="http://schemas.openxmlformats.org/officeDocument/2006/relationships/theme" Target="theme/theme6.xml"/><Relationship Id="rId2" Type="http://schemas.openxmlformats.org/officeDocument/2006/relationships/presProps" Target="presProps.xml"/><Relationship Id="rId3" Type="http://schemas.openxmlformats.org/officeDocument/2006/relationships/tableStyles" Target="tableStyles.xml"/><Relationship Id="rId149" Type="http://schemas.openxmlformats.org/officeDocument/2006/relationships/font" Target="fonts/GoogleSans-regular.fntdata"/><Relationship Id="rId4" Type="http://schemas.openxmlformats.org/officeDocument/2006/relationships/slideMaster" Target="slideMasters/slideMaster1.xml"/><Relationship Id="rId148" Type="http://schemas.openxmlformats.org/officeDocument/2006/relationships/font" Target="fonts/Inter-boldItalic.fntdata"/><Relationship Id="rId9" Type="http://schemas.openxmlformats.org/officeDocument/2006/relationships/notesMaster" Target="notesMasters/notesMaster1.xml"/><Relationship Id="rId143" Type="http://schemas.openxmlformats.org/officeDocument/2006/relationships/font" Target="fonts/Montserrat-bold.fntdata"/><Relationship Id="rId142" Type="http://schemas.openxmlformats.org/officeDocument/2006/relationships/font" Target="fonts/Poppins-boldItalic.fntdata"/><Relationship Id="rId141" Type="http://schemas.openxmlformats.org/officeDocument/2006/relationships/font" Target="fonts/Poppins-italic.fntdata"/><Relationship Id="rId140" Type="http://schemas.openxmlformats.org/officeDocument/2006/relationships/font" Target="fonts/Poppins-bold.fntdata"/><Relationship Id="rId5" Type="http://schemas.openxmlformats.org/officeDocument/2006/relationships/slideMaster" Target="slideMasters/slideMaster2.xml"/><Relationship Id="rId147" Type="http://schemas.openxmlformats.org/officeDocument/2006/relationships/font" Target="fonts/Inter-italic.fntdata"/><Relationship Id="rId6" Type="http://schemas.openxmlformats.org/officeDocument/2006/relationships/slideMaster" Target="slideMasters/slideMaster3.xml"/><Relationship Id="rId146" Type="http://schemas.openxmlformats.org/officeDocument/2006/relationships/font" Target="fonts/Inter-bold.fntdata"/><Relationship Id="rId7" Type="http://schemas.openxmlformats.org/officeDocument/2006/relationships/slideMaster" Target="slideMasters/slideMaster4.xml"/><Relationship Id="rId145" Type="http://schemas.openxmlformats.org/officeDocument/2006/relationships/font" Target="fonts/Inter-regular.fntdata"/><Relationship Id="rId8" Type="http://schemas.openxmlformats.org/officeDocument/2006/relationships/slideMaster" Target="slideMasters/slideMaster5.xml"/><Relationship Id="rId144" Type="http://schemas.openxmlformats.org/officeDocument/2006/relationships/font" Target="fonts/Montserrat-boldItalic.fntdata"/><Relationship Id="rId73" Type="http://schemas.openxmlformats.org/officeDocument/2006/relationships/slide" Target="slides/slide64.xml"/><Relationship Id="rId72" Type="http://schemas.openxmlformats.org/officeDocument/2006/relationships/slide" Target="slides/slide63.xml"/><Relationship Id="rId75" Type="http://schemas.openxmlformats.org/officeDocument/2006/relationships/slide" Target="slides/slide66.xml"/><Relationship Id="rId74" Type="http://schemas.openxmlformats.org/officeDocument/2006/relationships/slide" Target="slides/slide65.xml"/><Relationship Id="rId77" Type="http://schemas.openxmlformats.org/officeDocument/2006/relationships/slide" Target="slides/slide68.xml"/><Relationship Id="rId76" Type="http://schemas.openxmlformats.org/officeDocument/2006/relationships/slide" Target="slides/slide67.xml"/><Relationship Id="rId79" Type="http://schemas.openxmlformats.org/officeDocument/2006/relationships/slide" Target="slides/slide70.xml"/><Relationship Id="rId78" Type="http://schemas.openxmlformats.org/officeDocument/2006/relationships/slide" Target="slides/slide69.xml"/><Relationship Id="rId71" Type="http://schemas.openxmlformats.org/officeDocument/2006/relationships/slide" Target="slides/slide62.xml"/><Relationship Id="rId70" Type="http://schemas.openxmlformats.org/officeDocument/2006/relationships/slide" Target="slides/slide61.xml"/><Relationship Id="rId139" Type="http://schemas.openxmlformats.org/officeDocument/2006/relationships/font" Target="fonts/Poppins-regular.fntdata"/><Relationship Id="rId138" Type="http://schemas.openxmlformats.org/officeDocument/2006/relationships/font" Target="fonts/Roboto-boldItalic.fntdata"/><Relationship Id="rId137" Type="http://schemas.openxmlformats.org/officeDocument/2006/relationships/font" Target="fonts/Roboto-italic.fntdata"/><Relationship Id="rId132" Type="http://schemas.openxmlformats.org/officeDocument/2006/relationships/slide" Target="slides/slide123.xml"/><Relationship Id="rId131" Type="http://schemas.openxmlformats.org/officeDocument/2006/relationships/slide" Target="slides/slide122.xml"/><Relationship Id="rId130" Type="http://schemas.openxmlformats.org/officeDocument/2006/relationships/slide" Target="slides/slide121.xml"/><Relationship Id="rId136" Type="http://schemas.openxmlformats.org/officeDocument/2006/relationships/font" Target="fonts/Roboto-bold.fntdata"/><Relationship Id="rId135" Type="http://schemas.openxmlformats.org/officeDocument/2006/relationships/font" Target="fonts/Roboto-regular.fntdata"/><Relationship Id="rId134" Type="http://schemas.openxmlformats.org/officeDocument/2006/relationships/font" Target="fonts/Play-bold.fntdata"/><Relationship Id="rId133" Type="http://schemas.openxmlformats.org/officeDocument/2006/relationships/font" Target="fonts/Play-regular.fntdata"/><Relationship Id="rId62" Type="http://schemas.openxmlformats.org/officeDocument/2006/relationships/slide" Target="slides/slide53.xml"/><Relationship Id="rId61" Type="http://schemas.openxmlformats.org/officeDocument/2006/relationships/slide" Target="slides/slide52.xml"/><Relationship Id="rId64" Type="http://schemas.openxmlformats.org/officeDocument/2006/relationships/slide" Target="slides/slide55.xml"/><Relationship Id="rId63" Type="http://schemas.openxmlformats.org/officeDocument/2006/relationships/slide" Target="slides/slide54.xml"/><Relationship Id="rId66" Type="http://schemas.openxmlformats.org/officeDocument/2006/relationships/slide" Target="slides/slide57.xml"/><Relationship Id="rId65" Type="http://schemas.openxmlformats.org/officeDocument/2006/relationships/slide" Target="slides/slide56.xml"/><Relationship Id="rId68" Type="http://schemas.openxmlformats.org/officeDocument/2006/relationships/slide" Target="slides/slide59.xml"/><Relationship Id="rId67" Type="http://schemas.openxmlformats.org/officeDocument/2006/relationships/slide" Target="slides/slide58.xml"/><Relationship Id="rId60" Type="http://schemas.openxmlformats.org/officeDocument/2006/relationships/slide" Target="slides/slide51.xml"/><Relationship Id="rId69" Type="http://schemas.openxmlformats.org/officeDocument/2006/relationships/slide" Target="slides/slide6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55" Type="http://schemas.openxmlformats.org/officeDocument/2006/relationships/slide" Target="slides/slide46.xml"/><Relationship Id="rId54" Type="http://schemas.openxmlformats.org/officeDocument/2006/relationships/slide" Target="slides/slide45.xml"/><Relationship Id="rId57" Type="http://schemas.openxmlformats.org/officeDocument/2006/relationships/slide" Target="slides/slide48.xml"/><Relationship Id="rId56" Type="http://schemas.openxmlformats.org/officeDocument/2006/relationships/slide" Target="slides/slide47.xml"/><Relationship Id="rId59" Type="http://schemas.openxmlformats.org/officeDocument/2006/relationships/slide" Target="slides/slide50.xml"/><Relationship Id="rId58" Type="http://schemas.openxmlformats.org/officeDocument/2006/relationships/slide" Target="slides/slide49.xml"/><Relationship Id="rId153" Type="http://customschemas.google.com/relationships/presentationmetadata" Target="metadata"/><Relationship Id="rId152" Type="http://schemas.openxmlformats.org/officeDocument/2006/relationships/font" Target="fonts/GoogleSans-boldItalic.fntdata"/><Relationship Id="rId151" Type="http://schemas.openxmlformats.org/officeDocument/2006/relationships/font" Target="fonts/GoogleSan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ee0adc8e96_0_27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g3ee0adc8e96_0_27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ee0adc8e96_0_7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g3ee0adc8e96_0_7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ee0adc8e96_0_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g3ee0adc8e96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ee0adc8e96_0_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g3ee0adc8e96_0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ee0adc8e96_0_1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g3ee0adc8e96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ee0adc8e96_0_1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g3ee0adc8e96_0_1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ee0adc8e96_0_1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g3ee0adc8e96_0_1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ee0adc8e96_0_1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7" name="Google Shape;617;g3ee0adc8e96_0_1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ee0adc8e96_0_1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2" name="Google Shape;632;g3ee0adc8e96_0_1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ee0adc8e96_0_1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4" name="Google Shape;654;g3ee0adc8e96_0_1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ee0adc8e96_0_1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7" name="Google Shape;667;g3ee0adc8e96_0_1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ee0adc8e96_0_2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6" name="Google Shape;726;g3ee0adc8e96_0_2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ee0adc8e96_0_2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8" name="Google Shape;738;g3ee0adc8e96_0_2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ee0adc8e96_0_2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2" name="Google Shape;762;g3ee0adc8e96_0_2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ee0adc8e96_0_2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6" name="Google Shape;776;g3ee0adc8e96_0_2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3ee0adc8e96_0_2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0" name="Google Shape;800;g3ee0adc8e96_0_2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ee0adc8e96_0_2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4" name="Google Shape;814;g3ee0adc8e96_0_2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9" name="Google Shape;83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2" name="Google Shape;85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4" name="Google Shape;86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8" name="Google Shape;87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1" name="Google Shape;89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6" name="Google Shape;90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8" name="Google Shape;91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2" name="Google Shape;93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6" name="Google Shape;94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8" name="Google Shape;95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2" name="Google Shape;97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5" name="Google Shape;98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7" name="Google Shape;99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2" name="Google Shape;101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6" name="Google Shape;102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2" name="Google Shape;104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6" name="Google Shape;105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0" name="Google Shape;1070;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5" name="Google Shape;108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3ebd0e70725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8" name="Google Shape;1098;g3ebd0e70725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3" name="Google Shape;111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4" name="Google Shape;1124;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6" name="Google Shape;1136;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8" name="Google Shape;1148;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7" name="Google Shape;1157;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8" name="Google Shape;116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7" name="Google Shape;1177;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2" name="Google Shape;119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edf2b460e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3edf2b460e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2" name="Google Shape;1202;g3edf2b460e5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2" name="Google Shape;1212;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0" name="Shape 1220"/>
        <p:cNvGrpSpPr/>
        <p:nvPr/>
      </p:nvGrpSpPr>
      <p:grpSpPr>
        <a:xfrm>
          <a:off x="0" y="0"/>
          <a:ext cx="0" cy="0"/>
          <a:chOff x="0" y="0"/>
          <a:chExt cx="0" cy="0"/>
        </a:xfrm>
      </p:grpSpPr>
      <p:sp>
        <p:nvSpPr>
          <p:cNvPr id="1221" name="Google Shape;1221;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2" name="Google Shape;1222;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5" name="Google Shape;1235;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1" name="Google Shape;1241;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2" name="Google Shape;1262;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0" name="Google Shape;1270;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8" name="Google Shape;1278;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6" name="Google Shape;1286;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3edf2b460e5_6_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4" name="Google Shape;1294;g3edf2b460e5_6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g3edf2b460e5_6_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0" name="Google Shape;1310;g3edf2b460e5_6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g3edf2b460e5_6_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5" name="Google Shape;1365;g3edf2b460e5_6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g3edf2b460e5_6_8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5" name="Google Shape;1385;g3edf2b460e5_6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3edf2b460e5_6_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1" name="Google Shape;1401;g3edf2b460e5_6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g3edf2b460e5_6_1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4" name="Google Shape;1414;g3edf2b460e5_6_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3" name="Shape 1433"/>
        <p:cNvGrpSpPr/>
        <p:nvPr/>
      </p:nvGrpSpPr>
      <p:grpSpPr>
        <a:xfrm>
          <a:off x="0" y="0"/>
          <a:ext cx="0" cy="0"/>
          <a:chOff x="0" y="0"/>
          <a:chExt cx="0" cy="0"/>
        </a:xfrm>
      </p:grpSpPr>
      <p:sp>
        <p:nvSpPr>
          <p:cNvPr id="1434" name="Google Shape;1434;g3edf2b460e5_6_1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5" name="Google Shape;1435;g3edf2b460e5_6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3edf2b460e5_6_1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1" name="Google Shape;1481;g3edf2b460e5_6_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9" name="Shape 1489"/>
        <p:cNvGrpSpPr/>
        <p:nvPr/>
      </p:nvGrpSpPr>
      <p:grpSpPr>
        <a:xfrm>
          <a:off x="0" y="0"/>
          <a:ext cx="0" cy="0"/>
          <a:chOff x="0" y="0"/>
          <a:chExt cx="0" cy="0"/>
        </a:xfrm>
      </p:grpSpPr>
      <p:sp>
        <p:nvSpPr>
          <p:cNvPr id="1490" name="Google Shape;1490;g3edf2b460e5_6_19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1" name="Google Shape;1491;g3edf2b460e5_6_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g3edf2b460e5_6_2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5" name="Google Shape;1505;g3edf2b460e5_6_2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7" name="Shape 1517"/>
        <p:cNvGrpSpPr/>
        <p:nvPr/>
      </p:nvGrpSpPr>
      <p:grpSpPr>
        <a:xfrm>
          <a:off x="0" y="0"/>
          <a:ext cx="0" cy="0"/>
          <a:chOff x="0" y="0"/>
          <a:chExt cx="0" cy="0"/>
        </a:xfrm>
      </p:grpSpPr>
      <p:sp>
        <p:nvSpPr>
          <p:cNvPr id="1518" name="Google Shape;1518;g3edf2b460e5_6_2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9" name="Google Shape;1519;g3edf2b460e5_6_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g3ee0adc8e96_0_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1" name="Google Shape;1531;g3ee0adc8e96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2" name="Shape 1542"/>
        <p:cNvGrpSpPr/>
        <p:nvPr/>
      </p:nvGrpSpPr>
      <p:grpSpPr>
        <a:xfrm>
          <a:off x="0" y="0"/>
          <a:ext cx="0" cy="0"/>
          <a:chOff x="0" y="0"/>
          <a:chExt cx="0" cy="0"/>
        </a:xfrm>
      </p:grpSpPr>
      <p:sp>
        <p:nvSpPr>
          <p:cNvPr id="1543" name="Google Shape;1543;g3ee0adc8e96_0_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4" name="Google Shape;1544;g3ee0adc8e96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1" name="Shape 1561"/>
        <p:cNvGrpSpPr/>
        <p:nvPr/>
      </p:nvGrpSpPr>
      <p:grpSpPr>
        <a:xfrm>
          <a:off x="0" y="0"/>
          <a:ext cx="0" cy="0"/>
          <a:chOff x="0" y="0"/>
          <a:chExt cx="0" cy="0"/>
        </a:xfrm>
      </p:grpSpPr>
      <p:sp>
        <p:nvSpPr>
          <p:cNvPr id="1562" name="Google Shape;1562;g3e336e0d84f_0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63" name="Google Shape;1563;g3e336e0d84f_0_2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4" name="Google Shape;1564;g3e336e0d84f_0_28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2" name="Shape 1602"/>
        <p:cNvGrpSpPr/>
        <p:nvPr/>
      </p:nvGrpSpPr>
      <p:grpSpPr>
        <a:xfrm>
          <a:off x="0" y="0"/>
          <a:ext cx="0" cy="0"/>
          <a:chOff x="0" y="0"/>
          <a:chExt cx="0" cy="0"/>
        </a:xfrm>
      </p:grpSpPr>
      <p:sp>
        <p:nvSpPr>
          <p:cNvPr id="1603" name="Google Shape;1603;g3ee0adc8e96_2_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4" name="Google Shape;1604;g3ee0adc8e96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6" name="Shape 1616"/>
        <p:cNvGrpSpPr/>
        <p:nvPr/>
      </p:nvGrpSpPr>
      <p:grpSpPr>
        <a:xfrm>
          <a:off x="0" y="0"/>
          <a:ext cx="0" cy="0"/>
          <a:chOff x="0" y="0"/>
          <a:chExt cx="0" cy="0"/>
        </a:xfrm>
      </p:grpSpPr>
      <p:sp>
        <p:nvSpPr>
          <p:cNvPr id="1617" name="Google Shape;1617;g3ee0adc8e96_2_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8" name="Google Shape;1618;g3ee0adc8e96_2_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0" name="Shape 1630"/>
        <p:cNvGrpSpPr/>
        <p:nvPr/>
      </p:nvGrpSpPr>
      <p:grpSpPr>
        <a:xfrm>
          <a:off x="0" y="0"/>
          <a:ext cx="0" cy="0"/>
          <a:chOff x="0" y="0"/>
          <a:chExt cx="0" cy="0"/>
        </a:xfrm>
      </p:grpSpPr>
      <p:sp>
        <p:nvSpPr>
          <p:cNvPr id="1631" name="Google Shape;1631;g3ee0adc8e96_4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2" name="Google Shape;1632;g3ee0adc8e96_4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0" name="Shape 1640"/>
        <p:cNvGrpSpPr/>
        <p:nvPr/>
      </p:nvGrpSpPr>
      <p:grpSpPr>
        <a:xfrm>
          <a:off x="0" y="0"/>
          <a:ext cx="0" cy="0"/>
          <a:chOff x="0" y="0"/>
          <a:chExt cx="0" cy="0"/>
        </a:xfrm>
      </p:grpSpPr>
      <p:sp>
        <p:nvSpPr>
          <p:cNvPr id="1641" name="Google Shape;1641;g3ee0adc8e96_6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2" name="Google Shape;1642;g3ee0adc8e96_6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g3ee0adc8e96_6_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2" name="Google Shape;1662;g3ee0adc8e96_6_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1" name="Shape 1681"/>
        <p:cNvGrpSpPr/>
        <p:nvPr/>
      </p:nvGrpSpPr>
      <p:grpSpPr>
        <a:xfrm>
          <a:off x="0" y="0"/>
          <a:ext cx="0" cy="0"/>
          <a:chOff x="0" y="0"/>
          <a:chExt cx="0" cy="0"/>
        </a:xfrm>
      </p:grpSpPr>
      <p:sp>
        <p:nvSpPr>
          <p:cNvPr id="1682" name="Google Shape;1682;g3ee0adc8e96_6_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3" name="Google Shape;1683;g3ee0adc8e96_6_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3" name="Shape 1693"/>
        <p:cNvGrpSpPr/>
        <p:nvPr/>
      </p:nvGrpSpPr>
      <p:grpSpPr>
        <a:xfrm>
          <a:off x="0" y="0"/>
          <a:ext cx="0" cy="0"/>
          <a:chOff x="0" y="0"/>
          <a:chExt cx="0" cy="0"/>
        </a:xfrm>
      </p:grpSpPr>
      <p:sp>
        <p:nvSpPr>
          <p:cNvPr id="1694" name="Google Shape;1694;g3ee0adc8e96_6_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5" name="Google Shape;1695;g3ee0adc8e96_6_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8" name="Shape 1708"/>
        <p:cNvGrpSpPr/>
        <p:nvPr/>
      </p:nvGrpSpPr>
      <p:grpSpPr>
        <a:xfrm>
          <a:off x="0" y="0"/>
          <a:ext cx="0" cy="0"/>
          <a:chOff x="0" y="0"/>
          <a:chExt cx="0" cy="0"/>
        </a:xfrm>
      </p:grpSpPr>
      <p:sp>
        <p:nvSpPr>
          <p:cNvPr id="1709" name="Google Shape;1709;g3ee0adc8e96_6_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0" name="Google Shape;1710;g3ee0adc8e96_6_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2" name="Shape 1732"/>
        <p:cNvGrpSpPr/>
        <p:nvPr/>
      </p:nvGrpSpPr>
      <p:grpSpPr>
        <a:xfrm>
          <a:off x="0" y="0"/>
          <a:ext cx="0" cy="0"/>
          <a:chOff x="0" y="0"/>
          <a:chExt cx="0" cy="0"/>
        </a:xfrm>
      </p:grpSpPr>
      <p:sp>
        <p:nvSpPr>
          <p:cNvPr id="1733" name="Google Shape;1733;g3ee0adc8e96_6_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4" name="Google Shape;1734;g3ee0adc8e96_6_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6" name="Shape 1746"/>
        <p:cNvGrpSpPr/>
        <p:nvPr/>
      </p:nvGrpSpPr>
      <p:grpSpPr>
        <a:xfrm>
          <a:off x="0" y="0"/>
          <a:ext cx="0" cy="0"/>
          <a:chOff x="0" y="0"/>
          <a:chExt cx="0" cy="0"/>
        </a:xfrm>
      </p:grpSpPr>
      <p:sp>
        <p:nvSpPr>
          <p:cNvPr id="1747" name="Google Shape;1747;g3ee0adc8e96_6_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8" name="Google Shape;1748;g3ee0adc8e96_6_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8" name="Shape 1758"/>
        <p:cNvGrpSpPr/>
        <p:nvPr/>
      </p:nvGrpSpPr>
      <p:grpSpPr>
        <a:xfrm>
          <a:off x="0" y="0"/>
          <a:ext cx="0" cy="0"/>
          <a:chOff x="0" y="0"/>
          <a:chExt cx="0" cy="0"/>
        </a:xfrm>
      </p:grpSpPr>
      <p:sp>
        <p:nvSpPr>
          <p:cNvPr id="1759" name="Google Shape;1759;g3ee0adc8e96_6_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0" name="Google Shape;1760;g3ee0adc8e96_6_9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9" name="Shape 1769"/>
        <p:cNvGrpSpPr/>
        <p:nvPr/>
      </p:nvGrpSpPr>
      <p:grpSpPr>
        <a:xfrm>
          <a:off x="0" y="0"/>
          <a:ext cx="0" cy="0"/>
          <a:chOff x="0" y="0"/>
          <a:chExt cx="0" cy="0"/>
        </a:xfrm>
      </p:grpSpPr>
      <p:sp>
        <p:nvSpPr>
          <p:cNvPr id="1770" name="Google Shape;1770;g3ee0adc8e96_6_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1" name="Google Shape;1771;g3ee0adc8e96_6_1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1" name="Shape 1781"/>
        <p:cNvGrpSpPr/>
        <p:nvPr/>
      </p:nvGrpSpPr>
      <p:grpSpPr>
        <a:xfrm>
          <a:off x="0" y="0"/>
          <a:ext cx="0" cy="0"/>
          <a:chOff x="0" y="0"/>
          <a:chExt cx="0" cy="0"/>
        </a:xfrm>
      </p:grpSpPr>
      <p:sp>
        <p:nvSpPr>
          <p:cNvPr id="1782" name="Google Shape;1782;g3ee0adc8e96_2_2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3" name="Google Shape;1783;g3ee0adc8e96_2_2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8" name="Shape 1808"/>
        <p:cNvGrpSpPr/>
        <p:nvPr/>
      </p:nvGrpSpPr>
      <p:grpSpPr>
        <a:xfrm>
          <a:off x="0" y="0"/>
          <a:ext cx="0" cy="0"/>
          <a:chOff x="0" y="0"/>
          <a:chExt cx="0" cy="0"/>
        </a:xfrm>
      </p:grpSpPr>
      <p:sp>
        <p:nvSpPr>
          <p:cNvPr id="1809" name="Google Shape;1809;g3ee0adc8e96_2_2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0" name="Google Shape;1810;g3ee0adc8e96_2_2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5" name="Shape 1845"/>
        <p:cNvGrpSpPr/>
        <p:nvPr/>
      </p:nvGrpSpPr>
      <p:grpSpPr>
        <a:xfrm>
          <a:off x="0" y="0"/>
          <a:ext cx="0" cy="0"/>
          <a:chOff x="0" y="0"/>
          <a:chExt cx="0" cy="0"/>
        </a:xfrm>
      </p:grpSpPr>
      <p:sp>
        <p:nvSpPr>
          <p:cNvPr id="1846" name="Google Shape;1846;g3edf2b460e5_0_2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7" name="Google Shape;1847;g3edf2b460e5_0_2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8" name="Shape 1858"/>
        <p:cNvGrpSpPr/>
        <p:nvPr/>
      </p:nvGrpSpPr>
      <p:grpSpPr>
        <a:xfrm>
          <a:off x="0" y="0"/>
          <a:ext cx="0" cy="0"/>
          <a:chOff x="0" y="0"/>
          <a:chExt cx="0" cy="0"/>
        </a:xfrm>
      </p:grpSpPr>
      <p:sp>
        <p:nvSpPr>
          <p:cNvPr id="1859" name="Google Shape;1859;g3ea9527e202_2_2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0" name="Google Shape;1860;g3ea9527e202_2_2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9" name="Shape 1879"/>
        <p:cNvGrpSpPr/>
        <p:nvPr/>
      </p:nvGrpSpPr>
      <p:grpSpPr>
        <a:xfrm>
          <a:off x="0" y="0"/>
          <a:ext cx="0" cy="0"/>
          <a:chOff x="0" y="0"/>
          <a:chExt cx="0" cy="0"/>
        </a:xfrm>
      </p:grpSpPr>
      <p:sp>
        <p:nvSpPr>
          <p:cNvPr id="1880" name="Google Shape;1880;g3ee2e5faae5_3_1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1" name="Google Shape;1881;g3ee2e5faae5_3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g3ee2e5faae5_3_2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8" name="Google Shape;1918;g3ee2e5faae5_3_2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3" name="Shape 1943"/>
        <p:cNvGrpSpPr/>
        <p:nvPr/>
      </p:nvGrpSpPr>
      <p:grpSpPr>
        <a:xfrm>
          <a:off x="0" y="0"/>
          <a:ext cx="0" cy="0"/>
          <a:chOff x="0" y="0"/>
          <a:chExt cx="0" cy="0"/>
        </a:xfrm>
      </p:grpSpPr>
      <p:sp>
        <p:nvSpPr>
          <p:cNvPr id="1944" name="Google Shape;1944;g3ee2e5faae5_3_3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5" name="Google Shape;1945;g3ee2e5faae5_3_3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1" name="Shape 1961"/>
        <p:cNvGrpSpPr/>
        <p:nvPr/>
      </p:nvGrpSpPr>
      <p:grpSpPr>
        <a:xfrm>
          <a:off x="0" y="0"/>
          <a:ext cx="0" cy="0"/>
          <a:chOff x="0" y="0"/>
          <a:chExt cx="0" cy="0"/>
        </a:xfrm>
      </p:grpSpPr>
      <p:sp>
        <p:nvSpPr>
          <p:cNvPr id="1962" name="Google Shape;1962;g3ee2e5faae5_3_4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3" name="Google Shape;1963;g3ee2e5faae5_3_4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8" name="Shape 1978"/>
        <p:cNvGrpSpPr/>
        <p:nvPr/>
      </p:nvGrpSpPr>
      <p:grpSpPr>
        <a:xfrm>
          <a:off x="0" y="0"/>
          <a:ext cx="0" cy="0"/>
          <a:chOff x="0" y="0"/>
          <a:chExt cx="0" cy="0"/>
        </a:xfrm>
      </p:grpSpPr>
      <p:sp>
        <p:nvSpPr>
          <p:cNvPr id="1979" name="Google Shape;1979;g3ee2e5faae5_3_5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0" name="Google Shape;1980;g3ee2e5faae5_3_5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3" name="Shape 2003"/>
        <p:cNvGrpSpPr/>
        <p:nvPr/>
      </p:nvGrpSpPr>
      <p:grpSpPr>
        <a:xfrm>
          <a:off x="0" y="0"/>
          <a:ext cx="0" cy="0"/>
          <a:chOff x="0" y="0"/>
          <a:chExt cx="0" cy="0"/>
        </a:xfrm>
      </p:grpSpPr>
      <p:sp>
        <p:nvSpPr>
          <p:cNvPr id="2004" name="Google Shape;2004;g3ee2e5faae5_3_67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5" name="Google Shape;2005;g3ee2e5faae5_3_6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2" name="Shape 2022"/>
        <p:cNvGrpSpPr/>
        <p:nvPr/>
      </p:nvGrpSpPr>
      <p:grpSpPr>
        <a:xfrm>
          <a:off x="0" y="0"/>
          <a:ext cx="0" cy="0"/>
          <a:chOff x="0" y="0"/>
          <a:chExt cx="0" cy="0"/>
        </a:xfrm>
      </p:grpSpPr>
      <p:sp>
        <p:nvSpPr>
          <p:cNvPr id="2023" name="Google Shape;2023;g3ee2e5faae5_3_78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4" name="Google Shape;2024;g3ee2e5faae5_3_7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0" name="Shape 2040"/>
        <p:cNvGrpSpPr/>
        <p:nvPr/>
      </p:nvGrpSpPr>
      <p:grpSpPr>
        <a:xfrm>
          <a:off x="0" y="0"/>
          <a:ext cx="0" cy="0"/>
          <a:chOff x="0" y="0"/>
          <a:chExt cx="0" cy="0"/>
        </a:xfrm>
      </p:grpSpPr>
      <p:sp>
        <p:nvSpPr>
          <p:cNvPr id="2041" name="Google Shape;2041;g3ee2e5faae5_3_8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2" name="Google Shape;2042;g3ee2e5faae5_3_8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5" name="Shape 2055"/>
        <p:cNvGrpSpPr/>
        <p:nvPr/>
      </p:nvGrpSpPr>
      <p:grpSpPr>
        <a:xfrm>
          <a:off x="0" y="0"/>
          <a:ext cx="0" cy="0"/>
          <a:chOff x="0" y="0"/>
          <a:chExt cx="0" cy="0"/>
        </a:xfrm>
      </p:grpSpPr>
      <p:sp>
        <p:nvSpPr>
          <p:cNvPr id="2056" name="Google Shape;2056;g3ee2e5faae5_3_9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7" name="Google Shape;2057;g3ee2e5faae5_3_9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2" name="Shape 2072"/>
        <p:cNvGrpSpPr/>
        <p:nvPr/>
      </p:nvGrpSpPr>
      <p:grpSpPr>
        <a:xfrm>
          <a:off x="0" y="0"/>
          <a:ext cx="0" cy="0"/>
          <a:chOff x="0" y="0"/>
          <a:chExt cx="0" cy="0"/>
        </a:xfrm>
      </p:grpSpPr>
      <p:sp>
        <p:nvSpPr>
          <p:cNvPr id="2073" name="Google Shape;2073;g3ee2e5faae5_3_109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4" name="Google Shape;2074;g3ee2e5faae5_3_10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0" name="Shape 2100"/>
        <p:cNvGrpSpPr/>
        <p:nvPr/>
      </p:nvGrpSpPr>
      <p:grpSpPr>
        <a:xfrm>
          <a:off x="0" y="0"/>
          <a:ext cx="0" cy="0"/>
          <a:chOff x="0" y="0"/>
          <a:chExt cx="0" cy="0"/>
        </a:xfrm>
      </p:grpSpPr>
      <p:sp>
        <p:nvSpPr>
          <p:cNvPr id="2101" name="Google Shape;2101;g3ee2e5faae5_3_120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2" name="Google Shape;2102;g3ee2e5faae5_3_1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7" name="Shape 2117"/>
        <p:cNvGrpSpPr/>
        <p:nvPr/>
      </p:nvGrpSpPr>
      <p:grpSpPr>
        <a:xfrm>
          <a:off x="0" y="0"/>
          <a:ext cx="0" cy="0"/>
          <a:chOff x="0" y="0"/>
          <a:chExt cx="0" cy="0"/>
        </a:xfrm>
      </p:grpSpPr>
      <p:sp>
        <p:nvSpPr>
          <p:cNvPr id="2118" name="Google Shape;2118;g3ee2e5faae5_3_13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9" name="Google Shape;2119;g3ee2e5faae5_3_13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5" name="Shape 2135"/>
        <p:cNvGrpSpPr/>
        <p:nvPr/>
      </p:nvGrpSpPr>
      <p:grpSpPr>
        <a:xfrm>
          <a:off x="0" y="0"/>
          <a:ext cx="0" cy="0"/>
          <a:chOff x="0" y="0"/>
          <a:chExt cx="0" cy="0"/>
        </a:xfrm>
      </p:grpSpPr>
      <p:sp>
        <p:nvSpPr>
          <p:cNvPr id="2136" name="Google Shape;2136;g3edf2b460e5_0_2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7" name="Google Shape;2137;g3edf2b460e5_0_2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8" name="Shape 2148"/>
        <p:cNvGrpSpPr/>
        <p:nvPr/>
      </p:nvGrpSpPr>
      <p:grpSpPr>
        <a:xfrm>
          <a:off x="0" y="0"/>
          <a:ext cx="0" cy="0"/>
          <a:chOff x="0" y="0"/>
          <a:chExt cx="0" cy="0"/>
        </a:xfrm>
      </p:grpSpPr>
      <p:sp>
        <p:nvSpPr>
          <p:cNvPr id="2149" name="Google Shape;2149;g3a890b03b1b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50" name="Google Shape;2150;g3a890b03b1b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1" name="Google Shape;2151;g3a890b03b1b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8" name="Shape 2158"/>
        <p:cNvGrpSpPr/>
        <p:nvPr/>
      </p:nvGrpSpPr>
      <p:grpSpPr>
        <a:xfrm>
          <a:off x="0" y="0"/>
          <a:ext cx="0" cy="0"/>
          <a:chOff x="0" y="0"/>
          <a:chExt cx="0" cy="0"/>
        </a:xfrm>
      </p:grpSpPr>
      <p:sp>
        <p:nvSpPr>
          <p:cNvPr id="2159" name="Google Shape;2159;g3a890b03b1b_2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60" name="Google Shape;2160;g3a890b03b1b_2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1" name="Google Shape;2161;g3a890b03b1b_2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3" name="Shape 2183"/>
        <p:cNvGrpSpPr/>
        <p:nvPr/>
      </p:nvGrpSpPr>
      <p:grpSpPr>
        <a:xfrm>
          <a:off x="0" y="0"/>
          <a:ext cx="0" cy="0"/>
          <a:chOff x="0" y="0"/>
          <a:chExt cx="0" cy="0"/>
        </a:xfrm>
      </p:grpSpPr>
      <p:sp>
        <p:nvSpPr>
          <p:cNvPr id="2184" name="Google Shape;2184;g3a890b03b1b_2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85" name="Google Shape;2185;g3a890b03b1b_2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6" name="Google Shape;2186;g3a890b03b1b_2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2" name="Shape 2192"/>
        <p:cNvGrpSpPr/>
        <p:nvPr/>
      </p:nvGrpSpPr>
      <p:grpSpPr>
        <a:xfrm>
          <a:off x="0" y="0"/>
          <a:ext cx="0" cy="0"/>
          <a:chOff x="0" y="0"/>
          <a:chExt cx="0" cy="0"/>
        </a:xfrm>
      </p:grpSpPr>
      <p:sp>
        <p:nvSpPr>
          <p:cNvPr id="2193" name="Google Shape;2193;g3a890b03b1b_2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94" name="Google Shape;2194;g3a890b03b1b_2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5" name="Google Shape;2195;g3a890b03b1b_2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1" name="Shape 2201"/>
        <p:cNvGrpSpPr/>
        <p:nvPr/>
      </p:nvGrpSpPr>
      <p:grpSpPr>
        <a:xfrm>
          <a:off x="0" y="0"/>
          <a:ext cx="0" cy="0"/>
          <a:chOff x="0" y="0"/>
          <a:chExt cx="0" cy="0"/>
        </a:xfrm>
      </p:grpSpPr>
      <p:sp>
        <p:nvSpPr>
          <p:cNvPr id="2202" name="Google Shape;2202;g3ee2b4152b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03" name="Google Shape;2203;g3ee2b4152bf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4" name="Google Shape;2204;g3ee2b4152bf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2" name="Shape 2212"/>
        <p:cNvGrpSpPr/>
        <p:nvPr/>
      </p:nvGrpSpPr>
      <p:grpSpPr>
        <a:xfrm>
          <a:off x="0" y="0"/>
          <a:ext cx="0" cy="0"/>
          <a:chOff x="0" y="0"/>
          <a:chExt cx="0" cy="0"/>
        </a:xfrm>
      </p:grpSpPr>
      <p:sp>
        <p:nvSpPr>
          <p:cNvPr id="2213" name="Google Shape;2213;g3ee2b4152bf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14" name="Google Shape;2214;g3ee2b4152bf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5" name="Google Shape;2215;g3ee2b4152bf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3" name="Shape 2223"/>
        <p:cNvGrpSpPr/>
        <p:nvPr/>
      </p:nvGrpSpPr>
      <p:grpSpPr>
        <a:xfrm>
          <a:off x="0" y="0"/>
          <a:ext cx="0" cy="0"/>
          <a:chOff x="0" y="0"/>
          <a:chExt cx="0" cy="0"/>
        </a:xfrm>
      </p:grpSpPr>
      <p:sp>
        <p:nvSpPr>
          <p:cNvPr id="2224" name="Google Shape;2224;g3ee2b4152bf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25" name="Google Shape;2225;g3ee2b4152bf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6" name="Google Shape;2226;g3ee2b4152bf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5" name="Shape 2235"/>
        <p:cNvGrpSpPr/>
        <p:nvPr/>
      </p:nvGrpSpPr>
      <p:grpSpPr>
        <a:xfrm>
          <a:off x="0" y="0"/>
          <a:ext cx="0" cy="0"/>
          <a:chOff x="0" y="0"/>
          <a:chExt cx="0" cy="0"/>
        </a:xfrm>
      </p:grpSpPr>
      <p:sp>
        <p:nvSpPr>
          <p:cNvPr id="2236" name="Google Shape;2236;g3ee2b4152bf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37" name="Google Shape;2237;g3ee2b4152bf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8" name="Google Shape;2238;g3ee2b4152bf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7" name="Shape 2247"/>
        <p:cNvGrpSpPr/>
        <p:nvPr/>
      </p:nvGrpSpPr>
      <p:grpSpPr>
        <a:xfrm>
          <a:off x="0" y="0"/>
          <a:ext cx="0" cy="0"/>
          <a:chOff x="0" y="0"/>
          <a:chExt cx="0" cy="0"/>
        </a:xfrm>
      </p:grpSpPr>
      <p:sp>
        <p:nvSpPr>
          <p:cNvPr id="2248" name="Google Shape;2248;g3ee2b4152bf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49" name="Google Shape;2249;g3ee2b4152bf_0_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0" name="Google Shape;2250;g3ee2b4152bf_0_8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7" name="Shape 2257"/>
        <p:cNvGrpSpPr/>
        <p:nvPr/>
      </p:nvGrpSpPr>
      <p:grpSpPr>
        <a:xfrm>
          <a:off x="0" y="0"/>
          <a:ext cx="0" cy="0"/>
          <a:chOff x="0" y="0"/>
          <a:chExt cx="0" cy="0"/>
        </a:xfrm>
      </p:grpSpPr>
      <p:sp>
        <p:nvSpPr>
          <p:cNvPr id="2258" name="Google Shape;2258;g3ee2b4152bf_0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59" name="Google Shape;2259;g3ee2b4152bf_0_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0" name="Google Shape;2260;g3ee2b4152bf_0_8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7" name="Shape 2267"/>
        <p:cNvGrpSpPr/>
        <p:nvPr/>
      </p:nvGrpSpPr>
      <p:grpSpPr>
        <a:xfrm>
          <a:off x="0" y="0"/>
          <a:ext cx="0" cy="0"/>
          <a:chOff x="0" y="0"/>
          <a:chExt cx="0" cy="0"/>
        </a:xfrm>
      </p:grpSpPr>
      <p:sp>
        <p:nvSpPr>
          <p:cNvPr id="2268" name="Google Shape;2268;g3ee3a0920dc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9" name="Google Shape;2269;g3ee3a0920dc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4" name="Shape 2274"/>
        <p:cNvGrpSpPr/>
        <p:nvPr/>
      </p:nvGrpSpPr>
      <p:grpSpPr>
        <a:xfrm>
          <a:off x="0" y="0"/>
          <a:ext cx="0" cy="0"/>
          <a:chOff x="0" y="0"/>
          <a:chExt cx="0" cy="0"/>
        </a:xfrm>
      </p:grpSpPr>
      <p:sp>
        <p:nvSpPr>
          <p:cNvPr id="2275" name="Google Shape;2275;g3ee2e5faae5_4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76" name="Google Shape;2276;g3ee2e5faae5_4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7" name="Google Shape;2277;g3ee2e5faae5_4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4" name="Shape 2284"/>
        <p:cNvGrpSpPr/>
        <p:nvPr/>
      </p:nvGrpSpPr>
      <p:grpSpPr>
        <a:xfrm>
          <a:off x="0" y="0"/>
          <a:ext cx="0" cy="0"/>
          <a:chOff x="0" y="0"/>
          <a:chExt cx="0" cy="0"/>
        </a:xfrm>
      </p:grpSpPr>
      <p:sp>
        <p:nvSpPr>
          <p:cNvPr id="2285" name="Google Shape;2285;g3edf2b460e5_4_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6" name="Google Shape;2286;g3edf2b460e5_4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1" name="Shape 2291"/>
        <p:cNvGrpSpPr/>
        <p:nvPr/>
      </p:nvGrpSpPr>
      <p:grpSpPr>
        <a:xfrm>
          <a:off x="0" y="0"/>
          <a:ext cx="0" cy="0"/>
          <a:chOff x="0" y="0"/>
          <a:chExt cx="0" cy="0"/>
        </a:xfrm>
      </p:grpSpPr>
      <p:sp>
        <p:nvSpPr>
          <p:cNvPr id="2292" name="Google Shape;2292;g3edf2b460e5_4_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3" name="Google Shape;2293;g3edf2b460e5_4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1" name="Shape 2321"/>
        <p:cNvGrpSpPr/>
        <p:nvPr/>
      </p:nvGrpSpPr>
      <p:grpSpPr>
        <a:xfrm>
          <a:off x="0" y="0"/>
          <a:ext cx="0" cy="0"/>
          <a:chOff x="0" y="0"/>
          <a:chExt cx="0" cy="0"/>
        </a:xfrm>
      </p:grpSpPr>
      <p:sp>
        <p:nvSpPr>
          <p:cNvPr id="2322" name="Google Shape;2322;g3edf2b460e5_4_1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3" name="Google Shape;2323;g3edf2b460e5_4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8" name="Shape 2358"/>
        <p:cNvGrpSpPr/>
        <p:nvPr/>
      </p:nvGrpSpPr>
      <p:grpSpPr>
        <a:xfrm>
          <a:off x="0" y="0"/>
          <a:ext cx="0" cy="0"/>
          <a:chOff x="0" y="0"/>
          <a:chExt cx="0" cy="0"/>
        </a:xfrm>
      </p:grpSpPr>
      <p:sp>
        <p:nvSpPr>
          <p:cNvPr id="2359" name="Google Shape;2359;g3edf2b460e5_4_1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0" name="Google Shape;2360;g3edf2b460e5_4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7" name="Shape 2387"/>
        <p:cNvGrpSpPr/>
        <p:nvPr/>
      </p:nvGrpSpPr>
      <p:grpSpPr>
        <a:xfrm>
          <a:off x="0" y="0"/>
          <a:ext cx="0" cy="0"/>
          <a:chOff x="0" y="0"/>
          <a:chExt cx="0" cy="0"/>
        </a:xfrm>
      </p:grpSpPr>
      <p:sp>
        <p:nvSpPr>
          <p:cNvPr id="2388" name="Google Shape;2388;g3edf2b460e5_4_1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9" name="Google Shape;2389;g3edf2b460e5_4_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0" name="Shape 2420"/>
        <p:cNvGrpSpPr/>
        <p:nvPr/>
      </p:nvGrpSpPr>
      <p:grpSpPr>
        <a:xfrm>
          <a:off x="0" y="0"/>
          <a:ext cx="0" cy="0"/>
          <a:chOff x="0" y="0"/>
          <a:chExt cx="0" cy="0"/>
        </a:xfrm>
      </p:grpSpPr>
      <p:sp>
        <p:nvSpPr>
          <p:cNvPr id="2421" name="Google Shape;2421;g3edf2b460e5_4_2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2" name="Google Shape;2422;g3edf2b460e5_4_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1" name="Shape 2431"/>
        <p:cNvGrpSpPr/>
        <p:nvPr/>
      </p:nvGrpSpPr>
      <p:grpSpPr>
        <a:xfrm>
          <a:off x="0" y="0"/>
          <a:ext cx="0" cy="0"/>
          <a:chOff x="0" y="0"/>
          <a:chExt cx="0" cy="0"/>
        </a:xfrm>
      </p:grpSpPr>
      <p:sp>
        <p:nvSpPr>
          <p:cNvPr id="2432" name="Google Shape;2432;g3ef13fd5dad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33" name="Google Shape;2433;g3ef13fd5dad_0_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4" name="Google Shape;2434;g3ef13fd5dad_0_6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9" name="Shape 2439"/>
        <p:cNvGrpSpPr/>
        <p:nvPr/>
      </p:nvGrpSpPr>
      <p:grpSpPr>
        <a:xfrm>
          <a:off x="0" y="0"/>
          <a:ext cx="0" cy="0"/>
          <a:chOff x="0" y="0"/>
          <a:chExt cx="0" cy="0"/>
        </a:xfrm>
      </p:grpSpPr>
      <p:sp>
        <p:nvSpPr>
          <p:cNvPr id="2440" name="Google Shape;2440;g3ef13fd5dad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41" name="Google Shape;2441;g3ef13fd5dad_0_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2" name="Google Shape;2442;g3ef13fd5dad_0_6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8" name="Shape 2448"/>
        <p:cNvGrpSpPr/>
        <p:nvPr/>
      </p:nvGrpSpPr>
      <p:grpSpPr>
        <a:xfrm>
          <a:off x="0" y="0"/>
          <a:ext cx="0" cy="0"/>
          <a:chOff x="0" y="0"/>
          <a:chExt cx="0" cy="0"/>
        </a:xfrm>
      </p:grpSpPr>
      <p:sp>
        <p:nvSpPr>
          <p:cNvPr id="2449" name="Google Shape;2449;g3edf2b460e5_4_20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0" name="Google Shape;2450;g3edf2b460e5_4_2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1" name="Shape 2461"/>
        <p:cNvGrpSpPr/>
        <p:nvPr/>
      </p:nvGrpSpPr>
      <p:grpSpPr>
        <a:xfrm>
          <a:off x="0" y="0"/>
          <a:ext cx="0" cy="0"/>
          <a:chOff x="0" y="0"/>
          <a:chExt cx="0" cy="0"/>
        </a:xfrm>
      </p:grpSpPr>
      <p:sp>
        <p:nvSpPr>
          <p:cNvPr id="2462" name="Google Shape;2462;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3" name="Google Shape;2463;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9"/>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59"/>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5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6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6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6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6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p6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6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6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 name="Shape 30"/>
        <p:cNvGrpSpPr/>
        <p:nvPr/>
      </p:nvGrpSpPr>
      <p:grpSpPr>
        <a:xfrm>
          <a:off x="0" y="0"/>
          <a:ext cx="0" cy="0"/>
          <a:chOff x="0" y="0"/>
          <a:chExt cx="0" cy="0"/>
        </a:xfrm>
      </p:grpSpPr>
      <p:sp>
        <p:nvSpPr>
          <p:cNvPr id="31" name="Google Shape;31;p62"/>
          <p:cNvSpPr/>
          <p:nvPr/>
        </p:nvSpPr>
        <p:spPr>
          <a:xfrm>
            <a:off x="0" y="0"/>
            <a:ext cx="57519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2" name="Google Shape;32;p62"/>
          <p:cNvSpPr/>
          <p:nvPr/>
        </p:nvSpPr>
        <p:spPr>
          <a:xfrm>
            <a:off x="1" y="58834"/>
            <a:ext cx="5751356" cy="5865687"/>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33" name="Google Shape;33;p62"/>
          <p:cNvSpPr/>
          <p:nvPr/>
        </p:nvSpPr>
        <p:spPr>
          <a:xfrm>
            <a:off x="-167" y="0"/>
            <a:ext cx="5755723" cy="5860653"/>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34" name="Google Shape;34;p62"/>
          <p:cNvSpPr txBox="1"/>
          <p:nvPr>
            <p:ph type="title"/>
          </p:nvPr>
        </p:nvSpPr>
        <p:spPr>
          <a:xfrm>
            <a:off x="415633" y="667900"/>
            <a:ext cx="4941900" cy="33453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lt1"/>
              </a:buClr>
              <a:buSzPts val="2800"/>
              <a:buFont typeface="Play"/>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2"/>
          <p:cNvSpPr txBox="1"/>
          <p:nvPr>
            <p:ph idx="1" type="body"/>
          </p:nvPr>
        </p:nvSpPr>
        <p:spPr>
          <a:xfrm>
            <a:off x="6192900" y="667900"/>
            <a:ext cx="5555100" cy="5464800"/>
          </a:xfrm>
          <a:prstGeom prst="rect">
            <a:avLst/>
          </a:prstGeom>
          <a:noFill/>
          <a:ln>
            <a:noFill/>
          </a:ln>
        </p:spPr>
        <p:txBody>
          <a:bodyPr anchorCtr="0" anchor="t" bIns="91425" lIns="91425" spcFirstLastPara="1" rIns="91425" wrap="square" tIns="91425">
            <a:normAutofit/>
          </a:bodyPr>
          <a:lstStyle>
            <a:lvl1pPr indent="-311150" lvl="0" marL="457200" algn="l">
              <a:lnSpc>
                <a:spcPct val="90000"/>
              </a:lnSpc>
              <a:spcBef>
                <a:spcPts val="0"/>
              </a:spcBef>
              <a:spcAft>
                <a:spcPts val="0"/>
              </a:spcAft>
              <a:buClr>
                <a:schemeClr val="dk1"/>
              </a:buClr>
              <a:buSzPts val="1300"/>
              <a:buChar char="●"/>
              <a:defRPr/>
            </a:lvl1pPr>
            <a:lvl2pPr indent="-298450" lvl="1" marL="914400" algn="l">
              <a:lnSpc>
                <a:spcPct val="90000"/>
              </a:lnSpc>
              <a:spcBef>
                <a:spcPts val="0"/>
              </a:spcBef>
              <a:spcAft>
                <a:spcPts val="0"/>
              </a:spcAft>
              <a:buClr>
                <a:schemeClr val="dk1"/>
              </a:buClr>
              <a:buSzPts val="1100"/>
              <a:buChar char="○"/>
              <a:defRPr/>
            </a:lvl2pPr>
            <a:lvl3pPr indent="-298450" lvl="2" marL="1371600" algn="l">
              <a:lnSpc>
                <a:spcPct val="90000"/>
              </a:lnSpc>
              <a:spcBef>
                <a:spcPts val="0"/>
              </a:spcBef>
              <a:spcAft>
                <a:spcPts val="0"/>
              </a:spcAft>
              <a:buClr>
                <a:schemeClr val="dk1"/>
              </a:buClr>
              <a:buSzPts val="1100"/>
              <a:buChar char="■"/>
              <a:defRPr/>
            </a:lvl3pPr>
            <a:lvl4pPr indent="-298450" lvl="3" marL="1828800" algn="l">
              <a:lnSpc>
                <a:spcPct val="90000"/>
              </a:lnSpc>
              <a:spcBef>
                <a:spcPts val="0"/>
              </a:spcBef>
              <a:spcAft>
                <a:spcPts val="0"/>
              </a:spcAft>
              <a:buClr>
                <a:schemeClr val="dk1"/>
              </a:buClr>
              <a:buSzPts val="1100"/>
              <a:buChar char="●"/>
              <a:defRPr/>
            </a:lvl4pPr>
            <a:lvl5pPr indent="-298450" lvl="4" marL="2286000" algn="l">
              <a:lnSpc>
                <a:spcPct val="90000"/>
              </a:lnSpc>
              <a:spcBef>
                <a:spcPts val="0"/>
              </a:spcBef>
              <a:spcAft>
                <a:spcPts val="0"/>
              </a:spcAft>
              <a:buClr>
                <a:schemeClr val="dk1"/>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36" name="Google Shape;36;p62"/>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algn="r">
              <a:buClr>
                <a:srgbClr val="757575"/>
              </a:buClr>
              <a:buSzPts val="1200"/>
              <a:buFont typeface="Arial"/>
              <a:buNone/>
              <a:defRPr b="0" i="0" sz="1200" u="none" cap="none" strike="noStrike">
                <a:solidFill>
                  <a:srgbClr val="757575"/>
                </a:solidFill>
                <a:latin typeface="Arial"/>
                <a:ea typeface="Arial"/>
                <a:cs typeface="Arial"/>
                <a:sym typeface="Arial"/>
              </a:defRPr>
            </a:lvl1pPr>
            <a:lvl2pPr indent="0" lvl="1" marL="0" algn="r">
              <a:buClr>
                <a:srgbClr val="757575"/>
              </a:buClr>
              <a:buSzPts val="1200"/>
              <a:buFont typeface="Arial"/>
              <a:buNone/>
              <a:defRPr b="0" i="0" sz="1200" u="none" cap="none" strike="noStrike">
                <a:solidFill>
                  <a:srgbClr val="757575"/>
                </a:solidFill>
                <a:latin typeface="Arial"/>
                <a:ea typeface="Arial"/>
                <a:cs typeface="Arial"/>
                <a:sym typeface="Arial"/>
              </a:defRPr>
            </a:lvl2pPr>
            <a:lvl3pPr indent="0" lvl="2" marL="0" algn="r">
              <a:buClr>
                <a:srgbClr val="757575"/>
              </a:buClr>
              <a:buSzPts val="1200"/>
              <a:buFont typeface="Arial"/>
              <a:buNone/>
              <a:defRPr b="0" i="0" sz="1200" u="none" cap="none" strike="noStrike">
                <a:solidFill>
                  <a:srgbClr val="757575"/>
                </a:solidFill>
                <a:latin typeface="Arial"/>
                <a:ea typeface="Arial"/>
                <a:cs typeface="Arial"/>
                <a:sym typeface="Arial"/>
              </a:defRPr>
            </a:lvl3pPr>
            <a:lvl4pPr indent="0" lvl="3" marL="0" algn="r">
              <a:buClr>
                <a:srgbClr val="757575"/>
              </a:buClr>
              <a:buSzPts val="1200"/>
              <a:buFont typeface="Arial"/>
              <a:buNone/>
              <a:defRPr b="0" i="0" sz="1200" u="none" cap="none" strike="noStrike">
                <a:solidFill>
                  <a:srgbClr val="757575"/>
                </a:solidFill>
                <a:latin typeface="Arial"/>
                <a:ea typeface="Arial"/>
                <a:cs typeface="Arial"/>
                <a:sym typeface="Arial"/>
              </a:defRPr>
            </a:lvl4pPr>
            <a:lvl5pPr indent="0" lvl="4" marL="0" algn="r">
              <a:buClr>
                <a:srgbClr val="757575"/>
              </a:buClr>
              <a:buSzPts val="1200"/>
              <a:buFont typeface="Arial"/>
              <a:buNone/>
              <a:defRPr b="0" i="0" sz="1200" u="none" cap="none" strike="noStrike">
                <a:solidFill>
                  <a:srgbClr val="757575"/>
                </a:solidFill>
                <a:latin typeface="Arial"/>
                <a:ea typeface="Arial"/>
                <a:cs typeface="Arial"/>
                <a:sym typeface="Arial"/>
              </a:defRPr>
            </a:lvl5pPr>
            <a:lvl6pPr indent="0" lvl="5" marL="0" algn="r">
              <a:buClr>
                <a:srgbClr val="757575"/>
              </a:buClr>
              <a:buSzPts val="1200"/>
              <a:buFont typeface="Arial"/>
              <a:buNone/>
              <a:defRPr b="0" i="0" sz="1200" u="none" cap="none" strike="noStrike">
                <a:solidFill>
                  <a:srgbClr val="757575"/>
                </a:solidFill>
                <a:latin typeface="Arial"/>
                <a:ea typeface="Arial"/>
                <a:cs typeface="Arial"/>
                <a:sym typeface="Arial"/>
              </a:defRPr>
            </a:lvl6pPr>
            <a:lvl7pPr indent="0" lvl="6" marL="0" algn="r">
              <a:buClr>
                <a:srgbClr val="757575"/>
              </a:buClr>
              <a:buSzPts val="1200"/>
              <a:buFont typeface="Arial"/>
              <a:buNone/>
              <a:defRPr b="0" i="0" sz="1200" u="none" cap="none" strike="noStrike">
                <a:solidFill>
                  <a:srgbClr val="757575"/>
                </a:solidFill>
                <a:latin typeface="Arial"/>
                <a:ea typeface="Arial"/>
                <a:cs typeface="Arial"/>
                <a:sym typeface="Arial"/>
              </a:defRPr>
            </a:lvl7pPr>
            <a:lvl8pPr indent="0" lvl="7" marL="0" algn="r">
              <a:buClr>
                <a:srgbClr val="757575"/>
              </a:buClr>
              <a:buSzPts val="1200"/>
              <a:buFont typeface="Arial"/>
              <a:buNone/>
              <a:defRPr b="0" i="0" sz="1200" u="none" cap="none" strike="noStrike">
                <a:solidFill>
                  <a:srgbClr val="757575"/>
                </a:solidFill>
                <a:latin typeface="Arial"/>
                <a:ea typeface="Arial"/>
                <a:cs typeface="Arial"/>
                <a:sym typeface="Arial"/>
              </a:defRPr>
            </a:lvl8pPr>
            <a:lvl9pPr indent="0" lvl="8" marL="0" algn="r">
              <a:buClr>
                <a:srgbClr val="757575"/>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7" name="Shape 37"/>
        <p:cNvGrpSpPr/>
        <p:nvPr/>
      </p:nvGrpSpPr>
      <p:grpSpPr>
        <a:xfrm>
          <a:off x="0" y="0"/>
          <a:ext cx="0" cy="0"/>
          <a:chOff x="0" y="0"/>
          <a:chExt cx="0" cy="0"/>
        </a:xfrm>
      </p:grpSpPr>
      <p:sp>
        <p:nvSpPr>
          <p:cNvPr id="38" name="Google Shape;38;p63"/>
          <p:cNvSpPr/>
          <p:nvPr/>
        </p:nvSpPr>
        <p:spPr>
          <a:xfrm>
            <a:off x="0" y="0"/>
            <a:ext cx="12192000" cy="17028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9" name="Google Shape;39;p63"/>
          <p:cNvSpPr txBox="1"/>
          <p:nvPr>
            <p:ph type="title"/>
          </p:nvPr>
        </p:nvSpPr>
        <p:spPr>
          <a:xfrm>
            <a:off x="415633" y="667900"/>
            <a:ext cx="11360700" cy="8316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lt1"/>
              </a:buClr>
              <a:buSzPts val="2800"/>
              <a:buFont typeface="Play"/>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0" name="Google Shape;40;p63"/>
          <p:cNvSpPr txBox="1"/>
          <p:nvPr>
            <p:ph idx="1" type="body"/>
          </p:nvPr>
        </p:nvSpPr>
        <p:spPr>
          <a:xfrm>
            <a:off x="415600" y="2007600"/>
            <a:ext cx="5333100" cy="4101600"/>
          </a:xfrm>
          <a:prstGeom prst="rect">
            <a:avLst/>
          </a:prstGeom>
          <a:noFill/>
          <a:ln>
            <a:noFill/>
          </a:ln>
        </p:spPr>
        <p:txBody>
          <a:bodyPr anchorCtr="0" anchor="t" bIns="91425" lIns="91425" spcFirstLastPara="1" rIns="91425" wrap="square" tIns="91425">
            <a:normAutofit/>
          </a:bodyPr>
          <a:lstStyle>
            <a:lvl1pPr indent="-311150" lvl="0" marL="457200" algn="l">
              <a:lnSpc>
                <a:spcPct val="90000"/>
              </a:lnSpc>
              <a:spcBef>
                <a:spcPts val="0"/>
              </a:spcBef>
              <a:spcAft>
                <a:spcPts val="0"/>
              </a:spcAft>
              <a:buClr>
                <a:schemeClr val="dk1"/>
              </a:buClr>
              <a:buSzPts val="1300"/>
              <a:buChar char="●"/>
              <a:defRPr/>
            </a:lvl1pPr>
            <a:lvl2pPr indent="-298450" lvl="1" marL="914400" algn="l">
              <a:lnSpc>
                <a:spcPct val="90000"/>
              </a:lnSpc>
              <a:spcBef>
                <a:spcPts val="0"/>
              </a:spcBef>
              <a:spcAft>
                <a:spcPts val="0"/>
              </a:spcAft>
              <a:buClr>
                <a:schemeClr val="dk1"/>
              </a:buClr>
              <a:buSzPts val="1100"/>
              <a:buChar char="○"/>
              <a:defRPr/>
            </a:lvl2pPr>
            <a:lvl3pPr indent="-298450" lvl="2" marL="1371600" algn="l">
              <a:lnSpc>
                <a:spcPct val="90000"/>
              </a:lnSpc>
              <a:spcBef>
                <a:spcPts val="0"/>
              </a:spcBef>
              <a:spcAft>
                <a:spcPts val="0"/>
              </a:spcAft>
              <a:buClr>
                <a:schemeClr val="dk1"/>
              </a:buClr>
              <a:buSzPts val="1100"/>
              <a:buChar char="■"/>
              <a:defRPr/>
            </a:lvl3pPr>
            <a:lvl4pPr indent="-298450" lvl="3" marL="1828800" algn="l">
              <a:lnSpc>
                <a:spcPct val="90000"/>
              </a:lnSpc>
              <a:spcBef>
                <a:spcPts val="0"/>
              </a:spcBef>
              <a:spcAft>
                <a:spcPts val="0"/>
              </a:spcAft>
              <a:buClr>
                <a:schemeClr val="dk1"/>
              </a:buClr>
              <a:buSzPts val="1100"/>
              <a:buChar char="●"/>
              <a:defRPr/>
            </a:lvl4pPr>
            <a:lvl5pPr indent="-298450" lvl="4" marL="2286000" algn="l">
              <a:lnSpc>
                <a:spcPct val="90000"/>
              </a:lnSpc>
              <a:spcBef>
                <a:spcPts val="0"/>
              </a:spcBef>
              <a:spcAft>
                <a:spcPts val="0"/>
              </a:spcAft>
              <a:buClr>
                <a:schemeClr val="dk1"/>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41" name="Google Shape;41;p63"/>
          <p:cNvSpPr txBox="1"/>
          <p:nvPr>
            <p:ph idx="2" type="body"/>
          </p:nvPr>
        </p:nvSpPr>
        <p:spPr>
          <a:xfrm>
            <a:off x="6443200" y="2007600"/>
            <a:ext cx="5333100" cy="4101600"/>
          </a:xfrm>
          <a:prstGeom prst="rect">
            <a:avLst/>
          </a:prstGeom>
          <a:noFill/>
          <a:ln>
            <a:noFill/>
          </a:ln>
        </p:spPr>
        <p:txBody>
          <a:bodyPr anchorCtr="0" anchor="t" bIns="91425" lIns="91425" spcFirstLastPara="1" rIns="91425" wrap="square" tIns="91425">
            <a:normAutofit/>
          </a:bodyPr>
          <a:lstStyle>
            <a:lvl1pPr indent="-311150" lvl="0" marL="457200" algn="l">
              <a:lnSpc>
                <a:spcPct val="90000"/>
              </a:lnSpc>
              <a:spcBef>
                <a:spcPts val="0"/>
              </a:spcBef>
              <a:spcAft>
                <a:spcPts val="0"/>
              </a:spcAft>
              <a:buClr>
                <a:schemeClr val="dk1"/>
              </a:buClr>
              <a:buSzPts val="1300"/>
              <a:buChar char="●"/>
              <a:defRPr/>
            </a:lvl1pPr>
            <a:lvl2pPr indent="-298450" lvl="1" marL="914400" algn="l">
              <a:lnSpc>
                <a:spcPct val="90000"/>
              </a:lnSpc>
              <a:spcBef>
                <a:spcPts val="0"/>
              </a:spcBef>
              <a:spcAft>
                <a:spcPts val="0"/>
              </a:spcAft>
              <a:buClr>
                <a:schemeClr val="dk1"/>
              </a:buClr>
              <a:buSzPts val="1100"/>
              <a:buChar char="○"/>
              <a:defRPr/>
            </a:lvl2pPr>
            <a:lvl3pPr indent="-298450" lvl="2" marL="1371600" algn="l">
              <a:lnSpc>
                <a:spcPct val="90000"/>
              </a:lnSpc>
              <a:spcBef>
                <a:spcPts val="0"/>
              </a:spcBef>
              <a:spcAft>
                <a:spcPts val="0"/>
              </a:spcAft>
              <a:buClr>
                <a:schemeClr val="dk1"/>
              </a:buClr>
              <a:buSzPts val="1100"/>
              <a:buChar char="■"/>
              <a:defRPr/>
            </a:lvl3pPr>
            <a:lvl4pPr indent="-298450" lvl="3" marL="1828800" algn="l">
              <a:lnSpc>
                <a:spcPct val="90000"/>
              </a:lnSpc>
              <a:spcBef>
                <a:spcPts val="0"/>
              </a:spcBef>
              <a:spcAft>
                <a:spcPts val="0"/>
              </a:spcAft>
              <a:buClr>
                <a:schemeClr val="dk1"/>
              </a:buClr>
              <a:buSzPts val="1100"/>
              <a:buChar char="●"/>
              <a:defRPr/>
            </a:lvl4pPr>
            <a:lvl5pPr indent="-298450" lvl="4" marL="2286000" algn="l">
              <a:lnSpc>
                <a:spcPct val="90000"/>
              </a:lnSpc>
              <a:spcBef>
                <a:spcPts val="0"/>
              </a:spcBef>
              <a:spcAft>
                <a:spcPts val="0"/>
              </a:spcAft>
              <a:buClr>
                <a:schemeClr val="dk1"/>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42" name="Google Shape;42;p63"/>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algn="r">
              <a:buClr>
                <a:srgbClr val="757575"/>
              </a:buClr>
              <a:buSzPts val="1200"/>
              <a:buFont typeface="Arial"/>
              <a:buNone/>
              <a:defRPr b="0" i="0" sz="1200" u="none" cap="none" strike="noStrike">
                <a:solidFill>
                  <a:srgbClr val="757575"/>
                </a:solidFill>
                <a:latin typeface="Arial"/>
                <a:ea typeface="Arial"/>
                <a:cs typeface="Arial"/>
                <a:sym typeface="Arial"/>
              </a:defRPr>
            </a:lvl1pPr>
            <a:lvl2pPr indent="0" lvl="1" marL="0" algn="r">
              <a:buClr>
                <a:srgbClr val="757575"/>
              </a:buClr>
              <a:buSzPts val="1200"/>
              <a:buFont typeface="Arial"/>
              <a:buNone/>
              <a:defRPr b="0" i="0" sz="1200" u="none" cap="none" strike="noStrike">
                <a:solidFill>
                  <a:srgbClr val="757575"/>
                </a:solidFill>
                <a:latin typeface="Arial"/>
                <a:ea typeface="Arial"/>
                <a:cs typeface="Arial"/>
                <a:sym typeface="Arial"/>
              </a:defRPr>
            </a:lvl2pPr>
            <a:lvl3pPr indent="0" lvl="2" marL="0" algn="r">
              <a:buClr>
                <a:srgbClr val="757575"/>
              </a:buClr>
              <a:buSzPts val="1200"/>
              <a:buFont typeface="Arial"/>
              <a:buNone/>
              <a:defRPr b="0" i="0" sz="1200" u="none" cap="none" strike="noStrike">
                <a:solidFill>
                  <a:srgbClr val="757575"/>
                </a:solidFill>
                <a:latin typeface="Arial"/>
                <a:ea typeface="Arial"/>
                <a:cs typeface="Arial"/>
                <a:sym typeface="Arial"/>
              </a:defRPr>
            </a:lvl3pPr>
            <a:lvl4pPr indent="0" lvl="3" marL="0" algn="r">
              <a:buClr>
                <a:srgbClr val="757575"/>
              </a:buClr>
              <a:buSzPts val="1200"/>
              <a:buFont typeface="Arial"/>
              <a:buNone/>
              <a:defRPr b="0" i="0" sz="1200" u="none" cap="none" strike="noStrike">
                <a:solidFill>
                  <a:srgbClr val="757575"/>
                </a:solidFill>
                <a:latin typeface="Arial"/>
                <a:ea typeface="Arial"/>
                <a:cs typeface="Arial"/>
                <a:sym typeface="Arial"/>
              </a:defRPr>
            </a:lvl4pPr>
            <a:lvl5pPr indent="0" lvl="4" marL="0" algn="r">
              <a:buClr>
                <a:srgbClr val="757575"/>
              </a:buClr>
              <a:buSzPts val="1200"/>
              <a:buFont typeface="Arial"/>
              <a:buNone/>
              <a:defRPr b="0" i="0" sz="1200" u="none" cap="none" strike="noStrike">
                <a:solidFill>
                  <a:srgbClr val="757575"/>
                </a:solidFill>
                <a:latin typeface="Arial"/>
                <a:ea typeface="Arial"/>
                <a:cs typeface="Arial"/>
                <a:sym typeface="Arial"/>
              </a:defRPr>
            </a:lvl5pPr>
            <a:lvl6pPr indent="0" lvl="5" marL="0" algn="r">
              <a:buClr>
                <a:srgbClr val="757575"/>
              </a:buClr>
              <a:buSzPts val="1200"/>
              <a:buFont typeface="Arial"/>
              <a:buNone/>
              <a:defRPr b="0" i="0" sz="1200" u="none" cap="none" strike="noStrike">
                <a:solidFill>
                  <a:srgbClr val="757575"/>
                </a:solidFill>
                <a:latin typeface="Arial"/>
                <a:ea typeface="Arial"/>
                <a:cs typeface="Arial"/>
                <a:sym typeface="Arial"/>
              </a:defRPr>
            </a:lvl6pPr>
            <a:lvl7pPr indent="0" lvl="6" marL="0" algn="r">
              <a:buClr>
                <a:srgbClr val="757575"/>
              </a:buClr>
              <a:buSzPts val="1200"/>
              <a:buFont typeface="Arial"/>
              <a:buNone/>
              <a:defRPr b="0" i="0" sz="1200" u="none" cap="none" strike="noStrike">
                <a:solidFill>
                  <a:srgbClr val="757575"/>
                </a:solidFill>
                <a:latin typeface="Arial"/>
                <a:ea typeface="Arial"/>
                <a:cs typeface="Arial"/>
                <a:sym typeface="Arial"/>
              </a:defRPr>
            </a:lvl7pPr>
            <a:lvl8pPr indent="0" lvl="7" marL="0" algn="r">
              <a:buClr>
                <a:srgbClr val="757575"/>
              </a:buClr>
              <a:buSzPts val="1200"/>
              <a:buFont typeface="Arial"/>
              <a:buNone/>
              <a:defRPr b="0" i="0" sz="1200" u="none" cap="none" strike="noStrike">
                <a:solidFill>
                  <a:srgbClr val="757575"/>
                </a:solidFill>
                <a:latin typeface="Arial"/>
                <a:ea typeface="Arial"/>
                <a:cs typeface="Arial"/>
                <a:sym typeface="Arial"/>
              </a:defRPr>
            </a:lvl8pPr>
            <a:lvl9pPr indent="0" lvl="8" marL="0" algn="r">
              <a:buClr>
                <a:srgbClr val="757575"/>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6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6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sp>
        <p:nvSpPr>
          <p:cNvPr id="50" name="Google Shape;50;p65"/>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5"/>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52" name="Google Shape;52;p6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6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66"/>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66"/>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6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6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67"/>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67"/>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5" name="Google Shape;65;p67"/>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67"/>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7" name="Google Shape;67;p67"/>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6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1" name="Shape 71"/>
        <p:cNvGrpSpPr/>
        <p:nvPr/>
      </p:nvGrpSpPr>
      <p:grpSpPr>
        <a:xfrm>
          <a:off x="0" y="0"/>
          <a:ext cx="0" cy="0"/>
          <a:chOff x="0" y="0"/>
          <a:chExt cx="0" cy="0"/>
        </a:xfrm>
      </p:grpSpPr>
      <p:sp>
        <p:nvSpPr>
          <p:cNvPr id="72" name="Google Shape;72;p68"/>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68"/>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4" name="Google Shape;74;p68"/>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5" name="Google Shape;75;p6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8" name="Shape 78"/>
        <p:cNvGrpSpPr/>
        <p:nvPr/>
      </p:nvGrpSpPr>
      <p:grpSpPr>
        <a:xfrm>
          <a:off x="0" y="0"/>
          <a:ext cx="0" cy="0"/>
          <a:chOff x="0" y="0"/>
          <a:chExt cx="0" cy="0"/>
        </a:xfrm>
      </p:grpSpPr>
      <p:sp>
        <p:nvSpPr>
          <p:cNvPr id="79" name="Google Shape;79;p69"/>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69"/>
          <p:cNvSpPr/>
          <p:nvPr>
            <p:ph idx="2" type="pic"/>
          </p:nvPr>
        </p:nvSpPr>
        <p:spPr>
          <a:xfrm>
            <a:off x="5183188" y="987425"/>
            <a:ext cx="6172200" cy="4873500"/>
          </a:xfrm>
          <a:prstGeom prst="rect">
            <a:avLst/>
          </a:prstGeom>
          <a:noFill/>
          <a:ln>
            <a:noFill/>
          </a:ln>
        </p:spPr>
      </p:sp>
      <p:sp>
        <p:nvSpPr>
          <p:cNvPr id="81" name="Google Shape;81;p69"/>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2" name="Google Shape;82;p6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6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5" name="Shape 85"/>
        <p:cNvGrpSpPr/>
        <p:nvPr/>
      </p:nvGrpSpPr>
      <p:grpSpPr>
        <a:xfrm>
          <a:off x="0" y="0"/>
          <a:ext cx="0" cy="0"/>
          <a:chOff x="0" y="0"/>
          <a:chExt cx="0" cy="0"/>
        </a:xfrm>
      </p:grpSpPr>
      <p:sp>
        <p:nvSpPr>
          <p:cNvPr id="86" name="Google Shape;86;p7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70"/>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7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7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7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1" name="Shape 91"/>
        <p:cNvGrpSpPr/>
        <p:nvPr/>
      </p:nvGrpSpPr>
      <p:grpSpPr>
        <a:xfrm>
          <a:off x="0" y="0"/>
          <a:ext cx="0" cy="0"/>
          <a:chOff x="0" y="0"/>
          <a:chExt cx="0" cy="0"/>
        </a:xfrm>
      </p:grpSpPr>
      <p:sp>
        <p:nvSpPr>
          <p:cNvPr id="92" name="Google Shape;92;p71"/>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71"/>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7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7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7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3" name="Shape 103"/>
        <p:cNvGrpSpPr/>
        <p:nvPr/>
      </p:nvGrpSpPr>
      <p:grpSpPr>
        <a:xfrm>
          <a:off x="0" y="0"/>
          <a:ext cx="0" cy="0"/>
          <a:chOff x="0" y="0"/>
          <a:chExt cx="0" cy="0"/>
        </a:xfrm>
      </p:grpSpPr>
      <p:sp>
        <p:nvSpPr>
          <p:cNvPr id="104" name="Google Shape;104;g3ed83e08d1e_2_2271"/>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g3ed83e08d1e_2_2271"/>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06" name="Google Shape;106;g3ed83e08d1e_2_227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g3ed83e08d1e_2_227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g3ed83e08d1e_2_227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9" name="Shape 109"/>
        <p:cNvGrpSpPr/>
        <p:nvPr/>
      </p:nvGrpSpPr>
      <p:grpSpPr>
        <a:xfrm>
          <a:off x="0" y="0"/>
          <a:ext cx="0" cy="0"/>
          <a:chOff x="0" y="0"/>
          <a:chExt cx="0" cy="0"/>
        </a:xfrm>
      </p:grpSpPr>
      <p:sp>
        <p:nvSpPr>
          <p:cNvPr id="110" name="Google Shape;110;g3ed83e08d1e_2_227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g3ed83e08d1e_2_227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g3ed83e08d1e_2_227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g3ed83e08d1e_2_227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4" name="Shape 114"/>
        <p:cNvGrpSpPr/>
        <p:nvPr/>
      </p:nvGrpSpPr>
      <p:grpSpPr>
        <a:xfrm>
          <a:off x="0" y="0"/>
          <a:ext cx="0" cy="0"/>
          <a:chOff x="0" y="0"/>
          <a:chExt cx="0" cy="0"/>
        </a:xfrm>
      </p:grpSpPr>
      <p:sp>
        <p:nvSpPr>
          <p:cNvPr id="115" name="Google Shape;115;g3ed83e08d1e_2_228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g3ed83e08d1e_2_228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g3ed83e08d1e_2_228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8" name="Shape 118"/>
        <p:cNvGrpSpPr/>
        <p:nvPr/>
      </p:nvGrpSpPr>
      <p:grpSpPr>
        <a:xfrm>
          <a:off x="0" y="0"/>
          <a:ext cx="0" cy="0"/>
          <a:chOff x="0" y="0"/>
          <a:chExt cx="0" cy="0"/>
        </a:xfrm>
      </p:grpSpPr>
      <p:sp>
        <p:nvSpPr>
          <p:cNvPr id="119" name="Google Shape;119;g3ed83e08d1e_2_2286"/>
          <p:cNvSpPr/>
          <p:nvPr/>
        </p:nvSpPr>
        <p:spPr>
          <a:xfrm>
            <a:off x="0" y="0"/>
            <a:ext cx="57519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20" name="Google Shape;120;g3ed83e08d1e_2_2286"/>
          <p:cNvSpPr/>
          <p:nvPr/>
        </p:nvSpPr>
        <p:spPr>
          <a:xfrm>
            <a:off x="1" y="58834"/>
            <a:ext cx="5751356" cy="5865687"/>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121" name="Google Shape;121;g3ed83e08d1e_2_2286"/>
          <p:cNvSpPr/>
          <p:nvPr/>
        </p:nvSpPr>
        <p:spPr>
          <a:xfrm>
            <a:off x="-167" y="0"/>
            <a:ext cx="5755723" cy="5860653"/>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22" name="Google Shape;122;g3ed83e08d1e_2_2286"/>
          <p:cNvSpPr txBox="1"/>
          <p:nvPr>
            <p:ph type="title"/>
          </p:nvPr>
        </p:nvSpPr>
        <p:spPr>
          <a:xfrm>
            <a:off x="415633" y="667900"/>
            <a:ext cx="4941900" cy="33453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lt1"/>
              </a:buClr>
              <a:buSzPts val="2800"/>
              <a:buFont typeface="Play"/>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123" name="Google Shape;123;g3ed83e08d1e_2_2286"/>
          <p:cNvSpPr txBox="1"/>
          <p:nvPr>
            <p:ph idx="1" type="body"/>
          </p:nvPr>
        </p:nvSpPr>
        <p:spPr>
          <a:xfrm>
            <a:off x="6192900" y="667900"/>
            <a:ext cx="5555100" cy="5464800"/>
          </a:xfrm>
          <a:prstGeom prst="rect">
            <a:avLst/>
          </a:prstGeom>
          <a:noFill/>
          <a:ln>
            <a:noFill/>
          </a:ln>
        </p:spPr>
        <p:txBody>
          <a:bodyPr anchorCtr="0" anchor="t" bIns="91425" lIns="91425" spcFirstLastPara="1" rIns="91425" wrap="square" tIns="91425">
            <a:normAutofit/>
          </a:bodyPr>
          <a:lstStyle>
            <a:lvl1pPr indent="-311150" lvl="0" marL="457200" algn="l">
              <a:lnSpc>
                <a:spcPct val="90000"/>
              </a:lnSpc>
              <a:spcBef>
                <a:spcPts val="0"/>
              </a:spcBef>
              <a:spcAft>
                <a:spcPts val="0"/>
              </a:spcAft>
              <a:buClr>
                <a:schemeClr val="dk1"/>
              </a:buClr>
              <a:buSzPts val="1300"/>
              <a:buChar char="●"/>
              <a:defRPr/>
            </a:lvl1pPr>
            <a:lvl2pPr indent="-298450" lvl="1" marL="914400" algn="l">
              <a:lnSpc>
                <a:spcPct val="90000"/>
              </a:lnSpc>
              <a:spcBef>
                <a:spcPts val="0"/>
              </a:spcBef>
              <a:spcAft>
                <a:spcPts val="0"/>
              </a:spcAft>
              <a:buClr>
                <a:schemeClr val="dk1"/>
              </a:buClr>
              <a:buSzPts val="1100"/>
              <a:buChar char="○"/>
              <a:defRPr/>
            </a:lvl2pPr>
            <a:lvl3pPr indent="-298450" lvl="2" marL="1371600" algn="l">
              <a:lnSpc>
                <a:spcPct val="90000"/>
              </a:lnSpc>
              <a:spcBef>
                <a:spcPts val="0"/>
              </a:spcBef>
              <a:spcAft>
                <a:spcPts val="0"/>
              </a:spcAft>
              <a:buClr>
                <a:schemeClr val="dk1"/>
              </a:buClr>
              <a:buSzPts val="1100"/>
              <a:buChar char="■"/>
              <a:defRPr/>
            </a:lvl3pPr>
            <a:lvl4pPr indent="-298450" lvl="3" marL="1828800" algn="l">
              <a:lnSpc>
                <a:spcPct val="90000"/>
              </a:lnSpc>
              <a:spcBef>
                <a:spcPts val="0"/>
              </a:spcBef>
              <a:spcAft>
                <a:spcPts val="0"/>
              </a:spcAft>
              <a:buClr>
                <a:schemeClr val="dk1"/>
              </a:buClr>
              <a:buSzPts val="1100"/>
              <a:buChar char="●"/>
              <a:defRPr/>
            </a:lvl4pPr>
            <a:lvl5pPr indent="-298450" lvl="4" marL="2286000" algn="l">
              <a:lnSpc>
                <a:spcPct val="90000"/>
              </a:lnSpc>
              <a:spcBef>
                <a:spcPts val="0"/>
              </a:spcBef>
              <a:spcAft>
                <a:spcPts val="0"/>
              </a:spcAft>
              <a:buClr>
                <a:schemeClr val="dk1"/>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124" name="Google Shape;124;g3ed83e08d1e_2_2286"/>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5" name="Shape 125"/>
        <p:cNvGrpSpPr/>
        <p:nvPr/>
      </p:nvGrpSpPr>
      <p:grpSpPr>
        <a:xfrm>
          <a:off x="0" y="0"/>
          <a:ext cx="0" cy="0"/>
          <a:chOff x="0" y="0"/>
          <a:chExt cx="0" cy="0"/>
        </a:xfrm>
      </p:grpSpPr>
      <p:sp>
        <p:nvSpPr>
          <p:cNvPr id="126" name="Google Shape;126;g3ed83e08d1e_2_2293"/>
          <p:cNvSpPr/>
          <p:nvPr/>
        </p:nvSpPr>
        <p:spPr>
          <a:xfrm>
            <a:off x="0" y="0"/>
            <a:ext cx="12192000" cy="17028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27" name="Google Shape;127;g3ed83e08d1e_2_2293"/>
          <p:cNvSpPr txBox="1"/>
          <p:nvPr>
            <p:ph type="title"/>
          </p:nvPr>
        </p:nvSpPr>
        <p:spPr>
          <a:xfrm>
            <a:off x="415633" y="667900"/>
            <a:ext cx="11360700" cy="8316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lt1"/>
              </a:buClr>
              <a:buSzPts val="2800"/>
              <a:buFont typeface="Play"/>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128" name="Google Shape;128;g3ed83e08d1e_2_2293"/>
          <p:cNvSpPr txBox="1"/>
          <p:nvPr>
            <p:ph idx="1" type="body"/>
          </p:nvPr>
        </p:nvSpPr>
        <p:spPr>
          <a:xfrm>
            <a:off x="415600" y="2007600"/>
            <a:ext cx="5333100" cy="4101600"/>
          </a:xfrm>
          <a:prstGeom prst="rect">
            <a:avLst/>
          </a:prstGeom>
          <a:noFill/>
          <a:ln>
            <a:noFill/>
          </a:ln>
        </p:spPr>
        <p:txBody>
          <a:bodyPr anchorCtr="0" anchor="t" bIns="91425" lIns="91425" spcFirstLastPara="1" rIns="91425" wrap="square" tIns="91425">
            <a:normAutofit/>
          </a:bodyPr>
          <a:lstStyle>
            <a:lvl1pPr indent="-311150" lvl="0" marL="457200" algn="l">
              <a:lnSpc>
                <a:spcPct val="90000"/>
              </a:lnSpc>
              <a:spcBef>
                <a:spcPts val="0"/>
              </a:spcBef>
              <a:spcAft>
                <a:spcPts val="0"/>
              </a:spcAft>
              <a:buClr>
                <a:schemeClr val="dk1"/>
              </a:buClr>
              <a:buSzPts val="1300"/>
              <a:buChar char="●"/>
              <a:defRPr/>
            </a:lvl1pPr>
            <a:lvl2pPr indent="-298450" lvl="1" marL="914400" algn="l">
              <a:lnSpc>
                <a:spcPct val="90000"/>
              </a:lnSpc>
              <a:spcBef>
                <a:spcPts val="0"/>
              </a:spcBef>
              <a:spcAft>
                <a:spcPts val="0"/>
              </a:spcAft>
              <a:buClr>
                <a:schemeClr val="dk1"/>
              </a:buClr>
              <a:buSzPts val="1100"/>
              <a:buChar char="○"/>
              <a:defRPr/>
            </a:lvl2pPr>
            <a:lvl3pPr indent="-298450" lvl="2" marL="1371600" algn="l">
              <a:lnSpc>
                <a:spcPct val="90000"/>
              </a:lnSpc>
              <a:spcBef>
                <a:spcPts val="0"/>
              </a:spcBef>
              <a:spcAft>
                <a:spcPts val="0"/>
              </a:spcAft>
              <a:buClr>
                <a:schemeClr val="dk1"/>
              </a:buClr>
              <a:buSzPts val="1100"/>
              <a:buChar char="■"/>
              <a:defRPr/>
            </a:lvl3pPr>
            <a:lvl4pPr indent="-298450" lvl="3" marL="1828800" algn="l">
              <a:lnSpc>
                <a:spcPct val="90000"/>
              </a:lnSpc>
              <a:spcBef>
                <a:spcPts val="0"/>
              </a:spcBef>
              <a:spcAft>
                <a:spcPts val="0"/>
              </a:spcAft>
              <a:buClr>
                <a:schemeClr val="dk1"/>
              </a:buClr>
              <a:buSzPts val="1100"/>
              <a:buChar char="●"/>
              <a:defRPr/>
            </a:lvl4pPr>
            <a:lvl5pPr indent="-298450" lvl="4" marL="2286000" algn="l">
              <a:lnSpc>
                <a:spcPct val="90000"/>
              </a:lnSpc>
              <a:spcBef>
                <a:spcPts val="0"/>
              </a:spcBef>
              <a:spcAft>
                <a:spcPts val="0"/>
              </a:spcAft>
              <a:buClr>
                <a:schemeClr val="dk1"/>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129" name="Google Shape;129;g3ed83e08d1e_2_2293"/>
          <p:cNvSpPr txBox="1"/>
          <p:nvPr>
            <p:ph idx="2" type="body"/>
          </p:nvPr>
        </p:nvSpPr>
        <p:spPr>
          <a:xfrm>
            <a:off x="6443200" y="2007600"/>
            <a:ext cx="5333100" cy="4101600"/>
          </a:xfrm>
          <a:prstGeom prst="rect">
            <a:avLst/>
          </a:prstGeom>
          <a:noFill/>
          <a:ln>
            <a:noFill/>
          </a:ln>
        </p:spPr>
        <p:txBody>
          <a:bodyPr anchorCtr="0" anchor="t" bIns="91425" lIns="91425" spcFirstLastPara="1" rIns="91425" wrap="square" tIns="91425">
            <a:normAutofit/>
          </a:bodyPr>
          <a:lstStyle>
            <a:lvl1pPr indent="-311150" lvl="0" marL="457200" algn="l">
              <a:lnSpc>
                <a:spcPct val="90000"/>
              </a:lnSpc>
              <a:spcBef>
                <a:spcPts val="0"/>
              </a:spcBef>
              <a:spcAft>
                <a:spcPts val="0"/>
              </a:spcAft>
              <a:buClr>
                <a:schemeClr val="dk1"/>
              </a:buClr>
              <a:buSzPts val="1300"/>
              <a:buChar char="●"/>
              <a:defRPr/>
            </a:lvl1pPr>
            <a:lvl2pPr indent="-298450" lvl="1" marL="914400" algn="l">
              <a:lnSpc>
                <a:spcPct val="90000"/>
              </a:lnSpc>
              <a:spcBef>
                <a:spcPts val="0"/>
              </a:spcBef>
              <a:spcAft>
                <a:spcPts val="0"/>
              </a:spcAft>
              <a:buClr>
                <a:schemeClr val="dk1"/>
              </a:buClr>
              <a:buSzPts val="1100"/>
              <a:buChar char="○"/>
              <a:defRPr/>
            </a:lvl2pPr>
            <a:lvl3pPr indent="-298450" lvl="2" marL="1371600" algn="l">
              <a:lnSpc>
                <a:spcPct val="90000"/>
              </a:lnSpc>
              <a:spcBef>
                <a:spcPts val="0"/>
              </a:spcBef>
              <a:spcAft>
                <a:spcPts val="0"/>
              </a:spcAft>
              <a:buClr>
                <a:schemeClr val="dk1"/>
              </a:buClr>
              <a:buSzPts val="1100"/>
              <a:buChar char="■"/>
              <a:defRPr/>
            </a:lvl3pPr>
            <a:lvl4pPr indent="-298450" lvl="3" marL="1828800" algn="l">
              <a:lnSpc>
                <a:spcPct val="90000"/>
              </a:lnSpc>
              <a:spcBef>
                <a:spcPts val="0"/>
              </a:spcBef>
              <a:spcAft>
                <a:spcPts val="0"/>
              </a:spcAft>
              <a:buClr>
                <a:schemeClr val="dk1"/>
              </a:buClr>
              <a:buSzPts val="1100"/>
              <a:buChar char="●"/>
              <a:defRPr/>
            </a:lvl4pPr>
            <a:lvl5pPr indent="-298450" lvl="4" marL="2286000" algn="l">
              <a:lnSpc>
                <a:spcPct val="90000"/>
              </a:lnSpc>
              <a:spcBef>
                <a:spcPts val="0"/>
              </a:spcBef>
              <a:spcAft>
                <a:spcPts val="0"/>
              </a:spcAft>
              <a:buClr>
                <a:schemeClr val="dk1"/>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130" name="Google Shape;130;g3ed83e08d1e_2_2293"/>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1" name="Shape 131"/>
        <p:cNvGrpSpPr/>
        <p:nvPr/>
      </p:nvGrpSpPr>
      <p:grpSpPr>
        <a:xfrm>
          <a:off x="0" y="0"/>
          <a:ext cx="0" cy="0"/>
          <a:chOff x="0" y="0"/>
          <a:chExt cx="0" cy="0"/>
        </a:xfrm>
      </p:grpSpPr>
      <p:sp>
        <p:nvSpPr>
          <p:cNvPr id="132" name="Google Shape;132;g3ed83e08d1e_2_229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g3ed83e08d1e_2_229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g3ed83e08d1e_2_229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g3ed83e08d1e_2_229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g3ed83e08d1e_2_229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7" name="Shape 137"/>
        <p:cNvGrpSpPr/>
        <p:nvPr/>
      </p:nvGrpSpPr>
      <p:grpSpPr>
        <a:xfrm>
          <a:off x="0" y="0"/>
          <a:ext cx="0" cy="0"/>
          <a:chOff x="0" y="0"/>
          <a:chExt cx="0" cy="0"/>
        </a:xfrm>
      </p:grpSpPr>
      <p:sp>
        <p:nvSpPr>
          <p:cNvPr id="138" name="Google Shape;138;g3ed83e08d1e_2_2305"/>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g3ed83e08d1e_2_2305"/>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140" name="Google Shape;140;g3ed83e08d1e_2_230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g3ed83e08d1e_2_230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g3ed83e08d1e_2_230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3" name="Shape 143"/>
        <p:cNvGrpSpPr/>
        <p:nvPr/>
      </p:nvGrpSpPr>
      <p:grpSpPr>
        <a:xfrm>
          <a:off x="0" y="0"/>
          <a:ext cx="0" cy="0"/>
          <a:chOff x="0" y="0"/>
          <a:chExt cx="0" cy="0"/>
        </a:xfrm>
      </p:grpSpPr>
      <p:sp>
        <p:nvSpPr>
          <p:cNvPr id="144" name="Google Shape;144;g3ed83e08d1e_2_231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g3ed83e08d1e_2_2311"/>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g3ed83e08d1e_2_2311"/>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 name="Google Shape;147;g3ed83e08d1e_2_231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g3ed83e08d1e_2_231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g3ed83e08d1e_2_231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50" name="Shape 150"/>
        <p:cNvGrpSpPr/>
        <p:nvPr/>
      </p:nvGrpSpPr>
      <p:grpSpPr>
        <a:xfrm>
          <a:off x="0" y="0"/>
          <a:ext cx="0" cy="0"/>
          <a:chOff x="0" y="0"/>
          <a:chExt cx="0" cy="0"/>
        </a:xfrm>
      </p:grpSpPr>
      <p:sp>
        <p:nvSpPr>
          <p:cNvPr id="151" name="Google Shape;151;g3ed83e08d1e_2_2318"/>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g3ed83e08d1e_2_2318"/>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3" name="Google Shape;153;g3ed83e08d1e_2_2318"/>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 name="Google Shape;154;g3ed83e08d1e_2_2318"/>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5" name="Google Shape;155;g3ed83e08d1e_2_2318"/>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 name="Google Shape;156;g3ed83e08d1e_2_231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g3ed83e08d1e_2_23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g3ed83e08d1e_2_23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9" name="Shape 159"/>
        <p:cNvGrpSpPr/>
        <p:nvPr/>
      </p:nvGrpSpPr>
      <p:grpSpPr>
        <a:xfrm>
          <a:off x="0" y="0"/>
          <a:ext cx="0" cy="0"/>
          <a:chOff x="0" y="0"/>
          <a:chExt cx="0" cy="0"/>
        </a:xfrm>
      </p:grpSpPr>
      <p:sp>
        <p:nvSpPr>
          <p:cNvPr id="160" name="Google Shape;160;g3ed83e08d1e_2_2327"/>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1" name="Google Shape;161;g3ed83e08d1e_2_2327"/>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62" name="Google Shape;162;g3ed83e08d1e_2_2327"/>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63" name="Google Shape;163;g3ed83e08d1e_2_232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g3ed83e08d1e_2_232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g3ed83e08d1e_2_23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66" name="Shape 166"/>
        <p:cNvGrpSpPr/>
        <p:nvPr/>
      </p:nvGrpSpPr>
      <p:grpSpPr>
        <a:xfrm>
          <a:off x="0" y="0"/>
          <a:ext cx="0" cy="0"/>
          <a:chOff x="0" y="0"/>
          <a:chExt cx="0" cy="0"/>
        </a:xfrm>
      </p:grpSpPr>
      <p:sp>
        <p:nvSpPr>
          <p:cNvPr id="167" name="Google Shape;167;g3ed83e08d1e_2_2334"/>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g3ed83e08d1e_2_2334"/>
          <p:cNvSpPr/>
          <p:nvPr>
            <p:ph idx="2" type="pic"/>
          </p:nvPr>
        </p:nvSpPr>
        <p:spPr>
          <a:xfrm>
            <a:off x="5183188" y="987425"/>
            <a:ext cx="6172200" cy="4873500"/>
          </a:xfrm>
          <a:prstGeom prst="rect">
            <a:avLst/>
          </a:prstGeom>
          <a:noFill/>
          <a:ln>
            <a:noFill/>
          </a:ln>
        </p:spPr>
      </p:sp>
      <p:sp>
        <p:nvSpPr>
          <p:cNvPr id="169" name="Google Shape;169;g3ed83e08d1e_2_2334"/>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70" name="Google Shape;170;g3ed83e08d1e_2_233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g3ed83e08d1e_2_233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2" name="Google Shape;172;g3ed83e08d1e_2_23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3" name="Shape 173"/>
        <p:cNvGrpSpPr/>
        <p:nvPr/>
      </p:nvGrpSpPr>
      <p:grpSpPr>
        <a:xfrm>
          <a:off x="0" y="0"/>
          <a:ext cx="0" cy="0"/>
          <a:chOff x="0" y="0"/>
          <a:chExt cx="0" cy="0"/>
        </a:xfrm>
      </p:grpSpPr>
      <p:sp>
        <p:nvSpPr>
          <p:cNvPr id="174" name="Google Shape;174;g3ed83e08d1e_2_234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g3ed83e08d1e_2_2341"/>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 name="Google Shape;176;g3ed83e08d1e_2_234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g3ed83e08d1e_2_234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8" name="Google Shape;178;g3ed83e08d1e_2_234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79" name="Shape 179"/>
        <p:cNvGrpSpPr/>
        <p:nvPr/>
      </p:nvGrpSpPr>
      <p:grpSpPr>
        <a:xfrm>
          <a:off x="0" y="0"/>
          <a:ext cx="0" cy="0"/>
          <a:chOff x="0" y="0"/>
          <a:chExt cx="0" cy="0"/>
        </a:xfrm>
      </p:grpSpPr>
      <p:sp>
        <p:nvSpPr>
          <p:cNvPr id="180" name="Google Shape;180;g3ed83e08d1e_2_2347"/>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1" name="Google Shape;181;g3ed83e08d1e_2_2347"/>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 name="Google Shape;182;g3ed83e08d1e_2_234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g3ed83e08d1e_2_234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g3ed83e08d1e_2_234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1" name="Shape 191"/>
        <p:cNvGrpSpPr/>
        <p:nvPr/>
      </p:nvGrpSpPr>
      <p:grpSpPr>
        <a:xfrm>
          <a:off x="0" y="0"/>
          <a:ext cx="0" cy="0"/>
          <a:chOff x="0" y="0"/>
          <a:chExt cx="0" cy="0"/>
        </a:xfrm>
      </p:grpSpPr>
      <p:sp>
        <p:nvSpPr>
          <p:cNvPr id="192" name="Google Shape;192;g3edf2b460e5_4_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3" name="Google Shape;193;g3edf2b460e5_4_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g3edf2b460e5_4_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g3edf2b460e5_4_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6" name="Shape 196"/>
        <p:cNvGrpSpPr/>
        <p:nvPr/>
      </p:nvGrpSpPr>
      <p:grpSpPr>
        <a:xfrm>
          <a:off x="0" y="0"/>
          <a:ext cx="0" cy="0"/>
          <a:chOff x="0" y="0"/>
          <a:chExt cx="0" cy="0"/>
        </a:xfrm>
      </p:grpSpPr>
      <p:sp>
        <p:nvSpPr>
          <p:cNvPr id="197" name="Google Shape;197;g3edf2b460e5_4_1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8" name="Google Shape;198;g3edf2b460e5_4_1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9" name="Google Shape;199;g3edf2b460e5_4_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g3edf2b460e5_4_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g3edf2b460e5_4_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2" name="Shape 202"/>
        <p:cNvGrpSpPr/>
        <p:nvPr/>
      </p:nvGrpSpPr>
      <p:grpSpPr>
        <a:xfrm>
          <a:off x="0" y="0"/>
          <a:ext cx="0" cy="0"/>
          <a:chOff x="0" y="0"/>
          <a:chExt cx="0" cy="0"/>
        </a:xfrm>
      </p:grpSpPr>
      <p:sp>
        <p:nvSpPr>
          <p:cNvPr id="203" name="Google Shape;203;g3edf2b460e5_4_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4" name="Google Shape;204;g3edf2b460e5_4_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 name="Google Shape;205;g3edf2b460e5_4_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g3edf2b460e5_4_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g3edf2b460e5_4_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8" name="Shape 208"/>
        <p:cNvGrpSpPr/>
        <p:nvPr/>
      </p:nvGrpSpPr>
      <p:grpSpPr>
        <a:xfrm>
          <a:off x="0" y="0"/>
          <a:ext cx="0" cy="0"/>
          <a:chOff x="0" y="0"/>
          <a:chExt cx="0" cy="0"/>
        </a:xfrm>
      </p:grpSpPr>
      <p:sp>
        <p:nvSpPr>
          <p:cNvPr id="209" name="Google Shape;209;g3edf2b460e5_4_2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g3edf2b460e5_4_2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11" name="Google Shape;211;g3edf2b460e5_4_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2" name="Google Shape;212;g3edf2b460e5_4_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3" name="Google Shape;213;g3edf2b460e5_4_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4" name="Shape 214"/>
        <p:cNvGrpSpPr/>
        <p:nvPr/>
      </p:nvGrpSpPr>
      <p:grpSpPr>
        <a:xfrm>
          <a:off x="0" y="0"/>
          <a:ext cx="0" cy="0"/>
          <a:chOff x="0" y="0"/>
          <a:chExt cx="0" cy="0"/>
        </a:xfrm>
      </p:grpSpPr>
      <p:sp>
        <p:nvSpPr>
          <p:cNvPr id="215" name="Google Shape;215;g3edf2b460e5_4_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6" name="Google Shape;216;g3edf2b460e5_4_2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7" name="Google Shape;217;g3edf2b460e5_4_2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8" name="Google Shape;218;g3edf2b460e5_4_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9" name="Google Shape;219;g3edf2b460e5_4_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g3edf2b460e5_4_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21" name="Shape 221"/>
        <p:cNvGrpSpPr/>
        <p:nvPr/>
      </p:nvGrpSpPr>
      <p:grpSpPr>
        <a:xfrm>
          <a:off x="0" y="0"/>
          <a:ext cx="0" cy="0"/>
          <a:chOff x="0" y="0"/>
          <a:chExt cx="0" cy="0"/>
        </a:xfrm>
      </p:grpSpPr>
      <p:sp>
        <p:nvSpPr>
          <p:cNvPr id="222" name="Google Shape;222;g3edf2b460e5_4_3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3" name="Google Shape;223;g3edf2b460e5_4_3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24" name="Google Shape;224;g3edf2b460e5_4_3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5" name="Google Shape;225;g3edf2b460e5_4_3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26" name="Google Shape;226;g3edf2b460e5_4_3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 name="Google Shape;227;g3edf2b460e5_4_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g3edf2b460e5_4_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g3edf2b460e5_4_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0" name="Shape 230"/>
        <p:cNvGrpSpPr/>
        <p:nvPr/>
      </p:nvGrpSpPr>
      <p:grpSpPr>
        <a:xfrm>
          <a:off x="0" y="0"/>
          <a:ext cx="0" cy="0"/>
          <a:chOff x="0" y="0"/>
          <a:chExt cx="0" cy="0"/>
        </a:xfrm>
      </p:grpSpPr>
      <p:sp>
        <p:nvSpPr>
          <p:cNvPr id="231" name="Google Shape;231;g3edf2b460e5_4_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g3edf2b460e5_4_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3" name="Google Shape;233;g3edf2b460e5_4_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34" name="Shape 234"/>
        <p:cNvGrpSpPr/>
        <p:nvPr/>
      </p:nvGrpSpPr>
      <p:grpSpPr>
        <a:xfrm>
          <a:off x="0" y="0"/>
          <a:ext cx="0" cy="0"/>
          <a:chOff x="0" y="0"/>
          <a:chExt cx="0" cy="0"/>
        </a:xfrm>
      </p:grpSpPr>
      <p:sp>
        <p:nvSpPr>
          <p:cNvPr id="235" name="Google Shape;235;g3edf2b460e5_4_4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6" name="Google Shape;236;g3edf2b460e5_4_4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37" name="Google Shape;237;g3edf2b460e5_4_4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8" name="Google Shape;238;g3edf2b460e5_4_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g3edf2b460e5_4_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0" name="Google Shape;240;g3edf2b460e5_4_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41" name="Shape 241"/>
        <p:cNvGrpSpPr/>
        <p:nvPr/>
      </p:nvGrpSpPr>
      <p:grpSpPr>
        <a:xfrm>
          <a:off x="0" y="0"/>
          <a:ext cx="0" cy="0"/>
          <a:chOff x="0" y="0"/>
          <a:chExt cx="0" cy="0"/>
        </a:xfrm>
      </p:grpSpPr>
      <p:sp>
        <p:nvSpPr>
          <p:cNvPr id="242" name="Google Shape;242;g3edf2b460e5_4_5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 name="Google Shape;243;g3edf2b460e5_4_56"/>
          <p:cNvSpPr/>
          <p:nvPr>
            <p:ph idx="2" type="pic"/>
          </p:nvPr>
        </p:nvSpPr>
        <p:spPr>
          <a:xfrm>
            <a:off x="5183188" y="987425"/>
            <a:ext cx="6172200" cy="4873625"/>
          </a:xfrm>
          <a:prstGeom prst="rect">
            <a:avLst/>
          </a:prstGeom>
          <a:noFill/>
          <a:ln>
            <a:noFill/>
          </a:ln>
        </p:spPr>
      </p:sp>
      <p:sp>
        <p:nvSpPr>
          <p:cNvPr id="244" name="Google Shape;244;g3edf2b460e5_4_5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45" name="Google Shape;245;g3edf2b460e5_4_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6" name="Google Shape;246;g3edf2b460e5_4_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7" name="Google Shape;247;g3edf2b460e5_4_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8" name="Shape 248"/>
        <p:cNvGrpSpPr/>
        <p:nvPr/>
      </p:nvGrpSpPr>
      <p:grpSpPr>
        <a:xfrm>
          <a:off x="0" y="0"/>
          <a:ext cx="0" cy="0"/>
          <a:chOff x="0" y="0"/>
          <a:chExt cx="0" cy="0"/>
        </a:xfrm>
      </p:grpSpPr>
      <p:sp>
        <p:nvSpPr>
          <p:cNvPr id="249" name="Google Shape;249;g3edf2b460e5_4_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g3edf2b460e5_4_6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 name="Google Shape;251;g3edf2b460e5_4_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2" name="Google Shape;252;g3edf2b460e5_4_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3" name="Google Shape;253;g3edf2b460e5_4_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54" name="Shape 254"/>
        <p:cNvGrpSpPr/>
        <p:nvPr/>
      </p:nvGrpSpPr>
      <p:grpSpPr>
        <a:xfrm>
          <a:off x="0" y="0"/>
          <a:ext cx="0" cy="0"/>
          <a:chOff x="0" y="0"/>
          <a:chExt cx="0" cy="0"/>
        </a:xfrm>
      </p:grpSpPr>
      <p:sp>
        <p:nvSpPr>
          <p:cNvPr id="255" name="Google Shape;255;g3edf2b460e5_4_6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g3edf2b460e5_4_6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 name="Google Shape;257;g3edf2b460e5_4_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g3edf2b460e5_4_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9" name="Google Shape;259;g3edf2b460e5_4_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6" name="Shape 266"/>
        <p:cNvGrpSpPr/>
        <p:nvPr/>
      </p:nvGrpSpPr>
      <p:grpSpPr>
        <a:xfrm>
          <a:off x="0" y="0"/>
          <a:ext cx="0" cy="0"/>
          <a:chOff x="0" y="0"/>
          <a:chExt cx="0" cy="0"/>
        </a:xfrm>
      </p:grpSpPr>
      <p:sp>
        <p:nvSpPr>
          <p:cNvPr id="267" name="Google Shape;267;g3ee0adc8e96_2_6"/>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268" name="Google Shape;268;g3ee0adc8e96_2_6"/>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269" name="Google Shape;269;g3ee0adc8e96_2_6"/>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0" name="Shape 270"/>
        <p:cNvGrpSpPr/>
        <p:nvPr/>
      </p:nvGrpSpPr>
      <p:grpSpPr>
        <a:xfrm>
          <a:off x="0" y="0"/>
          <a:ext cx="0" cy="0"/>
          <a:chOff x="0" y="0"/>
          <a:chExt cx="0" cy="0"/>
        </a:xfrm>
      </p:grpSpPr>
      <p:sp>
        <p:nvSpPr>
          <p:cNvPr id="271" name="Google Shape;271;g3ee0adc8e96_2_10"/>
          <p:cNvSpPr txBox="1"/>
          <p:nvPr>
            <p:ph type="ctrTitle"/>
          </p:nvPr>
        </p:nvSpPr>
        <p:spPr>
          <a:xfrm>
            <a:off x="457200" y="1420283"/>
            <a:ext cx="5181600" cy="980017"/>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272" name="Google Shape;272;g3ee0adc8e96_2_10"/>
          <p:cNvSpPr txBox="1"/>
          <p:nvPr>
            <p:ph idx="1" type="subTitle"/>
          </p:nvPr>
        </p:nvSpPr>
        <p:spPr>
          <a:xfrm>
            <a:off x="914400" y="2590800"/>
            <a:ext cx="4267200" cy="1168400"/>
          </a:xfrm>
          <a:prstGeom prst="rect">
            <a:avLst/>
          </a:prstGeom>
          <a:noFill/>
          <a:ln>
            <a:noFill/>
          </a:ln>
        </p:spPr>
        <p:txBody>
          <a:bodyPr anchorCtr="0" anchor="t" bIns="30475" lIns="60950" spcFirstLastPara="1" rIns="60950" wrap="square" tIns="30475">
            <a:normAutofit/>
          </a:bodyPr>
          <a:lstStyle>
            <a:lvl1pPr lvl="0" algn="ctr">
              <a:spcBef>
                <a:spcPts val="400"/>
              </a:spcBef>
              <a:spcAft>
                <a:spcPts val="0"/>
              </a:spcAft>
              <a:buClr>
                <a:srgbClr val="888888"/>
              </a:buClr>
              <a:buSzPts val="2100"/>
              <a:buNone/>
              <a:defRPr>
                <a:solidFill>
                  <a:srgbClr val="888888"/>
                </a:solidFill>
              </a:defRPr>
            </a:lvl1pPr>
            <a:lvl2pPr lvl="1" algn="ctr">
              <a:spcBef>
                <a:spcPts val="400"/>
              </a:spcBef>
              <a:spcAft>
                <a:spcPts val="0"/>
              </a:spcAft>
              <a:buClr>
                <a:srgbClr val="888888"/>
              </a:buClr>
              <a:buSzPts val="1900"/>
              <a:buNone/>
              <a:defRPr>
                <a:solidFill>
                  <a:srgbClr val="888888"/>
                </a:solidFill>
              </a:defRPr>
            </a:lvl2pPr>
            <a:lvl3pPr lvl="2" algn="ctr">
              <a:spcBef>
                <a:spcPts val="300"/>
              </a:spcBef>
              <a:spcAft>
                <a:spcPts val="0"/>
              </a:spcAft>
              <a:buClr>
                <a:srgbClr val="888888"/>
              </a:buClr>
              <a:buSzPts val="1600"/>
              <a:buNone/>
              <a:defRPr>
                <a:solidFill>
                  <a:srgbClr val="888888"/>
                </a:solidFill>
              </a:defRPr>
            </a:lvl3pPr>
            <a:lvl4pPr lvl="3" algn="ctr">
              <a:spcBef>
                <a:spcPts val="300"/>
              </a:spcBef>
              <a:spcAft>
                <a:spcPts val="0"/>
              </a:spcAft>
              <a:buClr>
                <a:srgbClr val="888888"/>
              </a:buClr>
              <a:buSzPts val="1300"/>
              <a:buNone/>
              <a:defRPr>
                <a:solidFill>
                  <a:srgbClr val="888888"/>
                </a:solidFill>
              </a:defRPr>
            </a:lvl4pPr>
            <a:lvl5pPr lvl="4" algn="ctr">
              <a:spcBef>
                <a:spcPts val="300"/>
              </a:spcBef>
              <a:spcAft>
                <a:spcPts val="0"/>
              </a:spcAft>
              <a:buClr>
                <a:srgbClr val="888888"/>
              </a:buClr>
              <a:buSzPts val="1300"/>
              <a:buNone/>
              <a:defRPr>
                <a:solidFill>
                  <a:srgbClr val="888888"/>
                </a:solidFill>
              </a:defRPr>
            </a:lvl5pPr>
            <a:lvl6pPr lvl="5" algn="ctr">
              <a:spcBef>
                <a:spcPts val="300"/>
              </a:spcBef>
              <a:spcAft>
                <a:spcPts val="0"/>
              </a:spcAft>
              <a:buClr>
                <a:srgbClr val="888888"/>
              </a:buClr>
              <a:buSzPts val="1300"/>
              <a:buNone/>
              <a:defRPr>
                <a:solidFill>
                  <a:srgbClr val="888888"/>
                </a:solidFill>
              </a:defRPr>
            </a:lvl6pPr>
            <a:lvl7pPr lvl="6" algn="ctr">
              <a:spcBef>
                <a:spcPts val="300"/>
              </a:spcBef>
              <a:spcAft>
                <a:spcPts val="0"/>
              </a:spcAft>
              <a:buClr>
                <a:srgbClr val="888888"/>
              </a:buClr>
              <a:buSzPts val="1300"/>
              <a:buNone/>
              <a:defRPr>
                <a:solidFill>
                  <a:srgbClr val="888888"/>
                </a:solidFill>
              </a:defRPr>
            </a:lvl7pPr>
            <a:lvl8pPr lvl="7" algn="ctr">
              <a:spcBef>
                <a:spcPts val="300"/>
              </a:spcBef>
              <a:spcAft>
                <a:spcPts val="0"/>
              </a:spcAft>
              <a:buClr>
                <a:srgbClr val="888888"/>
              </a:buClr>
              <a:buSzPts val="1300"/>
              <a:buNone/>
              <a:defRPr>
                <a:solidFill>
                  <a:srgbClr val="888888"/>
                </a:solidFill>
              </a:defRPr>
            </a:lvl8pPr>
            <a:lvl9pPr lvl="8" algn="ctr">
              <a:spcBef>
                <a:spcPts val="300"/>
              </a:spcBef>
              <a:spcAft>
                <a:spcPts val="0"/>
              </a:spcAft>
              <a:buClr>
                <a:srgbClr val="888888"/>
              </a:buClr>
              <a:buSzPts val="1300"/>
              <a:buNone/>
              <a:defRPr>
                <a:solidFill>
                  <a:srgbClr val="888888"/>
                </a:solidFill>
              </a:defRPr>
            </a:lvl9pPr>
          </a:lstStyle>
          <a:p/>
        </p:txBody>
      </p:sp>
      <p:sp>
        <p:nvSpPr>
          <p:cNvPr id="273" name="Google Shape;273;g3ee0adc8e96_2_10"/>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274" name="Google Shape;274;g3ee0adc8e96_2_10"/>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275" name="Google Shape;275;g3ee0adc8e96_2_10"/>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6" name="Shape 276"/>
        <p:cNvGrpSpPr/>
        <p:nvPr/>
      </p:nvGrpSpPr>
      <p:grpSpPr>
        <a:xfrm>
          <a:off x="0" y="0"/>
          <a:ext cx="0" cy="0"/>
          <a:chOff x="0" y="0"/>
          <a:chExt cx="0" cy="0"/>
        </a:xfrm>
      </p:grpSpPr>
      <p:sp>
        <p:nvSpPr>
          <p:cNvPr id="277" name="Google Shape;277;g3ee0adc8e96_2_16"/>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278" name="Google Shape;278;g3ee0adc8e96_2_16"/>
          <p:cNvSpPr txBox="1"/>
          <p:nvPr>
            <p:ph idx="1" type="body"/>
          </p:nvPr>
        </p:nvSpPr>
        <p:spPr>
          <a:xfrm>
            <a:off x="304800" y="1066800"/>
            <a:ext cx="5486400" cy="3017309"/>
          </a:xfrm>
          <a:prstGeom prst="rect">
            <a:avLst/>
          </a:prstGeom>
          <a:noFill/>
          <a:ln>
            <a:noFill/>
          </a:ln>
        </p:spPr>
        <p:txBody>
          <a:bodyPr anchorCtr="0" anchor="t" bIns="30475" lIns="60950" spcFirstLastPara="1" rIns="60950" wrap="square" tIns="30475">
            <a:normAutofit/>
          </a:bodyPr>
          <a:lstStyle>
            <a:lvl1pPr indent="-304800" lvl="0" marL="457200" algn="l">
              <a:spcBef>
                <a:spcPts val="200"/>
              </a:spcBef>
              <a:spcAft>
                <a:spcPts val="0"/>
              </a:spcAft>
              <a:buClr>
                <a:schemeClr val="dk1"/>
              </a:buClr>
              <a:buSzPts val="1200"/>
              <a:buChar char="•"/>
              <a:defRPr/>
            </a:lvl1pPr>
            <a:lvl2pPr indent="-304800" lvl="1" marL="914400" algn="l">
              <a:spcBef>
                <a:spcPts val="200"/>
              </a:spcBef>
              <a:spcAft>
                <a:spcPts val="0"/>
              </a:spcAft>
              <a:buClr>
                <a:schemeClr val="dk1"/>
              </a:buClr>
              <a:buSzPts val="1200"/>
              <a:buChar char="–"/>
              <a:defRPr/>
            </a:lvl2pPr>
            <a:lvl3pPr indent="-304800" lvl="2" marL="1371600" algn="l">
              <a:spcBef>
                <a:spcPts val="200"/>
              </a:spcBef>
              <a:spcAft>
                <a:spcPts val="0"/>
              </a:spcAft>
              <a:buClr>
                <a:schemeClr val="dk1"/>
              </a:buClr>
              <a:buSzPts val="1200"/>
              <a:buChar char="•"/>
              <a:defRPr/>
            </a:lvl3pPr>
            <a:lvl4pPr indent="-304800" lvl="3" marL="1828800" algn="l">
              <a:spcBef>
                <a:spcPts val="200"/>
              </a:spcBef>
              <a:spcAft>
                <a:spcPts val="0"/>
              </a:spcAft>
              <a:buClr>
                <a:schemeClr val="dk1"/>
              </a:buClr>
              <a:buSzPts val="1200"/>
              <a:buChar char="–"/>
              <a:defRPr/>
            </a:lvl4pPr>
            <a:lvl5pPr indent="-304800" lvl="4" marL="2286000" algn="l">
              <a:spcBef>
                <a:spcPts val="200"/>
              </a:spcBef>
              <a:spcAft>
                <a:spcPts val="0"/>
              </a:spcAft>
              <a:buClr>
                <a:schemeClr val="dk1"/>
              </a:buClr>
              <a:buSzPts val="1200"/>
              <a:buChar char="»"/>
              <a:defRPr/>
            </a:lvl5pPr>
            <a:lvl6pPr indent="-304800" lvl="5" marL="2743200" algn="l">
              <a:spcBef>
                <a:spcPts val="200"/>
              </a:spcBef>
              <a:spcAft>
                <a:spcPts val="0"/>
              </a:spcAft>
              <a:buClr>
                <a:schemeClr val="dk1"/>
              </a:buClr>
              <a:buSzPts val="1200"/>
              <a:buChar char="•"/>
              <a:defRPr/>
            </a:lvl6pPr>
            <a:lvl7pPr indent="-304800" lvl="6" marL="3200400" algn="l">
              <a:spcBef>
                <a:spcPts val="200"/>
              </a:spcBef>
              <a:spcAft>
                <a:spcPts val="0"/>
              </a:spcAft>
              <a:buClr>
                <a:schemeClr val="dk1"/>
              </a:buClr>
              <a:buSzPts val="1200"/>
              <a:buChar char="•"/>
              <a:defRPr/>
            </a:lvl7pPr>
            <a:lvl8pPr indent="-304800" lvl="7" marL="3657600" algn="l">
              <a:spcBef>
                <a:spcPts val="200"/>
              </a:spcBef>
              <a:spcAft>
                <a:spcPts val="0"/>
              </a:spcAft>
              <a:buClr>
                <a:schemeClr val="dk1"/>
              </a:buClr>
              <a:buSzPts val="1200"/>
              <a:buChar char="•"/>
              <a:defRPr/>
            </a:lvl8pPr>
            <a:lvl9pPr indent="-304800" lvl="8" marL="4114800" algn="l">
              <a:spcBef>
                <a:spcPts val="200"/>
              </a:spcBef>
              <a:spcAft>
                <a:spcPts val="0"/>
              </a:spcAft>
              <a:buClr>
                <a:schemeClr val="dk1"/>
              </a:buClr>
              <a:buSzPts val="1200"/>
              <a:buChar char="•"/>
              <a:defRPr/>
            </a:lvl9pPr>
          </a:lstStyle>
          <a:p/>
        </p:txBody>
      </p:sp>
      <p:sp>
        <p:nvSpPr>
          <p:cNvPr id="279" name="Google Shape;279;g3ee0adc8e96_2_16"/>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280" name="Google Shape;280;g3ee0adc8e96_2_16"/>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281" name="Google Shape;281;g3ee0adc8e96_2_16"/>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2" name="Shape 282"/>
        <p:cNvGrpSpPr/>
        <p:nvPr/>
      </p:nvGrpSpPr>
      <p:grpSpPr>
        <a:xfrm>
          <a:off x="0" y="0"/>
          <a:ext cx="0" cy="0"/>
          <a:chOff x="0" y="0"/>
          <a:chExt cx="0" cy="0"/>
        </a:xfrm>
      </p:grpSpPr>
      <p:sp>
        <p:nvSpPr>
          <p:cNvPr id="283" name="Google Shape;283;g3ee0adc8e96_2_22"/>
          <p:cNvSpPr txBox="1"/>
          <p:nvPr>
            <p:ph type="title"/>
          </p:nvPr>
        </p:nvSpPr>
        <p:spPr>
          <a:xfrm>
            <a:off x="481542" y="2937933"/>
            <a:ext cx="5181600" cy="908050"/>
          </a:xfrm>
          <a:prstGeom prst="rect">
            <a:avLst/>
          </a:prstGeom>
          <a:noFill/>
          <a:ln>
            <a:noFill/>
          </a:ln>
        </p:spPr>
        <p:txBody>
          <a:bodyPr anchorCtr="0" anchor="t" bIns="30475" lIns="60950" spcFirstLastPara="1" rIns="60950" wrap="square" tIns="30475">
            <a:normAutofit/>
          </a:bodyPr>
          <a:lstStyle>
            <a:lvl1pPr lvl="0" algn="l">
              <a:spcBef>
                <a:spcPts val="0"/>
              </a:spcBef>
              <a:spcAft>
                <a:spcPts val="0"/>
              </a:spcAft>
              <a:buClr>
                <a:schemeClr val="dk1"/>
              </a:buClr>
              <a:buSzPts val="2700"/>
              <a:buFont typeface="Calibri"/>
              <a:buNone/>
              <a:defRPr b="1" sz="2700" cap="none"/>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284" name="Google Shape;284;g3ee0adc8e96_2_22"/>
          <p:cNvSpPr txBox="1"/>
          <p:nvPr>
            <p:ph idx="1" type="body"/>
          </p:nvPr>
        </p:nvSpPr>
        <p:spPr>
          <a:xfrm>
            <a:off x="481542" y="1937809"/>
            <a:ext cx="5181600" cy="1000125"/>
          </a:xfrm>
          <a:prstGeom prst="rect">
            <a:avLst/>
          </a:prstGeom>
          <a:noFill/>
          <a:ln>
            <a:noFill/>
          </a:ln>
        </p:spPr>
        <p:txBody>
          <a:bodyPr anchorCtr="0" anchor="b" bIns="30475" lIns="60950" spcFirstLastPara="1" rIns="60950" wrap="square" tIns="30475">
            <a:normAutofit/>
          </a:bodyPr>
          <a:lstStyle>
            <a:lvl1pPr indent="-228600" lvl="0" marL="457200" algn="l">
              <a:spcBef>
                <a:spcPts val="300"/>
              </a:spcBef>
              <a:spcAft>
                <a:spcPts val="0"/>
              </a:spcAft>
              <a:buClr>
                <a:srgbClr val="888888"/>
              </a:buClr>
              <a:buSzPts val="1300"/>
              <a:buNone/>
              <a:defRPr sz="1300">
                <a:solidFill>
                  <a:srgbClr val="888888"/>
                </a:solidFill>
              </a:defRPr>
            </a:lvl1pPr>
            <a:lvl2pPr indent="-228600" lvl="1" marL="914400" algn="l">
              <a:spcBef>
                <a:spcPts val="200"/>
              </a:spcBef>
              <a:spcAft>
                <a:spcPts val="0"/>
              </a:spcAft>
              <a:buClr>
                <a:srgbClr val="888888"/>
              </a:buClr>
              <a:buSzPts val="1200"/>
              <a:buNone/>
              <a:defRPr sz="1200">
                <a:solidFill>
                  <a:srgbClr val="888888"/>
                </a:solidFill>
              </a:defRPr>
            </a:lvl2pPr>
            <a:lvl3pPr indent="-228600" lvl="2" marL="1371600" algn="l">
              <a:spcBef>
                <a:spcPts val="200"/>
              </a:spcBef>
              <a:spcAft>
                <a:spcPts val="0"/>
              </a:spcAft>
              <a:buClr>
                <a:srgbClr val="888888"/>
              </a:buClr>
              <a:buSzPts val="1100"/>
              <a:buNone/>
              <a:defRPr sz="1100">
                <a:solidFill>
                  <a:srgbClr val="888888"/>
                </a:solidFill>
              </a:defRPr>
            </a:lvl3pPr>
            <a:lvl4pPr indent="-228600" lvl="3" marL="1828800" algn="l">
              <a:spcBef>
                <a:spcPts val="200"/>
              </a:spcBef>
              <a:spcAft>
                <a:spcPts val="0"/>
              </a:spcAft>
              <a:buClr>
                <a:srgbClr val="888888"/>
              </a:buClr>
              <a:buSzPts val="900"/>
              <a:buNone/>
              <a:defRPr sz="900">
                <a:solidFill>
                  <a:srgbClr val="888888"/>
                </a:solidFill>
              </a:defRPr>
            </a:lvl4pPr>
            <a:lvl5pPr indent="-228600" lvl="4" marL="2286000" algn="l">
              <a:spcBef>
                <a:spcPts val="200"/>
              </a:spcBef>
              <a:spcAft>
                <a:spcPts val="0"/>
              </a:spcAft>
              <a:buClr>
                <a:srgbClr val="888888"/>
              </a:buClr>
              <a:buSzPts val="900"/>
              <a:buNone/>
              <a:defRPr sz="900">
                <a:solidFill>
                  <a:srgbClr val="888888"/>
                </a:solidFill>
              </a:defRPr>
            </a:lvl5pPr>
            <a:lvl6pPr indent="-228600" lvl="5" marL="2743200" algn="l">
              <a:spcBef>
                <a:spcPts val="200"/>
              </a:spcBef>
              <a:spcAft>
                <a:spcPts val="0"/>
              </a:spcAft>
              <a:buClr>
                <a:srgbClr val="888888"/>
              </a:buClr>
              <a:buSzPts val="900"/>
              <a:buNone/>
              <a:defRPr sz="900">
                <a:solidFill>
                  <a:srgbClr val="888888"/>
                </a:solidFill>
              </a:defRPr>
            </a:lvl6pPr>
            <a:lvl7pPr indent="-228600" lvl="6" marL="3200400" algn="l">
              <a:spcBef>
                <a:spcPts val="200"/>
              </a:spcBef>
              <a:spcAft>
                <a:spcPts val="0"/>
              </a:spcAft>
              <a:buClr>
                <a:srgbClr val="888888"/>
              </a:buClr>
              <a:buSzPts val="900"/>
              <a:buNone/>
              <a:defRPr sz="900">
                <a:solidFill>
                  <a:srgbClr val="888888"/>
                </a:solidFill>
              </a:defRPr>
            </a:lvl7pPr>
            <a:lvl8pPr indent="-228600" lvl="7" marL="3657600" algn="l">
              <a:spcBef>
                <a:spcPts val="200"/>
              </a:spcBef>
              <a:spcAft>
                <a:spcPts val="0"/>
              </a:spcAft>
              <a:buClr>
                <a:srgbClr val="888888"/>
              </a:buClr>
              <a:buSzPts val="900"/>
              <a:buNone/>
              <a:defRPr sz="900">
                <a:solidFill>
                  <a:srgbClr val="888888"/>
                </a:solidFill>
              </a:defRPr>
            </a:lvl8pPr>
            <a:lvl9pPr indent="-228600" lvl="8" marL="4114800" algn="l">
              <a:spcBef>
                <a:spcPts val="200"/>
              </a:spcBef>
              <a:spcAft>
                <a:spcPts val="0"/>
              </a:spcAft>
              <a:buClr>
                <a:srgbClr val="888888"/>
              </a:buClr>
              <a:buSzPts val="900"/>
              <a:buNone/>
              <a:defRPr sz="900">
                <a:solidFill>
                  <a:srgbClr val="888888"/>
                </a:solidFill>
              </a:defRPr>
            </a:lvl9pPr>
          </a:lstStyle>
          <a:p/>
        </p:txBody>
      </p:sp>
      <p:sp>
        <p:nvSpPr>
          <p:cNvPr id="285" name="Google Shape;285;g3ee0adc8e96_2_22"/>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286" name="Google Shape;286;g3ee0adc8e96_2_22"/>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287" name="Google Shape;287;g3ee0adc8e96_2_22"/>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88" name="Shape 288"/>
        <p:cNvGrpSpPr/>
        <p:nvPr/>
      </p:nvGrpSpPr>
      <p:grpSpPr>
        <a:xfrm>
          <a:off x="0" y="0"/>
          <a:ext cx="0" cy="0"/>
          <a:chOff x="0" y="0"/>
          <a:chExt cx="0" cy="0"/>
        </a:xfrm>
      </p:grpSpPr>
      <p:sp>
        <p:nvSpPr>
          <p:cNvPr id="289" name="Google Shape;289;g3ee0adc8e96_2_28"/>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290" name="Google Shape;290;g3ee0adc8e96_2_28"/>
          <p:cNvSpPr txBox="1"/>
          <p:nvPr>
            <p:ph idx="1" type="body"/>
          </p:nvPr>
        </p:nvSpPr>
        <p:spPr>
          <a:xfrm>
            <a:off x="304800" y="1066800"/>
            <a:ext cx="2692400" cy="3017309"/>
          </a:xfrm>
          <a:prstGeom prst="rect">
            <a:avLst/>
          </a:prstGeom>
          <a:noFill/>
          <a:ln>
            <a:noFill/>
          </a:ln>
        </p:spPr>
        <p:txBody>
          <a:bodyPr anchorCtr="0" anchor="t" bIns="30475" lIns="60950" spcFirstLastPara="1" rIns="60950" wrap="square" tIns="30475">
            <a:normAutofit/>
          </a:bodyPr>
          <a:lstStyle>
            <a:lvl1pPr indent="-349250" lvl="0" marL="457200" algn="l">
              <a:spcBef>
                <a:spcPts val="400"/>
              </a:spcBef>
              <a:spcAft>
                <a:spcPts val="0"/>
              </a:spcAft>
              <a:buClr>
                <a:schemeClr val="dk1"/>
              </a:buClr>
              <a:buSzPts val="1900"/>
              <a:buChar char="•"/>
              <a:defRPr sz="1900"/>
            </a:lvl1pPr>
            <a:lvl2pPr indent="-330200" lvl="1" marL="914400" algn="l">
              <a:spcBef>
                <a:spcPts val="300"/>
              </a:spcBef>
              <a:spcAft>
                <a:spcPts val="0"/>
              </a:spcAft>
              <a:buClr>
                <a:schemeClr val="dk1"/>
              </a:buClr>
              <a:buSzPts val="1600"/>
              <a:buChar char="–"/>
              <a:defRPr sz="1600"/>
            </a:lvl2pPr>
            <a:lvl3pPr indent="-311150" lvl="2" marL="1371600" algn="l">
              <a:spcBef>
                <a:spcPts val="300"/>
              </a:spcBef>
              <a:spcAft>
                <a:spcPts val="0"/>
              </a:spcAft>
              <a:buClr>
                <a:schemeClr val="dk1"/>
              </a:buClr>
              <a:buSzPts val="1300"/>
              <a:buChar char="•"/>
              <a:defRPr sz="13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291" name="Google Shape;291;g3ee0adc8e96_2_28"/>
          <p:cNvSpPr txBox="1"/>
          <p:nvPr>
            <p:ph idx="2" type="body"/>
          </p:nvPr>
        </p:nvSpPr>
        <p:spPr>
          <a:xfrm>
            <a:off x="3098800" y="1066800"/>
            <a:ext cx="2692400" cy="3017309"/>
          </a:xfrm>
          <a:prstGeom prst="rect">
            <a:avLst/>
          </a:prstGeom>
          <a:noFill/>
          <a:ln>
            <a:noFill/>
          </a:ln>
        </p:spPr>
        <p:txBody>
          <a:bodyPr anchorCtr="0" anchor="t" bIns="30475" lIns="60950" spcFirstLastPara="1" rIns="60950" wrap="square" tIns="30475">
            <a:normAutofit/>
          </a:bodyPr>
          <a:lstStyle>
            <a:lvl1pPr indent="-349250" lvl="0" marL="457200" algn="l">
              <a:spcBef>
                <a:spcPts val="400"/>
              </a:spcBef>
              <a:spcAft>
                <a:spcPts val="0"/>
              </a:spcAft>
              <a:buClr>
                <a:schemeClr val="dk1"/>
              </a:buClr>
              <a:buSzPts val="1900"/>
              <a:buChar char="•"/>
              <a:defRPr sz="1900"/>
            </a:lvl1pPr>
            <a:lvl2pPr indent="-330200" lvl="1" marL="914400" algn="l">
              <a:spcBef>
                <a:spcPts val="300"/>
              </a:spcBef>
              <a:spcAft>
                <a:spcPts val="0"/>
              </a:spcAft>
              <a:buClr>
                <a:schemeClr val="dk1"/>
              </a:buClr>
              <a:buSzPts val="1600"/>
              <a:buChar char="–"/>
              <a:defRPr sz="1600"/>
            </a:lvl2pPr>
            <a:lvl3pPr indent="-311150" lvl="2" marL="1371600" algn="l">
              <a:spcBef>
                <a:spcPts val="300"/>
              </a:spcBef>
              <a:spcAft>
                <a:spcPts val="0"/>
              </a:spcAft>
              <a:buClr>
                <a:schemeClr val="dk1"/>
              </a:buClr>
              <a:buSzPts val="1300"/>
              <a:buChar char="•"/>
              <a:defRPr sz="13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292" name="Google Shape;292;g3ee0adc8e96_2_28"/>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293" name="Google Shape;293;g3ee0adc8e96_2_28"/>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294" name="Google Shape;294;g3ee0adc8e96_2_28"/>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95" name="Shape 295"/>
        <p:cNvGrpSpPr/>
        <p:nvPr/>
      </p:nvGrpSpPr>
      <p:grpSpPr>
        <a:xfrm>
          <a:off x="0" y="0"/>
          <a:ext cx="0" cy="0"/>
          <a:chOff x="0" y="0"/>
          <a:chExt cx="0" cy="0"/>
        </a:xfrm>
      </p:grpSpPr>
      <p:sp>
        <p:nvSpPr>
          <p:cNvPr id="296" name="Google Shape;296;g3ee0adc8e96_2_35"/>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2900"/>
              <a:buFont typeface="Calibri"/>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297" name="Google Shape;297;g3ee0adc8e96_2_35"/>
          <p:cNvSpPr txBox="1"/>
          <p:nvPr>
            <p:ph idx="1" type="body"/>
          </p:nvPr>
        </p:nvSpPr>
        <p:spPr>
          <a:xfrm>
            <a:off x="304800" y="1023409"/>
            <a:ext cx="2693459" cy="426508"/>
          </a:xfrm>
          <a:prstGeom prst="rect">
            <a:avLst/>
          </a:prstGeom>
          <a:noFill/>
          <a:ln>
            <a:noFill/>
          </a:ln>
        </p:spPr>
        <p:txBody>
          <a:bodyPr anchorCtr="0" anchor="b" bIns="30475" lIns="60950" spcFirstLastPara="1" rIns="60950" wrap="square" tIns="30475">
            <a:normAutofit/>
          </a:bodyPr>
          <a:lstStyle>
            <a:lvl1pPr indent="-228600" lvl="0" marL="457200" algn="l">
              <a:spcBef>
                <a:spcPts val="300"/>
              </a:spcBef>
              <a:spcAft>
                <a:spcPts val="0"/>
              </a:spcAft>
              <a:buClr>
                <a:schemeClr val="dk1"/>
              </a:buClr>
              <a:buSzPts val="1600"/>
              <a:buNone/>
              <a:defRPr b="1" sz="1600"/>
            </a:lvl1pPr>
            <a:lvl2pPr indent="-228600" lvl="1" marL="914400" algn="l">
              <a:spcBef>
                <a:spcPts val="300"/>
              </a:spcBef>
              <a:spcAft>
                <a:spcPts val="0"/>
              </a:spcAft>
              <a:buClr>
                <a:schemeClr val="dk1"/>
              </a:buClr>
              <a:buSzPts val="1300"/>
              <a:buNone/>
              <a:defRPr b="1" sz="1300"/>
            </a:lvl2pPr>
            <a:lvl3pPr indent="-228600" lvl="2" marL="1371600" algn="l">
              <a:spcBef>
                <a:spcPts val="200"/>
              </a:spcBef>
              <a:spcAft>
                <a:spcPts val="0"/>
              </a:spcAft>
              <a:buClr>
                <a:schemeClr val="dk1"/>
              </a:buClr>
              <a:buSzPts val="1200"/>
              <a:buNone/>
              <a:defRPr b="1" sz="1200"/>
            </a:lvl3pPr>
            <a:lvl4pPr indent="-228600" lvl="3" marL="1828800" algn="l">
              <a:spcBef>
                <a:spcPts val="200"/>
              </a:spcBef>
              <a:spcAft>
                <a:spcPts val="0"/>
              </a:spcAft>
              <a:buClr>
                <a:schemeClr val="dk1"/>
              </a:buClr>
              <a:buSzPts val="1100"/>
              <a:buNone/>
              <a:defRPr b="1" sz="1100"/>
            </a:lvl4pPr>
            <a:lvl5pPr indent="-228600" lvl="4" marL="2286000" algn="l">
              <a:spcBef>
                <a:spcPts val="200"/>
              </a:spcBef>
              <a:spcAft>
                <a:spcPts val="0"/>
              </a:spcAft>
              <a:buClr>
                <a:schemeClr val="dk1"/>
              </a:buClr>
              <a:buSzPts val="1100"/>
              <a:buNone/>
              <a:defRPr b="1" sz="1100"/>
            </a:lvl5pPr>
            <a:lvl6pPr indent="-228600" lvl="5" marL="2743200" algn="l">
              <a:spcBef>
                <a:spcPts val="200"/>
              </a:spcBef>
              <a:spcAft>
                <a:spcPts val="0"/>
              </a:spcAft>
              <a:buClr>
                <a:schemeClr val="dk1"/>
              </a:buClr>
              <a:buSzPts val="1100"/>
              <a:buNone/>
              <a:defRPr b="1" sz="1100"/>
            </a:lvl6pPr>
            <a:lvl7pPr indent="-228600" lvl="6" marL="3200400" algn="l">
              <a:spcBef>
                <a:spcPts val="200"/>
              </a:spcBef>
              <a:spcAft>
                <a:spcPts val="0"/>
              </a:spcAft>
              <a:buClr>
                <a:schemeClr val="dk1"/>
              </a:buClr>
              <a:buSzPts val="1100"/>
              <a:buNone/>
              <a:defRPr b="1" sz="1100"/>
            </a:lvl7pPr>
            <a:lvl8pPr indent="-228600" lvl="7" marL="3657600" algn="l">
              <a:spcBef>
                <a:spcPts val="200"/>
              </a:spcBef>
              <a:spcAft>
                <a:spcPts val="0"/>
              </a:spcAft>
              <a:buClr>
                <a:schemeClr val="dk1"/>
              </a:buClr>
              <a:buSzPts val="1100"/>
              <a:buNone/>
              <a:defRPr b="1" sz="1100"/>
            </a:lvl8pPr>
            <a:lvl9pPr indent="-228600" lvl="8" marL="4114800" algn="l">
              <a:spcBef>
                <a:spcPts val="200"/>
              </a:spcBef>
              <a:spcAft>
                <a:spcPts val="0"/>
              </a:spcAft>
              <a:buClr>
                <a:schemeClr val="dk1"/>
              </a:buClr>
              <a:buSzPts val="1100"/>
              <a:buNone/>
              <a:defRPr b="1" sz="1100"/>
            </a:lvl9pPr>
          </a:lstStyle>
          <a:p/>
        </p:txBody>
      </p:sp>
      <p:sp>
        <p:nvSpPr>
          <p:cNvPr id="298" name="Google Shape;298;g3ee0adc8e96_2_35"/>
          <p:cNvSpPr txBox="1"/>
          <p:nvPr>
            <p:ph idx="2" type="body"/>
          </p:nvPr>
        </p:nvSpPr>
        <p:spPr>
          <a:xfrm>
            <a:off x="304800" y="1449917"/>
            <a:ext cx="2693459" cy="2634192"/>
          </a:xfrm>
          <a:prstGeom prst="rect">
            <a:avLst/>
          </a:prstGeom>
          <a:noFill/>
          <a:ln>
            <a:noFill/>
          </a:ln>
        </p:spPr>
        <p:txBody>
          <a:bodyPr anchorCtr="0" anchor="t" bIns="30475" lIns="60950" spcFirstLastPara="1" rIns="60950" wrap="square" tIns="30475">
            <a:normAutofit/>
          </a:bodyPr>
          <a:lstStyle>
            <a:lvl1pPr indent="-330200" lvl="0" marL="457200" algn="l">
              <a:spcBef>
                <a:spcPts val="300"/>
              </a:spcBef>
              <a:spcAft>
                <a:spcPts val="0"/>
              </a:spcAft>
              <a:buClr>
                <a:schemeClr val="dk1"/>
              </a:buClr>
              <a:buSzPts val="1600"/>
              <a:buChar char="•"/>
              <a:defRPr sz="1600"/>
            </a:lvl1pPr>
            <a:lvl2pPr indent="-311150" lvl="1" marL="914400" algn="l">
              <a:spcBef>
                <a:spcPts val="300"/>
              </a:spcBef>
              <a:spcAft>
                <a:spcPts val="0"/>
              </a:spcAft>
              <a:buClr>
                <a:schemeClr val="dk1"/>
              </a:buClr>
              <a:buSzPts val="1300"/>
              <a:buChar char="–"/>
              <a:defRPr sz="1300"/>
            </a:lvl2pPr>
            <a:lvl3pPr indent="-304800" lvl="2" marL="1371600" algn="l">
              <a:spcBef>
                <a:spcPts val="200"/>
              </a:spcBef>
              <a:spcAft>
                <a:spcPts val="0"/>
              </a:spcAft>
              <a:buClr>
                <a:schemeClr val="dk1"/>
              </a:buClr>
              <a:buSzPts val="1200"/>
              <a:buChar char="•"/>
              <a:defRPr sz="1200"/>
            </a:lvl3pPr>
            <a:lvl4pPr indent="-298450" lvl="3" marL="1828800" algn="l">
              <a:spcBef>
                <a:spcPts val="200"/>
              </a:spcBef>
              <a:spcAft>
                <a:spcPts val="0"/>
              </a:spcAft>
              <a:buClr>
                <a:schemeClr val="dk1"/>
              </a:buClr>
              <a:buSzPts val="1100"/>
              <a:buChar char="–"/>
              <a:defRPr sz="1100"/>
            </a:lvl4pPr>
            <a:lvl5pPr indent="-298450" lvl="4" marL="2286000" algn="l">
              <a:spcBef>
                <a:spcPts val="200"/>
              </a:spcBef>
              <a:spcAft>
                <a:spcPts val="0"/>
              </a:spcAft>
              <a:buClr>
                <a:schemeClr val="dk1"/>
              </a:buClr>
              <a:buSzPts val="1100"/>
              <a:buChar char="»"/>
              <a:defRPr sz="1100"/>
            </a:lvl5pPr>
            <a:lvl6pPr indent="-298450" lvl="5" marL="2743200" algn="l">
              <a:spcBef>
                <a:spcPts val="200"/>
              </a:spcBef>
              <a:spcAft>
                <a:spcPts val="0"/>
              </a:spcAft>
              <a:buClr>
                <a:schemeClr val="dk1"/>
              </a:buClr>
              <a:buSzPts val="1100"/>
              <a:buChar char="•"/>
              <a:defRPr sz="1100"/>
            </a:lvl6pPr>
            <a:lvl7pPr indent="-298450" lvl="6" marL="3200400" algn="l">
              <a:spcBef>
                <a:spcPts val="200"/>
              </a:spcBef>
              <a:spcAft>
                <a:spcPts val="0"/>
              </a:spcAft>
              <a:buClr>
                <a:schemeClr val="dk1"/>
              </a:buClr>
              <a:buSzPts val="1100"/>
              <a:buChar char="•"/>
              <a:defRPr sz="1100"/>
            </a:lvl7pPr>
            <a:lvl8pPr indent="-298450" lvl="7" marL="3657600" algn="l">
              <a:spcBef>
                <a:spcPts val="200"/>
              </a:spcBef>
              <a:spcAft>
                <a:spcPts val="0"/>
              </a:spcAft>
              <a:buClr>
                <a:schemeClr val="dk1"/>
              </a:buClr>
              <a:buSzPts val="1100"/>
              <a:buChar char="•"/>
              <a:defRPr sz="1100"/>
            </a:lvl8pPr>
            <a:lvl9pPr indent="-298450" lvl="8" marL="4114800" algn="l">
              <a:spcBef>
                <a:spcPts val="200"/>
              </a:spcBef>
              <a:spcAft>
                <a:spcPts val="0"/>
              </a:spcAft>
              <a:buClr>
                <a:schemeClr val="dk1"/>
              </a:buClr>
              <a:buSzPts val="1100"/>
              <a:buChar char="•"/>
              <a:defRPr sz="1100"/>
            </a:lvl9pPr>
          </a:lstStyle>
          <a:p/>
        </p:txBody>
      </p:sp>
      <p:sp>
        <p:nvSpPr>
          <p:cNvPr id="299" name="Google Shape;299;g3ee0adc8e96_2_35"/>
          <p:cNvSpPr txBox="1"/>
          <p:nvPr>
            <p:ph idx="3" type="body"/>
          </p:nvPr>
        </p:nvSpPr>
        <p:spPr>
          <a:xfrm>
            <a:off x="3096683" y="1023409"/>
            <a:ext cx="2694517" cy="426508"/>
          </a:xfrm>
          <a:prstGeom prst="rect">
            <a:avLst/>
          </a:prstGeom>
          <a:noFill/>
          <a:ln>
            <a:noFill/>
          </a:ln>
        </p:spPr>
        <p:txBody>
          <a:bodyPr anchorCtr="0" anchor="b" bIns="30475" lIns="60950" spcFirstLastPara="1" rIns="60950" wrap="square" tIns="30475">
            <a:normAutofit/>
          </a:bodyPr>
          <a:lstStyle>
            <a:lvl1pPr indent="-228600" lvl="0" marL="457200" algn="l">
              <a:spcBef>
                <a:spcPts val="300"/>
              </a:spcBef>
              <a:spcAft>
                <a:spcPts val="0"/>
              </a:spcAft>
              <a:buClr>
                <a:schemeClr val="dk1"/>
              </a:buClr>
              <a:buSzPts val="1600"/>
              <a:buNone/>
              <a:defRPr b="1" sz="1600"/>
            </a:lvl1pPr>
            <a:lvl2pPr indent="-228600" lvl="1" marL="914400" algn="l">
              <a:spcBef>
                <a:spcPts val="300"/>
              </a:spcBef>
              <a:spcAft>
                <a:spcPts val="0"/>
              </a:spcAft>
              <a:buClr>
                <a:schemeClr val="dk1"/>
              </a:buClr>
              <a:buSzPts val="1300"/>
              <a:buNone/>
              <a:defRPr b="1" sz="1300"/>
            </a:lvl2pPr>
            <a:lvl3pPr indent="-228600" lvl="2" marL="1371600" algn="l">
              <a:spcBef>
                <a:spcPts val="200"/>
              </a:spcBef>
              <a:spcAft>
                <a:spcPts val="0"/>
              </a:spcAft>
              <a:buClr>
                <a:schemeClr val="dk1"/>
              </a:buClr>
              <a:buSzPts val="1200"/>
              <a:buNone/>
              <a:defRPr b="1" sz="1200"/>
            </a:lvl3pPr>
            <a:lvl4pPr indent="-228600" lvl="3" marL="1828800" algn="l">
              <a:spcBef>
                <a:spcPts val="200"/>
              </a:spcBef>
              <a:spcAft>
                <a:spcPts val="0"/>
              </a:spcAft>
              <a:buClr>
                <a:schemeClr val="dk1"/>
              </a:buClr>
              <a:buSzPts val="1100"/>
              <a:buNone/>
              <a:defRPr b="1" sz="1100"/>
            </a:lvl4pPr>
            <a:lvl5pPr indent="-228600" lvl="4" marL="2286000" algn="l">
              <a:spcBef>
                <a:spcPts val="200"/>
              </a:spcBef>
              <a:spcAft>
                <a:spcPts val="0"/>
              </a:spcAft>
              <a:buClr>
                <a:schemeClr val="dk1"/>
              </a:buClr>
              <a:buSzPts val="1100"/>
              <a:buNone/>
              <a:defRPr b="1" sz="1100"/>
            </a:lvl5pPr>
            <a:lvl6pPr indent="-228600" lvl="5" marL="2743200" algn="l">
              <a:spcBef>
                <a:spcPts val="200"/>
              </a:spcBef>
              <a:spcAft>
                <a:spcPts val="0"/>
              </a:spcAft>
              <a:buClr>
                <a:schemeClr val="dk1"/>
              </a:buClr>
              <a:buSzPts val="1100"/>
              <a:buNone/>
              <a:defRPr b="1" sz="1100"/>
            </a:lvl6pPr>
            <a:lvl7pPr indent="-228600" lvl="6" marL="3200400" algn="l">
              <a:spcBef>
                <a:spcPts val="200"/>
              </a:spcBef>
              <a:spcAft>
                <a:spcPts val="0"/>
              </a:spcAft>
              <a:buClr>
                <a:schemeClr val="dk1"/>
              </a:buClr>
              <a:buSzPts val="1100"/>
              <a:buNone/>
              <a:defRPr b="1" sz="1100"/>
            </a:lvl7pPr>
            <a:lvl8pPr indent="-228600" lvl="7" marL="3657600" algn="l">
              <a:spcBef>
                <a:spcPts val="200"/>
              </a:spcBef>
              <a:spcAft>
                <a:spcPts val="0"/>
              </a:spcAft>
              <a:buClr>
                <a:schemeClr val="dk1"/>
              </a:buClr>
              <a:buSzPts val="1100"/>
              <a:buNone/>
              <a:defRPr b="1" sz="1100"/>
            </a:lvl8pPr>
            <a:lvl9pPr indent="-228600" lvl="8" marL="4114800" algn="l">
              <a:spcBef>
                <a:spcPts val="200"/>
              </a:spcBef>
              <a:spcAft>
                <a:spcPts val="0"/>
              </a:spcAft>
              <a:buClr>
                <a:schemeClr val="dk1"/>
              </a:buClr>
              <a:buSzPts val="1100"/>
              <a:buNone/>
              <a:defRPr b="1" sz="1100"/>
            </a:lvl9pPr>
          </a:lstStyle>
          <a:p/>
        </p:txBody>
      </p:sp>
      <p:sp>
        <p:nvSpPr>
          <p:cNvPr id="300" name="Google Shape;300;g3ee0adc8e96_2_35"/>
          <p:cNvSpPr txBox="1"/>
          <p:nvPr>
            <p:ph idx="4" type="body"/>
          </p:nvPr>
        </p:nvSpPr>
        <p:spPr>
          <a:xfrm>
            <a:off x="3096683" y="1449917"/>
            <a:ext cx="2694517" cy="2634192"/>
          </a:xfrm>
          <a:prstGeom prst="rect">
            <a:avLst/>
          </a:prstGeom>
          <a:noFill/>
          <a:ln>
            <a:noFill/>
          </a:ln>
        </p:spPr>
        <p:txBody>
          <a:bodyPr anchorCtr="0" anchor="t" bIns="30475" lIns="60950" spcFirstLastPara="1" rIns="60950" wrap="square" tIns="30475">
            <a:normAutofit/>
          </a:bodyPr>
          <a:lstStyle>
            <a:lvl1pPr indent="-330200" lvl="0" marL="457200" algn="l">
              <a:spcBef>
                <a:spcPts val="300"/>
              </a:spcBef>
              <a:spcAft>
                <a:spcPts val="0"/>
              </a:spcAft>
              <a:buClr>
                <a:schemeClr val="dk1"/>
              </a:buClr>
              <a:buSzPts val="1600"/>
              <a:buChar char="•"/>
              <a:defRPr sz="1600"/>
            </a:lvl1pPr>
            <a:lvl2pPr indent="-311150" lvl="1" marL="914400" algn="l">
              <a:spcBef>
                <a:spcPts val="300"/>
              </a:spcBef>
              <a:spcAft>
                <a:spcPts val="0"/>
              </a:spcAft>
              <a:buClr>
                <a:schemeClr val="dk1"/>
              </a:buClr>
              <a:buSzPts val="1300"/>
              <a:buChar char="–"/>
              <a:defRPr sz="1300"/>
            </a:lvl2pPr>
            <a:lvl3pPr indent="-304800" lvl="2" marL="1371600" algn="l">
              <a:spcBef>
                <a:spcPts val="200"/>
              </a:spcBef>
              <a:spcAft>
                <a:spcPts val="0"/>
              </a:spcAft>
              <a:buClr>
                <a:schemeClr val="dk1"/>
              </a:buClr>
              <a:buSzPts val="1200"/>
              <a:buChar char="•"/>
              <a:defRPr sz="1200"/>
            </a:lvl3pPr>
            <a:lvl4pPr indent="-298450" lvl="3" marL="1828800" algn="l">
              <a:spcBef>
                <a:spcPts val="200"/>
              </a:spcBef>
              <a:spcAft>
                <a:spcPts val="0"/>
              </a:spcAft>
              <a:buClr>
                <a:schemeClr val="dk1"/>
              </a:buClr>
              <a:buSzPts val="1100"/>
              <a:buChar char="–"/>
              <a:defRPr sz="1100"/>
            </a:lvl4pPr>
            <a:lvl5pPr indent="-298450" lvl="4" marL="2286000" algn="l">
              <a:spcBef>
                <a:spcPts val="200"/>
              </a:spcBef>
              <a:spcAft>
                <a:spcPts val="0"/>
              </a:spcAft>
              <a:buClr>
                <a:schemeClr val="dk1"/>
              </a:buClr>
              <a:buSzPts val="1100"/>
              <a:buChar char="»"/>
              <a:defRPr sz="1100"/>
            </a:lvl5pPr>
            <a:lvl6pPr indent="-298450" lvl="5" marL="2743200" algn="l">
              <a:spcBef>
                <a:spcPts val="200"/>
              </a:spcBef>
              <a:spcAft>
                <a:spcPts val="0"/>
              </a:spcAft>
              <a:buClr>
                <a:schemeClr val="dk1"/>
              </a:buClr>
              <a:buSzPts val="1100"/>
              <a:buChar char="•"/>
              <a:defRPr sz="1100"/>
            </a:lvl6pPr>
            <a:lvl7pPr indent="-298450" lvl="6" marL="3200400" algn="l">
              <a:spcBef>
                <a:spcPts val="200"/>
              </a:spcBef>
              <a:spcAft>
                <a:spcPts val="0"/>
              </a:spcAft>
              <a:buClr>
                <a:schemeClr val="dk1"/>
              </a:buClr>
              <a:buSzPts val="1100"/>
              <a:buChar char="•"/>
              <a:defRPr sz="1100"/>
            </a:lvl7pPr>
            <a:lvl8pPr indent="-298450" lvl="7" marL="3657600" algn="l">
              <a:spcBef>
                <a:spcPts val="200"/>
              </a:spcBef>
              <a:spcAft>
                <a:spcPts val="0"/>
              </a:spcAft>
              <a:buClr>
                <a:schemeClr val="dk1"/>
              </a:buClr>
              <a:buSzPts val="1100"/>
              <a:buChar char="•"/>
              <a:defRPr sz="1100"/>
            </a:lvl8pPr>
            <a:lvl9pPr indent="-298450" lvl="8" marL="4114800" algn="l">
              <a:spcBef>
                <a:spcPts val="200"/>
              </a:spcBef>
              <a:spcAft>
                <a:spcPts val="0"/>
              </a:spcAft>
              <a:buClr>
                <a:schemeClr val="dk1"/>
              </a:buClr>
              <a:buSzPts val="1100"/>
              <a:buChar char="•"/>
              <a:defRPr sz="1100"/>
            </a:lvl9pPr>
          </a:lstStyle>
          <a:p/>
        </p:txBody>
      </p:sp>
      <p:sp>
        <p:nvSpPr>
          <p:cNvPr id="301" name="Google Shape;301;g3ee0adc8e96_2_35"/>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02" name="Google Shape;302;g3ee0adc8e96_2_35"/>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03" name="Google Shape;303;g3ee0adc8e96_2_35"/>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4" name="Shape 304"/>
        <p:cNvGrpSpPr/>
        <p:nvPr/>
      </p:nvGrpSpPr>
      <p:grpSpPr>
        <a:xfrm>
          <a:off x="0" y="0"/>
          <a:ext cx="0" cy="0"/>
          <a:chOff x="0" y="0"/>
          <a:chExt cx="0" cy="0"/>
        </a:xfrm>
      </p:grpSpPr>
      <p:sp>
        <p:nvSpPr>
          <p:cNvPr id="305" name="Google Shape;305;g3ee0adc8e96_2_44"/>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306" name="Google Shape;306;g3ee0adc8e96_2_44"/>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07" name="Google Shape;307;g3ee0adc8e96_2_44"/>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08" name="Google Shape;308;g3ee0adc8e96_2_44"/>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09" name="Shape 309"/>
        <p:cNvGrpSpPr/>
        <p:nvPr/>
      </p:nvGrpSpPr>
      <p:grpSpPr>
        <a:xfrm>
          <a:off x="0" y="0"/>
          <a:ext cx="0" cy="0"/>
          <a:chOff x="0" y="0"/>
          <a:chExt cx="0" cy="0"/>
        </a:xfrm>
      </p:grpSpPr>
      <p:sp>
        <p:nvSpPr>
          <p:cNvPr id="310" name="Google Shape;310;g3ee0adc8e96_2_49"/>
          <p:cNvSpPr txBox="1"/>
          <p:nvPr>
            <p:ph type="title"/>
          </p:nvPr>
        </p:nvSpPr>
        <p:spPr>
          <a:xfrm>
            <a:off x="304800" y="182033"/>
            <a:ext cx="2005542" cy="774700"/>
          </a:xfrm>
          <a:prstGeom prst="rect">
            <a:avLst/>
          </a:prstGeom>
          <a:noFill/>
          <a:ln>
            <a:noFill/>
          </a:ln>
        </p:spPr>
        <p:txBody>
          <a:bodyPr anchorCtr="0" anchor="b" bIns="30475" lIns="60950" spcFirstLastPara="1" rIns="60950" wrap="square" tIns="30475">
            <a:normAutofit/>
          </a:bodyPr>
          <a:lstStyle>
            <a:lvl1pPr lvl="0" algn="l">
              <a:spcBef>
                <a:spcPts val="0"/>
              </a:spcBef>
              <a:spcAft>
                <a:spcPts val="0"/>
              </a:spcAft>
              <a:buClr>
                <a:schemeClr val="dk1"/>
              </a:buClr>
              <a:buSzPts val="1300"/>
              <a:buFont typeface="Calibri"/>
              <a:buNone/>
              <a:defRPr b="1" sz="1300"/>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311" name="Google Shape;311;g3ee0adc8e96_2_49"/>
          <p:cNvSpPr txBox="1"/>
          <p:nvPr>
            <p:ph idx="1" type="body"/>
          </p:nvPr>
        </p:nvSpPr>
        <p:spPr>
          <a:xfrm>
            <a:off x="2383367" y="182033"/>
            <a:ext cx="3407833" cy="3902075"/>
          </a:xfrm>
          <a:prstGeom prst="rect">
            <a:avLst/>
          </a:prstGeom>
          <a:noFill/>
          <a:ln>
            <a:noFill/>
          </a:ln>
        </p:spPr>
        <p:txBody>
          <a:bodyPr anchorCtr="0" anchor="t" bIns="30475" lIns="60950" spcFirstLastPara="1" rIns="60950" wrap="square" tIns="30475">
            <a:normAutofit/>
          </a:bodyPr>
          <a:lstStyle>
            <a:lvl1pPr indent="-361950" lvl="0" marL="457200" algn="l">
              <a:spcBef>
                <a:spcPts val="400"/>
              </a:spcBef>
              <a:spcAft>
                <a:spcPts val="0"/>
              </a:spcAft>
              <a:buClr>
                <a:schemeClr val="dk1"/>
              </a:buClr>
              <a:buSzPts val="2100"/>
              <a:buChar char="•"/>
              <a:defRPr sz="2100"/>
            </a:lvl1pPr>
            <a:lvl2pPr indent="-349250" lvl="1" marL="914400" algn="l">
              <a:spcBef>
                <a:spcPts val="400"/>
              </a:spcBef>
              <a:spcAft>
                <a:spcPts val="0"/>
              </a:spcAft>
              <a:buClr>
                <a:schemeClr val="dk1"/>
              </a:buClr>
              <a:buSzPts val="1900"/>
              <a:buChar char="–"/>
              <a:defRPr sz="1900"/>
            </a:lvl2pPr>
            <a:lvl3pPr indent="-330200" lvl="2" marL="1371600" algn="l">
              <a:spcBef>
                <a:spcPts val="300"/>
              </a:spcBef>
              <a:spcAft>
                <a:spcPts val="0"/>
              </a:spcAft>
              <a:buClr>
                <a:schemeClr val="dk1"/>
              </a:buClr>
              <a:buSzPts val="1600"/>
              <a:buChar char="•"/>
              <a:defRPr sz="1600"/>
            </a:lvl3pPr>
            <a:lvl4pPr indent="-311150" lvl="3" marL="1828800" algn="l">
              <a:spcBef>
                <a:spcPts val="300"/>
              </a:spcBef>
              <a:spcAft>
                <a:spcPts val="0"/>
              </a:spcAft>
              <a:buClr>
                <a:schemeClr val="dk1"/>
              </a:buClr>
              <a:buSzPts val="1300"/>
              <a:buChar char="–"/>
              <a:defRPr sz="1300"/>
            </a:lvl4pPr>
            <a:lvl5pPr indent="-311150" lvl="4" marL="2286000" algn="l">
              <a:spcBef>
                <a:spcPts val="300"/>
              </a:spcBef>
              <a:spcAft>
                <a:spcPts val="0"/>
              </a:spcAft>
              <a:buClr>
                <a:schemeClr val="dk1"/>
              </a:buClr>
              <a:buSzPts val="1300"/>
              <a:buChar char="»"/>
              <a:defRPr sz="1300"/>
            </a:lvl5pPr>
            <a:lvl6pPr indent="-311150" lvl="5" marL="2743200" algn="l">
              <a:spcBef>
                <a:spcPts val="300"/>
              </a:spcBef>
              <a:spcAft>
                <a:spcPts val="0"/>
              </a:spcAft>
              <a:buClr>
                <a:schemeClr val="dk1"/>
              </a:buClr>
              <a:buSzPts val="1300"/>
              <a:buChar char="•"/>
              <a:defRPr sz="1300"/>
            </a:lvl6pPr>
            <a:lvl7pPr indent="-311150" lvl="6" marL="3200400" algn="l">
              <a:spcBef>
                <a:spcPts val="300"/>
              </a:spcBef>
              <a:spcAft>
                <a:spcPts val="0"/>
              </a:spcAft>
              <a:buClr>
                <a:schemeClr val="dk1"/>
              </a:buClr>
              <a:buSzPts val="1300"/>
              <a:buChar char="•"/>
              <a:defRPr sz="1300"/>
            </a:lvl7pPr>
            <a:lvl8pPr indent="-311150" lvl="7" marL="3657600" algn="l">
              <a:spcBef>
                <a:spcPts val="300"/>
              </a:spcBef>
              <a:spcAft>
                <a:spcPts val="0"/>
              </a:spcAft>
              <a:buClr>
                <a:schemeClr val="dk1"/>
              </a:buClr>
              <a:buSzPts val="1300"/>
              <a:buChar char="•"/>
              <a:defRPr sz="1300"/>
            </a:lvl8pPr>
            <a:lvl9pPr indent="-311150" lvl="8" marL="4114800" algn="l">
              <a:spcBef>
                <a:spcPts val="300"/>
              </a:spcBef>
              <a:spcAft>
                <a:spcPts val="0"/>
              </a:spcAft>
              <a:buClr>
                <a:schemeClr val="dk1"/>
              </a:buClr>
              <a:buSzPts val="1300"/>
              <a:buChar char="•"/>
              <a:defRPr sz="1300"/>
            </a:lvl9pPr>
          </a:lstStyle>
          <a:p/>
        </p:txBody>
      </p:sp>
      <p:sp>
        <p:nvSpPr>
          <p:cNvPr id="312" name="Google Shape;312;g3ee0adc8e96_2_49"/>
          <p:cNvSpPr txBox="1"/>
          <p:nvPr>
            <p:ph idx="2" type="body"/>
          </p:nvPr>
        </p:nvSpPr>
        <p:spPr>
          <a:xfrm>
            <a:off x="304800" y="956733"/>
            <a:ext cx="2005542" cy="3127375"/>
          </a:xfrm>
          <a:prstGeom prst="rect">
            <a:avLst/>
          </a:prstGeom>
          <a:noFill/>
          <a:ln>
            <a:noFill/>
          </a:ln>
        </p:spPr>
        <p:txBody>
          <a:bodyPr anchorCtr="0" anchor="t" bIns="30475" lIns="60950" spcFirstLastPara="1" rIns="60950" wrap="square" tIns="30475">
            <a:normAutofit/>
          </a:bodyPr>
          <a:lstStyle>
            <a:lvl1pPr indent="-228600" lvl="0" marL="457200" algn="l">
              <a:spcBef>
                <a:spcPts val="200"/>
              </a:spcBef>
              <a:spcAft>
                <a:spcPts val="0"/>
              </a:spcAft>
              <a:buClr>
                <a:schemeClr val="dk1"/>
              </a:buClr>
              <a:buSzPts val="900"/>
              <a:buNone/>
              <a:defRPr sz="900"/>
            </a:lvl1pPr>
            <a:lvl2pPr indent="-228600" lvl="1" marL="914400" algn="l">
              <a:spcBef>
                <a:spcPts val="200"/>
              </a:spcBef>
              <a:spcAft>
                <a:spcPts val="0"/>
              </a:spcAft>
              <a:buClr>
                <a:schemeClr val="dk1"/>
              </a:buClr>
              <a:buSzPts val="800"/>
              <a:buNone/>
              <a:defRPr sz="800"/>
            </a:lvl2pPr>
            <a:lvl3pPr indent="-228600" lvl="2" marL="1371600" algn="l">
              <a:spcBef>
                <a:spcPts val="100"/>
              </a:spcBef>
              <a:spcAft>
                <a:spcPts val="0"/>
              </a:spcAft>
              <a:buClr>
                <a:schemeClr val="dk1"/>
              </a:buClr>
              <a:buSzPts val="700"/>
              <a:buNone/>
              <a:defRPr sz="700"/>
            </a:lvl3pPr>
            <a:lvl4pPr indent="-228600" lvl="3" marL="1828800" algn="l">
              <a:spcBef>
                <a:spcPts val="100"/>
              </a:spcBef>
              <a:spcAft>
                <a:spcPts val="0"/>
              </a:spcAft>
              <a:buClr>
                <a:schemeClr val="dk1"/>
              </a:buClr>
              <a:buSzPts val="600"/>
              <a:buNone/>
              <a:defRPr sz="600"/>
            </a:lvl4pPr>
            <a:lvl5pPr indent="-228600" lvl="4" marL="2286000" algn="l">
              <a:spcBef>
                <a:spcPts val="100"/>
              </a:spcBef>
              <a:spcAft>
                <a:spcPts val="0"/>
              </a:spcAft>
              <a:buClr>
                <a:schemeClr val="dk1"/>
              </a:buClr>
              <a:buSzPts val="600"/>
              <a:buNone/>
              <a:defRPr sz="600"/>
            </a:lvl5pPr>
            <a:lvl6pPr indent="-228600" lvl="5" marL="2743200" algn="l">
              <a:spcBef>
                <a:spcPts val="100"/>
              </a:spcBef>
              <a:spcAft>
                <a:spcPts val="0"/>
              </a:spcAft>
              <a:buClr>
                <a:schemeClr val="dk1"/>
              </a:buClr>
              <a:buSzPts val="600"/>
              <a:buNone/>
              <a:defRPr sz="600"/>
            </a:lvl6pPr>
            <a:lvl7pPr indent="-228600" lvl="6" marL="3200400" algn="l">
              <a:spcBef>
                <a:spcPts val="100"/>
              </a:spcBef>
              <a:spcAft>
                <a:spcPts val="0"/>
              </a:spcAft>
              <a:buClr>
                <a:schemeClr val="dk1"/>
              </a:buClr>
              <a:buSzPts val="600"/>
              <a:buNone/>
              <a:defRPr sz="600"/>
            </a:lvl7pPr>
            <a:lvl8pPr indent="-228600" lvl="7" marL="3657600" algn="l">
              <a:spcBef>
                <a:spcPts val="100"/>
              </a:spcBef>
              <a:spcAft>
                <a:spcPts val="0"/>
              </a:spcAft>
              <a:buClr>
                <a:schemeClr val="dk1"/>
              </a:buClr>
              <a:buSzPts val="600"/>
              <a:buNone/>
              <a:defRPr sz="600"/>
            </a:lvl8pPr>
            <a:lvl9pPr indent="-228600" lvl="8" marL="4114800" algn="l">
              <a:spcBef>
                <a:spcPts val="100"/>
              </a:spcBef>
              <a:spcAft>
                <a:spcPts val="0"/>
              </a:spcAft>
              <a:buClr>
                <a:schemeClr val="dk1"/>
              </a:buClr>
              <a:buSzPts val="600"/>
              <a:buNone/>
              <a:defRPr sz="600"/>
            </a:lvl9pPr>
          </a:lstStyle>
          <a:p/>
        </p:txBody>
      </p:sp>
      <p:sp>
        <p:nvSpPr>
          <p:cNvPr id="313" name="Google Shape;313;g3ee0adc8e96_2_49"/>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14" name="Google Shape;314;g3ee0adc8e96_2_49"/>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15" name="Google Shape;315;g3ee0adc8e96_2_49"/>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16" name="Shape 316"/>
        <p:cNvGrpSpPr/>
        <p:nvPr/>
      </p:nvGrpSpPr>
      <p:grpSpPr>
        <a:xfrm>
          <a:off x="0" y="0"/>
          <a:ext cx="0" cy="0"/>
          <a:chOff x="0" y="0"/>
          <a:chExt cx="0" cy="0"/>
        </a:xfrm>
      </p:grpSpPr>
      <p:sp>
        <p:nvSpPr>
          <p:cNvPr id="317" name="Google Shape;317;g3ee0adc8e96_2_56"/>
          <p:cNvSpPr txBox="1"/>
          <p:nvPr>
            <p:ph type="title"/>
          </p:nvPr>
        </p:nvSpPr>
        <p:spPr>
          <a:xfrm>
            <a:off x="1194859" y="3200400"/>
            <a:ext cx="3657600" cy="377825"/>
          </a:xfrm>
          <a:prstGeom prst="rect">
            <a:avLst/>
          </a:prstGeom>
          <a:noFill/>
          <a:ln>
            <a:noFill/>
          </a:ln>
        </p:spPr>
        <p:txBody>
          <a:bodyPr anchorCtr="0" anchor="b" bIns="30475" lIns="60950" spcFirstLastPara="1" rIns="60950" wrap="square" tIns="30475">
            <a:normAutofit/>
          </a:bodyPr>
          <a:lstStyle>
            <a:lvl1pPr lvl="0" algn="l">
              <a:spcBef>
                <a:spcPts val="0"/>
              </a:spcBef>
              <a:spcAft>
                <a:spcPts val="0"/>
              </a:spcAft>
              <a:buClr>
                <a:schemeClr val="dk1"/>
              </a:buClr>
              <a:buSzPts val="1300"/>
              <a:buFont typeface="Calibri"/>
              <a:buNone/>
              <a:defRPr b="1" sz="1300"/>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318" name="Google Shape;318;g3ee0adc8e96_2_56"/>
          <p:cNvSpPr/>
          <p:nvPr>
            <p:ph idx="2" type="pic"/>
          </p:nvPr>
        </p:nvSpPr>
        <p:spPr>
          <a:xfrm>
            <a:off x="1194859" y="408517"/>
            <a:ext cx="3657600" cy="2743200"/>
          </a:xfrm>
          <a:prstGeom prst="rect">
            <a:avLst/>
          </a:prstGeom>
          <a:noFill/>
          <a:ln>
            <a:noFill/>
          </a:ln>
        </p:spPr>
      </p:sp>
      <p:sp>
        <p:nvSpPr>
          <p:cNvPr id="319" name="Google Shape;319;g3ee0adc8e96_2_56"/>
          <p:cNvSpPr txBox="1"/>
          <p:nvPr>
            <p:ph idx="1" type="body"/>
          </p:nvPr>
        </p:nvSpPr>
        <p:spPr>
          <a:xfrm>
            <a:off x="1194859" y="3578225"/>
            <a:ext cx="3657600" cy="536575"/>
          </a:xfrm>
          <a:prstGeom prst="rect">
            <a:avLst/>
          </a:prstGeom>
          <a:noFill/>
          <a:ln>
            <a:noFill/>
          </a:ln>
        </p:spPr>
        <p:txBody>
          <a:bodyPr anchorCtr="0" anchor="t" bIns="30475" lIns="60950" spcFirstLastPara="1" rIns="60950" wrap="square" tIns="30475">
            <a:normAutofit/>
          </a:bodyPr>
          <a:lstStyle>
            <a:lvl1pPr indent="-228600" lvl="0" marL="457200" algn="l">
              <a:spcBef>
                <a:spcPts val="200"/>
              </a:spcBef>
              <a:spcAft>
                <a:spcPts val="0"/>
              </a:spcAft>
              <a:buClr>
                <a:schemeClr val="dk1"/>
              </a:buClr>
              <a:buSzPts val="900"/>
              <a:buNone/>
              <a:defRPr sz="900"/>
            </a:lvl1pPr>
            <a:lvl2pPr indent="-228600" lvl="1" marL="914400" algn="l">
              <a:spcBef>
                <a:spcPts val="200"/>
              </a:spcBef>
              <a:spcAft>
                <a:spcPts val="0"/>
              </a:spcAft>
              <a:buClr>
                <a:schemeClr val="dk1"/>
              </a:buClr>
              <a:buSzPts val="800"/>
              <a:buNone/>
              <a:defRPr sz="800"/>
            </a:lvl2pPr>
            <a:lvl3pPr indent="-228600" lvl="2" marL="1371600" algn="l">
              <a:spcBef>
                <a:spcPts val="100"/>
              </a:spcBef>
              <a:spcAft>
                <a:spcPts val="0"/>
              </a:spcAft>
              <a:buClr>
                <a:schemeClr val="dk1"/>
              </a:buClr>
              <a:buSzPts val="700"/>
              <a:buNone/>
              <a:defRPr sz="700"/>
            </a:lvl3pPr>
            <a:lvl4pPr indent="-228600" lvl="3" marL="1828800" algn="l">
              <a:spcBef>
                <a:spcPts val="100"/>
              </a:spcBef>
              <a:spcAft>
                <a:spcPts val="0"/>
              </a:spcAft>
              <a:buClr>
                <a:schemeClr val="dk1"/>
              </a:buClr>
              <a:buSzPts val="600"/>
              <a:buNone/>
              <a:defRPr sz="600"/>
            </a:lvl4pPr>
            <a:lvl5pPr indent="-228600" lvl="4" marL="2286000" algn="l">
              <a:spcBef>
                <a:spcPts val="100"/>
              </a:spcBef>
              <a:spcAft>
                <a:spcPts val="0"/>
              </a:spcAft>
              <a:buClr>
                <a:schemeClr val="dk1"/>
              </a:buClr>
              <a:buSzPts val="600"/>
              <a:buNone/>
              <a:defRPr sz="600"/>
            </a:lvl5pPr>
            <a:lvl6pPr indent="-228600" lvl="5" marL="2743200" algn="l">
              <a:spcBef>
                <a:spcPts val="100"/>
              </a:spcBef>
              <a:spcAft>
                <a:spcPts val="0"/>
              </a:spcAft>
              <a:buClr>
                <a:schemeClr val="dk1"/>
              </a:buClr>
              <a:buSzPts val="600"/>
              <a:buNone/>
              <a:defRPr sz="600"/>
            </a:lvl6pPr>
            <a:lvl7pPr indent="-228600" lvl="6" marL="3200400" algn="l">
              <a:spcBef>
                <a:spcPts val="100"/>
              </a:spcBef>
              <a:spcAft>
                <a:spcPts val="0"/>
              </a:spcAft>
              <a:buClr>
                <a:schemeClr val="dk1"/>
              </a:buClr>
              <a:buSzPts val="600"/>
              <a:buNone/>
              <a:defRPr sz="600"/>
            </a:lvl7pPr>
            <a:lvl8pPr indent="-228600" lvl="7" marL="3657600" algn="l">
              <a:spcBef>
                <a:spcPts val="100"/>
              </a:spcBef>
              <a:spcAft>
                <a:spcPts val="0"/>
              </a:spcAft>
              <a:buClr>
                <a:schemeClr val="dk1"/>
              </a:buClr>
              <a:buSzPts val="600"/>
              <a:buNone/>
              <a:defRPr sz="600"/>
            </a:lvl8pPr>
            <a:lvl9pPr indent="-228600" lvl="8" marL="4114800" algn="l">
              <a:spcBef>
                <a:spcPts val="100"/>
              </a:spcBef>
              <a:spcAft>
                <a:spcPts val="0"/>
              </a:spcAft>
              <a:buClr>
                <a:schemeClr val="dk1"/>
              </a:buClr>
              <a:buSzPts val="600"/>
              <a:buNone/>
              <a:defRPr sz="600"/>
            </a:lvl9pPr>
          </a:lstStyle>
          <a:p/>
        </p:txBody>
      </p:sp>
      <p:sp>
        <p:nvSpPr>
          <p:cNvPr id="320" name="Google Shape;320;g3ee0adc8e96_2_56"/>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21" name="Google Shape;321;g3ee0adc8e96_2_56"/>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22" name="Google Shape;322;g3ee0adc8e96_2_56"/>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23" name="Shape 323"/>
        <p:cNvGrpSpPr/>
        <p:nvPr/>
      </p:nvGrpSpPr>
      <p:grpSpPr>
        <a:xfrm>
          <a:off x="0" y="0"/>
          <a:ext cx="0" cy="0"/>
          <a:chOff x="0" y="0"/>
          <a:chExt cx="0" cy="0"/>
        </a:xfrm>
      </p:grpSpPr>
      <p:sp>
        <p:nvSpPr>
          <p:cNvPr id="324" name="Google Shape;324;g3ee0adc8e96_2_63"/>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325" name="Google Shape;325;g3ee0adc8e96_2_63"/>
          <p:cNvSpPr txBox="1"/>
          <p:nvPr>
            <p:ph idx="1" type="body"/>
          </p:nvPr>
        </p:nvSpPr>
        <p:spPr>
          <a:xfrm rot="5400000">
            <a:off x="1539346" y="-167746"/>
            <a:ext cx="3017309" cy="5486400"/>
          </a:xfrm>
          <a:prstGeom prst="rect">
            <a:avLst/>
          </a:prstGeom>
          <a:noFill/>
          <a:ln>
            <a:noFill/>
          </a:ln>
        </p:spPr>
        <p:txBody>
          <a:bodyPr anchorCtr="0" anchor="t" bIns="30475" lIns="60950" spcFirstLastPara="1" rIns="60950" wrap="square" tIns="30475">
            <a:normAutofit/>
          </a:bodyPr>
          <a:lstStyle>
            <a:lvl1pPr indent="-304800" lvl="0" marL="457200" algn="l">
              <a:spcBef>
                <a:spcPts val="200"/>
              </a:spcBef>
              <a:spcAft>
                <a:spcPts val="0"/>
              </a:spcAft>
              <a:buClr>
                <a:schemeClr val="dk1"/>
              </a:buClr>
              <a:buSzPts val="1200"/>
              <a:buChar char="•"/>
              <a:defRPr/>
            </a:lvl1pPr>
            <a:lvl2pPr indent="-304800" lvl="1" marL="914400" algn="l">
              <a:spcBef>
                <a:spcPts val="200"/>
              </a:spcBef>
              <a:spcAft>
                <a:spcPts val="0"/>
              </a:spcAft>
              <a:buClr>
                <a:schemeClr val="dk1"/>
              </a:buClr>
              <a:buSzPts val="1200"/>
              <a:buChar char="–"/>
              <a:defRPr/>
            </a:lvl2pPr>
            <a:lvl3pPr indent="-304800" lvl="2" marL="1371600" algn="l">
              <a:spcBef>
                <a:spcPts val="200"/>
              </a:spcBef>
              <a:spcAft>
                <a:spcPts val="0"/>
              </a:spcAft>
              <a:buClr>
                <a:schemeClr val="dk1"/>
              </a:buClr>
              <a:buSzPts val="1200"/>
              <a:buChar char="•"/>
              <a:defRPr/>
            </a:lvl3pPr>
            <a:lvl4pPr indent="-304800" lvl="3" marL="1828800" algn="l">
              <a:spcBef>
                <a:spcPts val="200"/>
              </a:spcBef>
              <a:spcAft>
                <a:spcPts val="0"/>
              </a:spcAft>
              <a:buClr>
                <a:schemeClr val="dk1"/>
              </a:buClr>
              <a:buSzPts val="1200"/>
              <a:buChar char="–"/>
              <a:defRPr/>
            </a:lvl4pPr>
            <a:lvl5pPr indent="-304800" lvl="4" marL="2286000" algn="l">
              <a:spcBef>
                <a:spcPts val="200"/>
              </a:spcBef>
              <a:spcAft>
                <a:spcPts val="0"/>
              </a:spcAft>
              <a:buClr>
                <a:schemeClr val="dk1"/>
              </a:buClr>
              <a:buSzPts val="1200"/>
              <a:buChar char="»"/>
              <a:defRPr/>
            </a:lvl5pPr>
            <a:lvl6pPr indent="-304800" lvl="5" marL="2743200" algn="l">
              <a:spcBef>
                <a:spcPts val="200"/>
              </a:spcBef>
              <a:spcAft>
                <a:spcPts val="0"/>
              </a:spcAft>
              <a:buClr>
                <a:schemeClr val="dk1"/>
              </a:buClr>
              <a:buSzPts val="1200"/>
              <a:buChar char="•"/>
              <a:defRPr/>
            </a:lvl6pPr>
            <a:lvl7pPr indent="-304800" lvl="6" marL="3200400" algn="l">
              <a:spcBef>
                <a:spcPts val="200"/>
              </a:spcBef>
              <a:spcAft>
                <a:spcPts val="0"/>
              </a:spcAft>
              <a:buClr>
                <a:schemeClr val="dk1"/>
              </a:buClr>
              <a:buSzPts val="1200"/>
              <a:buChar char="•"/>
              <a:defRPr/>
            </a:lvl7pPr>
            <a:lvl8pPr indent="-304800" lvl="7" marL="3657600" algn="l">
              <a:spcBef>
                <a:spcPts val="200"/>
              </a:spcBef>
              <a:spcAft>
                <a:spcPts val="0"/>
              </a:spcAft>
              <a:buClr>
                <a:schemeClr val="dk1"/>
              </a:buClr>
              <a:buSzPts val="1200"/>
              <a:buChar char="•"/>
              <a:defRPr/>
            </a:lvl8pPr>
            <a:lvl9pPr indent="-304800" lvl="8" marL="4114800" algn="l">
              <a:spcBef>
                <a:spcPts val="200"/>
              </a:spcBef>
              <a:spcAft>
                <a:spcPts val="0"/>
              </a:spcAft>
              <a:buClr>
                <a:schemeClr val="dk1"/>
              </a:buClr>
              <a:buSzPts val="1200"/>
              <a:buChar char="•"/>
              <a:defRPr/>
            </a:lvl9pPr>
          </a:lstStyle>
          <a:p/>
        </p:txBody>
      </p:sp>
      <p:sp>
        <p:nvSpPr>
          <p:cNvPr id="326" name="Google Shape;326;g3ee0adc8e96_2_63"/>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27" name="Google Shape;327;g3ee0adc8e96_2_63"/>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28" name="Google Shape;328;g3ee0adc8e96_2_63"/>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29" name="Shape 329"/>
        <p:cNvGrpSpPr/>
        <p:nvPr/>
      </p:nvGrpSpPr>
      <p:grpSpPr>
        <a:xfrm>
          <a:off x="0" y="0"/>
          <a:ext cx="0" cy="0"/>
          <a:chOff x="0" y="0"/>
          <a:chExt cx="0" cy="0"/>
        </a:xfrm>
      </p:grpSpPr>
      <p:sp>
        <p:nvSpPr>
          <p:cNvPr id="330" name="Google Shape;330;g3ee0adc8e96_2_69"/>
          <p:cNvSpPr txBox="1"/>
          <p:nvPr>
            <p:ph type="title"/>
          </p:nvPr>
        </p:nvSpPr>
        <p:spPr>
          <a:xfrm rot="5400000">
            <a:off x="3154892" y="1447800"/>
            <a:ext cx="3901017" cy="13716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331" name="Google Shape;331;g3ee0adc8e96_2_69"/>
          <p:cNvSpPr txBox="1"/>
          <p:nvPr>
            <p:ph idx="1" type="body"/>
          </p:nvPr>
        </p:nvSpPr>
        <p:spPr>
          <a:xfrm rot="5400000">
            <a:off x="360892" y="127000"/>
            <a:ext cx="3901017" cy="4013200"/>
          </a:xfrm>
          <a:prstGeom prst="rect">
            <a:avLst/>
          </a:prstGeom>
          <a:noFill/>
          <a:ln>
            <a:noFill/>
          </a:ln>
        </p:spPr>
        <p:txBody>
          <a:bodyPr anchorCtr="0" anchor="t" bIns="30475" lIns="60950" spcFirstLastPara="1" rIns="60950" wrap="square" tIns="30475">
            <a:normAutofit/>
          </a:bodyPr>
          <a:lstStyle>
            <a:lvl1pPr indent="-304800" lvl="0" marL="457200" algn="l">
              <a:spcBef>
                <a:spcPts val="200"/>
              </a:spcBef>
              <a:spcAft>
                <a:spcPts val="0"/>
              </a:spcAft>
              <a:buClr>
                <a:schemeClr val="dk1"/>
              </a:buClr>
              <a:buSzPts val="1200"/>
              <a:buChar char="•"/>
              <a:defRPr/>
            </a:lvl1pPr>
            <a:lvl2pPr indent="-304800" lvl="1" marL="914400" algn="l">
              <a:spcBef>
                <a:spcPts val="200"/>
              </a:spcBef>
              <a:spcAft>
                <a:spcPts val="0"/>
              </a:spcAft>
              <a:buClr>
                <a:schemeClr val="dk1"/>
              </a:buClr>
              <a:buSzPts val="1200"/>
              <a:buChar char="–"/>
              <a:defRPr/>
            </a:lvl2pPr>
            <a:lvl3pPr indent="-304800" lvl="2" marL="1371600" algn="l">
              <a:spcBef>
                <a:spcPts val="200"/>
              </a:spcBef>
              <a:spcAft>
                <a:spcPts val="0"/>
              </a:spcAft>
              <a:buClr>
                <a:schemeClr val="dk1"/>
              </a:buClr>
              <a:buSzPts val="1200"/>
              <a:buChar char="•"/>
              <a:defRPr/>
            </a:lvl3pPr>
            <a:lvl4pPr indent="-304800" lvl="3" marL="1828800" algn="l">
              <a:spcBef>
                <a:spcPts val="200"/>
              </a:spcBef>
              <a:spcAft>
                <a:spcPts val="0"/>
              </a:spcAft>
              <a:buClr>
                <a:schemeClr val="dk1"/>
              </a:buClr>
              <a:buSzPts val="1200"/>
              <a:buChar char="–"/>
              <a:defRPr/>
            </a:lvl4pPr>
            <a:lvl5pPr indent="-304800" lvl="4" marL="2286000" algn="l">
              <a:spcBef>
                <a:spcPts val="200"/>
              </a:spcBef>
              <a:spcAft>
                <a:spcPts val="0"/>
              </a:spcAft>
              <a:buClr>
                <a:schemeClr val="dk1"/>
              </a:buClr>
              <a:buSzPts val="1200"/>
              <a:buChar char="»"/>
              <a:defRPr/>
            </a:lvl5pPr>
            <a:lvl6pPr indent="-304800" lvl="5" marL="2743200" algn="l">
              <a:spcBef>
                <a:spcPts val="200"/>
              </a:spcBef>
              <a:spcAft>
                <a:spcPts val="0"/>
              </a:spcAft>
              <a:buClr>
                <a:schemeClr val="dk1"/>
              </a:buClr>
              <a:buSzPts val="1200"/>
              <a:buChar char="•"/>
              <a:defRPr/>
            </a:lvl6pPr>
            <a:lvl7pPr indent="-304800" lvl="6" marL="3200400" algn="l">
              <a:spcBef>
                <a:spcPts val="200"/>
              </a:spcBef>
              <a:spcAft>
                <a:spcPts val="0"/>
              </a:spcAft>
              <a:buClr>
                <a:schemeClr val="dk1"/>
              </a:buClr>
              <a:buSzPts val="1200"/>
              <a:buChar char="•"/>
              <a:defRPr/>
            </a:lvl7pPr>
            <a:lvl8pPr indent="-304800" lvl="7" marL="3657600" algn="l">
              <a:spcBef>
                <a:spcPts val="200"/>
              </a:spcBef>
              <a:spcAft>
                <a:spcPts val="0"/>
              </a:spcAft>
              <a:buClr>
                <a:schemeClr val="dk1"/>
              </a:buClr>
              <a:buSzPts val="1200"/>
              <a:buChar char="•"/>
              <a:defRPr/>
            </a:lvl8pPr>
            <a:lvl9pPr indent="-304800" lvl="8" marL="4114800" algn="l">
              <a:spcBef>
                <a:spcPts val="200"/>
              </a:spcBef>
              <a:spcAft>
                <a:spcPts val="0"/>
              </a:spcAft>
              <a:buClr>
                <a:schemeClr val="dk1"/>
              </a:buClr>
              <a:buSzPts val="1200"/>
              <a:buChar char="•"/>
              <a:defRPr/>
            </a:lvl9pPr>
          </a:lstStyle>
          <a:p/>
        </p:txBody>
      </p:sp>
      <p:sp>
        <p:nvSpPr>
          <p:cNvPr id="332" name="Google Shape;332;g3ee0adc8e96_2_69"/>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33" name="Google Shape;333;g3ee0adc8e96_2_69"/>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34" name="Google Shape;334;g3ee0adc8e96_2_69"/>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41" name="Shape 341"/>
        <p:cNvGrpSpPr/>
        <p:nvPr/>
      </p:nvGrpSpPr>
      <p:grpSpPr>
        <a:xfrm>
          <a:off x="0" y="0"/>
          <a:ext cx="0" cy="0"/>
          <a:chOff x="0" y="0"/>
          <a:chExt cx="0" cy="0"/>
        </a:xfrm>
      </p:grpSpPr>
      <p:sp>
        <p:nvSpPr>
          <p:cNvPr id="342" name="Google Shape;342;g3ee2e5faae5_3_164"/>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3" name="Google Shape;343;g3ee2e5faae5_3_164"/>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44" name="Google Shape;344;g3ee2e5faae5_3_16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5" name="Google Shape;345;g3ee2e5faae5_3_16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6" name="Google Shape;346;g3ee2e5faae5_3_16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7" name="Shape 347"/>
        <p:cNvGrpSpPr/>
        <p:nvPr/>
      </p:nvGrpSpPr>
      <p:grpSpPr>
        <a:xfrm>
          <a:off x="0" y="0"/>
          <a:ext cx="0" cy="0"/>
          <a:chOff x="0" y="0"/>
          <a:chExt cx="0" cy="0"/>
        </a:xfrm>
      </p:grpSpPr>
      <p:sp>
        <p:nvSpPr>
          <p:cNvPr id="348" name="Google Shape;348;g3ee2e5faae5_3_17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9" name="Google Shape;349;g3ee2e5faae5_3_17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0" name="Google Shape;350;g3ee2e5faae5_3_17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1" name="Google Shape;351;g3ee2e5faae5_3_17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52" name="Shape 352"/>
        <p:cNvGrpSpPr/>
        <p:nvPr/>
      </p:nvGrpSpPr>
      <p:grpSpPr>
        <a:xfrm>
          <a:off x="0" y="0"/>
          <a:ext cx="0" cy="0"/>
          <a:chOff x="0" y="0"/>
          <a:chExt cx="0" cy="0"/>
        </a:xfrm>
      </p:grpSpPr>
      <p:sp>
        <p:nvSpPr>
          <p:cNvPr id="353" name="Google Shape;353;g3ee2e5faae5_3_175"/>
          <p:cNvSpPr/>
          <p:nvPr/>
        </p:nvSpPr>
        <p:spPr>
          <a:xfrm>
            <a:off x="0" y="0"/>
            <a:ext cx="12192000" cy="17028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4" name="Google Shape;354;g3ee2e5faae5_3_175"/>
          <p:cNvSpPr txBox="1"/>
          <p:nvPr>
            <p:ph type="title"/>
          </p:nvPr>
        </p:nvSpPr>
        <p:spPr>
          <a:xfrm>
            <a:off x="415633" y="667900"/>
            <a:ext cx="11360700" cy="8316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lt1"/>
              </a:buClr>
              <a:buSzPts val="2800"/>
              <a:buFont typeface="Play"/>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355" name="Google Shape;355;g3ee2e5faae5_3_175"/>
          <p:cNvSpPr txBox="1"/>
          <p:nvPr>
            <p:ph idx="1" type="body"/>
          </p:nvPr>
        </p:nvSpPr>
        <p:spPr>
          <a:xfrm>
            <a:off x="415600" y="2007600"/>
            <a:ext cx="5333100" cy="4101600"/>
          </a:xfrm>
          <a:prstGeom prst="rect">
            <a:avLst/>
          </a:prstGeom>
          <a:noFill/>
          <a:ln>
            <a:noFill/>
          </a:ln>
        </p:spPr>
        <p:txBody>
          <a:bodyPr anchorCtr="0" anchor="t" bIns="91425" lIns="91425" spcFirstLastPara="1" rIns="91425" wrap="square" tIns="91425">
            <a:normAutofit/>
          </a:bodyPr>
          <a:lstStyle>
            <a:lvl1pPr indent="-311150" lvl="0" marL="457200" algn="l">
              <a:lnSpc>
                <a:spcPct val="90000"/>
              </a:lnSpc>
              <a:spcBef>
                <a:spcPts val="0"/>
              </a:spcBef>
              <a:spcAft>
                <a:spcPts val="0"/>
              </a:spcAft>
              <a:buClr>
                <a:schemeClr val="dk1"/>
              </a:buClr>
              <a:buSzPts val="1300"/>
              <a:buChar char="●"/>
              <a:defRPr/>
            </a:lvl1pPr>
            <a:lvl2pPr indent="-298450" lvl="1" marL="914400" algn="l">
              <a:lnSpc>
                <a:spcPct val="90000"/>
              </a:lnSpc>
              <a:spcBef>
                <a:spcPts val="0"/>
              </a:spcBef>
              <a:spcAft>
                <a:spcPts val="0"/>
              </a:spcAft>
              <a:buClr>
                <a:schemeClr val="dk1"/>
              </a:buClr>
              <a:buSzPts val="1100"/>
              <a:buChar char="○"/>
              <a:defRPr/>
            </a:lvl2pPr>
            <a:lvl3pPr indent="-298450" lvl="2" marL="1371600" algn="l">
              <a:lnSpc>
                <a:spcPct val="90000"/>
              </a:lnSpc>
              <a:spcBef>
                <a:spcPts val="0"/>
              </a:spcBef>
              <a:spcAft>
                <a:spcPts val="0"/>
              </a:spcAft>
              <a:buClr>
                <a:schemeClr val="dk1"/>
              </a:buClr>
              <a:buSzPts val="1100"/>
              <a:buChar char="■"/>
              <a:defRPr/>
            </a:lvl3pPr>
            <a:lvl4pPr indent="-298450" lvl="3" marL="1828800" algn="l">
              <a:lnSpc>
                <a:spcPct val="90000"/>
              </a:lnSpc>
              <a:spcBef>
                <a:spcPts val="0"/>
              </a:spcBef>
              <a:spcAft>
                <a:spcPts val="0"/>
              </a:spcAft>
              <a:buClr>
                <a:schemeClr val="dk1"/>
              </a:buClr>
              <a:buSzPts val="1100"/>
              <a:buChar char="●"/>
              <a:defRPr/>
            </a:lvl4pPr>
            <a:lvl5pPr indent="-298450" lvl="4" marL="2286000" algn="l">
              <a:lnSpc>
                <a:spcPct val="90000"/>
              </a:lnSpc>
              <a:spcBef>
                <a:spcPts val="0"/>
              </a:spcBef>
              <a:spcAft>
                <a:spcPts val="0"/>
              </a:spcAft>
              <a:buClr>
                <a:schemeClr val="dk1"/>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356" name="Google Shape;356;g3ee2e5faae5_3_175"/>
          <p:cNvSpPr txBox="1"/>
          <p:nvPr>
            <p:ph idx="2" type="body"/>
          </p:nvPr>
        </p:nvSpPr>
        <p:spPr>
          <a:xfrm>
            <a:off x="6443200" y="2007600"/>
            <a:ext cx="5333100" cy="4101600"/>
          </a:xfrm>
          <a:prstGeom prst="rect">
            <a:avLst/>
          </a:prstGeom>
          <a:noFill/>
          <a:ln>
            <a:noFill/>
          </a:ln>
        </p:spPr>
        <p:txBody>
          <a:bodyPr anchorCtr="0" anchor="t" bIns="91425" lIns="91425" spcFirstLastPara="1" rIns="91425" wrap="square" tIns="91425">
            <a:normAutofit/>
          </a:bodyPr>
          <a:lstStyle>
            <a:lvl1pPr indent="-311150" lvl="0" marL="457200" algn="l">
              <a:lnSpc>
                <a:spcPct val="90000"/>
              </a:lnSpc>
              <a:spcBef>
                <a:spcPts val="0"/>
              </a:spcBef>
              <a:spcAft>
                <a:spcPts val="0"/>
              </a:spcAft>
              <a:buClr>
                <a:schemeClr val="dk1"/>
              </a:buClr>
              <a:buSzPts val="1300"/>
              <a:buChar char="●"/>
              <a:defRPr/>
            </a:lvl1pPr>
            <a:lvl2pPr indent="-298450" lvl="1" marL="914400" algn="l">
              <a:lnSpc>
                <a:spcPct val="90000"/>
              </a:lnSpc>
              <a:spcBef>
                <a:spcPts val="0"/>
              </a:spcBef>
              <a:spcAft>
                <a:spcPts val="0"/>
              </a:spcAft>
              <a:buClr>
                <a:schemeClr val="dk1"/>
              </a:buClr>
              <a:buSzPts val="1100"/>
              <a:buChar char="○"/>
              <a:defRPr/>
            </a:lvl2pPr>
            <a:lvl3pPr indent="-298450" lvl="2" marL="1371600" algn="l">
              <a:lnSpc>
                <a:spcPct val="90000"/>
              </a:lnSpc>
              <a:spcBef>
                <a:spcPts val="0"/>
              </a:spcBef>
              <a:spcAft>
                <a:spcPts val="0"/>
              </a:spcAft>
              <a:buClr>
                <a:schemeClr val="dk1"/>
              </a:buClr>
              <a:buSzPts val="1100"/>
              <a:buChar char="■"/>
              <a:defRPr/>
            </a:lvl3pPr>
            <a:lvl4pPr indent="-298450" lvl="3" marL="1828800" algn="l">
              <a:lnSpc>
                <a:spcPct val="90000"/>
              </a:lnSpc>
              <a:spcBef>
                <a:spcPts val="0"/>
              </a:spcBef>
              <a:spcAft>
                <a:spcPts val="0"/>
              </a:spcAft>
              <a:buClr>
                <a:schemeClr val="dk1"/>
              </a:buClr>
              <a:buSzPts val="1100"/>
              <a:buChar char="●"/>
              <a:defRPr/>
            </a:lvl4pPr>
            <a:lvl5pPr indent="-298450" lvl="4" marL="2286000" algn="l">
              <a:lnSpc>
                <a:spcPct val="90000"/>
              </a:lnSpc>
              <a:spcBef>
                <a:spcPts val="0"/>
              </a:spcBef>
              <a:spcAft>
                <a:spcPts val="0"/>
              </a:spcAft>
              <a:buClr>
                <a:schemeClr val="dk1"/>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357" name="Google Shape;357;g3ee2e5faae5_3_175"/>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8" name="Shape 358"/>
        <p:cNvGrpSpPr/>
        <p:nvPr/>
      </p:nvGrpSpPr>
      <p:grpSpPr>
        <a:xfrm>
          <a:off x="0" y="0"/>
          <a:ext cx="0" cy="0"/>
          <a:chOff x="0" y="0"/>
          <a:chExt cx="0" cy="0"/>
        </a:xfrm>
      </p:grpSpPr>
      <p:sp>
        <p:nvSpPr>
          <p:cNvPr id="359" name="Google Shape;359;g3ee2e5faae5_3_18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0" name="Google Shape;360;g3ee2e5faae5_3_18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1" name="Google Shape;361;g3ee2e5faae5_3_18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62" name="Shape 362"/>
        <p:cNvGrpSpPr/>
        <p:nvPr/>
      </p:nvGrpSpPr>
      <p:grpSpPr>
        <a:xfrm>
          <a:off x="0" y="0"/>
          <a:ext cx="0" cy="0"/>
          <a:chOff x="0" y="0"/>
          <a:chExt cx="0" cy="0"/>
        </a:xfrm>
      </p:grpSpPr>
      <p:sp>
        <p:nvSpPr>
          <p:cNvPr id="363" name="Google Shape;363;g3ee2e5faae5_3_185"/>
          <p:cNvSpPr/>
          <p:nvPr/>
        </p:nvSpPr>
        <p:spPr>
          <a:xfrm>
            <a:off x="0" y="0"/>
            <a:ext cx="57519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64" name="Google Shape;364;g3ee2e5faae5_3_185"/>
          <p:cNvSpPr/>
          <p:nvPr/>
        </p:nvSpPr>
        <p:spPr>
          <a:xfrm>
            <a:off x="1" y="58834"/>
            <a:ext cx="5751356" cy="5865687"/>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365" name="Google Shape;365;g3ee2e5faae5_3_185"/>
          <p:cNvSpPr/>
          <p:nvPr/>
        </p:nvSpPr>
        <p:spPr>
          <a:xfrm>
            <a:off x="-167" y="0"/>
            <a:ext cx="5755723" cy="5860653"/>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366" name="Google Shape;366;g3ee2e5faae5_3_185"/>
          <p:cNvSpPr txBox="1"/>
          <p:nvPr>
            <p:ph type="title"/>
          </p:nvPr>
        </p:nvSpPr>
        <p:spPr>
          <a:xfrm>
            <a:off x="415633" y="667900"/>
            <a:ext cx="4941900" cy="33453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lt1"/>
              </a:buClr>
              <a:buSzPts val="2800"/>
              <a:buFont typeface="Play"/>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367" name="Google Shape;367;g3ee2e5faae5_3_185"/>
          <p:cNvSpPr txBox="1"/>
          <p:nvPr>
            <p:ph idx="1" type="body"/>
          </p:nvPr>
        </p:nvSpPr>
        <p:spPr>
          <a:xfrm>
            <a:off x="6192900" y="667900"/>
            <a:ext cx="5555100" cy="5464800"/>
          </a:xfrm>
          <a:prstGeom prst="rect">
            <a:avLst/>
          </a:prstGeom>
          <a:noFill/>
          <a:ln>
            <a:noFill/>
          </a:ln>
        </p:spPr>
        <p:txBody>
          <a:bodyPr anchorCtr="0" anchor="t" bIns="91425" lIns="91425" spcFirstLastPara="1" rIns="91425" wrap="square" tIns="91425">
            <a:normAutofit/>
          </a:bodyPr>
          <a:lstStyle>
            <a:lvl1pPr indent="-311150" lvl="0" marL="457200" algn="l">
              <a:lnSpc>
                <a:spcPct val="90000"/>
              </a:lnSpc>
              <a:spcBef>
                <a:spcPts val="0"/>
              </a:spcBef>
              <a:spcAft>
                <a:spcPts val="0"/>
              </a:spcAft>
              <a:buClr>
                <a:schemeClr val="dk1"/>
              </a:buClr>
              <a:buSzPts val="1300"/>
              <a:buChar char="●"/>
              <a:defRPr/>
            </a:lvl1pPr>
            <a:lvl2pPr indent="-298450" lvl="1" marL="914400" algn="l">
              <a:lnSpc>
                <a:spcPct val="90000"/>
              </a:lnSpc>
              <a:spcBef>
                <a:spcPts val="0"/>
              </a:spcBef>
              <a:spcAft>
                <a:spcPts val="0"/>
              </a:spcAft>
              <a:buClr>
                <a:schemeClr val="dk1"/>
              </a:buClr>
              <a:buSzPts val="1100"/>
              <a:buChar char="○"/>
              <a:defRPr/>
            </a:lvl2pPr>
            <a:lvl3pPr indent="-298450" lvl="2" marL="1371600" algn="l">
              <a:lnSpc>
                <a:spcPct val="90000"/>
              </a:lnSpc>
              <a:spcBef>
                <a:spcPts val="0"/>
              </a:spcBef>
              <a:spcAft>
                <a:spcPts val="0"/>
              </a:spcAft>
              <a:buClr>
                <a:schemeClr val="dk1"/>
              </a:buClr>
              <a:buSzPts val="1100"/>
              <a:buChar char="■"/>
              <a:defRPr/>
            </a:lvl3pPr>
            <a:lvl4pPr indent="-298450" lvl="3" marL="1828800" algn="l">
              <a:lnSpc>
                <a:spcPct val="90000"/>
              </a:lnSpc>
              <a:spcBef>
                <a:spcPts val="0"/>
              </a:spcBef>
              <a:spcAft>
                <a:spcPts val="0"/>
              </a:spcAft>
              <a:buClr>
                <a:schemeClr val="dk1"/>
              </a:buClr>
              <a:buSzPts val="1100"/>
              <a:buChar char="●"/>
              <a:defRPr/>
            </a:lvl4pPr>
            <a:lvl5pPr indent="-298450" lvl="4" marL="2286000" algn="l">
              <a:lnSpc>
                <a:spcPct val="90000"/>
              </a:lnSpc>
              <a:spcBef>
                <a:spcPts val="0"/>
              </a:spcBef>
              <a:spcAft>
                <a:spcPts val="0"/>
              </a:spcAft>
              <a:buClr>
                <a:schemeClr val="dk1"/>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368" name="Google Shape;368;g3ee2e5faae5_3_185"/>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9" name="Shape 369"/>
        <p:cNvGrpSpPr/>
        <p:nvPr/>
      </p:nvGrpSpPr>
      <p:grpSpPr>
        <a:xfrm>
          <a:off x="0" y="0"/>
          <a:ext cx="0" cy="0"/>
          <a:chOff x="0" y="0"/>
          <a:chExt cx="0" cy="0"/>
        </a:xfrm>
      </p:grpSpPr>
      <p:sp>
        <p:nvSpPr>
          <p:cNvPr id="370" name="Google Shape;370;g3ee2e5faae5_3_19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1" name="Google Shape;371;g3ee2e5faae5_3_19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2" name="Google Shape;372;g3ee2e5faae5_3_19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3" name="Google Shape;373;g3ee2e5faae5_3_19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4" name="Google Shape;374;g3ee2e5faae5_3_19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5" name="Shape 375"/>
        <p:cNvGrpSpPr/>
        <p:nvPr/>
      </p:nvGrpSpPr>
      <p:grpSpPr>
        <a:xfrm>
          <a:off x="0" y="0"/>
          <a:ext cx="0" cy="0"/>
          <a:chOff x="0" y="0"/>
          <a:chExt cx="0" cy="0"/>
        </a:xfrm>
      </p:grpSpPr>
      <p:sp>
        <p:nvSpPr>
          <p:cNvPr id="376" name="Google Shape;376;g3ee2e5faae5_3_198"/>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7" name="Google Shape;377;g3ee2e5faae5_3_198"/>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78" name="Google Shape;378;g3ee2e5faae5_3_19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9" name="Google Shape;379;g3ee2e5faae5_3_19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0" name="Google Shape;380;g3ee2e5faae5_3_19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1" name="Shape 381"/>
        <p:cNvGrpSpPr/>
        <p:nvPr/>
      </p:nvGrpSpPr>
      <p:grpSpPr>
        <a:xfrm>
          <a:off x="0" y="0"/>
          <a:ext cx="0" cy="0"/>
          <a:chOff x="0" y="0"/>
          <a:chExt cx="0" cy="0"/>
        </a:xfrm>
      </p:grpSpPr>
      <p:sp>
        <p:nvSpPr>
          <p:cNvPr id="382" name="Google Shape;382;g3ee2e5faae5_3_20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3" name="Google Shape;383;g3ee2e5faae5_3_204"/>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4" name="Google Shape;384;g3ee2e5faae5_3_204"/>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5" name="Google Shape;385;g3ee2e5faae5_3_20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6" name="Google Shape;386;g3ee2e5faae5_3_20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7" name="Google Shape;387;g3ee2e5faae5_3_20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8" name="Shape 388"/>
        <p:cNvGrpSpPr/>
        <p:nvPr/>
      </p:nvGrpSpPr>
      <p:grpSpPr>
        <a:xfrm>
          <a:off x="0" y="0"/>
          <a:ext cx="0" cy="0"/>
          <a:chOff x="0" y="0"/>
          <a:chExt cx="0" cy="0"/>
        </a:xfrm>
      </p:grpSpPr>
      <p:sp>
        <p:nvSpPr>
          <p:cNvPr id="389" name="Google Shape;389;g3ee2e5faae5_3_211"/>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0" name="Google Shape;390;g3ee2e5faae5_3_211"/>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1" name="Google Shape;391;g3ee2e5faae5_3_211"/>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2" name="Google Shape;392;g3ee2e5faae5_3_211"/>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3" name="Google Shape;393;g3ee2e5faae5_3_211"/>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4" name="Google Shape;394;g3ee2e5faae5_3_21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5" name="Google Shape;395;g3ee2e5faae5_3_21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6" name="Google Shape;396;g3ee2e5faae5_3_21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97" name="Shape 397"/>
        <p:cNvGrpSpPr/>
        <p:nvPr/>
      </p:nvGrpSpPr>
      <p:grpSpPr>
        <a:xfrm>
          <a:off x="0" y="0"/>
          <a:ext cx="0" cy="0"/>
          <a:chOff x="0" y="0"/>
          <a:chExt cx="0" cy="0"/>
        </a:xfrm>
      </p:grpSpPr>
      <p:sp>
        <p:nvSpPr>
          <p:cNvPr id="398" name="Google Shape;398;g3ee2e5faae5_3_220"/>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9" name="Google Shape;399;g3ee2e5faae5_3_220"/>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00" name="Google Shape;400;g3ee2e5faae5_3_220"/>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01" name="Google Shape;401;g3ee2e5faae5_3_22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2" name="Google Shape;402;g3ee2e5faae5_3_22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3" name="Google Shape;403;g3ee2e5faae5_3_22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04" name="Shape 404"/>
        <p:cNvGrpSpPr/>
        <p:nvPr/>
      </p:nvGrpSpPr>
      <p:grpSpPr>
        <a:xfrm>
          <a:off x="0" y="0"/>
          <a:ext cx="0" cy="0"/>
          <a:chOff x="0" y="0"/>
          <a:chExt cx="0" cy="0"/>
        </a:xfrm>
      </p:grpSpPr>
      <p:sp>
        <p:nvSpPr>
          <p:cNvPr id="405" name="Google Shape;405;g3ee2e5faae5_3_227"/>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6" name="Google Shape;406;g3ee2e5faae5_3_227"/>
          <p:cNvSpPr/>
          <p:nvPr>
            <p:ph idx="2" type="pic"/>
          </p:nvPr>
        </p:nvSpPr>
        <p:spPr>
          <a:xfrm>
            <a:off x="5183188" y="987425"/>
            <a:ext cx="6172200" cy="4873500"/>
          </a:xfrm>
          <a:prstGeom prst="rect">
            <a:avLst/>
          </a:prstGeom>
          <a:noFill/>
          <a:ln>
            <a:noFill/>
          </a:ln>
        </p:spPr>
      </p:sp>
      <p:sp>
        <p:nvSpPr>
          <p:cNvPr id="407" name="Google Shape;407;g3ee2e5faae5_3_227"/>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08" name="Google Shape;408;g3ee2e5faae5_3_22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9" name="Google Shape;409;g3ee2e5faae5_3_22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0" name="Google Shape;410;g3ee2e5faae5_3_2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11" name="Shape 411"/>
        <p:cNvGrpSpPr/>
        <p:nvPr/>
      </p:nvGrpSpPr>
      <p:grpSpPr>
        <a:xfrm>
          <a:off x="0" y="0"/>
          <a:ext cx="0" cy="0"/>
          <a:chOff x="0" y="0"/>
          <a:chExt cx="0" cy="0"/>
        </a:xfrm>
      </p:grpSpPr>
      <p:sp>
        <p:nvSpPr>
          <p:cNvPr id="412" name="Google Shape;412;g3ee2e5faae5_3_23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3" name="Google Shape;413;g3ee2e5faae5_3_234"/>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4" name="Google Shape;414;g3ee2e5faae5_3_23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5" name="Google Shape;415;g3ee2e5faae5_3_23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6" name="Google Shape;416;g3ee2e5faae5_3_2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17" name="Shape 417"/>
        <p:cNvGrpSpPr/>
        <p:nvPr/>
      </p:nvGrpSpPr>
      <p:grpSpPr>
        <a:xfrm>
          <a:off x="0" y="0"/>
          <a:ext cx="0" cy="0"/>
          <a:chOff x="0" y="0"/>
          <a:chExt cx="0" cy="0"/>
        </a:xfrm>
      </p:grpSpPr>
      <p:sp>
        <p:nvSpPr>
          <p:cNvPr id="418" name="Google Shape;418;g3ee2e5faae5_3_240"/>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9" name="Google Shape;419;g3ee2e5faae5_3_240"/>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0" name="Google Shape;420;g3ee2e5faae5_3_24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1" name="Google Shape;421;g3ee2e5faae5_3_24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2" name="Google Shape;422;g3ee2e5faae5_3_24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4.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7.xml"/><Relationship Id="rId10" Type="http://schemas.openxmlformats.org/officeDocument/2006/relationships/slideLayout" Target="../slideLayouts/slideLayout36.xml"/><Relationship Id="rId12" Type="http://schemas.openxmlformats.org/officeDocument/2006/relationships/theme" Target="../theme/theme1.xml"/><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9" Type="http://schemas.openxmlformats.org/officeDocument/2006/relationships/slideLayout" Target="../slideLayouts/slideLayout35.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8.xml"/><Relationship Id="rId10" Type="http://schemas.openxmlformats.org/officeDocument/2006/relationships/slideLayout" Target="../slideLayouts/slideLayout47.xml"/><Relationship Id="rId12" Type="http://schemas.openxmlformats.org/officeDocument/2006/relationships/theme" Target="../theme/theme5.xml"/><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9.xml"/><Relationship Id="rId10" Type="http://schemas.openxmlformats.org/officeDocument/2006/relationships/slideLayout" Target="../slideLayouts/slideLayout58.xml"/><Relationship Id="rId13" Type="http://schemas.openxmlformats.org/officeDocument/2006/relationships/slideLayout" Target="../slideLayouts/slideLayout61.xml"/><Relationship Id="rId12" Type="http://schemas.openxmlformats.org/officeDocument/2006/relationships/slideLayout" Target="../slideLayouts/slideLayout60.xml"/><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theme" Target="../theme/theme2.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5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5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5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757575"/>
                </a:solidFill>
                <a:latin typeface="Arial"/>
                <a:ea typeface="Arial"/>
                <a:cs typeface="Arial"/>
                <a:sym typeface="Arial"/>
              </a:defRPr>
            </a:lvl1pPr>
            <a:lvl2pPr indent="0" lvl="1" marL="0" marR="0" algn="r">
              <a:spcBef>
                <a:spcPts val="0"/>
              </a:spcBef>
              <a:buNone/>
              <a:defRPr b="0" i="0" sz="1200" u="none" cap="none" strike="noStrike">
                <a:solidFill>
                  <a:srgbClr val="757575"/>
                </a:solidFill>
                <a:latin typeface="Arial"/>
                <a:ea typeface="Arial"/>
                <a:cs typeface="Arial"/>
                <a:sym typeface="Arial"/>
              </a:defRPr>
            </a:lvl2pPr>
            <a:lvl3pPr indent="0" lvl="2" marL="0" marR="0" algn="r">
              <a:spcBef>
                <a:spcPts val="0"/>
              </a:spcBef>
              <a:buNone/>
              <a:defRPr b="0" i="0" sz="1200" u="none" cap="none" strike="noStrike">
                <a:solidFill>
                  <a:srgbClr val="757575"/>
                </a:solidFill>
                <a:latin typeface="Arial"/>
                <a:ea typeface="Arial"/>
                <a:cs typeface="Arial"/>
                <a:sym typeface="Arial"/>
              </a:defRPr>
            </a:lvl3pPr>
            <a:lvl4pPr indent="0" lvl="3" marL="0" marR="0" algn="r">
              <a:spcBef>
                <a:spcPts val="0"/>
              </a:spcBef>
              <a:buNone/>
              <a:defRPr b="0" i="0" sz="1200" u="none" cap="none" strike="noStrike">
                <a:solidFill>
                  <a:srgbClr val="757575"/>
                </a:solidFill>
                <a:latin typeface="Arial"/>
                <a:ea typeface="Arial"/>
                <a:cs typeface="Arial"/>
                <a:sym typeface="Arial"/>
              </a:defRPr>
            </a:lvl4pPr>
            <a:lvl5pPr indent="0" lvl="4" marL="0" marR="0" algn="r">
              <a:spcBef>
                <a:spcPts val="0"/>
              </a:spcBef>
              <a:buNone/>
              <a:defRPr b="0" i="0" sz="1200" u="none" cap="none" strike="noStrike">
                <a:solidFill>
                  <a:srgbClr val="757575"/>
                </a:solidFill>
                <a:latin typeface="Arial"/>
                <a:ea typeface="Arial"/>
                <a:cs typeface="Arial"/>
                <a:sym typeface="Arial"/>
              </a:defRPr>
            </a:lvl5pPr>
            <a:lvl6pPr indent="0" lvl="5" marL="0" marR="0" algn="r">
              <a:spcBef>
                <a:spcPts val="0"/>
              </a:spcBef>
              <a:buNone/>
              <a:defRPr b="0" i="0" sz="1200" u="none" cap="none" strike="noStrike">
                <a:solidFill>
                  <a:srgbClr val="757575"/>
                </a:solidFill>
                <a:latin typeface="Arial"/>
                <a:ea typeface="Arial"/>
                <a:cs typeface="Arial"/>
                <a:sym typeface="Arial"/>
              </a:defRPr>
            </a:lvl6pPr>
            <a:lvl7pPr indent="0" lvl="6" marL="0" marR="0" algn="r">
              <a:spcBef>
                <a:spcPts val="0"/>
              </a:spcBef>
              <a:buNone/>
              <a:defRPr b="0" i="0" sz="1200" u="none" cap="none" strike="noStrike">
                <a:solidFill>
                  <a:srgbClr val="757575"/>
                </a:solidFill>
                <a:latin typeface="Arial"/>
                <a:ea typeface="Arial"/>
                <a:cs typeface="Arial"/>
                <a:sym typeface="Arial"/>
              </a:defRPr>
            </a:lvl7pPr>
            <a:lvl8pPr indent="0" lvl="7" marL="0" marR="0" algn="r">
              <a:spcBef>
                <a:spcPts val="0"/>
              </a:spcBef>
              <a:buNone/>
              <a:defRPr b="0" i="0" sz="1200" u="none" cap="none" strike="noStrike">
                <a:solidFill>
                  <a:srgbClr val="757575"/>
                </a:solidFill>
                <a:latin typeface="Arial"/>
                <a:ea typeface="Arial"/>
                <a:cs typeface="Arial"/>
                <a:sym typeface="Arial"/>
              </a:defRPr>
            </a:lvl8pPr>
            <a:lvl9pPr indent="0" lvl="8" marL="0" marR="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g3ed83e08d1e_2_226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9" name="Google Shape;99;g3ed83e08d1e_2_226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0" name="Google Shape;100;g3ed83e08d1e_2_226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1" name="Google Shape;101;g3ed83e08d1e_2_226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2" name="Google Shape;102;g3ed83e08d1e_2_226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5" name="Shape 185"/>
        <p:cNvGrpSpPr/>
        <p:nvPr/>
      </p:nvGrpSpPr>
      <p:grpSpPr>
        <a:xfrm>
          <a:off x="0" y="0"/>
          <a:ext cx="0" cy="0"/>
          <a:chOff x="0" y="0"/>
          <a:chExt cx="0" cy="0"/>
        </a:xfrm>
      </p:grpSpPr>
      <p:sp>
        <p:nvSpPr>
          <p:cNvPr id="186" name="Google Shape;186;g3edf2b460e5_4_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7" name="Google Shape;187;g3edf2b460e5_4_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8" name="Google Shape;188;g3edf2b460e5_4_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89" name="Google Shape;189;g3edf2b460e5_4_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90" name="Google Shape;190;g3edf2b460e5_4_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0" name="Shape 260"/>
        <p:cNvGrpSpPr/>
        <p:nvPr/>
      </p:nvGrpSpPr>
      <p:grpSpPr>
        <a:xfrm>
          <a:off x="0" y="0"/>
          <a:ext cx="0" cy="0"/>
          <a:chOff x="0" y="0"/>
          <a:chExt cx="0" cy="0"/>
        </a:xfrm>
      </p:grpSpPr>
      <p:sp>
        <p:nvSpPr>
          <p:cNvPr id="261" name="Google Shape;261;g3ee0adc8e96_2_0"/>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marR="0" rtl="0" algn="ctr">
              <a:spcBef>
                <a:spcPts val="0"/>
              </a:spcBef>
              <a:spcAft>
                <a:spcPts val="0"/>
              </a:spcAft>
              <a:buClr>
                <a:schemeClr val="dk1"/>
              </a:buClr>
              <a:buSzPts val="2900"/>
              <a:buFont typeface="Calibri"/>
              <a:buNone/>
              <a:defRPr b="0" i="0" sz="2900" u="none" cap="none" strike="noStrike">
                <a:solidFill>
                  <a:schemeClr val="dk1"/>
                </a:solidFill>
                <a:latin typeface="Calibri"/>
                <a:ea typeface="Calibri"/>
                <a:cs typeface="Calibri"/>
                <a:sym typeface="Calibri"/>
              </a:defRPr>
            </a:lvl1pPr>
            <a:lvl2pPr lvl="1">
              <a:spcBef>
                <a:spcPts val="0"/>
              </a:spcBef>
              <a:spcAft>
                <a:spcPts val="0"/>
              </a:spcAft>
              <a:buSzPts val="900"/>
              <a:buNone/>
              <a:defRPr sz="1200"/>
            </a:lvl2pPr>
            <a:lvl3pPr lvl="2">
              <a:spcBef>
                <a:spcPts val="0"/>
              </a:spcBef>
              <a:spcAft>
                <a:spcPts val="0"/>
              </a:spcAft>
              <a:buSzPts val="900"/>
              <a:buNone/>
              <a:defRPr sz="1200"/>
            </a:lvl3pPr>
            <a:lvl4pPr lvl="3">
              <a:spcBef>
                <a:spcPts val="0"/>
              </a:spcBef>
              <a:spcAft>
                <a:spcPts val="0"/>
              </a:spcAft>
              <a:buSzPts val="900"/>
              <a:buNone/>
              <a:defRPr sz="1200"/>
            </a:lvl4pPr>
            <a:lvl5pPr lvl="4">
              <a:spcBef>
                <a:spcPts val="0"/>
              </a:spcBef>
              <a:spcAft>
                <a:spcPts val="0"/>
              </a:spcAft>
              <a:buSzPts val="900"/>
              <a:buNone/>
              <a:defRPr sz="1200"/>
            </a:lvl5pPr>
            <a:lvl6pPr lvl="5">
              <a:spcBef>
                <a:spcPts val="0"/>
              </a:spcBef>
              <a:spcAft>
                <a:spcPts val="0"/>
              </a:spcAft>
              <a:buSzPts val="900"/>
              <a:buNone/>
              <a:defRPr sz="1200"/>
            </a:lvl6pPr>
            <a:lvl7pPr lvl="6">
              <a:spcBef>
                <a:spcPts val="0"/>
              </a:spcBef>
              <a:spcAft>
                <a:spcPts val="0"/>
              </a:spcAft>
              <a:buSzPts val="900"/>
              <a:buNone/>
              <a:defRPr sz="1200"/>
            </a:lvl7pPr>
            <a:lvl8pPr lvl="7">
              <a:spcBef>
                <a:spcPts val="0"/>
              </a:spcBef>
              <a:spcAft>
                <a:spcPts val="0"/>
              </a:spcAft>
              <a:buSzPts val="900"/>
              <a:buNone/>
              <a:defRPr sz="1200"/>
            </a:lvl8pPr>
            <a:lvl9pPr lvl="8">
              <a:spcBef>
                <a:spcPts val="0"/>
              </a:spcBef>
              <a:spcAft>
                <a:spcPts val="0"/>
              </a:spcAft>
              <a:buSzPts val="900"/>
              <a:buNone/>
              <a:defRPr sz="1200"/>
            </a:lvl9pPr>
          </a:lstStyle>
          <a:p/>
        </p:txBody>
      </p:sp>
      <p:sp>
        <p:nvSpPr>
          <p:cNvPr id="262" name="Google Shape;262;g3ee0adc8e96_2_0"/>
          <p:cNvSpPr txBox="1"/>
          <p:nvPr>
            <p:ph idx="1" type="body"/>
          </p:nvPr>
        </p:nvSpPr>
        <p:spPr>
          <a:xfrm>
            <a:off x="304800" y="1066800"/>
            <a:ext cx="5486400" cy="3017309"/>
          </a:xfrm>
          <a:prstGeom prst="rect">
            <a:avLst/>
          </a:prstGeom>
          <a:noFill/>
          <a:ln>
            <a:noFill/>
          </a:ln>
        </p:spPr>
        <p:txBody>
          <a:bodyPr anchorCtr="0" anchor="t" bIns="30475" lIns="60950" spcFirstLastPara="1" rIns="60950" wrap="square" tIns="30475">
            <a:normAutofit/>
          </a:bodyPr>
          <a:lstStyle>
            <a:lvl1pPr indent="-361950" lvl="0" marL="4572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9250" lvl="1" marL="914400" marR="0" rtl="0" algn="l">
              <a:spcBef>
                <a:spcPts val="4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2pPr>
            <a:lvl3pPr indent="-330200" lvl="2" marL="13716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3pPr>
            <a:lvl4pPr indent="-311150" lvl="3" marL="18288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1150" lvl="5" marL="27432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6pPr>
            <a:lvl7pPr indent="-311150" lvl="6" marL="32004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7pPr>
            <a:lvl8pPr indent="-311150" lvl="7" marL="36576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8pPr>
            <a:lvl9pPr indent="-311150" lvl="8" marL="41148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9pPr>
          </a:lstStyle>
          <a:p/>
        </p:txBody>
      </p:sp>
      <p:sp>
        <p:nvSpPr>
          <p:cNvPr id="263" name="Google Shape;263;g3ee0adc8e96_2_0"/>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marR="0" rtl="0" algn="l">
              <a:spcBef>
                <a:spcPts val="0"/>
              </a:spcBef>
              <a:spcAft>
                <a:spcPts val="0"/>
              </a:spcAft>
              <a:buSzPts val="900"/>
              <a:buNone/>
              <a:defRPr b="0" i="0" sz="800" u="none" cap="none" strike="noStrike">
                <a:solidFill>
                  <a:srgbClr val="888888"/>
                </a:solidFill>
                <a:latin typeface="Calibri"/>
                <a:ea typeface="Calibri"/>
                <a:cs typeface="Calibri"/>
                <a:sym typeface="Calibri"/>
              </a:defRPr>
            </a:lvl1pPr>
            <a:lvl2pPr lvl="1"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2pPr>
            <a:lvl3pPr lvl="2"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3pPr>
            <a:lvl4pPr lvl="3"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4pPr>
            <a:lvl5pPr lvl="4"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5pPr>
            <a:lvl6pPr lvl="5"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6pPr>
            <a:lvl7pPr lvl="6"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7pPr>
            <a:lvl8pPr lvl="7"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8pPr>
            <a:lvl9pPr lvl="8"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9pPr>
          </a:lstStyle>
          <a:p/>
        </p:txBody>
      </p:sp>
      <p:sp>
        <p:nvSpPr>
          <p:cNvPr id="264" name="Google Shape;264;g3ee0adc8e96_2_0"/>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marR="0" rtl="0" algn="ctr">
              <a:spcBef>
                <a:spcPts val="0"/>
              </a:spcBef>
              <a:spcAft>
                <a:spcPts val="0"/>
              </a:spcAft>
              <a:buSzPts val="900"/>
              <a:buNone/>
              <a:defRPr b="0" i="0" sz="800" u="none" cap="none" strike="noStrike">
                <a:solidFill>
                  <a:srgbClr val="888888"/>
                </a:solidFill>
                <a:latin typeface="Calibri"/>
                <a:ea typeface="Calibri"/>
                <a:cs typeface="Calibri"/>
                <a:sym typeface="Calibri"/>
              </a:defRPr>
            </a:lvl1pPr>
            <a:lvl2pPr lvl="1"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2pPr>
            <a:lvl3pPr lvl="2"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3pPr>
            <a:lvl4pPr lvl="3"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4pPr>
            <a:lvl5pPr lvl="4"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5pPr>
            <a:lvl6pPr lvl="5"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6pPr>
            <a:lvl7pPr lvl="6"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7pPr>
            <a:lvl8pPr lvl="7"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8pPr>
            <a:lvl9pPr lvl="8"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9pPr>
          </a:lstStyle>
          <a:p/>
        </p:txBody>
      </p:sp>
      <p:sp>
        <p:nvSpPr>
          <p:cNvPr id="265" name="Google Shape;265;g3ee0adc8e96_2_0"/>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marR="0" rtl="0" algn="r">
              <a:spcBef>
                <a:spcPts val="0"/>
              </a:spcBef>
              <a:buNone/>
              <a:defRPr b="0" i="0" sz="800" u="none" cap="none" strike="noStrike">
                <a:solidFill>
                  <a:srgbClr val="888888"/>
                </a:solidFill>
                <a:latin typeface="Calibri"/>
                <a:ea typeface="Calibri"/>
                <a:cs typeface="Calibri"/>
                <a:sym typeface="Calibri"/>
              </a:defRPr>
            </a:lvl1pPr>
            <a:lvl2pPr indent="0" lvl="1" marL="0" marR="0" rtl="0" algn="r">
              <a:spcBef>
                <a:spcPts val="0"/>
              </a:spcBef>
              <a:buNone/>
              <a:defRPr b="0" i="0" sz="800" u="none" cap="none" strike="noStrike">
                <a:solidFill>
                  <a:srgbClr val="888888"/>
                </a:solidFill>
                <a:latin typeface="Calibri"/>
                <a:ea typeface="Calibri"/>
                <a:cs typeface="Calibri"/>
                <a:sym typeface="Calibri"/>
              </a:defRPr>
            </a:lvl2pPr>
            <a:lvl3pPr indent="0" lvl="2" marL="0" marR="0" rtl="0" algn="r">
              <a:spcBef>
                <a:spcPts val="0"/>
              </a:spcBef>
              <a:buNone/>
              <a:defRPr b="0" i="0" sz="800" u="none" cap="none" strike="noStrike">
                <a:solidFill>
                  <a:srgbClr val="888888"/>
                </a:solidFill>
                <a:latin typeface="Calibri"/>
                <a:ea typeface="Calibri"/>
                <a:cs typeface="Calibri"/>
                <a:sym typeface="Calibri"/>
              </a:defRPr>
            </a:lvl3pPr>
            <a:lvl4pPr indent="0" lvl="3" marL="0" marR="0" rtl="0" algn="r">
              <a:spcBef>
                <a:spcPts val="0"/>
              </a:spcBef>
              <a:buNone/>
              <a:defRPr b="0" i="0" sz="800" u="none" cap="none" strike="noStrike">
                <a:solidFill>
                  <a:srgbClr val="888888"/>
                </a:solidFill>
                <a:latin typeface="Calibri"/>
                <a:ea typeface="Calibri"/>
                <a:cs typeface="Calibri"/>
                <a:sym typeface="Calibri"/>
              </a:defRPr>
            </a:lvl4pPr>
            <a:lvl5pPr indent="0" lvl="4" marL="0" marR="0" rtl="0" algn="r">
              <a:spcBef>
                <a:spcPts val="0"/>
              </a:spcBef>
              <a:buNone/>
              <a:defRPr b="0" i="0" sz="800" u="none" cap="none" strike="noStrike">
                <a:solidFill>
                  <a:srgbClr val="888888"/>
                </a:solidFill>
                <a:latin typeface="Calibri"/>
                <a:ea typeface="Calibri"/>
                <a:cs typeface="Calibri"/>
                <a:sym typeface="Calibri"/>
              </a:defRPr>
            </a:lvl5pPr>
            <a:lvl6pPr indent="0" lvl="5" marL="0" marR="0" rtl="0" algn="r">
              <a:spcBef>
                <a:spcPts val="0"/>
              </a:spcBef>
              <a:buNone/>
              <a:defRPr b="0" i="0" sz="800" u="none" cap="none" strike="noStrike">
                <a:solidFill>
                  <a:srgbClr val="888888"/>
                </a:solidFill>
                <a:latin typeface="Calibri"/>
                <a:ea typeface="Calibri"/>
                <a:cs typeface="Calibri"/>
                <a:sym typeface="Calibri"/>
              </a:defRPr>
            </a:lvl6pPr>
            <a:lvl7pPr indent="0" lvl="6" marL="0" marR="0" rtl="0" algn="r">
              <a:spcBef>
                <a:spcPts val="0"/>
              </a:spcBef>
              <a:buNone/>
              <a:defRPr b="0" i="0" sz="800" u="none" cap="none" strike="noStrike">
                <a:solidFill>
                  <a:srgbClr val="888888"/>
                </a:solidFill>
                <a:latin typeface="Calibri"/>
                <a:ea typeface="Calibri"/>
                <a:cs typeface="Calibri"/>
                <a:sym typeface="Calibri"/>
              </a:defRPr>
            </a:lvl7pPr>
            <a:lvl8pPr indent="0" lvl="7" marL="0" marR="0" rtl="0" algn="r">
              <a:spcBef>
                <a:spcPts val="0"/>
              </a:spcBef>
              <a:buNone/>
              <a:defRPr b="0" i="0" sz="800" u="none" cap="none" strike="noStrike">
                <a:solidFill>
                  <a:srgbClr val="888888"/>
                </a:solidFill>
                <a:latin typeface="Calibri"/>
                <a:ea typeface="Calibri"/>
                <a:cs typeface="Calibri"/>
                <a:sym typeface="Calibri"/>
              </a:defRPr>
            </a:lvl8pPr>
            <a:lvl9pPr indent="0" lvl="8" marL="0" marR="0" rtl="0" algn="r">
              <a:spcBef>
                <a:spcPts val="0"/>
              </a:spcBef>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 name="Shape 335"/>
        <p:cNvGrpSpPr/>
        <p:nvPr/>
      </p:nvGrpSpPr>
      <p:grpSpPr>
        <a:xfrm>
          <a:off x="0" y="0"/>
          <a:ext cx="0" cy="0"/>
          <a:chOff x="0" y="0"/>
          <a:chExt cx="0" cy="0"/>
        </a:xfrm>
      </p:grpSpPr>
      <p:sp>
        <p:nvSpPr>
          <p:cNvPr id="336" name="Google Shape;336;g3ee2e5faae5_3_15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7" name="Google Shape;337;g3ee2e5faae5_3_15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38" name="Google Shape;338;g3ee2e5faae5_3_15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39" name="Google Shape;339;g3ee2e5faae5_3_15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40" name="Google Shape;340;g3ee2e5faae5_3_15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6.xml"/><Relationship Id="rId3" Type="http://schemas.openxmlformats.org/officeDocument/2006/relationships/image" Target="../media/image8.jpg"/><Relationship Id="rId4" Type="http://schemas.openxmlformats.org/officeDocument/2006/relationships/image" Target="../media/image1.png"/><Relationship Id="rId5" Type="http://schemas.openxmlformats.org/officeDocument/2006/relationships/image" Target="../media/image9.jpg"/><Relationship Id="rId6"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hyperlink" Target="https://github.com/pysca/SCA/tree/main/Chapter%206/Supplier%20Pricing" TargetMode="External"/><Relationship Id="rId6"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9.png"/><Relationship Id="rId4" Type="http://schemas.openxmlformats.org/officeDocument/2006/relationships/image" Target="../media/image7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3.png"/><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6.png"/><Relationship Id="rId4" Type="http://schemas.openxmlformats.org/officeDocument/2006/relationships/image" Target="../media/image6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8.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8.png"/><Relationship Id="rId4" Type="http://schemas.openxmlformats.org/officeDocument/2006/relationships/image" Target="../media/image5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0.png"/><Relationship Id="rId4" Type="http://schemas.openxmlformats.org/officeDocument/2006/relationships/image" Target="../media/image39.png"/><Relationship Id="rId5"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61.png"/><Relationship Id="rId6"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3.png"/><Relationship Id="rId4" Type="http://schemas.openxmlformats.org/officeDocument/2006/relationships/image" Target="../media/image4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2.png"/><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6.png"/><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3.png"/><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77.png"/><Relationship Id="rId4" Type="http://schemas.openxmlformats.org/officeDocument/2006/relationships/image" Target="../media/image44.png"/><Relationship Id="rId5" Type="http://schemas.openxmlformats.org/officeDocument/2006/relationships/image" Target="../media/image36.png"/><Relationship Id="rId6" Type="http://schemas.openxmlformats.org/officeDocument/2006/relationships/image" Target="../media/image4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7.png"/><Relationship Id="rId4" Type="http://schemas.openxmlformats.org/officeDocument/2006/relationships/image" Target="../media/image47.png"/><Relationship Id="rId5" Type="http://schemas.openxmlformats.org/officeDocument/2006/relationships/image" Target="../media/image4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9.png"/><Relationship Id="rId4" Type="http://schemas.openxmlformats.org/officeDocument/2006/relationships/image" Target="../media/image5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8.png"/><Relationship Id="rId4" Type="http://schemas.openxmlformats.org/officeDocument/2006/relationships/image" Target="../media/image6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4.png"/><Relationship Id="rId4" Type="http://schemas.openxmlformats.org/officeDocument/2006/relationships/image" Target="../media/image53.png"/><Relationship Id="rId5" Type="http://schemas.openxmlformats.org/officeDocument/2006/relationships/image" Target="../media/image55.png"/><Relationship Id="rId6" Type="http://schemas.openxmlformats.org/officeDocument/2006/relationships/image" Target="../media/image58.png"/><Relationship Id="rId7" Type="http://schemas.openxmlformats.org/officeDocument/2006/relationships/image" Target="../media/image9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0.png"/><Relationship Id="rId4" Type="http://schemas.openxmlformats.org/officeDocument/2006/relationships/image" Target="../media/image8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2.png"/><Relationship Id="rId4" Type="http://schemas.openxmlformats.org/officeDocument/2006/relationships/image" Target="../media/image7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60.png"/><Relationship Id="rId4" Type="http://schemas.openxmlformats.org/officeDocument/2006/relationships/image" Target="../media/image59.png"/><Relationship Id="rId5" Type="http://schemas.openxmlformats.org/officeDocument/2006/relationships/image" Target="../media/image6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91.png"/><Relationship Id="rId4" Type="http://schemas.openxmlformats.org/officeDocument/2006/relationships/image" Target="../media/image12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6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3.xml"/><Relationship Id="rId3" Type="http://schemas.openxmlformats.org/officeDocument/2006/relationships/image" Target="../media/image63.png"/><Relationship Id="rId4" Type="http://schemas.openxmlformats.org/officeDocument/2006/relationships/image" Target="../media/image6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4.xml"/><Relationship Id="rId3" Type="http://schemas.openxmlformats.org/officeDocument/2006/relationships/image" Target="../media/image64.png"/><Relationship Id="rId4" Type="http://schemas.openxmlformats.org/officeDocument/2006/relationships/image" Target="../media/image79.png"/><Relationship Id="rId5" Type="http://schemas.openxmlformats.org/officeDocument/2006/relationships/image" Target="../media/image69.png"/><Relationship Id="rId6" Type="http://schemas.openxmlformats.org/officeDocument/2006/relationships/image" Target="../media/image7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5.xml"/><Relationship Id="rId3" Type="http://schemas.openxmlformats.org/officeDocument/2006/relationships/image" Target="../media/image7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6.xml"/><Relationship Id="rId3" Type="http://schemas.openxmlformats.org/officeDocument/2006/relationships/image" Target="../media/image7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7.xml"/><Relationship Id="rId3" Type="http://schemas.openxmlformats.org/officeDocument/2006/relationships/image" Target="../media/image7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8.xml"/><Relationship Id="rId3" Type="http://schemas.openxmlformats.org/officeDocument/2006/relationships/image" Target="../media/image7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9.xml"/><Relationship Id="rId3" Type="http://schemas.openxmlformats.org/officeDocument/2006/relationships/image" Target="../media/image7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0.xml"/><Relationship Id="rId3"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1.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8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 Id="rId3" Type="http://schemas.openxmlformats.org/officeDocument/2006/relationships/image" Target="../media/image8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3.xml"/><Relationship Id="rId3" Type="http://schemas.openxmlformats.org/officeDocument/2006/relationships/image" Target="../media/image82.png"/><Relationship Id="rId4"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4.xml"/><Relationship Id="rId3" Type="http://schemas.openxmlformats.org/officeDocument/2006/relationships/image" Target="../media/image82.png"/><Relationship Id="rId4"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5.xml"/><Relationship Id="rId3"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6.xml"/><Relationship Id="rId3" Type="http://schemas.openxmlformats.org/officeDocument/2006/relationships/image" Target="../media/image1.png"/><Relationship Id="rId4" Type="http://schemas.openxmlformats.org/officeDocument/2006/relationships/image" Target="../media/image8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7.xml"/><Relationship Id="rId3" Type="http://schemas.openxmlformats.org/officeDocument/2006/relationships/image" Target="../media/image1.png"/><Relationship Id="rId4" Type="http://schemas.openxmlformats.org/officeDocument/2006/relationships/image" Target="../media/image87.png"/><Relationship Id="rId5" Type="http://schemas.openxmlformats.org/officeDocument/2006/relationships/image" Target="../media/image10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8.xml"/><Relationship Id="rId3" Type="http://schemas.openxmlformats.org/officeDocument/2006/relationships/image" Target="../media/image2.png"/><Relationship Id="rId4" Type="http://schemas.openxmlformats.org/officeDocument/2006/relationships/image" Target="../media/image8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9.xml"/><Relationship Id="rId3" Type="http://schemas.openxmlformats.org/officeDocument/2006/relationships/image" Target="../media/image90.png"/><Relationship Id="rId4" Type="http://schemas.openxmlformats.org/officeDocument/2006/relationships/image" Target="../media/image9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80.xml"/><Relationship Id="rId3" Type="http://schemas.openxmlformats.org/officeDocument/2006/relationships/image" Target="../media/image1.png"/><Relationship Id="rId4" Type="http://schemas.openxmlformats.org/officeDocument/2006/relationships/image" Target="../media/image96.png"/><Relationship Id="rId5" Type="http://schemas.openxmlformats.org/officeDocument/2006/relationships/image" Target="../media/image9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81.xml"/><Relationship Id="rId3" Type="http://schemas.openxmlformats.org/officeDocument/2006/relationships/image" Target="../media/image2.png"/><Relationship Id="rId4" Type="http://schemas.openxmlformats.org/officeDocument/2006/relationships/image" Target="../media/image97.png"/><Relationship Id="rId5" Type="http://schemas.openxmlformats.org/officeDocument/2006/relationships/image" Target="../media/image9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82.xml"/><Relationship Id="rId3" Type="http://schemas.openxmlformats.org/officeDocument/2006/relationships/image" Target="../media/image7.png"/><Relationship Id="rId4" Type="http://schemas.openxmlformats.org/officeDocument/2006/relationships/image" Target="../media/image10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83.xml"/><Relationship Id="rId3" Type="http://schemas.openxmlformats.org/officeDocument/2006/relationships/image" Target="../media/image7.png"/><Relationship Id="rId4" Type="http://schemas.openxmlformats.org/officeDocument/2006/relationships/image" Target="../media/image10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84.xml"/><Relationship Id="rId3" Type="http://schemas.openxmlformats.org/officeDocument/2006/relationships/image" Target="../media/image7.png"/><Relationship Id="rId4" Type="http://schemas.openxmlformats.org/officeDocument/2006/relationships/image" Target="../media/image10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85.xml"/><Relationship Id="rId3" Type="http://schemas.openxmlformats.org/officeDocument/2006/relationships/image" Target="../media/image95.png"/><Relationship Id="rId4" Type="http://schemas.openxmlformats.org/officeDocument/2006/relationships/image" Target="../media/image99.png"/><Relationship Id="rId5" Type="http://schemas.openxmlformats.org/officeDocument/2006/relationships/image" Target="../media/image118.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86.xml"/><Relationship Id="rId3" Type="http://schemas.openxmlformats.org/officeDocument/2006/relationships/image" Target="../media/image103.png"/><Relationship Id="rId4" Type="http://schemas.openxmlformats.org/officeDocument/2006/relationships/image" Target="../media/image9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91.xml"/><Relationship Id="rId3" Type="http://schemas.openxmlformats.org/officeDocument/2006/relationships/image" Target="../media/image10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92.xml"/><Relationship Id="rId3" Type="http://schemas.openxmlformats.org/officeDocument/2006/relationships/image" Target="../media/image10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93.xml"/><Relationship Id="rId3" Type="http://schemas.openxmlformats.org/officeDocument/2006/relationships/image" Target="../media/image114.png"/><Relationship Id="rId4" Type="http://schemas.openxmlformats.org/officeDocument/2006/relationships/image" Target="../media/image10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94.xml"/><Relationship Id="rId3" Type="http://schemas.openxmlformats.org/officeDocument/2006/relationships/image" Target="../media/image11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95.xml"/><Relationship Id="rId3" Type="http://schemas.openxmlformats.org/officeDocument/2006/relationships/image" Target="../media/image107.png"/><Relationship Id="rId4" Type="http://schemas.openxmlformats.org/officeDocument/2006/relationships/image" Target="../media/image12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96.xml"/><Relationship Id="rId3" Type="http://schemas.openxmlformats.org/officeDocument/2006/relationships/image" Target="../media/image109.png"/><Relationship Id="rId4" Type="http://schemas.openxmlformats.org/officeDocument/2006/relationships/image" Target="../media/image110.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97.xml"/><Relationship Id="rId3" Type="http://schemas.openxmlformats.org/officeDocument/2006/relationships/image" Target="../media/image113.png"/><Relationship Id="rId4" Type="http://schemas.openxmlformats.org/officeDocument/2006/relationships/image" Target="../media/image116.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98.xml"/><Relationship Id="rId3" Type="http://schemas.openxmlformats.org/officeDocument/2006/relationships/image" Target="../media/image121.png"/><Relationship Id="rId4" Type="http://schemas.openxmlformats.org/officeDocument/2006/relationships/image" Target="../media/image11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99.xml"/><Relationship Id="rId3" Type="http://schemas.openxmlformats.org/officeDocument/2006/relationships/image" Target="../media/image117.png"/><Relationship Id="rId4" Type="http://schemas.openxmlformats.org/officeDocument/2006/relationships/image" Target="../media/image115.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00.xml"/><Relationship Id="rId3" Type="http://schemas.openxmlformats.org/officeDocument/2006/relationships/image" Target="../media/image119.png"/><Relationship Id="rId4" Type="http://schemas.openxmlformats.org/officeDocument/2006/relationships/image" Target="../media/image120.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3.xml"/><Relationship Id="rId3" Type="http://schemas.openxmlformats.org/officeDocument/2006/relationships/image" Target="../media/image13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6.xml"/><Relationship Id="rId3" Type="http://schemas.openxmlformats.org/officeDocument/2006/relationships/image" Target="../media/image122.png"/><Relationship Id="rId4" Type="http://schemas.openxmlformats.org/officeDocument/2006/relationships/image" Target="../media/image124.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7.xml"/><Relationship Id="rId3" Type="http://schemas.openxmlformats.org/officeDocument/2006/relationships/image" Target="../media/image130.png"/><Relationship Id="rId4" Type="http://schemas.openxmlformats.org/officeDocument/2006/relationships/image" Target="../media/image13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8.xml"/><Relationship Id="rId3" Type="http://schemas.openxmlformats.org/officeDocument/2006/relationships/image" Target="../media/image135.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9.xml"/><Relationship Id="rId3" Type="http://schemas.openxmlformats.org/officeDocument/2006/relationships/image" Target="../media/image128.png"/><Relationship Id="rId4" Type="http://schemas.openxmlformats.org/officeDocument/2006/relationships/image" Target="../media/image132.png"/><Relationship Id="rId5" Type="http://schemas.openxmlformats.org/officeDocument/2006/relationships/image" Target="../media/image125.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0.xml"/><Relationship Id="rId3" Type="http://schemas.openxmlformats.org/officeDocument/2006/relationships/image" Target="../media/image137.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1.xml"/><Relationship Id="rId3" Type="http://schemas.openxmlformats.org/officeDocument/2006/relationships/image" Target="../media/image136.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5.xml"/><Relationship Id="rId3" Type="http://schemas.openxmlformats.org/officeDocument/2006/relationships/image" Target="../media/image127.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9.xml"/><Relationship Id="rId3" Type="http://schemas.openxmlformats.org/officeDocument/2006/relationships/image" Target="../media/image129.jp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1"/>
          <p:cNvSpPr txBox="1"/>
          <p:nvPr>
            <p:ph type="ctrTitle"/>
          </p:nvPr>
        </p:nvSpPr>
        <p:spPr>
          <a:xfrm>
            <a:off x="298800" y="486067"/>
            <a:ext cx="11360800" cy="1710000"/>
          </a:xfrm>
          <a:prstGeom prst="rect">
            <a:avLst/>
          </a:prstGeom>
          <a:noFill/>
          <a:ln>
            <a:noFill/>
          </a:ln>
        </p:spPr>
        <p:txBody>
          <a:bodyPr anchorCtr="0" anchor="t" bIns="121900" lIns="121900" spcFirstLastPara="1" rIns="121900" wrap="square" tIns="121900">
            <a:normAutofit/>
          </a:bodyPr>
          <a:lstStyle/>
          <a:p>
            <a:pPr indent="0" lvl="0" marL="0" rtl="0" algn="ctr">
              <a:lnSpc>
                <a:spcPct val="90000"/>
              </a:lnSpc>
              <a:spcBef>
                <a:spcPts val="0"/>
              </a:spcBef>
              <a:spcAft>
                <a:spcPts val="0"/>
              </a:spcAft>
              <a:buClr>
                <a:schemeClr val="dk1"/>
              </a:buClr>
              <a:buSzPts val="8000"/>
              <a:buFont typeface="Play"/>
              <a:buNone/>
            </a:pPr>
            <a:r>
              <a:rPr lang="en" sz="6400"/>
              <a:t>Supply Management</a:t>
            </a:r>
            <a:endParaRPr sz="6400"/>
          </a:p>
          <a:p>
            <a:pPr indent="0" lvl="0" marL="0" rtl="0" algn="ctr">
              <a:lnSpc>
                <a:spcPct val="90000"/>
              </a:lnSpc>
              <a:spcBef>
                <a:spcPts val="0"/>
              </a:spcBef>
              <a:spcAft>
                <a:spcPts val="0"/>
              </a:spcAft>
              <a:buClr>
                <a:schemeClr val="dk1"/>
              </a:buClr>
              <a:buSzPts val="6000"/>
              <a:buFont typeface="Play"/>
              <a:buNone/>
            </a:pPr>
            <a:r>
              <a:t/>
            </a:r>
            <a:endParaRPr/>
          </a:p>
        </p:txBody>
      </p:sp>
      <p:sp>
        <p:nvSpPr>
          <p:cNvPr id="428" name="Google Shape;428;p1"/>
          <p:cNvSpPr txBox="1"/>
          <p:nvPr>
            <p:ph idx="1" type="subTitle"/>
          </p:nvPr>
        </p:nvSpPr>
        <p:spPr>
          <a:xfrm>
            <a:off x="298800" y="1739567"/>
            <a:ext cx="11776400" cy="1056800"/>
          </a:xfrm>
          <a:prstGeom prst="rect">
            <a:avLst/>
          </a:prstGeom>
          <a:noFill/>
          <a:ln>
            <a:noFill/>
          </a:ln>
        </p:spPr>
        <p:txBody>
          <a:bodyPr anchorCtr="0" anchor="t" bIns="121900" lIns="121900" spcFirstLastPara="1" rIns="121900" wrap="square" tIns="121900">
            <a:noAutofit/>
          </a:bodyPr>
          <a:lstStyle/>
          <a:p>
            <a:pPr indent="0" lvl="0" marL="0" rtl="0" algn="l">
              <a:lnSpc>
                <a:spcPct val="90000"/>
              </a:lnSpc>
              <a:spcBef>
                <a:spcPts val="0"/>
              </a:spcBef>
              <a:spcAft>
                <a:spcPts val="0"/>
              </a:spcAft>
              <a:buClr>
                <a:schemeClr val="dk1"/>
              </a:buClr>
              <a:buSzPts val="1400"/>
              <a:buNone/>
            </a:pPr>
            <a:r>
              <a:rPr lang="en" sz="2667">
                <a:solidFill>
                  <a:schemeClr val="dk1"/>
                </a:solidFill>
              </a:rPr>
              <a:t>Supply Management Analytics: Supplier Pricing in Caterpillar Supply Chain</a:t>
            </a:r>
            <a:endParaRPr sz="2667">
              <a:solidFill>
                <a:schemeClr val="dk1"/>
              </a:solidFill>
            </a:endParaRPr>
          </a:p>
          <a:p>
            <a:pPr indent="0" lvl="0" marL="0" rtl="0" algn="l">
              <a:lnSpc>
                <a:spcPct val="90000"/>
              </a:lnSpc>
              <a:spcBef>
                <a:spcPts val="0"/>
              </a:spcBef>
              <a:spcAft>
                <a:spcPts val="0"/>
              </a:spcAft>
              <a:buClr>
                <a:schemeClr val="dk1"/>
              </a:buClr>
              <a:buSzPts val="2400"/>
              <a:buNone/>
            </a:pPr>
            <a:r>
              <a:t/>
            </a:r>
            <a:endParaRPr/>
          </a:p>
        </p:txBody>
      </p:sp>
      <p:sp>
        <p:nvSpPr>
          <p:cNvPr id="429" name="Google Shape;429;p1"/>
          <p:cNvSpPr txBox="1"/>
          <p:nvPr>
            <p:ph idx="1" type="subTitle"/>
          </p:nvPr>
        </p:nvSpPr>
        <p:spPr>
          <a:xfrm>
            <a:off x="298800" y="2737967"/>
            <a:ext cx="7915600" cy="1056800"/>
          </a:xfrm>
          <a:prstGeom prst="rect">
            <a:avLst/>
          </a:prstGeom>
          <a:noFill/>
          <a:ln>
            <a:noFill/>
          </a:ln>
        </p:spPr>
        <p:txBody>
          <a:bodyPr anchorCtr="0" anchor="t" bIns="121900" lIns="121900" spcFirstLastPara="1" rIns="121900" wrap="square" tIns="121900">
            <a:noAutofit/>
          </a:bodyPr>
          <a:lstStyle/>
          <a:p>
            <a:pPr indent="0" lvl="0" marL="0" rtl="0" algn="l">
              <a:lnSpc>
                <a:spcPct val="70000"/>
              </a:lnSpc>
              <a:spcBef>
                <a:spcPts val="0"/>
              </a:spcBef>
              <a:spcAft>
                <a:spcPts val="0"/>
              </a:spcAft>
              <a:buClr>
                <a:schemeClr val="dk1"/>
              </a:buClr>
              <a:buSzPts val="275"/>
              <a:buNone/>
            </a:pPr>
            <a:r>
              <a:rPr lang="en" sz="2133">
                <a:solidFill>
                  <a:schemeClr val="dk1"/>
                </a:solidFill>
              </a:rPr>
              <a:t>Group 4</a:t>
            </a:r>
            <a:r>
              <a:rPr lang="en">
                <a:solidFill>
                  <a:schemeClr val="dk1"/>
                </a:solidFill>
              </a:rPr>
              <a:t>:</a:t>
            </a:r>
            <a:endParaRPr sz="2833"/>
          </a:p>
          <a:p>
            <a:pPr indent="0" lvl="0" marL="0" rtl="0" algn="l">
              <a:lnSpc>
                <a:spcPct val="70000"/>
              </a:lnSpc>
              <a:spcBef>
                <a:spcPts val="0"/>
              </a:spcBef>
              <a:spcAft>
                <a:spcPts val="0"/>
              </a:spcAft>
              <a:buClr>
                <a:schemeClr val="dk1"/>
              </a:buClr>
              <a:buSzPts val="275"/>
              <a:buNone/>
            </a:pPr>
            <a:r>
              <a:t/>
            </a:r>
            <a:endParaRPr sz="2133">
              <a:solidFill>
                <a:schemeClr val="dk1"/>
              </a:solidFill>
            </a:endParaRPr>
          </a:p>
          <a:p>
            <a:pPr indent="0" lvl="0" marL="0" rtl="0" algn="l">
              <a:lnSpc>
                <a:spcPct val="70000"/>
              </a:lnSpc>
              <a:spcBef>
                <a:spcPts val="0"/>
              </a:spcBef>
              <a:spcAft>
                <a:spcPts val="0"/>
              </a:spcAft>
              <a:buClr>
                <a:schemeClr val="dk1"/>
              </a:buClr>
              <a:buSzPts val="275"/>
              <a:buNone/>
            </a:pPr>
            <a:r>
              <a:rPr lang="en" sz="2133">
                <a:solidFill>
                  <a:schemeClr val="dk1"/>
                </a:solidFill>
              </a:rPr>
              <a:t>Mohammad Sharif Azimy</a:t>
            </a:r>
            <a:endParaRPr sz="2133">
              <a:solidFill>
                <a:schemeClr val="dk1"/>
              </a:solidFill>
            </a:endParaRPr>
          </a:p>
          <a:p>
            <a:pPr indent="0" lvl="0" marL="0" rtl="0" algn="l">
              <a:lnSpc>
                <a:spcPct val="70000"/>
              </a:lnSpc>
              <a:spcBef>
                <a:spcPts val="1333"/>
              </a:spcBef>
              <a:spcAft>
                <a:spcPts val="0"/>
              </a:spcAft>
              <a:buClr>
                <a:schemeClr val="dk1"/>
              </a:buClr>
              <a:buSzPts val="275"/>
              <a:buNone/>
            </a:pPr>
            <a:r>
              <a:rPr lang="en" sz="2133">
                <a:solidFill>
                  <a:schemeClr val="dk1"/>
                </a:solidFill>
              </a:rPr>
              <a:t>Antonios Stefanakis</a:t>
            </a:r>
            <a:endParaRPr sz="2133">
              <a:solidFill>
                <a:schemeClr val="dk1"/>
              </a:solidFill>
            </a:endParaRPr>
          </a:p>
          <a:p>
            <a:pPr indent="0" lvl="0" marL="0" rtl="0" algn="l">
              <a:lnSpc>
                <a:spcPct val="70000"/>
              </a:lnSpc>
              <a:spcBef>
                <a:spcPts val="1333"/>
              </a:spcBef>
              <a:spcAft>
                <a:spcPts val="0"/>
              </a:spcAft>
              <a:buClr>
                <a:schemeClr val="dk1"/>
              </a:buClr>
              <a:buSzPts val="275"/>
              <a:buNone/>
            </a:pPr>
            <a:r>
              <a:rPr lang="en" sz="2133">
                <a:solidFill>
                  <a:schemeClr val="dk1"/>
                </a:solidFill>
              </a:rPr>
              <a:t>Chinelo Lydia Nweke</a:t>
            </a:r>
            <a:endParaRPr sz="2133">
              <a:solidFill>
                <a:schemeClr val="dk1"/>
              </a:solidFill>
            </a:endParaRPr>
          </a:p>
          <a:p>
            <a:pPr indent="0" lvl="0" marL="0" rtl="0" algn="l">
              <a:lnSpc>
                <a:spcPct val="70000"/>
              </a:lnSpc>
              <a:spcBef>
                <a:spcPts val="1333"/>
              </a:spcBef>
              <a:spcAft>
                <a:spcPts val="0"/>
              </a:spcAft>
              <a:buClr>
                <a:schemeClr val="dk1"/>
              </a:buClr>
              <a:buSzPts val="275"/>
              <a:buNone/>
            </a:pPr>
            <a:r>
              <a:rPr lang="en" sz="2133">
                <a:solidFill>
                  <a:schemeClr val="dk1"/>
                </a:solidFill>
              </a:rPr>
              <a:t>Takal Ebrahimkhel</a:t>
            </a:r>
            <a:endParaRPr sz="2133">
              <a:solidFill>
                <a:schemeClr val="dk1"/>
              </a:solidFill>
            </a:endParaRPr>
          </a:p>
          <a:p>
            <a:pPr indent="0" lvl="0" marL="0" rtl="0" algn="l">
              <a:lnSpc>
                <a:spcPct val="70000"/>
              </a:lnSpc>
              <a:spcBef>
                <a:spcPts val="1333"/>
              </a:spcBef>
              <a:spcAft>
                <a:spcPts val="0"/>
              </a:spcAft>
              <a:buClr>
                <a:schemeClr val="dk1"/>
              </a:buClr>
              <a:buSzPts val="275"/>
              <a:buNone/>
            </a:pPr>
            <a:r>
              <a:t/>
            </a:r>
            <a:endParaRPr sz="933">
              <a:solidFill>
                <a:schemeClr val="dk1"/>
              </a:solidFill>
            </a:endParaRPr>
          </a:p>
          <a:p>
            <a:pPr indent="0" lvl="0" marL="0" rtl="0" algn="l">
              <a:lnSpc>
                <a:spcPct val="80000"/>
              </a:lnSpc>
              <a:spcBef>
                <a:spcPts val="0"/>
              </a:spcBef>
              <a:spcAft>
                <a:spcPts val="0"/>
              </a:spcAft>
              <a:buClr>
                <a:schemeClr val="dk1"/>
              </a:buClr>
              <a:buSzPts val="275"/>
              <a:buNone/>
            </a:pPr>
            <a:r>
              <a:t/>
            </a:r>
            <a:endParaRPr sz="867">
              <a:solidFill>
                <a:schemeClr val="dk1"/>
              </a:solidFill>
            </a:endParaRPr>
          </a:p>
        </p:txBody>
      </p:sp>
      <p:sp>
        <p:nvSpPr>
          <p:cNvPr id="430" name="Google Shape;430;p1"/>
          <p:cNvSpPr txBox="1"/>
          <p:nvPr>
            <p:ph idx="12" type="sldNum"/>
          </p:nvPr>
        </p:nvSpPr>
        <p:spPr>
          <a:xfrm>
            <a:off x="11296611" y="6217623"/>
            <a:ext cx="731600" cy="5248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
                <a:solidFill>
                  <a:schemeClr val="lt1"/>
                </a:solidFill>
                <a:latin typeface="Roboto"/>
                <a:ea typeface="Roboto"/>
                <a:cs typeface="Roboto"/>
                <a:sym typeface="Roboto"/>
              </a:rPr>
              <a:t>‹#›</a:t>
            </a:fld>
            <a:endParaRPr>
              <a:solidFill>
                <a:schemeClr val="lt1"/>
              </a:solidFill>
              <a:latin typeface="Roboto"/>
              <a:ea typeface="Roboto"/>
              <a:cs typeface="Roboto"/>
              <a:sym typeface="Roboto"/>
            </a:endParaRPr>
          </a:p>
        </p:txBody>
      </p:sp>
      <p:pic>
        <p:nvPicPr>
          <p:cNvPr id="431" name="Google Shape;431;p1"/>
          <p:cNvPicPr preferRelativeResize="0"/>
          <p:nvPr/>
        </p:nvPicPr>
        <p:blipFill rotWithShape="1">
          <a:blip r:embed="rId3">
            <a:alphaModFix/>
          </a:blip>
          <a:srcRect b="0" l="0" r="0" t="0"/>
          <a:stretch/>
        </p:blipFill>
        <p:spPr>
          <a:xfrm>
            <a:off x="4502067" y="4942268"/>
            <a:ext cx="6613632" cy="1183233"/>
          </a:xfrm>
          <a:prstGeom prst="rect">
            <a:avLst/>
          </a:prstGeom>
          <a:noFill/>
          <a:ln>
            <a:noFill/>
          </a:ln>
        </p:spPr>
      </p:pic>
      <p:sp>
        <p:nvSpPr>
          <p:cNvPr id="432" name="Google Shape;432;p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1E8"/>
        </a:solidFill>
      </p:bgPr>
    </p:bg>
    <p:spTree>
      <p:nvGrpSpPr>
        <p:cNvPr id="436" name="Shape 436"/>
        <p:cNvGrpSpPr/>
        <p:nvPr/>
      </p:nvGrpSpPr>
      <p:grpSpPr>
        <a:xfrm>
          <a:off x="0" y="0"/>
          <a:ext cx="0" cy="0"/>
          <a:chOff x="0" y="0"/>
          <a:chExt cx="0" cy="0"/>
        </a:xfrm>
      </p:grpSpPr>
      <p:sp>
        <p:nvSpPr>
          <p:cNvPr id="437" name="Google Shape;437;g3ee0adc8e96_0_2796"/>
          <p:cNvSpPr/>
          <p:nvPr/>
        </p:nvSpPr>
        <p:spPr>
          <a:xfrm>
            <a:off x="427650" y="1"/>
            <a:ext cx="4013150" cy="4191532"/>
          </a:xfrm>
          <a:custGeom>
            <a:rect b="b" l="l" r="r" t="t"/>
            <a:pathLst>
              <a:path extrusionOk="0" h="1728467" w="2044917">
                <a:moveTo>
                  <a:pt x="0" y="0"/>
                </a:moveTo>
                <a:lnTo>
                  <a:pt x="2044916" y="0"/>
                </a:lnTo>
                <a:lnTo>
                  <a:pt x="2044916" y="1728467"/>
                </a:lnTo>
                <a:lnTo>
                  <a:pt x="0" y="1728467"/>
                </a:lnTo>
                <a:lnTo>
                  <a:pt x="0" y="0"/>
                </a:lnTo>
                <a:close/>
              </a:path>
            </a:pathLst>
          </a:custGeom>
          <a:blipFill rotWithShape="1">
            <a:blip r:embed="rId3">
              <a:alphaModFix/>
            </a:blip>
            <a:stretch>
              <a:fillRect b="0" l="0" r="0" t="0"/>
            </a:stretch>
          </a:blipFill>
          <a:ln>
            <a:noFill/>
          </a:ln>
        </p:spPr>
      </p:sp>
      <p:sp>
        <p:nvSpPr>
          <p:cNvPr id="438" name="Google Shape;438;g3ee0adc8e96_0_2796"/>
          <p:cNvSpPr/>
          <p:nvPr/>
        </p:nvSpPr>
        <p:spPr>
          <a:xfrm>
            <a:off x="61257" y="-435925"/>
            <a:ext cx="12069485" cy="6036399"/>
          </a:xfrm>
          <a:custGeom>
            <a:rect b="b" l="l" r="r" t="t"/>
            <a:pathLst>
              <a:path extrusionOk="0" h="5438197" w="4765838">
                <a:moveTo>
                  <a:pt x="0" y="0"/>
                </a:moveTo>
                <a:lnTo>
                  <a:pt x="4765838" y="0"/>
                </a:lnTo>
                <a:lnTo>
                  <a:pt x="4765838" y="5438198"/>
                </a:lnTo>
                <a:lnTo>
                  <a:pt x="0" y="5438198"/>
                </a:lnTo>
                <a:lnTo>
                  <a:pt x="0" y="0"/>
                </a:lnTo>
                <a:close/>
              </a:path>
            </a:pathLst>
          </a:custGeom>
          <a:blipFill rotWithShape="1">
            <a:blip r:embed="rId4">
              <a:alphaModFix/>
            </a:blip>
            <a:stretch>
              <a:fillRect b="0" l="0" r="0" t="0"/>
            </a:stretch>
          </a:blipFill>
          <a:ln>
            <a:noFill/>
          </a:ln>
        </p:spPr>
      </p:sp>
      <p:grpSp>
        <p:nvGrpSpPr>
          <p:cNvPr id="439" name="Google Shape;439;g3ee0adc8e96_0_2796"/>
          <p:cNvGrpSpPr/>
          <p:nvPr/>
        </p:nvGrpSpPr>
        <p:grpSpPr>
          <a:xfrm>
            <a:off x="5303081" y="1261338"/>
            <a:ext cx="5458930" cy="1148229"/>
            <a:chOff x="3562350" y="909418"/>
            <a:chExt cx="4094300" cy="765282"/>
          </a:xfrm>
        </p:grpSpPr>
        <p:sp>
          <p:nvSpPr>
            <p:cNvPr id="440" name="Google Shape;440;g3ee0adc8e96_0_2796"/>
            <p:cNvSpPr txBox="1"/>
            <p:nvPr/>
          </p:nvSpPr>
          <p:spPr>
            <a:xfrm>
              <a:off x="4928450" y="909418"/>
              <a:ext cx="2728200" cy="2454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rPr b="1" lang="en" sz="2600">
                  <a:solidFill>
                    <a:srgbClr val="155B55"/>
                  </a:solidFill>
                  <a:latin typeface="Roboto"/>
                  <a:ea typeface="Roboto"/>
                  <a:cs typeface="Roboto"/>
                  <a:sym typeface="Roboto"/>
                </a:rPr>
                <a:t>Introduction</a:t>
              </a:r>
              <a:endParaRPr b="1" sz="2600">
                <a:solidFill>
                  <a:srgbClr val="155B55"/>
                </a:solidFill>
                <a:latin typeface="Roboto"/>
                <a:ea typeface="Roboto"/>
                <a:cs typeface="Roboto"/>
                <a:sym typeface="Roboto"/>
              </a:endParaRPr>
            </a:p>
          </p:txBody>
        </p:sp>
        <p:sp>
          <p:nvSpPr>
            <p:cNvPr id="441" name="Google Shape;441;g3ee0adc8e96_0_2796"/>
            <p:cNvSpPr txBox="1"/>
            <p:nvPr/>
          </p:nvSpPr>
          <p:spPr>
            <a:xfrm>
              <a:off x="4928450" y="1154904"/>
              <a:ext cx="2728200" cy="3651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t/>
              </a:r>
              <a:endParaRPr sz="900">
                <a:solidFill>
                  <a:srgbClr val="155B55"/>
                </a:solidFill>
                <a:latin typeface="Roboto"/>
                <a:ea typeface="Roboto"/>
                <a:cs typeface="Roboto"/>
                <a:sym typeface="Roboto"/>
              </a:endParaRPr>
            </a:p>
          </p:txBody>
        </p:sp>
        <p:sp>
          <p:nvSpPr>
            <p:cNvPr id="442" name="Google Shape;442;g3ee0adc8e96_0_2796"/>
            <p:cNvSpPr txBox="1"/>
            <p:nvPr/>
          </p:nvSpPr>
          <p:spPr>
            <a:xfrm>
              <a:off x="3562350" y="934025"/>
              <a:ext cx="758400" cy="3081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0"/>
                </a:spcAft>
                <a:buNone/>
              </a:pPr>
              <a:r>
                <a:rPr lang="en" sz="2400">
                  <a:solidFill>
                    <a:srgbClr val="155B55"/>
                  </a:solidFill>
                  <a:latin typeface="Roboto"/>
                  <a:ea typeface="Roboto"/>
                  <a:cs typeface="Roboto"/>
                  <a:sym typeface="Roboto"/>
                </a:rPr>
                <a:t>2 Min</a:t>
              </a:r>
              <a:endParaRPr sz="2100">
                <a:solidFill>
                  <a:srgbClr val="155B55"/>
                </a:solidFill>
                <a:latin typeface="Roboto"/>
                <a:ea typeface="Roboto"/>
                <a:cs typeface="Roboto"/>
                <a:sym typeface="Roboto"/>
              </a:endParaRPr>
            </a:p>
          </p:txBody>
        </p:sp>
        <p:sp>
          <p:nvSpPr>
            <p:cNvPr id="443" name="Google Shape;443;g3ee0adc8e96_0_2796"/>
            <p:cNvSpPr/>
            <p:nvPr/>
          </p:nvSpPr>
          <p:spPr>
            <a:xfrm>
              <a:off x="4517125" y="1086100"/>
              <a:ext cx="133500" cy="588600"/>
            </a:xfrm>
            <a:prstGeom prst="rect">
              <a:avLst/>
            </a:prstGeom>
            <a:solidFill>
              <a:srgbClr val="155B5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444" name="Google Shape;444;g3ee0adc8e96_0_2796"/>
            <p:cNvCxnSpPr/>
            <p:nvPr/>
          </p:nvCxnSpPr>
          <p:spPr>
            <a:xfrm rot="10800000">
              <a:off x="4318975" y="1083450"/>
              <a:ext cx="529800" cy="0"/>
            </a:xfrm>
            <a:prstGeom prst="straightConnector1">
              <a:avLst/>
            </a:prstGeom>
            <a:noFill/>
            <a:ln cap="flat" cmpd="sng" w="9525">
              <a:solidFill>
                <a:srgbClr val="155B55"/>
              </a:solidFill>
              <a:prstDash val="solid"/>
              <a:round/>
              <a:headEnd len="sm" w="sm" type="none"/>
              <a:tailEnd len="sm" w="sm" type="none"/>
            </a:ln>
          </p:spPr>
        </p:cxnSp>
      </p:grpSp>
      <p:grpSp>
        <p:nvGrpSpPr>
          <p:cNvPr id="445" name="Google Shape;445;g3ee0adc8e96_0_2796"/>
          <p:cNvGrpSpPr/>
          <p:nvPr/>
        </p:nvGrpSpPr>
        <p:grpSpPr>
          <a:xfrm>
            <a:off x="5303081" y="2151838"/>
            <a:ext cx="5458930" cy="1148229"/>
            <a:chOff x="3562350" y="909418"/>
            <a:chExt cx="4094300" cy="765282"/>
          </a:xfrm>
        </p:grpSpPr>
        <p:sp>
          <p:nvSpPr>
            <p:cNvPr id="446" name="Google Shape;446;g3ee0adc8e96_0_2796"/>
            <p:cNvSpPr txBox="1"/>
            <p:nvPr/>
          </p:nvSpPr>
          <p:spPr>
            <a:xfrm>
              <a:off x="4928450" y="909418"/>
              <a:ext cx="2728200" cy="2454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rPr b="1" lang="en" sz="2600">
                  <a:solidFill>
                    <a:srgbClr val="155B55"/>
                  </a:solidFill>
                  <a:latin typeface="Roboto"/>
                  <a:ea typeface="Roboto"/>
                  <a:cs typeface="Roboto"/>
                  <a:sym typeface="Roboto"/>
                </a:rPr>
                <a:t>Business Case</a:t>
              </a:r>
              <a:endParaRPr b="1" sz="2600">
                <a:solidFill>
                  <a:srgbClr val="155B55"/>
                </a:solidFill>
                <a:latin typeface="Roboto"/>
                <a:ea typeface="Roboto"/>
                <a:cs typeface="Roboto"/>
                <a:sym typeface="Roboto"/>
              </a:endParaRPr>
            </a:p>
          </p:txBody>
        </p:sp>
        <p:sp>
          <p:nvSpPr>
            <p:cNvPr id="447" name="Google Shape;447;g3ee0adc8e96_0_2796"/>
            <p:cNvSpPr txBox="1"/>
            <p:nvPr/>
          </p:nvSpPr>
          <p:spPr>
            <a:xfrm>
              <a:off x="4928450" y="1154904"/>
              <a:ext cx="2728200" cy="3651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t/>
              </a:r>
              <a:endParaRPr sz="900">
                <a:solidFill>
                  <a:srgbClr val="155B55"/>
                </a:solidFill>
                <a:latin typeface="Roboto"/>
                <a:ea typeface="Roboto"/>
                <a:cs typeface="Roboto"/>
                <a:sym typeface="Roboto"/>
              </a:endParaRPr>
            </a:p>
          </p:txBody>
        </p:sp>
        <p:sp>
          <p:nvSpPr>
            <p:cNvPr id="448" name="Google Shape;448;g3ee0adc8e96_0_2796"/>
            <p:cNvSpPr txBox="1"/>
            <p:nvPr/>
          </p:nvSpPr>
          <p:spPr>
            <a:xfrm>
              <a:off x="3562350" y="934025"/>
              <a:ext cx="758400" cy="308100"/>
            </a:xfrm>
            <a:prstGeom prst="rect">
              <a:avLst/>
            </a:prstGeom>
            <a:noFill/>
            <a:ln>
              <a:noFill/>
            </a:ln>
          </p:spPr>
          <p:txBody>
            <a:bodyPr anchorCtr="0" anchor="t" bIns="121900" lIns="121900" spcFirstLastPara="1" rIns="121900" wrap="square" tIns="121900">
              <a:noAutofit/>
            </a:bodyPr>
            <a:lstStyle/>
            <a:p>
              <a:pPr indent="0" lvl="0" marL="0" rtl="0" algn="r">
                <a:lnSpc>
                  <a:spcPct val="115000"/>
                </a:lnSpc>
                <a:spcBef>
                  <a:spcPts val="0"/>
                </a:spcBef>
                <a:spcAft>
                  <a:spcPts val="0"/>
                </a:spcAft>
                <a:buClr>
                  <a:schemeClr val="dk1"/>
                </a:buClr>
                <a:buSzPts val="1100"/>
                <a:buFont typeface="Arial"/>
                <a:buNone/>
              </a:pPr>
              <a:r>
                <a:rPr lang="en" sz="2400">
                  <a:solidFill>
                    <a:srgbClr val="155B55"/>
                  </a:solidFill>
                  <a:latin typeface="Roboto"/>
                  <a:ea typeface="Roboto"/>
                  <a:cs typeface="Roboto"/>
                  <a:sym typeface="Roboto"/>
                </a:rPr>
                <a:t>2</a:t>
              </a:r>
              <a:r>
                <a:rPr lang="en" sz="2400">
                  <a:solidFill>
                    <a:srgbClr val="155B55"/>
                  </a:solidFill>
                  <a:latin typeface="Roboto"/>
                  <a:ea typeface="Roboto"/>
                  <a:cs typeface="Roboto"/>
                  <a:sym typeface="Roboto"/>
                </a:rPr>
                <a:t> Min</a:t>
              </a:r>
              <a:endParaRPr sz="1200">
                <a:solidFill>
                  <a:srgbClr val="155B55"/>
                </a:solidFill>
                <a:latin typeface="Roboto"/>
                <a:ea typeface="Roboto"/>
                <a:cs typeface="Roboto"/>
                <a:sym typeface="Roboto"/>
              </a:endParaRPr>
            </a:p>
          </p:txBody>
        </p:sp>
        <p:sp>
          <p:nvSpPr>
            <p:cNvPr id="449" name="Google Shape;449;g3ee0adc8e96_0_2796"/>
            <p:cNvSpPr/>
            <p:nvPr/>
          </p:nvSpPr>
          <p:spPr>
            <a:xfrm>
              <a:off x="4517125" y="1086100"/>
              <a:ext cx="133500" cy="588600"/>
            </a:xfrm>
            <a:prstGeom prst="rect">
              <a:avLst/>
            </a:prstGeom>
            <a:solidFill>
              <a:srgbClr val="155B5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450" name="Google Shape;450;g3ee0adc8e96_0_2796"/>
            <p:cNvCxnSpPr/>
            <p:nvPr/>
          </p:nvCxnSpPr>
          <p:spPr>
            <a:xfrm rot="10800000">
              <a:off x="4318975" y="1083450"/>
              <a:ext cx="529800" cy="0"/>
            </a:xfrm>
            <a:prstGeom prst="straightConnector1">
              <a:avLst/>
            </a:prstGeom>
            <a:noFill/>
            <a:ln cap="flat" cmpd="sng" w="9525">
              <a:solidFill>
                <a:srgbClr val="155B55"/>
              </a:solidFill>
              <a:prstDash val="solid"/>
              <a:round/>
              <a:headEnd len="sm" w="sm" type="none"/>
              <a:tailEnd len="sm" w="sm" type="none"/>
            </a:ln>
          </p:spPr>
        </p:cxnSp>
      </p:grpSp>
      <p:grpSp>
        <p:nvGrpSpPr>
          <p:cNvPr id="451" name="Google Shape;451;g3ee0adc8e96_0_2796"/>
          <p:cNvGrpSpPr/>
          <p:nvPr/>
        </p:nvGrpSpPr>
        <p:grpSpPr>
          <a:xfrm>
            <a:off x="5303081" y="2185384"/>
            <a:ext cx="5458930" cy="1111309"/>
            <a:chOff x="3562350" y="934025"/>
            <a:chExt cx="4094300" cy="740675"/>
          </a:xfrm>
        </p:grpSpPr>
        <p:sp>
          <p:nvSpPr>
            <p:cNvPr id="452" name="Google Shape;452;g3ee0adc8e96_0_2796"/>
            <p:cNvSpPr txBox="1"/>
            <p:nvPr/>
          </p:nvSpPr>
          <p:spPr>
            <a:xfrm>
              <a:off x="4928450" y="1154904"/>
              <a:ext cx="2728200" cy="3651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t/>
              </a:r>
              <a:endParaRPr sz="900">
                <a:solidFill>
                  <a:srgbClr val="858585"/>
                </a:solidFill>
                <a:latin typeface="Roboto"/>
                <a:ea typeface="Roboto"/>
                <a:cs typeface="Roboto"/>
                <a:sym typeface="Roboto"/>
              </a:endParaRPr>
            </a:p>
          </p:txBody>
        </p:sp>
        <p:sp>
          <p:nvSpPr>
            <p:cNvPr id="453" name="Google Shape;453;g3ee0adc8e96_0_2796"/>
            <p:cNvSpPr txBox="1"/>
            <p:nvPr/>
          </p:nvSpPr>
          <p:spPr>
            <a:xfrm>
              <a:off x="3562350" y="934025"/>
              <a:ext cx="758400" cy="3081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0"/>
                </a:spcAft>
                <a:buClr>
                  <a:schemeClr val="dk1"/>
                </a:buClr>
                <a:buSzPts val="1100"/>
                <a:buFont typeface="Arial"/>
                <a:buNone/>
              </a:pPr>
              <a:r>
                <a:t/>
              </a:r>
              <a:endParaRPr sz="1200">
                <a:solidFill>
                  <a:srgbClr val="858585"/>
                </a:solidFill>
                <a:latin typeface="Roboto"/>
                <a:ea typeface="Roboto"/>
                <a:cs typeface="Roboto"/>
                <a:sym typeface="Roboto"/>
              </a:endParaRPr>
            </a:p>
          </p:txBody>
        </p:sp>
        <p:sp>
          <p:nvSpPr>
            <p:cNvPr id="454" name="Google Shape;454;g3ee0adc8e96_0_2796"/>
            <p:cNvSpPr/>
            <p:nvPr/>
          </p:nvSpPr>
          <p:spPr>
            <a:xfrm>
              <a:off x="4517125" y="1086100"/>
              <a:ext cx="133500" cy="588600"/>
            </a:xfrm>
            <a:prstGeom prst="rect">
              <a:avLst/>
            </a:prstGeom>
            <a:solidFill>
              <a:srgbClr val="C2C2C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455" name="Google Shape;455;g3ee0adc8e96_0_2796"/>
            <p:cNvCxnSpPr/>
            <p:nvPr/>
          </p:nvCxnSpPr>
          <p:spPr>
            <a:xfrm rot="10800000">
              <a:off x="4318975" y="1083450"/>
              <a:ext cx="529800" cy="0"/>
            </a:xfrm>
            <a:prstGeom prst="straightConnector1">
              <a:avLst/>
            </a:prstGeom>
            <a:noFill/>
            <a:ln cap="flat" cmpd="sng" w="9525">
              <a:solidFill>
                <a:srgbClr val="C2C2C2"/>
              </a:solidFill>
              <a:prstDash val="solid"/>
              <a:round/>
              <a:headEnd len="sm" w="sm" type="none"/>
              <a:tailEnd len="sm" w="sm" type="none"/>
            </a:ln>
          </p:spPr>
        </p:cxnSp>
      </p:grpSp>
      <p:grpSp>
        <p:nvGrpSpPr>
          <p:cNvPr id="456" name="Google Shape;456;g3ee0adc8e96_0_2796"/>
          <p:cNvGrpSpPr/>
          <p:nvPr/>
        </p:nvGrpSpPr>
        <p:grpSpPr>
          <a:xfrm>
            <a:off x="4967648" y="3038965"/>
            <a:ext cx="5794363" cy="1148229"/>
            <a:chOff x="3310769" y="909418"/>
            <a:chExt cx="4345881" cy="765282"/>
          </a:xfrm>
        </p:grpSpPr>
        <p:sp>
          <p:nvSpPr>
            <p:cNvPr id="457" name="Google Shape;457;g3ee0adc8e96_0_2796"/>
            <p:cNvSpPr txBox="1"/>
            <p:nvPr/>
          </p:nvSpPr>
          <p:spPr>
            <a:xfrm>
              <a:off x="4928450" y="909418"/>
              <a:ext cx="2728200" cy="2454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rPr b="1" lang="en" sz="2600">
                  <a:solidFill>
                    <a:srgbClr val="155B55"/>
                  </a:solidFill>
                  <a:latin typeface="Roboto"/>
                  <a:ea typeface="Roboto"/>
                  <a:cs typeface="Roboto"/>
                  <a:sym typeface="Roboto"/>
                </a:rPr>
                <a:t>ML Algorithms</a:t>
              </a:r>
              <a:endParaRPr b="1" sz="2600">
                <a:solidFill>
                  <a:srgbClr val="155B55"/>
                </a:solidFill>
                <a:latin typeface="Roboto"/>
                <a:ea typeface="Roboto"/>
                <a:cs typeface="Roboto"/>
                <a:sym typeface="Roboto"/>
              </a:endParaRPr>
            </a:p>
          </p:txBody>
        </p:sp>
        <p:sp>
          <p:nvSpPr>
            <p:cNvPr id="458" name="Google Shape;458;g3ee0adc8e96_0_2796"/>
            <p:cNvSpPr txBox="1"/>
            <p:nvPr/>
          </p:nvSpPr>
          <p:spPr>
            <a:xfrm>
              <a:off x="4928450" y="1154904"/>
              <a:ext cx="2728200" cy="3651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t/>
              </a:r>
              <a:endParaRPr sz="900">
                <a:solidFill>
                  <a:srgbClr val="858585"/>
                </a:solidFill>
                <a:latin typeface="Roboto"/>
                <a:ea typeface="Roboto"/>
                <a:cs typeface="Roboto"/>
                <a:sym typeface="Roboto"/>
              </a:endParaRPr>
            </a:p>
          </p:txBody>
        </p:sp>
        <p:sp>
          <p:nvSpPr>
            <p:cNvPr id="459" name="Google Shape;459;g3ee0adc8e96_0_2796"/>
            <p:cNvSpPr txBox="1"/>
            <p:nvPr/>
          </p:nvSpPr>
          <p:spPr>
            <a:xfrm>
              <a:off x="3310769" y="929395"/>
              <a:ext cx="1010100" cy="308100"/>
            </a:xfrm>
            <a:prstGeom prst="rect">
              <a:avLst/>
            </a:prstGeom>
            <a:noFill/>
            <a:ln>
              <a:noFill/>
            </a:ln>
          </p:spPr>
          <p:txBody>
            <a:bodyPr anchorCtr="0" anchor="t" bIns="121900" lIns="121900" spcFirstLastPara="1" rIns="121900" wrap="square" tIns="121900">
              <a:noAutofit/>
            </a:bodyPr>
            <a:lstStyle/>
            <a:p>
              <a:pPr indent="0" lvl="0" marL="0" rtl="0" algn="r">
                <a:lnSpc>
                  <a:spcPct val="115000"/>
                </a:lnSpc>
                <a:spcBef>
                  <a:spcPts val="0"/>
                </a:spcBef>
                <a:spcAft>
                  <a:spcPts val="0"/>
                </a:spcAft>
                <a:buClr>
                  <a:schemeClr val="dk1"/>
                </a:buClr>
                <a:buSzPts val="1100"/>
                <a:buFont typeface="Arial"/>
                <a:buNone/>
              </a:pPr>
              <a:r>
                <a:rPr lang="en" sz="2400">
                  <a:solidFill>
                    <a:srgbClr val="155B55"/>
                  </a:solidFill>
                  <a:latin typeface="Roboto"/>
                  <a:ea typeface="Roboto"/>
                  <a:cs typeface="Roboto"/>
                  <a:sym typeface="Roboto"/>
                </a:rPr>
                <a:t>16 Min</a:t>
              </a:r>
              <a:endParaRPr sz="1200">
                <a:solidFill>
                  <a:srgbClr val="858585"/>
                </a:solidFill>
                <a:latin typeface="Roboto"/>
                <a:ea typeface="Roboto"/>
                <a:cs typeface="Roboto"/>
                <a:sym typeface="Roboto"/>
              </a:endParaRPr>
            </a:p>
          </p:txBody>
        </p:sp>
        <p:sp>
          <p:nvSpPr>
            <p:cNvPr id="460" name="Google Shape;460;g3ee0adc8e96_0_2796"/>
            <p:cNvSpPr/>
            <p:nvPr/>
          </p:nvSpPr>
          <p:spPr>
            <a:xfrm>
              <a:off x="4517125" y="1086100"/>
              <a:ext cx="133500" cy="588600"/>
            </a:xfrm>
            <a:prstGeom prst="rect">
              <a:avLst/>
            </a:prstGeom>
            <a:solidFill>
              <a:srgbClr val="C2C2C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461" name="Google Shape;461;g3ee0adc8e96_0_2796"/>
            <p:cNvCxnSpPr/>
            <p:nvPr/>
          </p:nvCxnSpPr>
          <p:spPr>
            <a:xfrm rot="10800000">
              <a:off x="4318975" y="1083450"/>
              <a:ext cx="529800" cy="0"/>
            </a:xfrm>
            <a:prstGeom prst="straightConnector1">
              <a:avLst/>
            </a:prstGeom>
            <a:noFill/>
            <a:ln cap="flat" cmpd="sng" w="9525">
              <a:solidFill>
                <a:srgbClr val="C2C2C2"/>
              </a:solidFill>
              <a:prstDash val="solid"/>
              <a:round/>
              <a:headEnd len="sm" w="sm" type="none"/>
              <a:tailEnd len="sm" w="sm" type="none"/>
            </a:ln>
          </p:spPr>
        </p:cxnSp>
      </p:grpSp>
      <p:grpSp>
        <p:nvGrpSpPr>
          <p:cNvPr id="462" name="Google Shape;462;g3ee0adc8e96_0_2796"/>
          <p:cNvGrpSpPr/>
          <p:nvPr/>
        </p:nvGrpSpPr>
        <p:grpSpPr>
          <a:xfrm>
            <a:off x="5303081" y="3929475"/>
            <a:ext cx="6438503" cy="1148219"/>
            <a:chOff x="3562350" y="909425"/>
            <a:chExt cx="4828998" cy="765275"/>
          </a:xfrm>
        </p:grpSpPr>
        <p:sp>
          <p:nvSpPr>
            <p:cNvPr id="463" name="Google Shape;463;g3ee0adc8e96_0_2796"/>
            <p:cNvSpPr txBox="1"/>
            <p:nvPr/>
          </p:nvSpPr>
          <p:spPr>
            <a:xfrm>
              <a:off x="4928448" y="909425"/>
              <a:ext cx="3462900" cy="2454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rPr b="1" lang="en" sz="2500">
                  <a:solidFill>
                    <a:srgbClr val="155B55"/>
                  </a:solidFill>
                  <a:latin typeface="Roboto"/>
                  <a:ea typeface="Roboto"/>
                  <a:cs typeface="Roboto"/>
                  <a:sym typeface="Roboto"/>
                </a:rPr>
                <a:t>Business Impact (Benefits, Cost, and Outcomes)</a:t>
              </a:r>
              <a:endParaRPr b="1" sz="2500">
                <a:solidFill>
                  <a:srgbClr val="155B55"/>
                </a:solidFill>
                <a:latin typeface="Roboto"/>
                <a:ea typeface="Roboto"/>
                <a:cs typeface="Roboto"/>
                <a:sym typeface="Roboto"/>
              </a:endParaRPr>
            </a:p>
          </p:txBody>
        </p:sp>
        <p:sp>
          <p:nvSpPr>
            <p:cNvPr id="464" name="Google Shape;464;g3ee0adc8e96_0_2796"/>
            <p:cNvSpPr txBox="1"/>
            <p:nvPr/>
          </p:nvSpPr>
          <p:spPr>
            <a:xfrm>
              <a:off x="3562350" y="934025"/>
              <a:ext cx="758400" cy="308100"/>
            </a:xfrm>
            <a:prstGeom prst="rect">
              <a:avLst/>
            </a:prstGeom>
            <a:noFill/>
            <a:ln>
              <a:noFill/>
            </a:ln>
          </p:spPr>
          <p:txBody>
            <a:bodyPr anchorCtr="0" anchor="t" bIns="121900" lIns="121900" spcFirstLastPara="1" rIns="121900" wrap="square" tIns="121900">
              <a:noAutofit/>
            </a:bodyPr>
            <a:lstStyle/>
            <a:p>
              <a:pPr indent="0" lvl="0" marL="0" rtl="0" algn="r">
                <a:lnSpc>
                  <a:spcPct val="115000"/>
                </a:lnSpc>
                <a:spcBef>
                  <a:spcPts val="0"/>
                </a:spcBef>
                <a:spcAft>
                  <a:spcPts val="0"/>
                </a:spcAft>
                <a:buClr>
                  <a:schemeClr val="dk1"/>
                </a:buClr>
                <a:buSzPts val="1100"/>
                <a:buFont typeface="Arial"/>
                <a:buNone/>
              </a:pPr>
              <a:r>
                <a:rPr lang="en" sz="2400">
                  <a:solidFill>
                    <a:srgbClr val="155B55"/>
                  </a:solidFill>
                  <a:latin typeface="Roboto"/>
                  <a:ea typeface="Roboto"/>
                  <a:cs typeface="Roboto"/>
                  <a:sym typeface="Roboto"/>
                </a:rPr>
                <a:t>3</a:t>
              </a:r>
              <a:r>
                <a:rPr lang="en" sz="2400">
                  <a:solidFill>
                    <a:srgbClr val="155B55"/>
                  </a:solidFill>
                  <a:latin typeface="Roboto"/>
                  <a:ea typeface="Roboto"/>
                  <a:cs typeface="Roboto"/>
                  <a:sym typeface="Roboto"/>
                </a:rPr>
                <a:t> Min</a:t>
              </a:r>
              <a:endParaRPr sz="1200">
                <a:solidFill>
                  <a:srgbClr val="858585"/>
                </a:solidFill>
                <a:latin typeface="Roboto"/>
                <a:ea typeface="Roboto"/>
                <a:cs typeface="Roboto"/>
                <a:sym typeface="Roboto"/>
              </a:endParaRPr>
            </a:p>
          </p:txBody>
        </p:sp>
        <p:sp>
          <p:nvSpPr>
            <p:cNvPr id="465" name="Google Shape;465;g3ee0adc8e96_0_2796"/>
            <p:cNvSpPr/>
            <p:nvPr/>
          </p:nvSpPr>
          <p:spPr>
            <a:xfrm>
              <a:off x="4517125" y="1086100"/>
              <a:ext cx="133500" cy="588600"/>
            </a:xfrm>
            <a:prstGeom prst="rect">
              <a:avLst/>
            </a:prstGeom>
            <a:solidFill>
              <a:srgbClr val="C2C2C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466" name="Google Shape;466;g3ee0adc8e96_0_2796"/>
            <p:cNvCxnSpPr/>
            <p:nvPr/>
          </p:nvCxnSpPr>
          <p:spPr>
            <a:xfrm rot="10800000">
              <a:off x="4318975" y="1083450"/>
              <a:ext cx="529800" cy="0"/>
            </a:xfrm>
            <a:prstGeom prst="straightConnector1">
              <a:avLst/>
            </a:prstGeom>
            <a:noFill/>
            <a:ln cap="flat" cmpd="sng" w="9525">
              <a:solidFill>
                <a:srgbClr val="C2C2C2"/>
              </a:solidFill>
              <a:prstDash val="solid"/>
              <a:round/>
              <a:headEnd len="sm" w="sm" type="none"/>
              <a:tailEnd len="sm" w="sm" type="none"/>
            </a:ln>
          </p:spPr>
        </p:cxnSp>
      </p:grpSp>
      <p:grpSp>
        <p:nvGrpSpPr>
          <p:cNvPr id="467" name="Google Shape;467;g3ee0adc8e96_0_2796"/>
          <p:cNvGrpSpPr/>
          <p:nvPr/>
        </p:nvGrpSpPr>
        <p:grpSpPr>
          <a:xfrm>
            <a:off x="5303081" y="4888800"/>
            <a:ext cx="5998514" cy="1148219"/>
            <a:chOff x="3562350" y="909424"/>
            <a:chExt cx="4498998" cy="765276"/>
          </a:xfrm>
        </p:grpSpPr>
        <p:sp>
          <p:nvSpPr>
            <p:cNvPr id="468" name="Google Shape;468;g3ee0adc8e96_0_2796"/>
            <p:cNvSpPr txBox="1"/>
            <p:nvPr/>
          </p:nvSpPr>
          <p:spPr>
            <a:xfrm>
              <a:off x="4928448" y="909424"/>
              <a:ext cx="3132900" cy="2454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rPr b="1" lang="en" sz="2500">
                  <a:solidFill>
                    <a:srgbClr val="155B55"/>
                  </a:solidFill>
                  <a:latin typeface="Roboto"/>
                  <a:ea typeface="Roboto"/>
                  <a:cs typeface="Roboto"/>
                  <a:sym typeface="Roboto"/>
                </a:rPr>
                <a:t>Risks, Recommendations, Next Steps, Lessons Learned</a:t>
              </a:r>
              <a:endParaRPr b="1" sz="2500">
                <a:solidFill>
                  <a:srgbClr val="155B55"/>
                </a:solidFill>
                <a:latin typeface="Roboto"/>
                <a:ea typeface="Roboto"/>
                <a:cs typeface="Roboto"/>
                <a:sym typeface="Roboto"/>
              </a:endParaRPr>
            </a:p>
          </p:txBody>
        </p:sp>
        <p:sp>
          <p:nvSpPr>
            <p:cNvPr id="469" name="Google Shape;469;g3ee0adc8e96_0_2796"/>
            <p:cNvSpPr txBox="1"/>
            <p:nvPr/>
          </p:nvSpPr>
          <p:spPr>
            <a:xfrm>
              <a:off x="4928450" y="1154904"/>
              <a:ext cx="2728200" cy="3651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t/>
              </a:r>
              <a:endParaRPr sz="900">
                <a:solidFill>
                  <a:srgbClr val="858585"/>
                </a:solidFill>
                <a:latin typeface="Roboto"/>
                <a:ea typeface="Roboto"/>
                <a:cs typeface="Roboto"/>
                <a:sym typeface="Roboto"/>
              </a:endParaRPr>
            </a:p>
          </p:txBody>
        </p:sp>
        <p:sp>
          <p:nvSpPr>
            <p:cNvPr id="470" name="Google Shape;470;g3ee0adc8e96_0_2796"/>
            <p:cNvSpPr txBox="1"/>
            <p:nvPr/>
          </p:nvSpPr>
          <p:spPr>
            <a:xfrm>
              <a:off x="3562350" y="934025"/>
              <a:ext cx="758400" cy="308100"/>
            </a:xfrm>
            <a:prstGeom prst="rect">
              <a:avLst/>
            </a:prstGeom>
            <a:noFill/>
            <a:ln>
              <a:noFill/>
            </a:ln>
          </p:spPr>
          <p:txBody>
            <a:bodyPr anchorCtr="0" anchor="t" bIns="121900" lIns="121900" spcFirstLastPara="1" rIns="121900" wrap="square" tIns="121900">
              <a:noAutofit/>
            </a:bodyPr>
            <a:lstStyle/>
            <a:p>
              <a:pPr indent="0" lvl="0" marL="0" rtl="0" algn="r">
                <a:lnSpc>
                  <a:spcPct val="115000"/>
                </a:lnSpc>
                <a:spcBef>
                  <a:spcPts val="0"/>
                </a:spcBef>
                <a:spcAft>
                  <a:spcPts val="0"/>
                </a:spcAft>
                <a:buClr>
                  <a:schemeClr val="dk1"/>
                </a:buClr>
                <a:buSzPts val="1100"/>
                <a:buFont typeface="Arial"/>
                <a:buNone/>
              </a:pPr>
              <a:r>
                <a:rPr lang="en" sz="2400">
                  <a:solidFill>
                    <a:srgbClr val="155B55"/>
                  </a:solidFill>
                  <a:latin typeface="Roboto"/>
                  <a:ea typeface="Roboto"/>
                  <a:cs typeface="Roboto"/>
                  <a:sym typeface="Roboto"/>
                </a:rPr>
                <a:t>2</a:t>
              </a:r>
              <a:r>
                <a:rPr lang="en" sz="2400">
                  <a:solidFill>
                    <a:srgbClr val="155B55"/>
                  </a:solidFill>
                  <a:latin typeface="Roboto"/>
                  <a:ea typeface="Roboto"/>
                  <a:cs typeface="Roboto"/>
                  <a:sym typeface="Roboto"/>
                </a:rPr>
                <a:t> Min</a:t>
              </a:r>
              <a:endParaRPr sz="1200">
                <a:solidFill>
                  <a:srgbClr val="858585"/>
                </a:solidFill>
                <a:latin typeface="Roboto"/>
                <a:ea typeface="Roboto"/>
                <a:cs typeface="Roboto"/>
                <a:sym typeface="Roboto"/>
              </a:endParaRPr>
            </a:p>
          </p:txBody>
        </p:sp>
        <p:sp>
          <p:nvSpPr>
            <p:cNvPr id="471" name="Google Shape;471;g3ee0adc8e96_0_2796"/>
            <p:cNvSpPr/>
            <p:nvPr/>
          </p:nvSpPr>
          <p:spPr>
            <a:xfrm>
              <a:off x="4517125" y="1086100"/>
              <a:ext cx="133500" cy="588600"/>
            </a:xfrm>
            <a:prstGeom prst="rect">
              <a:avLst/>
            </a:prstGeom>
            <a:solidFill>
              <a:srgbClr val="C2C2C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472" name="Google Shape;472;g3ee0adc8e96_0_2796"/>
            <p:cNvCxnSpPr/>
            <p:nvPr/>
          </p:nvCxnSpPr>
          <p:spPr>
            <a:xfrm rot="10800000">
              <a:off x="4318975" y="1083450"/>
              <a:ext cx="529800" cy="0"/>
            </a:xfrm>
            <a:prstGeom prst="straightConnector1">
              <a:avLst/>
            </a:prstGeom>
            <a:noFill/>
            <a:ln cap="flat" cmpd="sng" w="9525">
              <a:solidFill>
                <a:srgbClr val="C2C2C2"/>
              </a:solidFill>
              <a:prstDash val="solid"/>
              <a:round/>
              <a:headEnd len="sm" w="sm" type="none"/>
              <a:tailEnd len="sm" w="sm" type="none"/>
            </a:ln>
          </p:spPr>
        </p:cxnSp>
      </p:grpSp>
      <p:sp>
        <p:nvSpPr>
          <p:cNvPr id="473" name="Google Shape;473;g3ee0adc8e96_0_279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Clr>
                <a:srgbClr val="757575"/>
              </a:buClr>
              <a:buSzPts val="1200"/>
              <a:buFont typeface="Arial"/>
              <a:buNone/>
            </a:pPr>
            <a:fld id="{00000000-1234-1234-1234-123412341234}" type="slidenum">
              <a:rPr lang="en" sz="1900"/>
              <a:t>‹#›</a:t>
            </a:fld>
            <a:endParaRPr sz="1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1E8"/>
        </a:solidFill>
      </p:bgPr>
    </p:bg>
    <p:spTree>
      <p:nvGrpSpPr>
        <p:cNvPr id="477" name="Shape 477"/>
        <p:cNvGrpSpPr/>
        <p:nvPr/>
      </p:nvGrpSpPr>
      <p:grpSpPr>
        <a:xfrm>
          <a:off x="0" y="0"/>
          <a:ext cx="0" cy="0"/>
          <a:chOff x="0" y="0"/>
          <a:chExt cx="0" cy="0"/>
        </a:xfrm>
      </p:grpSpPr>
      <p:sp>
        <p:nvSpPr>
          <p:cNvPr id="478" name="Google Shape;478;g3ee0adc8e96_0_782"/>
          <p:cNvSpPr/>
          <p:nvPr/>
        </p:nvSpPr>
        <p:spPr>
          <a:xfrm>
            <a:off x="7" y="0"/>
            <a:ext cx="12069485" cy="6036399"/>
          </a:xfrm>
          <a:custGeom>
            <a:rect b="b" l="l" r="r" t="t"/>
            <a:pathLst>
              <a:path extrusionOk="0" h="5438197" w="4765838">
                <a:moveTo>
                  <a:pt x="0" y="0"/>
                </a:moveTo>
                <a:lnTo>
                  <a:pt x="4765838" y="0"/>
                </a:lnTo>
                <a:lnTo>
                  <a:pt x="4765838" y="5438198"/>
                </a:lnTo>
                <a:lnTo>
                  <a:pt x="0" y="5438198"/>
                </a:lnTo>
                <a:lnTo>
                  <a:pt x="0" y="0"/>
                </a:lnTo>
                <a:close/>
              </a:path>
            </a:pathLst>
          </a:custGeom>
          <a:blipFill rotWithShape="1">
            <a:blip r:embed="rId3">
              <a:alphaModFix/>
            </a:blip>
            <a:stretch>
              <a:fillRect b="0" l="0" r="0" t="0"/>
            </a:stretch>
          </a:blipFill>
          <a:ln>
            <a:noFill/>
          </a:ln>
        </p:spPr>
      </p:sp>
      <p:sp>
        <p:nvSpPr>
          <p:cNvPr id="479" name="Google Shape;479;g3ee0adc8e96_0_782"/>
          <p:cNvSpPr/>
          <p:nvPr/>
        </p:nvSpPr>
        <p:spPr>
          <a:xfrm>
            <a:off x="8121100" y="-155276"/>
            <a:ext cx="3951802" cy="2471708"/>
          </a:xfrm>
          <a:custGeom>
            <a:rect b="b" l="l" r="r" t="t"/>
            <a:pathLst>
              <a:path extrusionOk="0" h="1728467" w="2044917">
                <a:moveTo>
                  <a:pt x="0" y="0"/>
                </a:moveTo>
                <a:lnTo>
                  <a:pt x="2044916" y="0"/>
                </a:lnTo>
                <a:lnTo>
                  <a:pt x="2044916" y="1728467"/>
                </a:lnTo>
                <a:lnTo>
                  <a:pt x="0" y="1728467"/>
                </a:lnTo>
                <a:lnTo>
                  <a:pt x="0" y="0"/>
                </a:lnTo>
                <a:close/>
              </a:path>
            </a:pathLst>
          </a:custGeom>
          <a:blipFill rotWithShape="1">
            <a:blip r:embed="rId4">
              <a:alphaModFix/>
            </a:blip>
            <a:stretch>
              <a:fillRect b="0" l="0" r="0" t="0"/>
            </a:stretch>
          </a:blipFill>
          <a:ln>
            <a:noFill/>
          </a:ln>
        </p:spPr>
      </p:sp>
      <p:sp>
        <p:nvSpPr>
          <p:cNvPr id="480" name="Google Shape;480;g3ee0adc8e96_0_782"/>
          <p:cNvSpPr txBox="1"/>
          <p:nvPr>
            <p:ph idx="4294967295" type="title"/>
          </p:nvPr>
        </p:nvSpPr>
        <p:spPr>
          <a:xfrm>
            <a:off x="3354500" y="2478050"/>
            <a:ext cx="4975800" cy="1080300"/>
          </a:xfrm>
          <a:prstGeom prst="rect">
            <a:avLst/>
          </a:prstGeom>
          <a:noFill/>
          <a:ln>
            <a:noFill/>
          </a:ln>
        </p:spPr>
        <p:txBody>
          <a:bodyPr anchorCtr="0" anchor="t" bIns="121900" lIns="121900" spcFirstLastPara="1" rIns="121900" wrap="square" tIns="121900">
            <a:noAutofit/>
          </a:bodyPr>
          <a:lstStyle/>
          <a:p>
            <a:pPr indent="0" lvl="0" marL="0" rtl="0" algn="l">
              <a:lnSpc>
                <a:spcPct val="90000"/>
              </a:lnSpc>
              <a:spcBef>
                <a:spcPts val="0"/>
              </a:spcBef>
              <a:spcAft>
                <a:spcPts val="0"/>
              </a:spcAft>
              <a:buClr>
                <a:schemeClr val="dk1"/>
              </a:buClr>
              <a:buSzPts val="4400"/>
              <a:buFont typeface="Play"/>
              <a:buNone/>
            </a:pPr>
            <a:r>
              <a:rPr b="1" lang="en" sz="6000"/>
              <a:t>I</a:t>
            </a:r>
            <a:r>
              <a:rPr b="1" lang="en" sz="6000">
                <a:latin typeface="Play"/>
                <a:ea typeface="Play"/>
                <a:cs typeface="Play"/>
                <a:sym typeface="Play"/>
              </a:rPr>
              <a:t>ntroduction</a:t>
            </a:r>
            <a:endParaRPr b="1" sz="6000"/>
          </a:p>
        </p:txBody>
      </p:sp>
      <p:sp>
        <p:nvSpPr>
          <p:cNvPr id="481" name="Google Shape;481;g3ee0adc8e96_0_782"/>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82" name="Google Shape;482;g3ee0adc8e96_0_78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Clr>
                <a:srgbClr val="757575"/>
              </a:buClr>
              <a:buSzPts val="1200"/>
              <a:buFont typeface="Arial"/>
              <a:buNone/>
            </a:pPr>
            <a:fld id="{00000000-1234-1234-1234-123412341234}" type="slidenum">
              <a:rPr lang="en" sz="1900"/>
              <a:t>‹#›</a:t>
            </a:fld>
            <a:endParaRPr sz="19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486" name="Shape 486"/>
        <p:cNvGrpSpPr/>
        <p:nvPr/>
      </p:nvGrpSpPr>
      <p:grpSpPr>
        <a:xfrm>
          <a:off x="0" y="0"/>
          <a:ext cx="0" cy="0"/>
          <a:chOff x="0" y="0"/>
          <a:chExt cx="0" cy="0"/>
        </a:xfrm>
      </p:grpSpPr>
      <p:grpSp>
        <p:nvGrpSpPr>
          <p:cNvPr id="487" name="Google Shape;487;g3ee0adc8e96_0_66"/>
          <p:cNvGrpSpPr/>
          <p:nvPr/>
        </p:nvGrpSpPr>
        <p:grpSpPr>
          <a:xfrm>
            <a:off x="8706107" y="-555302"/>
            <a:ext cx="3969516" cy="7638089"/>
            <a:chOff x="0" y="-57150"/>
            <a:chExt cx="1568173" cy="3017457"/>
          </a:xfrm>
        </p:grpSpPr>
        <p:sp>
          <p:nvSpPr>
            <p:cNvPr id="488" name="Google Shape;488;g3ee0adc8e96_0_66"/>
            <p:cNvSpPr/>
            <p:nvPr/>
          </p:nvSpPr>
          <p:spPr>
            <a:xfrm>
              <a:off x="0" y="0"/>
              <a:ext cx="1568173" cy="2960307"/>
            </a:xfrm>
            <a:custGeom>
              <a:rect b="b" l="l" r="r" t="t"/>
              <a:pathLst>
                <a:path extrusionOk="0" h="2960307" w="1568173">
                  <a:moveTo>
                    <a:pt x="0" y="0"/>
                  </a:moveTo>
                  <a:lnTo>
                    <a:pt x="1568173" y="0"/>
                  </a:lnTo>
                  <a:lnTo>
                    <a:pt x="1568173" y="2960307"/>
                  </a:lnTo>
                  <a:lnTo>
                    <a:pt x="0" y="2960307"/>
                  </a:lnTo>
                  <a:close/>
                </a:path>
              </a:pathLst>
            </a:custGeom>
            <a:solidFill>
              <a:srgbClr val="EFF1E8"/>
            </a:solidFill>
            <a:ln>
              <a:noFill/>
            </a:ln>
          </p:spPr>
        </p:sp>
        <p:sp>
          <p:nvSpPr>
            <p:cNvPr id="489" name="Google Shape;489;g3ee0adc8e96_0_66"/>
            <p:cNvSpPr txBox="1"/>
            <p:nvPr/>
          </p:nvSpPr>
          <p:spPr>
            <a:xfrm>
              <a:off x="0" y="-57150"/>
              <a:ext cx="1568100" cy="30174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490" name="Google Shape;490;g3ee0adc8e96_0_66"/>
          <p:cNvGrpSpPr/>
          <p:nvPr/>
        </p:nvGrpSpPr>
        <p:grpSpPr>
          <a:xfrm>
            <a:off x="204925" y="1010498"/>
            <a:ext cx="8530722" cy="5418289"/>
            <a:chOff x="-18" y="-20223"/>
            <a:chExt cx="2005200" cy="1009500"/>
          </a:xfrm>
        </p:grpSpPr>
        <p:sp>
          <p:nvSpPr>
            <p:cNvPr id="491" name="Google Shape;491;g3ee0adc8e96_0_66"/>
            <p:cNvSpPr/>
            <p:nvPr/>
          </p:nvSpPr>
          <p:spPr>
            <a:xfrm>
              <a:off x="0" y="0"/>
              <a:ext cx="2005166" cy="952383"/>
            </a:xfrm>
            <a:custGeom>
              <a:rect b="b" l="l" r="r" t="t"/>
              <a:pathLst>
                <a:path extrusionOk="0" h="952383" w="2005166">
                  <a:moveTo>
                    <a:pt x="0" y="0"/>
                  </a:moveTo>
                  <a:lnTo>
                    <a:pt x="2005166" y="0"/>
                  </a:lnTo>
                  <a:lnTo>
                    <a:pt x="2005166" y="952383"/>
                  </a:lnTo>
                  <a:lnTo>
                    <a:pt x="0" y="952383"/>
                  </a:lnTo>
                  <a:close/>
                </a:path>
              </a:pathLst>
            </a:custGeom>
            <a:noFill/>
            <a:ln cap="sq" cmpd="sng" w="38100">
              <a:solidFill>
                <a:srgbClr val="EFF1E8"/>
              </a:solidFill>
              <a:prstDash val="solid"/>
              <a:miter lim="8000"/>
              <a:headEnd len="sm" w="sm" type="none"/>
              <a:tailEnd len="sm" w="sm" type="none"/>
            </a:ln>
          </p:spPr>
        </p:sp>
        <p:sp>
          <p:nvSpPr>
            <p:cNvPr id="492" name="Google Shape;492;g3ee0adc8e96_0_66"/>
            <p:cNvSpPr txBox="1"/>
            <p:nvPr/>
          </p:nvSpPr>
          <p:spPr>
            <a:xfrm>
              <a:off x="-18" y="-20223"/>
              <a:ext cx="2005200" cy="10095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493" name="Google Shape;493;g3ee0adc8e96_0_66"/>
          <p:cNvSpPr/>
          <p:nvPr/>
        </p:nvSpPr>
        <p:spPr>
          <a:xfrm>
            <a:off x="0" y="6230323"/>
            <a:ext cx="659253" cy="622716"/>
          </a:xfrm>
          <a:custGeom>
            <a:rect b="b" l="l" r="r" t="t"/>
            <a:pathLst>
              <a:path extrusionOk="0" h="635425" w="635425">
                <a:moveTo>
                  <a:pt x="0" y="0"/>
                </a:moveTo>
                <a:lnTo>
                  <a:pt x="635425" y="0"/>
                </a:lnTo>
                <a:lnTo>
                  <a:pt x="635425" y="635425"/>
                </a:lnTo>
                <a:lnTo>
                  <a:pt x="0" y="635425"/>
                </a:lnTo>
                <a:lnTo>
                  <a:pt x="0" y="0"/>
                </a:lnTo>
                <a:close/>
              </a:path>
            </a:pathLst>
          </a:custGeom>
          <a:blipFill rotWithShape="1">
            <a:blip r:embed="rId3">
              <a:alphaModFix/>
            </a:blip>
            <a:stretch>
              <a:fillRect b="0" l="0" r="0" t="0"/>
            </a:stretch>
          </a:blipFill>
          <a:ln>
            <a:noFill/>
          </a:ln>
        </p:spPr>
      </p:sp>
      <p:sp>
        <p:nvSpPr>
          <p:cNvPr id="494" name="Google Shape;494;g3ee0adc8e96_0_66"/>
          <p:cNvSpPr txBox="1"/>
          <p:nvPr/>
        </p:nvSpPr>
        <p:spPr>
          <a:xfrm>
            <a:off x="429026" y="877488"/>
            <a:ext cx="7651800" cy="2154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t/>
            </a:r>
            <a:endParaRPr b="0" i="0" u="none" cap="none" strike="noStrike">
              <a:solidFill>
                <a:schemeClr val="dk1"/>
              </a:solidFill>
              <a:latin typeface="Poppins"/>
              <a:ea typeface="Poppins"/>
              <a:cs typeface="Poppins"/>
              <a:sym typeface="Poppins"/>
            </a:endParaRPr>
          </a:p>
        </p:txBody>
      </p:sp>
      <p:grpSp>
        <p:nvGrpSpPr>
          <p:cNvPr id="495" name="Google Shape;495;g3ee0adc8e96_0_66"/>
          <p:cNvGrpSpPr/>
          <p:nvPr/>
        </p:nvGrpSpPr>
        <p:grpSpPr>
          <a:xfrm>
            <a:off x="7223676" y="3277900"/>
            <a:ext cx="4782721" cy="3150874"/>
            <a:chOff x="-1889558" y="0"/>
            <a:chExt cx="3894724" cy="2342831"/>
          </a:xfrm>
        </p:grpSpPr>
        <p:sp>
          <p:nvSpPr>
            <p:cNvPr id="496" name="Google Shape;496;g3ee0adc8e96_0_66"/>
            <p:cNvSpPr/>
            <p:nvPr/>
          </p:nvSpPr>
          <p:spPr>
            <a:xfrm>
              <a:off x="0" y="0"/>
              <a:ext cx="2005166" cy="952383"/>
            </a:xfrm>
            <a:custGeom>
              <a:rect b="b" l="l" r="r" t="t"/>
              <a:pathLst>
                <a:path extrusionOk="0" h="952383" w="2005166">
                  <a:moveTo>
                    <a:pt x="0" y="0"/>
                  </a:moveTo>
                  <a:lnTo>
                    <a:pt x="2005166" y="0"/>
                  </a:lnTo>
                  <a:lnTo>
                    <a:pt x="2005166" y="952383"/>
                  </a:lnTo>
                  <a:lnTo>
                    <a:pt x="0" y="952383"/>
                  </a:lnTo>
                  <a:close/>
                </a:path>
              </a:pathLst>
            </a:custGeom>
            <a:noFill/>
            <a:ln cap="sq" cmpd="sng" w="38100">
              <a:solidFill>
                <a:srgbClr val="EFF1E8"/>
              </a:solidFill>
              <a:prstDash val="solid"/>
              <a:miter lim="8000"/>
              <a:headEnd len="sm" w="sm" type="none"/>
              <a:tailEnd len="sm" w="sm" type="none"/>
            </a:ln>
          </p:spPr>
        </p:sp>
        <p:sp>
          <p:nvSpPr>
            <p:cNvPr id="497" name="Google Shape;497;g3ee0adc8e96_0_66"/>
            <p:cNvSpPr txBox="1"/>
            <p:nvPr/>
          </p:nvSpPr>
          <p:spPr>
            <a:xfrm>
              <a:off x="-1889558" y="1333331"/>
              <a:ext cx="2005200" cy="10095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498" name="Google Shape;498;g3ee0adc8e96_0_66"/>
          <p:cNvSpPr txBox="1"/>
          <p:nvPr/>
        </p:nvSpPr>
        <p:spPr>
          <a:xfrm>
            <a:off x="204928" y="0"/>
            <a:ext cx="7744800" cy="877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2850"/>
              <a:buNone/>
            </a:pPr>
            <a:r>
              <a:rPr b="1" lang="en" sz="2850">
                <a:solidFill>
                  <a:schemeClr val="lt1"/>
                </a:solidFill>
              </a:rPr>
              <a:t>Forecasting Caterpillar Tube Assembly Prices</a:t>
            </a:r>
            <a:endParaRPr sz="2700">
              <a:latin typeface="Poppins"/>
              <a:ea typeface="Poppins"/>
              <a:cs typeface="Poppins"/>
              <a:sym typeface="Poppins"/>
            </a:endParaRPr>
          </a:p>
        </p:txBody>
      </p:sp>
      <p:sp>
        <p:nvSpPr>
          <p:cNvPr id="499" name="Google Shape;499;g3ee0adc8e96_0_66"/>
          <p:cNvSpPr/>
          <p:nvPr/>
        </p:nvSpPr>
        <p:spPr>
          <a:xfrm>
            <a:off x="8706112" y="3041847"/>
            <a:ext cx="3181197" cy="3629996"/>
          </a:xfrm>
          <a:custGeom>
            <a:rect b="b" l="l" r="r" t="t"/>
            <a:pathLst>
              <a:path extrusionOk="0" h="5438197" w="4765838">
                <a:moveTo>
                  <a:pt x="0" y="0"/>
                </a:moveTo>
                <a:lnTo>
                  <a:pt x="4765838" y="0"/>
                </a:lnTo>
                <a:lnTo>
                  <a:pt x="4765838" y="5438198"/>
                </a:lnTo>
                <a:lnTo>
                  <a:pt x="0" y="5438198"/>
                </a:lnTo>
                <a:lnTo>
                  <a:pt x="0" y="0"/>
                </a:lnTo>
                <a:close/>
              </a:path>
            </a:pathLst>
          </a:custGeom>
          <a:blipFill rotWithShape="1">
            <a:blip r:embed="rId4">
              <a:alphaModFix/>
            </a:blip>
            <a:stretch>
              <a:fillRect b="0" l="0" r="0" t="0"/>
            </a:stretch>
          </a:blipFill>
          <a:ln>
            <a:noFill/>
          </a:ln>
        </p:spPr>
      </p:sp>
      <p:sp>
        <p:nvSpPr>
          <p:cNvPr id="500" name="Google Shape;500;g3ee0adc8e96_0_66"/>
          <p:cNvSpPr txBox="1"/>
          <p:nvPr/>
        </p:nvSpPr>
        <p:spPr>
          <a:xfrm>
            <a:off x="8735650" y="712925"/>
            <a:ext cx="3779100" cy="2565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dk1"/>
                </a:solidFill>
              </a:rPr>
              <a:t>Why this business case matters before modeling starts.</a:t>
            </a:r>
            <a:endParaRPr sz="3600">
              <a:solidFill>
                <a:schemeClr val="dk1"/>
              </a:solidFill>
              <a:latin typeface="Calibri"/>
              <a:ea typeface="Calibri"/>
              <a:cs typeface="Calibri"/>
              <a:sym typeface="Calibri"/>
            </a:endParaRPr>
          </a:p>
        </p:txBody>
      </p:sp>
      <p:sp>
        <p:nvSpPr>
          <p:cNvPr id="501" name="Google Shape;501;g3ee0adc8e96_0_66"/>
          <p:cNvSpPr txBox="1"/>
          <p:nvPr/>
        </p:nvSpPr>
        <p:spPr>
          <a:xfrm>
            <a:off x="297925" y="1196650"/>
            <a:ext cx="8100000" cy="3522600"/>
          </a:xfrm>
          <a:prstGeom prst="rect">
            <a:avLst/>
          </a:prstGeom>
          <a:solidFill>
            <a:srgbClr val="F8FAFC"/>
          </a:solidFill>
          <a:ln cap="flat" cmpd="sng" w="9525">
            <a:solidFill>
              <a:srgbClr val="CBD5E1"/>
            </a:solidFill>
            <a:prstDash val="solid"/>
            <a:round/>
            <a:headEnd len="sm" w="sm" type="none"/>
            <a:tailEnd len="sm" w="sm" type="none"/>
          </a:ln>
        </p:spPr>
        <p:txBody>
          <a:bodyPr anchorCtr="0" anchor="t" bIns="60000" lIns="90000" spcFirstLastPara="1" rIns="90000" wrap="square" tIns="70000">
            <a:noAutofit/>
          </a:bodyPr>
          <a:lstStyle/>
          <a:p>
            <a:pPr indent="-199050" lvl="0" marL="279999" marR="0" rtl="0" algn="l">
              <a:lnSpc>
                <a:spcPct val="100000"/>
              </a:lnSpc>
              <a:spcBef>
                <a:spcPts val="0"/>
              </a:spcBef>
              <a:spcAft>
                <a:spcPts val="0"/>
              </a:spcAft>
              <a:buClr>
                <a:srgbClr val="000000"/>
              </a:buClr>
              <a:buSzPts val="1800"/>
              <a:buFont typeface="Arial"/>
              <a:buChar char="•"/>
            </a:pPr>
            <a:r>
              <a:rPr b="0" i="0" lang="en" sz="1800" u="none" cap="none" strike="noStrike">
                <a:solidFill>
                  <a:srgbClr val="111827"/>
                </a:solidFill>
                <a:latin typeface="Arial"/>
                <a:ea typeface="Arial"/>
                <a:cs typeface="Arial"/>
                <a:sym typeface="Arial"/>
              </a:rPr>
              <a:t>Industrial equipment production depends on purchased components and supplier quotations.</a:t>
            </a:r>
            <a:endParaRPr b="0" i="0" sz="1800" u="none" cap="none" strike="noStrike">
              <a:solidFill>
                <a:srgbClr val="111827"/>
              </a:solidFill>
              <a:latin typeface="Arial"/>
              <a:ea typeface="Arial"/>
              <a:cs typeface="Arial"/>
              <a:sym typeface="Arial"/>
            </a:endParaRPr>
          </a:p>
          <a:p>
            <a:pPr indent="0" lvl="0" marL="457200" marR="0" rtl="0" algn="l">
              <a:lnSpc>
                <a:spcPct val="100000"/>
              </a:lnSpc>
              <a:spcBef>
                <a:spcPts val="0"/>
              </a:spcBef>
              <a:spcAft>
                <a:spcPts val="0"/>
              </a:spcAft>
              <a:buNone/>
            </a:pPr>
            <a:r>
              <a:t/>
            </a:r>
            <a:endParaRPr sz="1800">
              <a:solidFill>
                <a:srgbClr val="111827"/>
              </a:solidFill>
            </a:endParaRPr>
          </a:p>
          <a:p>
            <a:pPr indent="-199050" lvl="0" marL="279999" marR="0" rtl="0" algn="l">
              <a:lnSpc>
                <a:spcPct val="100000"/>
              </a:lnSpc>
              <a:spcBef>
                <a:spcPts val="0"/>
              </a:spcBef>
              <a:spcAft>
                <a:spcPts val="0"/>
              </a:spcAft>
              <a:buClr>
                <a:srgbClr val="000000"/>
              </a:buClr>
              <a:buSzPts val="1800"/>
              <a:buFont typeface="Arial"/>
              <a:buChar char="•"/>
            </a:pPr>
            <a:r>
              <a:rPr b="0" i="0" lang="en" sz="1800" u="none" cap="none" strike="noStrike">
                <a:solidFill>
                  <a:srgbClr val="111827"/>
                </a:solidFill>
                <a:latin typeface="Arial"/>
                <a:ea typeface="Arial"/>
                <a:cs typeface="Arial"/>
                <a:sym typeface="Arial"/>
              </a:rPr>
              <a:t>Quote uncertainty can slow procurement decisions and weaken negotiation preparation.</a:t>
            </a:r>
            <a:endParaRPr b="0" i="0" sz="1800" u="none" cap="none" strike="noStrike">
              <a:solidFill>
                <a:srgbClr val="111827"/>
              </a:solidFill>
              <a:latin typeface="Arial"/>
              <a:ea typeface="Arial"/>
              <a:cs typeface="Arial"/>
              <a:sym typeface="Arial"/>
            </a:endParaRPr>
          </a:p>
          <a:p>
            <a:pPr indent="0" lvl="0" marL="457200" marR="0" rtl="0" algn="l">
              <a:lnSpc>
                <a:spcPct val="100000"/>
              </a:lnSpc>
              <a:spcBef>
                <a:spcPts val="0"/>
              </a:spcBef>
              <a:spcAft>
                <a:spcPts val="0"/>
              </a:spcAft>
              <a:buNone/>
            </a:pPr>
            <a:r>
              <a:t/>
            </a:r>
            <a:endParaRPr sz="1800">
              <a:solidFill>
                <a:srgbClr val="111827"/>
              </a:solidFill>
            </a:endParaRPr>
          </a:p>
          <a:p>
            <a:pPr indent="-199050" lvl="0" marL="279999" marR="0" rtl="0" algn="l">
              <a:lnSpc>
                <a:spcPct val="100000"/>
              </a:lnSpc>
              <a:spcBef>
                <a:spcPts val="0"/>
              </a:spcBef>
              <a:spcAft>
                <a:spcPts val="0"/>
              </a:spcAft>
              <a:buClr>
                <a:srgbClr val="000000"/>
              </a:buClr>
              <a:buSzPts val="1800"/>
              <a:buFont typeface="Arial"/>
              <a:buChar char="•"/>
            </a:pPr>
            <a:r>
              <a:rPr b="0" i="0" lang="en" sz="1800" u="none" cap="none" strike="noStrike">
                <a:solidFill>
                  <a:srgbClr val="111827"/>
                </a:solidFill>
                <a:latin typeface="Arial"/>
                <a:ea typeface="Arial"/>
                <a:cs typeface="Arial"/>
                <a:sym typeface="Arial"/>
              </a:rPr>
              <a:t>Predictive analytics supports decisions by estimating likely outcomes before final supplier commitments.</a:t>
            </a:r>
            <a:endParaRPr b="0" i="0" sz="1800" u="none" cap="none" strike="noStrike">
              <a:solidFill>
                <a:srgbClr val="111827"/>
              </a:solidFill>
              <a:latin typeface="Arial"/>
              <a:ea typeface="Arial"/>
              <a:cs typeface="Arial"/>
              <a:sym typeface="Arial"/>
            </a:endParaRPr>
          </a:p>
          <a:p>
            <a:pPr indent="0" lvl="0" marL="457200" marR="0" rtl="0" algn="l">
              <a:lnSpc>
                <a:spcPct val="100000"/>
              </a:lnSpc>
              <a:spcBef>
                <a:spcPts val="0"/>
              </a:spcBef>
              <a:spcAft>
                <a:spcPts val="0"/>
              </a:spcAft>
              <a:buNone/>
            </a:pPr>
            <a:r>
              <a:t/>
            </a:r>
            <a:endParaRPr sz="1800">
              <a:solidFill>
                <a:srgbClr val="111827"/>
              </a:solidFill>
            </a:endParaRPr>
          </a:p>
          <a:p>
            <a:pPr indent="-199050" lvl="0" marL="279999" marR="0" rtl="0" algn="l">
              <a:lnSpc>
                <a:spcPct val="100000"/>
              </a:lnSpc>
              <a:spcBef>
                <a:spcPts val="0"/>
              </a:spcBef>
              <a:spcAft>
                <a:spcPts val="0"/>
              </a:spcAft>
              <a:buClr>
                <a:srgbClr val="000000"/>
              </a:buClr>
              <a:buSzPts val="1800"/>
              <a:buFont typeface="Arial"/>
              <a:buChar char="•"/>
            </a:pPr>
            <a:r>
              <a:rPr b="0" i="0" lang="en" sz="1800" u="none" cap="none" strike="noStrike">
                <a:solidFill>
                  <a:srgbClr val="111827"/>
                </a:solidFill>
                <a:latin typeface="Arial"/>
                <a:ea typeface="Arial"/>
                <a:cs typeface="Arial"/>
                <a:sym typeface="Arial"/>
              </a:rPr>
              <a:t>For this project, the business output is a quote benchmark; the technical output is a trained cost-prediction pipeline.</a:t>
            </a:r>
            <a:endParaRPr sz="1800"/>
          </a:p>
        </p:txBody>
      </p:sp>
      <p:sp>
        <p:nvSpPr>
          <p:cNvPr id="502" name="Google Shape;502;g3ee0adc8e96_0_66"/>
          <p:cNvSpPr txBox="1"/>
          <p:nvPr/>
        </p:nvSpPr>
        <p:spPr>
          <a:xfrm>
            <a:off x="385875" y="4914675"/>
            <a:ext cx="6177600" cy="1171500"/>
          </a:xfrm>
          <a:prstGeom prst="rect">
            <a:avLst/>
          </a:prstGeom>
          <a:solidFill>
            <a:srgbClr val="2E86C1"/>
          </a:solidFill>
          <a:ln cap="flat" cmpd="sng" w="9525">
            <a:solidFill>
              <a:srgbClr val="2E86C1"/>
            </a:solidFill>
            <a:prstDash val="solid"/>
            <a:round/>
            <a:headEnd len="sm" w="sm" type="none"/>
            <a:tailEnd len="sm" w="sm" type="none"/>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1500"/>
              <a:buFont typeface="Arial"/>
              <a:buNone/>
            </a:pPr>
            <a:r>
              <a:rPr b="1" i="0" lang="en" sz="2400" u="none" cap="none" strike="noStrike">
                <a:solidFill>
                  <a:srgbClr val="FFFFFF"/>
                </a:solidFill>
                <a:latin typeface="Arial"/>
                <a:ea typeface="Arial"/>
                <a:cs typeface="Arial"/>
                <a:sym typeface="Arial"/>
              </a:rPr>
              <a:t>Business importance: better price visibility supports faster, more evidence-based procurement decisions.</a:t>
            </a:r>
            <a:endParaRPr sz="2400"/>
          </a:p>
        </p:txBody>
      </p:sp>
      <p:sp>
        <p:nvSpPr>
          <p:cNvPr id="503" name="Google Shape;503;g3ee0adc8e96_0_66"/>
          <p:cNvSpPr txBox="1"/>
          <p:nvPr/>
        </p:nvSpPr>
        <p:spPr>
          <a:xfrm>
            <a:off x="801950" y="6281600"/>
            <a:ext cx="8100000" cy="622800"/>
          </a:xfrm>
          <a:prstGeom prst="rect">
            <a:avLst/>
          </a:prstGeom>
          <a:noFill/>
          <a:ln>
            <a:noFill/>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850"/>
              <a:buFont typeface="Arial"/>
              <a:buNone/>
            </a:pPr>
            <a:r>
              <a:rPr b="0" i="0" lang="en" sz="1800" cap="none" strike="noStrike">
                <a:solidFill>
                  <a:schemeClr val="dk1"/>
                </a:solidFill>
                <a:latin typeface="Arial"/>
                <a:ea typeface="Arial"/>
                <a:cs typeface="Arial"/>
                <a:sym typeface="Arial"/>
              </a:rPr>
              <a:t>Source: Waller &amp; Fawcett (2013); Shmueli &amp; Koppius (2011); Liu (2022)</a:t>
            </a:r>
            <a:endParaRPr sz="1800">
              <a:solidFill>
                <a:schemeClr val="dk1"/>
              </a:solidFill>
            </a:endParaRPr>
          </a:p>
        </p:txBody>
      </p:sp>
      <p:sp>
        <p:nvSpPr>
          <p:cNvPr id="504" name="Google Shape;504;g3ee0adc8e96_0_66"/>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505" name="Google Shape;505;g3ee0adc8e96_0_6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Clr>
                <a:srgbClr val="757575"/>
              </a:buClr>
              <a:buSzPts val="1200"/>
              <a:buFont typeface="Arial"/>
              <a:buNone/>
            </a:pPr>
            <a:r>
              <a:rPr lang="en" sz="1900"/>
              <a:t>4</a:t>
            </a:r>
            <a:endParaRPr sz="1900"/>
          </a:p>
        </p:txBody>
      </p:sp>
      <p:sp>
        <p:nvSpPr>
          <p:cNvPr id="506" name="Google Shape;506;g3ee0adc8e96_0_66"/>
          <p:cNvSpPr txBox="1"/>
          <p:nvPr/>
        </p:nvSpPr>
        <p:spPr>
          <a:xfrm>
            <a:off x="9510181" y="6387788"/>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90000"/>
              </a:lnSpc>
              <a:spcBef>
                <a:spcPts val="0"/>
              </a:spcBef>
              <a:spcAft>
                <a:spcPts val="0"/>
              </a:spcAft>
              <a:buClr>
                <a:schemeClr val="lt1"/>
              </a:buClr>
              <a:buSzPct val="70707"/>
              <a:buFont typeface="Play"/>
              <a:buNone/>
            </a:pPr>
            <a:r>
              <a:rPr lang="en"/>
              <a:t>Project Domain / Scope and Focus</a:t>
            </a:r>
            <a:endParaRPr/>
          </a:p>
        </p:txBody>
      </p:sp>
      <p:sp>
        <p:nvSpPr>
          <p:cNvPr id="512" name="Google Shape;512;p5"/>
          <p:cNvSpPr txBox="1"/>
          <p:nvPr>
            <p:ph idx="1" type="body"/>
          </p:nvPr>
        </p:nvSpPr>
        <p:spPr>
          <a:xfrm>
            <a:off x="6695011" y="2088500"/>
            <a:ext cx="5333200" cy="4101600"/>
          </a:xfrm>
          <a:prstGeom prst="rect">
            <a:avLst/>
          </a:prstGeom>
          <a:noFill/>
          <a:ln>
            <a:noFill/>
          </a:ln>
        </p:spPr>
        <p:txBody>
          <a:bodyPr anchorCtr="0" anchor="t" bIns="121900" lIns="121900" spcFirstLastPara="1" rIns="121900" wrap="square" tIns="121900">
            <a:normAutofit/>
          </a:bodyPr>
          <a:lstStyle/>
          <a:p>
            <a:pPr indent="0" lvl="0" marL="0" rtl="0" algn="l">
              <a:lnSpc>
                <a:spcPct val="90000"/>
              </a:lnSpc>
              <a:spcBef>
                <a:spcPts val="0"/>
              </a:spcBef>
              <a:spcAft>
                <a:spcPts val="0"/>
              </a:spcAft>
              <a:buClr>
                <a:schemeClr val="dk1"/>
              </a:buClr>
              <a:buSzPts val="1100"/>
              <a:buNone/>
            </a:pPr>
            <a:r>
              <a:rPr lang="en" sz="2267">
                <a:solidFill>
                  <a:schemeClr val="dk1"/>
                </a:solidFill>
              </a:rPr>
              <a:t>- Combine tube assembly, supplier quote, bill of materials, and component data.</a:t>
            </a:r>
            <a:endParaRPr sz="2267">
              <a:solidFill>
                <a:schemeClr val="dk1"/>
              </a:solidFill>
            </a:endParaRPr>
          </a:p>
          <a:p>
            <a:pPr indent="0" lvl="0" marL="0" rtl="0" algn="l">
              <a:lnSpc>
                <a:spcPct val="90000"/>
              </a:lnSpc>
              <a:spcBef>
                <a:spcPts val="1600"/>
              </a:spcBef>
              <a:spcAft>
                <a:spcPts val="0"/>
              </a:spcAft>
              <a:buClr>
                <a:schemeClr val="dk1"/>
              </a:buClr>
              <a:buSzPts val="1100"/>
              <a:buNone/>
            </a:pPr>
            <a:r>
              <a:rPr lang="en" sz="2267">
                <a:solidFill>
                  <a:schemeClr val="dk1"/>
                </a:solidFill>
              </a:rPr>
              <a:t>- Focus on predicting quoted price, not manufacturing design.</a:t>
            </a:r>
            <a:endParaRPr sz="2267">
              <a:solidFill>
                <a:schemeClr val="dk1"/>
              </a:solidFill>
            </a:endParaRPr>
          </a:p>
          <a:p>
            <a:pPr indent="0" lvl="0" marL="0" rtl="0" algn="l">
              <a:lnSpc>
                <a:spcPct val="90000"/>
              </a:lnSpc>
              <a:spcBef>
                <a:spcPts val="1600"/>
              </a:spcBef>
              <a:spcAft>
                <a:spcPts val="0"/>
              </a:spcAft>
              <a:buClr>
                <a:schemeClr val="dk1"/>
              </a:buClr>
              <a:buSzPts val="1100"/>
              <a:buNone/>
            </a:pPr>
            <a:r>
              <a:rPr lang="en" sz="2267">
                <a:solidFill>
                  <a:schemeClr val="dk1"/>
                </a:solidFill>
              </a:rPr>
              <a:t>- Handle both bracket pricing and minimum-order pricing.</a:t>
            </a:r>
            <a:endParaRPr sz="2267">
              <a:solidFill>
                <a:schemeClr val="dk1"/>
              </a:solidFill>
            </a:endParaRPr>
          </a:p>
          <a:p>
            <a:pPr indent="0" lvl="0" marL="0" rtl="0" algn="l">
              <a:lnSpc>
                <a:spcPct val="90000"/>
              </a:lnSpc>
              <a:spcBef>
                <a:spcPts val="1600"/>
              </a:spcBef>
              <a:spcAft>
                <a:spcPts val="1600"/>
              </a:spcAft>
              <a:buClr>
                <a:schemeClr val="dk1"/>
              </a:buClr>
              <a:buSzPts val="1300"/>
              <a:buNone/>
            </a:pPr>
            <a:r>
              <a:t/>
            </a:r>
            <a:endParaRPr>
              <a:solidFill>
                <a:schemeClr val="dk1"/>
              </a:solidFill>
            </a:endParaRPr>
          </a:p>
        </p:txBody>
      </p:sp>
      <p:sp>
        <p:nvSpPr>
          <p:cNvPr id="513" name="Google Shape;513;p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sz="1500"/>
              <a:t>‹#›</a:t>
            </a:fld>
            <a:endParaRPr sz="1500"/>
          </a:p>
        </p:txBody>
      </p:sp>
      <p:sp>
        <p:nvSpPr>
          <p:cNvPr id="514" name="Google Shape;514;p5"/>
          <p:cNvSpPr txBox="1"/>
          <p:nvPr>
            <p:ph idx="2" type="body"/>
          </p:nvPr>
        </p:nvSpPr>
        <p:spPr>
          <a:xfrm>
            <a:off x="415633" y="1723726"/>
            <a:ext cx="5333100" cy="4101600"/>
          </a:xfrm>
          <a:prstGeom prst="rect">
            <a:avLst/>
          </a:prstGeom>
          <a:noFill/>
          <a:ln>
            <a:noFill/>
          </a:ln>
        </p:spPr>
        <p:txBody>
          <a:bodyPr anchorCtr="0" anchor="t" bIns="121900" lIns="121900" spcFirstLastPara="1" rIns="121900" wrap="square" tIns="121900">
            <a:noAutofit/>
          </a:bodyPr>
          <a:lstStyle/>
          <a:p>
            <a:pPr indent="0" lvl="0" marL="0" rtl="0" algn="l">
              <a:lnSpc>
                <a:spcPct val="95000"/>
              </a:lnSpc>
              <a:spcBef>
                <a:spcPts val="2133"/>
              </a:spcBef>
              <a:spcAft>
                <a:spcPts val="0"/>
              </a:spcAft>
              <a:buClr>
                <a:srgbClr val="000000"/>
              </a:buClr>
              <a:buSzPts val="1100"/>
              <a:buNone/>
            </a:pPr>
            <a:r>
              <a:rPr lang="en" sz="2000">
                <a:solidFill>
                  <a:schemeClr val="dk1"/>
                </a:solidFill>
              </a:rPr>
              <a:t>- Procurement &amp; Supplier Pricing</a:t>
            </a:r>
            <a:endParaRPr sz="2000">
              <a:solidFill>
                <a:schemeClr val="dk1"/>
              </a:solidFill>
            </a:endParaRPr>
          </a:p>
          <a:p>
            <a:pPr indent="0" lvl="0" marL="0" rtl="0" algn="l">
              <a:lnSpc>
                <a:spcPct val="105000"/>
              </a:lnSpc>
              <a:spcBef>
                <a:spcPts val="0"/>
              </a:spcBef>
              <a:spcAft>
                <a:spcPts val="0"/>
              </a:spcAft>
              <a:buClr>
                <a:schemeClr val="dk1"/>
              </a:buClr>
              <a:buSzPts val="1300"/>
              <a:buNone/>
            </a:pPr>
            <a:r>
              <a:t/>
            </a:r>
            <a:endParaRPr sz="2000">
              <a:solidFill>
                <a:schemeClr val="dk1"/>
              </a:solidFill>
            </a:endParaRPr>
          </a:p>
          <a:p>
            <a:pPr indent="0" lvl="0" marL="0" rtl="0" algn="l">
              <a:lnSpc>
                <a:spcPct val="105000"/>
              </a:lnSpc>
              <a:spcBef>
                <a:spcPts val="1600"/>
              </a:spcBef>
              <a:spcAft>
                <a:spcPts val="0"/>
              </a:spcAft>
              <a:buClr>
                <a:schemeClr val="dk1"/>
              </a:buClr>
              <a:buSzPts val="1300"/>
              <a:buNone/>
            </a:pPr>
            <a:r>
              <a:rPr lang="en" sz="2000">
                <a:solidFill>
                  <a:schemeClr val="dk1"/>
                </a:solidFill>
              </a:rPr>
              <a:t>- Manufacturing + Supply Chain / Procurement Quoting</a:t>
            </a:r>
            <a:br>
              <a:rPr lang="en" sz="2000">
                <a:solidFill>
                  <a:schemeClr val="dk1"/>
                </a:solidFill>
              </a:rPr>
            </a:br>
            <a:endParaRPr sz="2000">
              <a:solidFill>
                <a:schemeClr val="dk1"/>
              </a:solidFill>
            </a:endParaRPr>
          </a:p>
          <a:p>
            <a:pPr indent="0" lvl="0" marL="0" rtl="0" algn="l">
              <a:lnSpc>
                <a:spcPct val="105000"/>
              </a:lnSpc>
              <a:spcBef>
                <a:spcPts val="1600"/>
              </a:spcBef>
              <a:spcAft>
                <a:spcPts val="0"/>
              </a:spcAft>
              <a:buClr>
                <a:schemeClr val="dk1"/>
              </a:buClr>
              <a:buSzPts val="1300"/>
              <a:buNone/>
            </a:pPr>
            <a:r>
              <a:rPr lang="en" sz="2000">
                <a:solidFill>
                  <a:schemeClr val="dk1"/>
                </a:solidFill>
              </a:rPr>
              <a:t>What happens in reality:</a:t>
            </a:r>
            <a:endParaRPr sz="2000">
              <a:solidFill>
                <a:schemeClr val="dk1"/>
              </a:solidFill>
            </a:endParaRPr>
          </a:p>
          <a:p>
            <a:pPr indent="-431789" lvl="0" marL="609585" rtl="0" algn="l">
              <a:lnSpc>
                <a:spcPct val="105000"/>
              </a:lnSpc>
              <a:spcBef>
                <a:spcPts val="1600"/>
              </a:spcBef>
              <a:spcAft>
                <a:spcPts val="0"/>
              </a:spcAft>
              <a:buClr>
                <a:schemeClr val="dk1"/>
              </a:buClr>
              <a:buSzPts val="1500"/>
              <a:buChar char="-"/>
            </a:pPr>
            <a:r>
              <a:rPr lang="en" sz="2000">
                <a:solidFill>
                  <a:schemeClr val="dk1"/>
                </a:solidFill>
              </a:rPr>
              <a:t>Multiple suppliers provide quotes for tube assemblies (custom manufactured parts).</a:t>
            </a:r>
            <a:endParaRPr sz="2000">
              <a:solidFill>
                <a:schemeClr val="dk1"/>
              </a:solidFill>
            </a:endParaRPr>
          </a:p>
          <a:p>
            <a:pPr indent="-431789" lvl="0" marL="609585" rtl="0" algn="l">
              <a:lnSpc>
                <a:spcPct val="105000"/>
              </a:lnSpc>
              <a:spcBef>
                <a:spcPts val="0"/>
              </a:spcBef>
              <a:spcAft>
                <a:spcPts val="0"/>
              </a:spcAft>
              <a:buClr>
                <a:schemeClr val="dk1"/>
              </a:buClr>
              <a:buSzPts val="1500"/>
              <a:buChar char="-"/>
            </a:pPr>
            <a:r>
              <a:rPr lang="en" sz="2000">
                <a:solidFill>
                  <a:schemeClr val="dk1"/>
                </a:solidFill>
              </a:rPr>
              <a:t>Quote price depends on: supplier, date, requested quantity, commercial constraints, and tube design + components.</a:t>
            </a:r>
            <a:endParaRPr sz="2000">
              <a:solidFill>
                <a:schemeClr val="dk1"/>
              </a:solidFill>
            </a:endParaRPr>
          </a:p>
        </p:txBody>
      </p:sp>
      <p:sp>
        <p:nvSpPr>
          <p:cNvPr id="515" name="Google Shape;515;p5"/>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6"/>
          <p:cNvSpPr txBox="1"/>
          <p:nvPr>
            <p:ph type="title"/>
          </p:nvPr>
        </p:nvSpPr>
        <p:spPr>
          <a:xfrm>
            <a:off x="415633" y="667900"/>
            <a:ext cx="4766400" cy="8316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90000"/>
              </a:lnSpc>
              <a:spcBef>
                <a:spcPts val="0"/>
              </a:spcBef>
              <a:spcAft>
                <a:spcPts val="0"/>
              </a:spcAft>
              <a:buClr>
                <a:schemeClr val="lt1"/>
              </a:buClr>
              <a:buSzPct val="70707"/>
              <a:buFont typeface="Play"/>
              <a:buNone/>
            </a:pPr>
            <a:r>
              <a:rPr lang="en"/>
              <a:t>Project objectives </a:t>
            </a:r>
            <a:endParaRPr/>
          </a:p>
        </p:txBody>
      </p:sp>
      <p:sp>
        <p:nvSpPr>
          <p:cNvPr id="521" name="Google Shape;521;p6"/>
          <p:cNvSpPr txBox="1"/>
          <p:nvPr>
            <p:ph idx="1" type="body"/>
          </p:nvPr>
        </p:nvSpPr>
        <p:spPr>
          <a:xfrm>
            <a:off x="415600" y="2007600"/>
            <a:ext cx="5333100" cy="4101600"/>
          </a:xfrm>
          <a:prstGeom prst="rect">
            <a:avLst/>
          </a:prstGeom>
          <a:noFill/>
          <a:ln>
            <a:noFill/>
          </a:ln>
        </p:spPr>
        <p:txBody>
          <a:bodyPr anchorCtr="0" anchor="t" bIns="121900" lIns="121900" spcFirstLastPara="1" rIns="121900" wrap="square" tIns="121900">
            <a:normAutofit/>
          </a:bodyPr>
          <a:lstStyle/>
          <a:p>
            <a:pPr indent="0" lvl="0" marL="0" rtl="0" algn="l">
              <a:lnSpc>
                <a:spcPct val="90000"/>
              </a:lnSpc>
              <a:spcBef>
                <a:spcPts val="0"/>
              </a:spcBef>
              <a:spcAft>
                <a:spcPts val="0"/>
              </a:spcAft>
              <a:buClr>
                <a:schemeClr val="dk1"/>
              </a:buClr>
              <a:buSzPts val="1100"/>
              <a:buNone/>
            </a:pPr>
            <a:r>
              <a:rPr lang="en" sz="2533">
                <a:solidFill>
                  <a:schemeClr val="dk1"/>
                </a:solidFill>
              </a:rPr>
              <a:t>- Forecast supplier quote price at the assembly level.</a:t>
            </a:r>
            <a:endParaRPr sz="2533">
              <a:solidFill>
                <a:schemeClr val="dk1"/>
              </a:solidFill>
            </a:endParaRPr>
          </a:p>
          <a:p>
            <a:pPr indent="0" lvl="0" marL="0" rtl="0" algn="l">
              <a:lnSpc>
                <a:spcPct val="90000"/>
              </a:lnSpc>
              <a:spcBef>
                <a:spcPts val="1600"/>
              </a:spcBef>
              <a:spcAft>
                <a:spcPts val="0"/>
              </a:spcAft>
              <a:buClr>
                <a:schemeClr val="dk1"/>
              </a:buClr>
              <a:buSzPts val="1100"/>
              <a:buNone/>
            </a:pPr>
            <a:r>
              <a:rPr lang="en" sz="2533">
                <a:solidFill>
                  <a:schemeClr val="dk1"/>
                </a:solidFill>
              </a:rPr>
              <a:t>- Identify the most important cost drivers in the quote data.</a:t>
            </a:r>
            <a:endParaRPr sz="2533">
              <a:solidFill>
                <a:schemeClr val="dk1"/>
              </a:solidFill>
            </a:endParaRPr>
          </a:p>
          <a:p>
            <a:pPr indent="0" lvl="0" marL="0" rtl="0" algn="l">
              <a:lnSpc>
                <a:spcPct val="90000"/>
              </a:lnSpc>
              <a:spcBef>
                <a:spcPts val="1600"/>
              </a:spcBef>
              <a:spcAft>
                <a:spcPts val="0"/>
              </a:spcAft>
              <a:buClr>
                <a:schemeClr val="dk1"/>
              </a:buClr>
              <a:buSzPts val="1100"/>
              <a:buNone/>
            </a:pPr>
            <a:r>
              <a:rPr lang="en" sz="2533">
                <a:solidFill>
                  <a:schemeClr val="dk1"/>
                </a:solidFill>
              </a:rPr>
              <a:t>- Support faster, better-informed supplier negotiation.</a:t>
            </a:r>
            <a:endParaRPr sz="2533">
              <a:solidFill>
                <a:schemeClr val="dk1"/>
              </a:solidFill>
            </a:endParaRPr>
          </a:p>
          <a:p>
            <a:pPr indent="0" lvl="0" marL="0" rtl="0" algn="l">
              <a:lnSpc>
                <a:spcPct val="90000"/>
              </a:lnSpc>
              <a:spcBef>
                <a:spcPts val="1600"/>
              </a:spcBef>
              <a:spcAft>
                <a:spcPts val="1600"/>
              </a:spcAft>
              <a:buClr>
                <a:schemeClr val="dk1"/>
              </a:buClr>
              <a:buSzPts val="1300"/>
              <a:buNone/>
            </a:pPr>
            <a:r>
              <a:t/>
            </a:r>
            <a:endParaRPr/>
          </a:p>
        </p:txBody>
      </p:sp>
      <p:sp>
        <p:nvSpPr>
          <p:cNvPr id="522" name="Google Shape;522;p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a:t>‹#›</a:t>
            </a:fld>
            <a:endParaRPr/>
          </a:p>
        </p:txBody>
      </p:sp>
      <p:sp>
        <p:nvSpPr>
          <p:cNvPr id="523" name="Google Shape;523;p6"/>
          <p:cNvSpPr txBox="1"/>
          <p:nvPr>
            <p:ph idx="2" type="body"/>
          </p:nvPr>
        </p:nvSpPr>
        <p:spPr>
          <a:xfrm>
            <a:off x="6443200" y="2007600"/>
            <a:ext cx="5333100" cy="4101600"/>
          </a:xfrm>
          <a:prstGeom prst="rect">
            <a:avLst/>
          </a:prstGeom>
          <a:noFill/>
          <a:ln>
            <a:noFill/>
          </a:ln>
        </p:spPr>
        <p:txBody>
          <a:bodyPr anchorCtr="0" anchor="t" bIns="121900" lIns="121900" spcFirstLastPara="1" rIns="121900" wrap="square" tIns="121900">
            <a:normAutofit/>
          </a:bodyPr>
          <a:lstStyle/>
          <a:p>
            <a:pPr indent="0" lvl="0" marL="0" rtl="0" algn="l">
              <a:lnSpc>
                <a:spcPct val="70000"/>
              </a:lnSpc>
              <a:spcBef>
                <a:spcPts val="0"/>
              </a:spcBef>
              <a:spcAft>
                <a:spcPts val="0"/>
              </a:spcAft>
              <a:buClr>
                <a:schemeClr val="dk1"/>
              </a:buClr>
              <a:buSzPts val="1300"/>
              <a:buNone/>
            </a:pPr>
            <a:r>
              <a:rPr lang="en" sz="2133">
                <a:solidFill>
                  <a:schemeClr val="dk1"/>
                </a:solidFill>
              </a:rPr>
              <a:t>Mohammad Sharif Azimy: Project Manager and Data Engineer</a:t>
            </a:r>
            <a:endParaRPr sz="2133">
              <a:solidFill>
                <a:schemeClr val="dk1"/>
              </a:solidFill>
            </a:endParaRPr>
          </a:p>
          <a:p>
            <a:pPr indent="0" lvl="0" marL="0" rtl="0" algn="l">
              <a:lnSpc>
                <a:spcPct val="70000"/>
              </a:lnSpc>
              <a:spcBef>
                <a:spcPts val="0"/>
              </a:spcBef>
              <a:spcAft>
                <a:spcPts val="0"/>
              </a:spcAft>
              <a:buClr>
                <a:schemeClr val="dk1"/>
              </a:buClr>
              <a:buSzPts val="275"/>
              <a:buNone/>
            </a:pPr>
            <a:r>
              <a:t/>
            </a:r>
            <a:endParaRPr sz="2133">
              <a:solidFill>
                <a:schemeClr val="dk1"/>
              </a:solidFill>
            </a:endParaRPr>
          </a:p>
          <a:p>
            <a:pPr indent="0" lvl="0" marL="0" rtl="0" algn="l">
              <a:lnSpc>
                <a:spcPct val="70000"/>
              </a:lnSpc>
              <a:spcBef>
                <a:spcPts val="1333"/>
              </a:spcBef>
              <a:spcAft>
                <a:spcPts val="0"/>
              </a:spcAft>
              <a:buClr>
                <a:schemeClr val="dk1"/>
              </a:buClr>
              <a:buSzPts val="1300"/>
              <a:buNone/>
            </a:pPr>
            <a:r>
              <a:rPr lang="en" sz="2133">
                <a:solidFill>
                  <a:schemeClr val="dk1"/>
                </a:solidFill>
              </a:rPr>
              <a:t>Antonios Stefanakis: Data Analyst</a:t>
            </a:r>
            <a:endParaRPr sz="2133">
              <a:solidFill>
                <a:schemeClr val="dk1"/>
              </a:solidFill>
            </a:endParaRPr>
          </a:p>
          <a:p>
            <a:pPr indent="0" lvl="0" marL="0" rtl="0" algn="l">
              <a:lnSpc>
                <a:spcPct val="70000"/>
              </a:lnSpc>
              <a:spcBef>
                <a:spcPts val="1333"/>
              </a:spcBef>
              <a:spcAft>
                <a:spcPts val="0"/>
              </a:spcAft>
              <a:buClr>
                <a:schemeClr val="dk1"/>
              </a:buClr>
              <a:buSzPts val="275"/>
              <a:buNone/>
            </a:pPr>
            <a:r>
              <a:t/>
            </a:r>
            <a:endParaRPr sz="2133">
              <a:solidFill>
                <a:schemeClr val="dk1"/>
              </a:solidFill>
            </a:endParaRPr>
          </a:p>
          <a:p>
            <a:pPr indent="0" lvl="0" marL="0" rtl="0" algn="l">
              <a:lnSpc>
                <a:spcPct val="70000"/>
              </a:lnSpc>
              <a:spcBef>
                <a:spcPts val="1333"/>
              </a:spcBef>
              <a:spcAft>
                <a:spcPts val="0"/>
              </a:spcAft>
              <a:buClr>
                <a:schemeClr val="dk1"/>
              </a:buClr>
              <a:buSzPts val="1300"/>
              <a:buNone/>
            </a:pPr>
            <a:r>
              <a:rPr lang="en" sz="2133">
                <a:solidFill>
                  <a:schemeClr val="dk1"/>
                </a:solidFill>
              </a:rPr>
              <a:t>Chinelo Lydia Nweke: Data Engineer</a:t>
            </a:r>
            <a:endParaRPr sz="2133">
              <a:solidFill>
                <a:schemeClr val="dk1"/>
              </a:solidFill>
            </a:endParaRPr>
          </a:p>
          <a:p>
            <a:pPr indent="0" lvl="0" marL="0" rtl="0" algn="l">
              <a:lnSpc>
                <a:spcPct val="70000"/>
              </a:lnSpc>
              <a:spcBef>
                <a:spcPts val="1333"/>
              </a:spcBef>
              <a:spcAft>
                <a:spcPts val="0"/>
              </a:spcAft>
              <a:buClr>
                <a:schemeClr val="dk1"/>
              </a:buClr>
              <a:buSzPts val="275"/>
              <a:buNone/>
            </a:pPr>
            <a:r>
              <a:t/>
            </a:r>
            <a:endParaRPr sz="2133">
              <a:solidFill>
                <a:schemeClr val="dk1"/>
              </a:solidFill>
            </a:endParaRPr>
          </a:p>
          <a:p>
            <a:pPr indent="0" lvl="0" marL="0" rtl="0" algn="l">
              <a:lnSpc>
                <a:spcPct val="70000"/>
              </a:lnSpc>
              <a:spcBef>
                <a:spcPts val="1333"/>
              </a:spcBef>
              <a:spcAft>
                <a:spcPts val="0"/>
              </a:spcAft>
              <a:buClr>
                <a:schemeClr val="dk1"/>
              </a:buClr>
              <a:buSzPts val="275"/>
              <a:buNone/>
            </a:pPr>
            <a:r>
              <a:rPr lang="en" sz="2133">
                <a:solidFill>
                  <a:schemeClr val="dk1"/>
                </a:solidFill>
              </a:rPr>
              <a:t>Takal Ebrahimkhel: Data Scientist</a:t>
            </a:r>
            <a:endParaRPr>
              <a:solidFill>
                <a:schemeClr val="dk1"/>
              </a:solidFill>
            </a:endParaRPr>
          </a:p>
        </p:txBody>
      </p:sp>
      <p:sp>
        <p:nvSpPr>
          <p:cNvPr id="524" name="Google Shape;524;p6"/>
          <p:cNvSpPr txBox="1"/>
          <p:nvPr>
            <p:ph type="title"/>
          </p:nvPr>
        </p:nvSpPr>
        <p:spPr>
          <a:xfrm>
            <a:off x="6443200" y="667900"/>
            <a:ext cx="4766400" cy="8316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90000"/>
              </a:lnSpc>
              <a:spcBef>
                <a:spcPts val="0"/>
              </a:spcBef>
              <a:spcAft>
                <a:spcPts val="0"/>
              </a:spcAft>
              <a:buClr>
                <a:schemeClr val="lt1"/>
              </a:buClr>
              <a:buSzPct val="70707"/>
              <a:buFont typeface="Play"/>
              <a:buNone/>
            </a:pPr>
            <a:r>
              <a:rPr lang="en"/>
              <a:t>Team roles</a:t>
            </a:r>
            <a:endParaRPr/>
          </a:p>
        </p:txBody>
      </p:sp>
      <p:sp>
        <p:nvSpPr>
          <p:cNvPr id="525" name="Google Shape;525;p6"/>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7"/>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90000"/>
              </a:lnSpc>
              <a:spcBef>
                <a:spcPts val="0"/>
              </a:spcBef>
              <a:spcAft>
                <a:spcPts val="0"/>
              </a:spcAft>
              <a:buClr>
                <a:schemeClr val="lt1"/>
              </a:buClr>
              <a:buSzPct val="70707"/>
              <a:buFont typeface="Play"/>
              <a:buNone/>
            </a:pPr>
            <a:r>
              <a:rPr lang="en"/>
              <a:t>Tasks and milestones - CRISP-DM</a:t>
            </a:r>
            <a:endParaRPr/>
          </a:p>
        </p:txBody>
      </p:sp>
      <p:sp>
        <p:nvSpPr>
          <p:cNvPr id="531" name="Google Shape;531;p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a:t>‹#›</a:t>
            </a:fld>
            <a:endParaRPr/>
          </a:p>
        </p:txBody>
      </p:sp>
      <p:graphicFrame>
        <p:nvGraphicFramePr>
          <p:cNvPr id="532" name="Google Shape;532;p7"/>
          <p:cNvGraphicFramePr/>
          <p:nvPr/>
        </p:nvGraphicFramePr>
        <p:xfrm>
          <a:off x="249517" y="2477233"/>
          <a:ext cx="3000000" cy="3000000"/>
        </p:xfrm>
        <a:graphic>
          <a:graphicData uri="http://schemas.openxmlformats.org/drawingml/2006/table">
            <a:tbl>
              <a:tblPr>
                <a:noFill/>
                <a:tableStyleId>{45EFA893-811E-4007-9D9D-CAB5BEB4294B}</a:tableStyleId>
              </a:tblPr>
              <a:tblGrid>
                <a:gridCol w="1895425"/>
                <a:gridCol w="1895425"/>
                <a:gridCol w="1895425"/>
                <a:gridCol w="1895425"/>
                <a:gridCol w="1895425"/>
                <a:gridCol w="1883600"/>
              </a:tblGrid>
              <a:tr h="1351575">
                <a:tc>
                  <a:txBody>
                    <a:bodyPr/>
                    <a:lstStyle/>
                    <a:p>
                      <a:pPr indent="0" lvl="0" marL="0" marR="0" rtl="0" algn="l">
                        <a:lnSpc>
                          <a:spcPct val="115000"/>
                        </a:lnSpc>
                        <a:spcBef>
                          <a:spcPts val="0"/>
                        </a:spcBef>
                        <a:spcAft>
                          <a:spcPts val="0"/>
                        </a:spcAft>
                        <a:buClr>
                          <a:schemeClr val="dk1"/>
                        </a:buClr>
                        <a:buSzPts val="2100"/>
                        <a:buFont typeface="Arial"/>
                        <a:buNone/>
                      </a:pPr>
                      <a:br>
                        <a:rPr b="1" lang="en" sz="2100" u="none" cap="none" strike="noStrike">
                          <a:solidFill>
                            <a:schemeClr val="dk1"/>
                          </a:solidFill>
                        </a:rPr>
                      </a:br>
                      <a:r>
                        <a:rPr b="1" lang="en" sz="2100" u="none" cap="none" strike="noStrike">
                          <a:solidFill>
                            <a:schemeClr val="dk1"/>
                          </a:solidFill>
                        </a:rPr>
                        <a:t> </a:t>
                      </a:r>
                      <a:r>
                        <a:rPr b="1" lang="en" sz="1600" u="none" cap="none" strike="noStrike">
                          <a:solidFill>
                            <a:schemeClr val="dk1"/>
                          </a:solidFill>
                        </a:rPr>
                        <a:t>04/02 – 04/09/2026</a:t>
                      </a:r>
                      <a:endParaRPr b="1" sz="1600" u="none" cap="none" strike="noStrike">
                        <a:solidFill>
                          <a:schemeClr val="dk1"/>
                        </a:solidFill>
                      </a:endParaRPr>
                    </a:p>
                  </a:txBody>
                  <a:tcPr marT="121900" marB="121900" marR="121900" marL="1219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600"/>
                        <a:buFont typeface="Arial"/>
                        <a:buNone/>
                      </a:pPr>
                      <a:r>
                        <a:t/>
                      </a:r>
                      <a:endParaRPr b="1" sz="1600" u="none" cap="none" strike="noStrike">
                        <a:solidFill>
                          <a:schemeClr val="dk1"/>
                        </a:solidFill>
                      </a:endParaRPr>
                    </a:p>
                    <a:p>
                      <a:pPr indent="0" lvl="0" marL="0" marR="0" rtl="0" algn="l">
                        <a:lnSpc>
                          <a:spcPct val="115000"/>
                        </a:lnSpc>
                        <a:spcBef>
                          <a:spcPts val="0"/>
                        </a:spcBef>
                        <a:spcAft>
                          <a:spcPts val="0"/>
                        </a:spcAft>
                        <a:buClr>
                          <a:schemeClr val="dk1"/>
                        </a:buClr>
                        <a:buSzPts val="1600"/>
                        <a:buFont typeface="Arial"/>
                        <a:buNone/>
                      </a:pPr>
                      <a:r>
                        <a:t/>
                      </a:r>
                      <a:endParaRPr b="1" sz="1600" u="none" cap="none" strike="noStrike">
                        <a:solidFill>
                          <a:schemeClr val="dk1"/>
                        </a:solidFill>
                      </a:endParaRPr>
                    </a:p>
                    <a:p>
                      <a:pPr indent="0" lvl="0" marL="0" marR="0" rtl="0" algn="l">
                        <a:lnSpc>
                          <a:spcPct val="115000"/>
                        </a:lnSpc>
                        <a:spcBef>
                          <a:spcPts val="0"/>
                        </a:spcBef>
                        <a:spcAft>
                          <a:spcPts val="0"/>
                        </a:spcAft>
                        <a:buClr>
                          <a:schemeClr val="dk1"/>
                        </a:buClr>
                        <a:buSzPts val="1600"/>
                        <a:buFont typeface="Arial"/>
                        <a:buNone/>
                      </a:pPr>
                      <a:r>
                        <a:rPr b="1" lang="en" sz="1600" u="none" cap="none" strike="noStrike">
                          <a:solidFill>
                            <a:schemeClr val="dk1"/>
                          </a:solidFill>
                        </a:rPr>
                        <a:t>04/16 – 04/30/2026</a:t>
                      </a:r>
                      <a:endParaRPr b="1" sz="1600" u="none" cap="none" strike="noStrike">
                        <a:solidFill>
                          <a:schemeClr val="dk1"/>
                        </a:solidFill>
                      </a:endParaRPr>
                    </a:p>
                  </a:txBody>
                  <a:tcPr marT="121900" marB="121900" marR="121900" marL="1219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600"/>
                        <a:buFont typeface="Arial"/>
                        <a:buNone/>
                      </a:pPr>
                      <a:r>
                        <a:t/>
                      </a:r>
                      <a:endParaRPr b="1" sz="1600" u="none" cap="none" strike="noStrike">
                        <a:solidFill>
                          <a:schemeClr val="dk1"/>
                        </a:solidFill>
                      </a:endParaRPr>
                    </a:p>
                    <a:p>
                      <a:pPr indent="0" lvl="0" marL="0" marR="0" rtl="0" algn="l">
                        <a:lnSpc>
                          <a:spcPct val="115000"/>
                        </a:lnSpc>
                        <a:spcBef>
                          <a:spcPts val="0"/>
                        </a:spcBef>
                        <a:spcAft>
                          <a:spcPts val="0"/>
                        </a:spcAft>
                        <a:buClr>
                          <a:schemeClr val="dk1"/>
                        </a:buClr>
                        <a:buSzPts val="1600"/>
                        <a:buFont typeface="Arial"/>
                        <a:buNone/>
                      </a:pPr>
                      <a:r>
                        <a:t/>
                      </a:r>
                      <a:endParaRPr b="1" sz="1600" u="none" cap="none" strike="noStrike">
                        <a:solidFill>
                          <a:schemeClr val="dk1"/>
                        </a:solidFill>
                      </a:endParaRPr>
                    </a:p>
                    <a:p>
                      <a:pPr indent="0" lvl="0" marL="0" marR="0" rtl="0" algn="l">
                        <a:lnSpc>
                          <a:spcPct val="115000"/>
                        </a:lnSpc>
                        <a:spcBef>
                          <a:spcPts val="0"/>
                        </a:spcBef>
                        <a:spcAft>
                          <a:spcPts val="0"/>
                        </a:spcAft>
                        <a:buClr>
                          <a:schemeClr val="dk1"/>
                        </a:buClr>
                        <a:buSzPts val="1600"/>
                        <a:buFont typeface="Arial"/>
                        <a:buNone/>
                      </a:pPr>
                      <a:r>
                        <a:rPr b="1" lang="en" sz="1600" u="none" cap="none" strike="noStrike">
                          <a:solidFill>
                            <a:schemeClr val="dk1"/>
                          </a:solidFill>
                        </a:rPr>
                        <a:t>04/16 – 05/07/2026</a:t>
                      </a:r>
                      <a:endParaRPr b="1" sz="1600" u="none" cap="none" strike="noStrike">
                        <a:solidFill>
                          <a:schemeClr val="dk1"/>
                        </a:solidFill>
                      </a:endParaRPr>
                    </a:p>
                  </a:txBody>
                  <a:tcPr marT="121900" marB="121900" marR="121900" marL="1219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600"/>
                        <a:buFont typeface="Arial"/>
                        <a:buNone/>
                      </a:pPr>
                      <a:r>
                        <a:t/>
                      </a:r>
                      <a:endParaRPr b="1" sz="1600" u="none" cap="none" strike="noStrike">
                        <a:solidFill>
                          <a:schemeClr val="dk1"/>
                        </a:solidFill>
                      </a:endParaRPr>
                    </a:p>
                    <a:p>
                      <a:pPr indent="0" lvl="0" marL="0" marR="0" rtl="0" algn="l">
                        <a:lnSpc>
                          <a:spcPct val="115000"/>
                        </a:lnSpc>
                        <a:spcBef>
                          <a:spcPts val="0"/>
                        </a:spcBef>
                        <a:spcAft>
                          <a:spcPts val="0"/>
                        </a:spcAft>
                        <a:buClr>
                          <a:schemeClr val="dk1"/>
                        </a:buClr>
                        <a:buSzPts val="1600"/>
                        <a:buFont typeface="Arial"/>
                        <a:buNone/>
                      </a:pPr>
                      <a:r>
                        <a:t/>
                      </a:r>
                      <a:endParaRPr b="1" sz="1600" u="none" cap="none" strike="noStrike">
                        <a:solidFill>
                          <a:schemeClr val="dk1"/>
                        </a:solidFill>
                      </a:endParaRPr>
                    </a:p>
                    <a:p>
                      <a:pPr indent="0" lvl="0" marL="0" marR="0" rtl="0" algn="l">
                        <a:lnSpc>
                          <a:spcPct val="115000"/>
                        </a:lnSpc>
                        <a:spcBef>
                          <a:spcPts val="0"/>
                        </a:spcBef>
                        <a:spcAft>
                          <a:spcPts val="0"/>
                        </a:spcAft>
                        <a:buClr>
                          <a:schemeClr val="dk1"/>
                        </a:buClr>
                        <a:buSzPts val="1600"/>
                        <a:buFont typeface="Arial"/>
                        <a:buNone/>
                      </a:pPr>
                      <a:r>
                        <a:rPr b="1" lang="en" sz="1600" u="none" cap="none" strike="noStrike">
                          <a:solidFill>
                            <a:schemeClr val="dk1"/>
                          </a:solidFill>
                        </a:rPr>
                        <a:t>05/07 – 06/11/2026</a:t>
                      </a:r>
                      <a:endParaRPr b="1" sz="1600" u="none" cap="none" strike="noStrike">
                        <a:solidFill>
                          <a:schemeClr val="dk1"/>
                        </a:solidFill>
                      </a:endParaRPr>
                    </a:p>
                  </a:txBody>
                  <a:tcPr marT="121900" marB="121900" marR="121900" marL="1219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600"/>
                        <a:buFont typeface="Arial"/>
                        <a:buNone/>
                      </a:pPr>
                      <a:r>
                        <a:t/>
                      </a:r>
                      <a:endParaRPr b="1" sz="1600" u="none" cap="none" strike="noStrike">
                        <a:solidFill>
                          <a:schemeClr val="dk1"/>
                        </a:solidFill>
                      </a:endParaRPr>
                    </a:p>
                    <a:p>
                      <a:pPr indent="0" lvl="0" marL="0" marR="0" rtl="0" algn="l">
                        <a:lnSpc>
                          <a:spcPct val="115000"/>
                        </a:lnSpc>
                        <a:spcBef>
                          <a:spcPts val="0"/>
                        </a:spcBef>
                        <a:spcAft>
                          <a:spcPts val="0"/>
                        </a:spcAft>
                        <a:buClr>
                          <a:schemeClr val="dk1"/>
                        </a:buClr>
                        <a:buSzPts val="1600"/>
                        <a:buFont typeface="Arial"/>
                        <a:buNone/>
                      </a:pPr>
                      <a:r>
                        <a:t/>
                      </a:r>
                      <a:endParaRPr b="1" sz="1600" u="none" cap="none" strike="noStrike">
                        <a:solidFill>
                          <a:schemeClr val="dk1"/>
                        </a:solidFill>
                      </a:endParaRPr>
                    </a:p>
                    <a:p>
                      <a:pPr indent="0" lvl="0" marL="0" marR="0" rtl="0" algn="l">
                        <a:lnSpc>
                          <a:spcPct val="115000"/>
                        </a:lnSpc>
                        <a:spcBef>
                          <a:spcPts val="0"/>
                        </a:spcBef>
                        <a:spcAft>
                          <a:spcPts val="0"/>
                        </a:spcAft>
                        <a:buClr>
                          <a:schemeClr val="dk1"/>
                        </a:buClr>
                        <a:buSzPts val="1600"/>
                        <a:buFont typeface="Arial"/>
                        <a:buNone/>
                      </a:pPr>
                      <a:r>
                        <a:rPr b="1" lang="en" sz="1600" u="none" cap="none" strike="noStrike">
                          <a:solidFill>
                            <a:schemeClr val="dk1"/>
                          </a:solidFill>
                        </a:rPr>
                        <a:t>06/11 – 06/18/2026</a:t>
                      </a:r>
                      <a:endParaRPr b="1" sz="1600" u="none" cap="none" strike="noStrike">
                        <a:solidFill>
                          <a:schemeClr val="dk1"/>
                        </a:solidFill>
                      </a:endParaRPr>
                    </a:p>
                  </a:txBody>
                  <a:tcPr marT="121900" marB="121900" marR="121900" marL="1219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600"/>
                        <a:buFont typeface="Arial"/>
                        <a:buNone/>
                      </a:pPr>
                      <a:r>
                        <a:t/>
                      </a:r>
                      <a:endParaRPr b="1" sz="1600" u="none" cap="none" strike="noStrike">
                        <a:solidFill>
                          <a:schemeClr val="dk1"/>
                        </a:solidFill>
                      </a:endParaRPr>
                    </a:p>
                    <a:p>
                      <a:pPr indent="0" lvl="0" marL="0" marR="0" rtl="0" algn="l">
                        <a:lnSpc>
                          <a:spcPct val="115000"/>
                        </a:lnSpc>
                        <a:spcBef>
                          <a:spcPts val="0"/>
                        </a:spcBef>
                        <a:spcAft>
                          <a:spcPts val="0"/>
                        </a:spcAft>
                        <a:buClr>
                          <a:schemeClr val="dk1"/>
                        </a:buClr>
                        <a:buSzPts val="1600"/>
                        <a:buFont typeface="Arial"/>
                        <a:buNone/>
                      </a:pPr>
                      <a:r>
                        <a:t/>
                      </a:r>
                      <a:endParaRPr b="1" sz="1600" u="none" cap="none" strike="noStrike">
                        <a:solidFill>
                          <a:schemeClr val="dk1"/>
                        </a:solidFill>
                      </a:endParaRPr>
                    </a:p>
                    <a:p>
                      <a:pPr indent="0" lvl="0" marL="0" marR="0" rtl="0" algn="l">
                        <a:lnSpc>
                          <a:spcPct val="115000"/>
                        </a:lnSpc>
                        <a:spcBef>
                          <a:spcPts val="0"/>
                        </a:spcBef>
                        <a:spcAft>
                          <a:spcPts val="0"/>
                        </a:spcAft>
                        <a:buClr>
                          <a:schemeClr val="dk1"/>
                        </a:buClr>
                        <a:buSzPts val="1600"/>
                        <a:buFont typeface="Arial"/>
                        <a:buNone/>
                      </a:pPr>
                      <a:r>
                        <a:rPr b="1" lang="en" sz="1600" u="none" cap="none" strike="noStrike">
                          <a:solidFill>
                            <a:schemeClr val="dk1"/>
                          </a:solidFill>
                        </a:rPr>
                        <a:t>06/18 – 06/25/2026</a:t>
                      </a:r>
                      <a:endParaRPr b="1" sz="1600" u="none" cap="none" strike="noStrike">
                        <a:solidFill>
                          <a:schemeClr val="dk1"/>
                        </a:solidFill>
                      </a:endParaRPr>
                    </a:p>
                  </a:txBody>
                  <a:tcPr marT="121900" marB="121900" marR="121900" marL="1219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2252400">
                <a:tc>
                  <a:txBody>
                    <a:bodyPr/>
                    <a:lstStyle/>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•Determine Business Objectives</a:t>
                      </a:r>
                      <a:endParaRPr sz="1300" u="none" cap="none" strike="noStrike">
                        <a:solidFill>
                          <a:schemeClr val="dk1"/>
                        </a:solidFill>
                      </a:endParaRPr>
                    </a:p>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•Assess Situation</a:t>
                      </a:r>
                      <a:endParaRPr sz="1300" u="none" cap="none" strike="noStrike">
                        <a:solidFill>
                          <a:schemeClr val="dk1"/>
                        </a:solidFill>
                      </a:endParaRPr>
                    </a:p>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•Determine Data Mining Goals</a:t>
                      </a:r>
                      <a:endParaRPr sz="1300" u="none" cap="none" strike="noStrike">
                        <a:solidFill>
                          <a:schemeClr val="dk1"/>
                        </a:solidFill>
                      </a:endParaRPr>
                    </a:p>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•Produce Project Plan</a:t>
                      </a:r>
                      <a:endParaRPr sz="1300" u="none" cap="none" strike="noStrike">
                        <a:solidFill>
                          <a:schemeClr val="dk1"/>
                        </a:solidFill>
                      </a:endParaRPr>
                    </a:p>
                  </a:txBody>
                  <a:tcPr marT="121900" marB="121900" marR="121900" marL="1219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•Collect Initial Data</a:t>
                      </a:r>
                      <a:endParaRPr sz="1300" u="none" cap="none" strike="noStrike">
                        <a:solidFill>
                          <a:schemeClr val="dk1"/>
                        </a:solidFill>
                      </a:endParaRPr>
                    </a:p>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•Describe Data</a:t>
                      </a:r>
                      <a:endParaRPr sz="1300" u="none" cap="none" strike="noStrike">
                        <a:solidFill>
                          <a:schemeClr val="dk1"/>
                        </a:solidFill>
                      </a:endParaRPr>
                    </a:p>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•Explore Data</a:t>
                      </a:r>
                      <a:endParaRPr sz="1300" u="none" cap="none" strike="noStrike">
                        <a:solidFill>
                          <a:schemeClr val="dk1"/>
                        </a:solidFill>
                      </a:endParaRPr>
                    </a:p>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•Verify Data Quality</a:t>
                      </a:r>
                      <a:endParaRPr sz="1300" u="none" cap="none" strike="noStrike">
                        <a:solidFill>
                          <a:schemeClr val="dk1"/>
                        </a:solidFill>
                      </a:endParaRPr>
                    </a:p>
                  </a:txBody>
                  <a:tcPr marT="121900" marB="121900" marR="121900" marL="1219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•Select Data</a:t>
                      </a:r>
                      <a:endParaRPr sz="1300" u="none" cap="none" strike="noStrike">
                        <a:solidFill>
                          <a:schemeClr val="dk1"/>
                        </a:solidFill>
                      </a:endParaRPr>
                    </a:p>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•Clean Data</a:t>
                      </a:r>
                      <a:endParaRPr sz="1300" u="none" cap="none" strike="noStrike">
                        <a:solidFill>
                          <a:schemeClr val="dk1"/>
                        </a:solidFill>
                      </a:endParaRPr>
                    </a:p>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•Construct Data</a:t>
                      </a:r>
                      <a:endParaRPr sz="1300" u="none" cap="none" strike="noStrike">
                        <a:solidFill>
                          <a:schemeClr val="dk1"/>
                        </a:solidFill>
                      </a:endParaRPr>
                    </a:p>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•Integrate Data</a:t>
                      </a:r>
                      <a:endParaRPr sz="1300" u="none" cap="none" strike="noStrike">
                        <a:solidFill>
                          <a:schemeClr val="dk1"/>
                        </a:solidFill>
                      </a:endParaRPr>
                    </a:p>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•Format Data</a:t>
                      </a:r>
                      <a:endParaRPr sz="1300" u="none" cap="none" strike="noStrike">
                        <a:solidFill>
                          <a:schemeClr val="dk1"/>
                        </a:solidFill>
                      </a:endParaRPr>
                    </a:p>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 Result: Preprocessed Data</a:t>
                      </a:r>
                      <a:endParaRPr sz="1300" u="none" cap="none" strike="noStrike">
                        <a:solidFill>
                          <a:schemeClr val="dk1"/>
                        </a:solidFill>
                      </a:endParaRPr>
                    </a:p>
                  </a:txBody>
                  <a:tcPr marT="121900" marB="121900" marR="121900" marL="1219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•Select Modelling Techniques</a:t>
                      </a:r>
                      <a:endParaRPr sz="1300" u="none" cap="none" strike="noStrike">
                        <a:solidFill>
                          <a:schemeClr val="dk1"/>
                        </a:solidFill>
                      </a:endParaRPr>
                    </a:p>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•Generate Test Design</a:t>
                      </a:r>
                      <a:endParaRPr sz="1300" u="none" cap="none" strike="noStrike">
                        <a:solidFill>
                          <a:schemeClr val="dk1"/>
                        </a:solidFill>
                      </a:endParaRPr>
                    </a:p>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•Build Model</a:t>
                      </a:r>
                      <a:endParaRPr sz="1300" u="none" cap="none" strike="noStrike">
                        <a:solidFill>
                          <a:schemeClr val="dk1"/>
                        </a:solidFill>
                      </a:endParaRPr>
                    </a:p>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•Assess Model</a:t>
                      </a:r>
                      <a:endParaRPr sz="1300" u="none" cap="none" strike="noStrike">
                        <a:solidFill>
                          <a:schemeClr val="dk1"/>
                        </a:solidFill>
                      </a:endParaRPr>
                    </a:p>
                  </a:txBody>
                  <a:tcPr marT="121900" marB="121900" marR="121900" marL="1219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•Evaluate Results</a:t>
                      </a:r>
                      <a:endParaRPr sz="1300" u="none" cap="none" strike="noStrike">
                        <a:solidFill>
                          <a:schemeClr val="dk1"/>
                        </a:solidFill>
                      </a:endParaRPr>
                    </a:p>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•Review Process</a:t>
                      </a:r>
                      <a:endParaRPr sz="1300" u="none" cap="none" strike="noStrike">
                        <a:solidFill>
                          <a:schemeClr val="dk1"/>
                        </a:solidFill>
                      </a:endParaRPr>
                    </a:p>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•Determine Next Steps</a:t>
                      </a:r>
                      <a:endParaRPr sz="1300" u="none" cap="none" strike="noStrike">
                        <a:solidFill>
                          <a:schemeClr val="dk1"/>
                        </a:solidFill>
                      </a:endParaRPr>
                    </a:p>
                  </a:txBody>
                  <a:tcPr marT="121900" marB="121900" marR="121900" marL="1219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•Plan Deployment</a:t>
                      </a:r>
                      <a:endParaRPr sz="1300" u="none" cap="none" strike="noStrike">
                        <a:solidFill>
                          <a:schemeClr val="dk1"/>
                        </a:solidFill>
                      </a:endParaRPr>
                    </a:p>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•Plan Monitoring and Maintenance</a:t>
                      </a:r>
                      <a:endParaRPr sz="1300" u="none" cap="none" strike="noStrike">
                        <a:solidFill>
                          <a:schemeClr val="dk1"/>
                        </a:solidFill>
                      </a:endParaRPr>
                    </a:p>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•Produce Final Report</a:t>
                      </a:r>
                      <a:endParaRPr sz="1300" u="none" cap="none" strike="noStrike">
                        <a:solidFill>
                          <a:schemeClr val="dk1"/>
                        </a:solidFill>
                      </a:endParaRPr>
                    </a:p>
                    <a:p>
                      <a:pPr indent="0" lvl="0" marL="0" marR="0" rtl="0" algn="l">
                        <a:lnSpc>
                          <a:spcPct val="115000"/>
                        </a:lnSpc>
                        <a:spcBef>
                          <a:spcPts val="0"/>
                        </a:spcBef>
                        <a:spcAft>
                          <a:spcPts val="0"/>
                        </a:spcAft>
                        <a:buClr>
                          <a:schemeClr val="dk1"/>
                        </a:buClr>
                        <a:buSzPts val="1300"/>
                        <a:buFont typeface="Arial"/>
                        <a:buNone/>
                      </a:pPr>
                      <a:r>
                        <a:rPr lang="en" sz="1300" u="none" cap="none" strike="noStrike">
                          <a:solidFill>
                            <a:schemeClr val="dk1"/>
                          </a:solidFill>
                        </a:rPr>
                        <a:t>•Review Project</a:t>
                      </a:r>
                      <a:endParaRPr sz="1300" u="none" cap="none" strike="noStrike">
                        <a:solidFill>
                          <a:schemeClr val="dk1"/>
                        </a:solidFill>
                      </a:endParaRPr>
                    </a:p>
                  </a:txBody>
                  <a:tcPr marT="121900" marB="121900" marR="121900" marL="1219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bl>
          </a:graphicData>
        </a:graphic>
      </p:graphicFrame>
      <p:sp>
        <p:nvSpPr>
          <p:cNvPr id="533" name="Google Shape;533;p7"/>
          <p:cNvSpPr txBox="1"/>
          <p:nvPr/>
        </p:nvSpPr>
        <p:spPr>
          <a:xfrm>
            <a:off x="327733" y="1764600"/>
            <a:ext cx="1439200" cy="5248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0"/>
              </a:spcAft>
              <a:buNone/>
            </a:pPr>
            <a:r>
              <a:rPr b="1" i="0" lang="en" sz="2133" u="none" cap="none" strike="noStrike">
                <a:solidFill>
                  <a:schemeClr val="dk1"/>
                </a:solidFill>
                <a:latin typeface="Arial"/>
                <a:ea typeface="Arial"/>
                <a:cs typeface="Arial"/>
                <a:sym typeface="Arial"/>
              </a:rPr>
              <a:t>Timeline</a:t>
            </a:r>
            <a:endParaRPr b="0" i="0" sz="1733" u="none" cap="none" strike="noStrike">
              <a:solidFill>
                <a:schemeClr val="dk2"/>
              </a:solidFill>
              <a:latin typeface="Roboto"/>
              <a:ea typeface="Roboto"/>
              <a:cs typeface="Roboto"/>
              <a:sym typeface="Roboto"/>
            </a:endParaRPr>
          </a:p>
        </p:txBody>
      </p:sp>
      <p:sp>
        <p:nvSpPr>
          <p:cNvPr id="534" name="Google Shape;534;p7"/>
          <p:cNvSpPr/>
          <p:nvPr/>
        </p:nvSpPr>
        <p:spPr>
          <a:xfrm>
            <a:off x="188967" y="2415984"/>
            <a:ext cx="1956000" cy="524800"/>
          </a:xfrm>
          <a:prstGeom prst="chevr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spcBef>
                <a:spcPts val="0"/>
              </a:spcBef>
              <a:spcAft>
                <a:spcPts val="0"/>
              </a:spcAft>
              <a:buNone/>
            </a:pPr>
            <a:r>
              <a:rPr b="0" i="0" lang="en" sz="1333" u="none" cap="none" strike="noStrike">
                <a:solidFill>
                  <a:schemeClr val="dk1"/>
                </a:solidFill>
                <a:latin typeface="Roboto"/>
                <a:ea typeface="Roboto"/>
                <a:cs typeface="Roboto"/>
                <a:sym typeface="Roboto"/>
              </a:rPr>
              <a:t>Business Understanding</a:t>
            </a:r>
            <a:endParaRPr b="0" i="0" sz="1333" u="none" cap="none" strike="noStrike">
              <a:solidFill>
                <a:schemeClr val="dk1"/>
              </a:solidFill>
              <a:latin typeface="Roboto"/>
              <a:ea typeface="Roboto"/>
              <a:cs typeface="Roboto"/>
              <a:sym typeface="Roboto"/>
            </a:endParaRPr>
          </a:p>
        </p:txBody>
      </p:sp>
      <p:sp>
        <p:nvSpPr>
          <p:cNvPr id="535" name="Google Shape;535;p7"/>
          <p:cNvSpPr/>
          <p:nvPr/>
        </p:nvSpPr>
        <p:spPr>
          <a:xfrm>
            <a:off x="2060300" y="2415984"/>
            <a:ext cx="1894800" cy="524800"/>
          </a:xfrm>
          <a:prstGeom prst="chevr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spcBef>
                <a:spcPts val="0"/>
              </a:spcBef>
              <a:spcAft>
                <a:spcPts val="0"/>
              </a:spcAft>
              <a:buNone/>
            </a:pPr>
            <a:r>
              <a:rPr b="0" i="0" lang="en" sz="1333" u="none" cap="none" strike="noStrike">
                <a:solidFill>
                  <a:schemeClr val="dk1"/>
                </a:solidFill>
                <a:latin typeface="Roboto"/>
                <a:ea typeface="Roboto"/>
                <a:cs typeface="Roboto"/>
                <a:sym typeface="Roboto"/>
              </a:rPr>
              <a:t>Data Understanding</a:t>
            </a:r>
            <a:endParaRPr b="0" i="0" sz="1333" u="none" cap="none" strike="noStrike">
              <a:solidFill>
                <a:schemeClr val="dk1"/>
              </a:solidFill>
              <a:latin typeface="Roboto"/>
              <a:ea typeface="Roboto"/>
              <a:cs typeface="Roboto"/>
              <a:sym typeface="Roboto"/>
            </a:endParaRPr>
          </a:p>
        </p:txBody>
      </p:sp>
      <p:sp>
        <p:nvSpPr>
          <p:cNvPr id="536" name="Google Shape;536;p7"/>
          <p:cNvSpPr/>
          <p:nvPr/>
        </p:nvSpPr>
        <p:spPr>
          <a:xfrm>
            <a:off x="3955084" y="2415984"/>
            <a:ext cx="1814000" cy="524800"/>
          </a:xfrm>
          <a:prstGeom prst="chevr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spcBef>
                <a:spcPts val="0"/>
              </a:spcBef>
              <a:spcAft>
                <a:spcPts val="0"/>
              </a:spcAft>
              <a:buNone/>
            </a:pPr>
            <a:r>
              <a:rPr b="0" i="0" lang="en" sz="1333" u="none" cap="none" strike="noStrike">
                <a:solidFill>
                  <a:schemeClr val="dk1"/>
                </a:solidFill>
                <a:latin typeface="Roboto"/>
                <a:ea typeface="Roboto"/>
                <a:cs typeface="Roboto"/>
                <a:sym typeface="Roboto"/>
              </a:rPr>
              <a:t>Data Preparation</a:t>
            </a:r>
            <a:endParaRPr b="0" i="0" sz="1333" u="none" cap="none" strike="noStrike">
              <a:solidFill>
                <a:schemeClr val="dk1"/>
              </a:solidFill>
              <a:latin typeface="Roboto"/>
              <a:ea typeface="Roboto"/>
              <a:cs typeface="Roboto"/>
              <a:sym typeface="Roboto"/>
            </a:endParaRPr>
          </a:p>
        </p:txBody>
      </p:sp>
      <p:sp>
        <p:nvSpPr>
          <p:cNvPr id="537" name="Google Shape;537;p7"/>
          <p:cNvSpPr/>
          <p:nvPr/>
        </p:nvSpPr>
        <p:spPr>
          <a:xfrm>
            <a:off x="5769100" y="2415984"/>
            <a:ext cx="1647600" cy="524800"/>
          </a:xfrm>
          <a:prstGeom prst="chevr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spcBef>
                <a:spcPts val="0"/>
              </a:spcBef>
              <a:spcAft>
                <a:spcPts val="0"/>
              </a:spcAft>
              <a:buNone/>
            </a:pPr>
            <a:r>
              <a:rPr b="0" i="0" lang="en" sz="1333" u="none" cap="none" strike="noStrike">
                <a:solidFill>
                  <a:schemeClr val="dk1"/>
                </a:solidFill>
                <a:latin typeface="Roboto"/>
                <a:ea typeface="Roboto"/>
                <a:cs typeface="Roboto"/>
                <a:sym typeface="Roboto"/>
              </a:rPr>
              <a:t>Modeling</a:t>
            </a:r>
            <a:endParaRPr sz="1333">
              <a:solidFill>
                <a:schemeClr val="dk1"/>
              </a:solidFill>
              <a:latin typeface="Roboto"/>
              <a:ea typeface="Roboto"/>
              <a:cs typeface="Roboto"/>
              <a:sym typeface="Roboto"/>
            </a:endParaRPr>
          </a:p>
        </p:txBody>
      </p:sp>
      <p:sp>
        <p:nvSpPr>
          <p:cNvPr id="538" name="Google Shape;538;p7"/>
          <p:cNvSpPr/>
          <p:nvPr/>
        </p:nvSpPr>
        <p:spPr>
          <a:xfrm>
            <a:off x="7579233" y="2415984"/>
            <a:ext cx="1814000" cy="524800"/>
          </a:xfrm>
          <a:prstGeom prst="chevr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spcBef>
                <a:spcPts val="0"/>
              </a:spcBef>
              <a:spcAft>
                <a:spcPts val="0"/>
              </a:spcAft>
              <a:buNone/>
            </a:pPr>
            <a:r>
              <a:rPr lang="en" sz="1333">
                <a:solidFill>
                  <a:schemeClr val="dk1"/>
                </a:solidFill>
                <a:latin typeface="Roboto"/>
                <a:ea typeface="Roboto"/>
                <a:cs typeface="Roboto"/>
                <a:sym typeface="Roboto"/>
              </a:rPr>
              <a:t>Evaluation</a:t>
            </a:r>
            <a:endParaRPr sz="1333">
              <a:solidFill>
                <a:schemeClr val="dk1"/>
              </a:solidFill>
              <a:latin typeface="Roboto"/>
              <a:ea typeface="Roboto"/>
              <a:cs typeface="Roboto"/>
              <a:sym typeface="Roboto"/>
            </a:endParaRPr>
          </a:p>
        </p:txBody>
      </p:sp>
      <p:sp>
        <p:nvSpPr>
          <p:cNvPr id="539" name="Google Shape;539;p7"/>
          <p:cNvSpPr/>
          <p:nvPr/>
        </p:nvSpPr>
        <p:spPr>
          <a:xfrm>
            <a:off x="9555767" y="2415984"/>
            <a:ext cx="2068000" cy="524800"/>
          </a:xfrm>
          <a:prstGeom prst="chevr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spcBef>
                <a:spcPts val="0"/>
              </a:spcBef>
              <a:spcAft>
                <a:spcPts val="0"/>
              </a:spcAft>
              <a:buNone/>
            </a:pPr>
            <a:r>
              <a:rPr lang="en" sz="1333">
                <a:solidFill>
                  <a:schemeClr val="dk1"/>
                </a:solidFill>
                <a:latin typeface="Roboto"/>
                <a:ea typeface="Roboto"/>
                <a:cs typeface="Roboto"/>
                <a:sym typeface="Roboto"/>
              </a:rPr>
              <a:t>Deployment / Finalization</a:t>
            </a:r>
            <a:endParaRPr sz="1333">
              <a:solidFill>
                <a:schemeClr val="dk1"/>
              </a:solidFill>
              <a:latin typeface="Roboto"/>
              <a:ea typeface="Roboto"/>
              <a:cs typeface="Roboto"/>
              <a:sym typeface="Roboto"/>
            </a:endParaRPr>
          </a:p>
        </p:txBody>
      </p:sp>
      <p:sp>
        <p:nvSpPr>
          <p:cNvPr id="540" name="Google Shape;540;p7"/>
          <p:cNvSpPr/>
          <p:nvPr/>
        </p:nvSpPr>
        <p:spPr>
          <a:xfrm>
            <a:off x="327733" y="5953967"/>
            <a:ext cx="1439200" cy="6692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spcBef>
                <a:spcPts val="0"/>
              </a:spcBef>
              <a:spcAft>
                <a:spcPts val="0"/>
              </a:spcAft>
              <a:buNone/>
            </a:pPr>
            <a:r>
              <a:rPr lang="en" sz="1333">
                <a:solidFill>
                  <a:schemeClr val="dk1"/>
                </a:solidFill>
                <a:latin typeface="Roboto"/>
                <a:ea typeface="Roboto"/>
                <a:cs typeface="Roboto"/>
                <a:sym typeface="Roboto"/>
              </a:rPr>
              <a:t>Milestone</a:t>
            </a:r>
            <a:endParaRPr sz="1333">
              <a:solidFill>
                <a:schemeClr val="dk1"/>
              </a:solidFill>
              <a:latin typeface="Roboto"/>
              <a:ea typeface="Roboto"/>
              <a:cs typeface="Roboto"/>
              <a:sym typeface="Roboto"/>
            </a:endParaRPr>
          </a:p>
        </p:txBody>
      </p:sp>
      <p:sp>
        <p:nvSpPr>
          <p:cNvPr id="541" name="Google Shape;541;p7"/>
          <p:cNvSpPr/>
          <p:nvPr/>
        </p:nvSpPr>
        <p:spPr>
          <a:xfrm>
            <a:off x="5121484" y="5953967"/>
            <a:ext cx="1439200" cy="6692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spcBef>
                <a:spcPts val="0"/>
              </a:spcBef>
              <a:spcAft>
                <a:spcPts val="0"/>
              </a:spcAft>
              <a:buNone/>
            </a:pPr>
            <a:r>
              <a:rPr lang="en" sz="1333">
                <a:solidFill>
                  <a:schemeClr val="dk1"/>
                </a:solidFill>
                <a:latin typeface="Roboto"/>
                <a:ea typeface="Roboto"/>
                <a:cs typeface="Roboto"/>
                <a:sym typeface="Roboto"/>
              </a:rPr>
              <a:t>05/07/2026</a:t>
            </a:r>
            <a:br>
              <a:rPr lang="en" sz="1333">
                <a:solidFill>
                  <a:schemeClr val="dk1"/>
                </a:solidFill>
                <a:latin typeface="Roboto"/>
                <a:ea typeface="Roboto"/>
                <a:cs typeface="Roboto"/>
                <a:sym typeface="Roboto"/>
              </a:rPr>
            </a:br>
            <a:r>
              <a:rPr lang="en" sz="1333">
                <a:solidFill>
                  <a:schemeClr val="dk1"/>
                </a:solidFill>
                <a:latin typeface="Roboto"/>
                <a:ea typeface="Roboto"/>
                <a:cs typeface="Roboto"/>
                <a:sym typeface="Roboto"/>
              </a:rPr>
              <a:t>Milestone Presentation</a:t>
            </a:r>
            <a:endParaRPr sz="1333">
              <a:solidFill>
                <a:schemeClr val="dk1"/>
              </a:solidFill>
              <a:latin typeface="Roboto"/>
              <a:ea typeface="Roboto"/>
              <a:cs typeface="Roboto"/>
              <a:sym typeface="Roboto"/>
            </a:endParaRPr>
          </a:p>
        </p:txBody>
      </p:sp>
      <p:sp>
        <p:nvSpPr>
          <p:cNvPr id="542" name="Google Shape;542;p7"/>
          <p:cNvSpPr/>
          <p:nvPr/>
        </p:nvSpPr>
        <p:spPr>
          <a:xfrm>
            <a:off x="8643084" y="5953967"/>
            <a:ext cx="1439200" cy="6692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spcBef>
                <a:spcPts val="0"/>
              </a:spcBef>
              <a:spcAft>
                <a:spcPts val="0"/>
              </a:spcAft>
              <a:buNone/>
            </a:pPr>
            <a:r>
              <a:rPr lang="en" sz="1333">
                <a:solidFill>
                  <a:schemeClr val="dk1"/>
                </a:solidFill>
                <a:latin typeface="Roboto"/>
                <a:ea typeface="Roboto"/>
                <a:cs typeface="Roboto"/>
                <a:sym typeface="Roboto"/>
              </a:rPr>
              <a:t>06/25/2026</a:t>
            </a:r>
            <a:br>
              <a:rPr lang="en" sz="1333">
                <a:solidFill>
                  <a:schemeClr val="dk1"/>
                </a:solidFill>
                <a:latin typeface="Roboto"/>
                <a:ea typeface="Roboto"/>
                <a:cs typeface="Roboto"/>
                <a:sym typeface="Roboto"/>
              </a:rPr>
            </a:br>
            <a:r>
              <a:rPr lang="en" sz="1333">
                <a:solidFill>
                  <a:schemeClr val="dk1"/>
                </a:solidFill>
                <a:latin typeface="Roboto"/>
                <a:ea typeface="Roboto"/>
                <a:cs typeface="Roboto"/>
                <a:sym typeface="Roboto"/>
              </a:rPr>
              <a:t>Final Presentation</a:t>
            </a:r>
            <a:endParaRPr sz="1333">
              <a:solidFill>
                <a:schemeClr val="dk1"/>
              </a:solidFill>
              <a:latin typeface="Roboto"/>
              <a:ea typeface="Roboto"/>
              <a:cs typeface="Roboto"/>
              <a:sym typeface="Roboto"/>
            </a:endParaRPr>
          </a:p>
        </p:txBody>
      </p:sp>
      <p:sp>
        <p:nvSpPr>
          <p:cNvPr id="543" name="Google Shape;543;p7"/>
          <p:cNvSpPr/>
          <p:nvPr/>
        </p:nvSpPr>
        <p:spPr>
          <a:xfrm>
            <a:off x="10184551" y="5953967"/>
            <a:ext cx="1439200" cy="6692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spcBef>
                <a:spcPts val="0"/>
              </a:spcBef>
              <a:spcAft>
                <a:spcPts val="0"/>
              </a:spcAft>
              <a:buNone/>
            </a:pPr>
            <a:r>
              <a:rPr lang="en" sz="1333">
                <a:solidFill>
                  <a:schemeClr val="dk1"/>
                </a:solidFill>
                <a:latin typeface="Roboto"/>
                <a:ea typeface="Roboto"/>
                <a:cs typeface="Roboto"/>
                <a:sym typeface="Roboto"/>
              </a:rPr>
              <a:t>06/24/2026</a:t>
            </a:r>
            <a:br>
              <a:rPr lang="en" sz="1333">
                <a:solidFill>
                  <a:schemeClr val="dk1"/>
                </a:solidFill>
                <a:latin typeface="Roboto"/>
                <a:ea typeface="Roboto"/>
                <a:cs typeface="Roboto"/>
                <a:sym typeface="Roboto"/>
              </a:rPr>
            </a:br>
            <a:r>
              <a:rPr lang="en" sz="1333">
                <a:solidFill>
                  <a:schemeClr val="dk1"/>
                </a:solidFill>
                <a:latin typeface="Roboto"/>
                <a:ea typeface="Roboto"/>
                <a:cs typeface="Roboto"/>
                <a:sym typeface="Roboto"/>
              </a:rPr>
              <a:t>Submit PDF</a:t>
            </a:r>
            <a:endParaRPr sz="1333">
              <a:solidFill>
                <a:schemeClr val="dk1"/>
              </a:solidFill>
              <a:latin typeface="Roboto"/>
              <a:ea typeface="Roboto"/>
              <a:cs typeface="Roboto"/>
              <a:sym typeface="Roboto"/>
            </a:endParaRPr>
          </a:p>
        </p:txBody>
      </p:sp>
      <p:sp>
        <p:nvSpPr>
          <p:cNvPr id="544" name="Google Shape;544;p7"/>
          <p:cNvSpPr txBox="1"/>
          <p:nvPr/>
        </p:nvSpPr>
        <p:spPr>
          <a:xfrm>
            <a:off x="7349906" y="6434525"/>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1E8"/>
        </a:solidFill>
      </p:bgPr>
    </p:bg>
    <p:spTree>
      <p:nvGrpSpPr>
        <p:cNvPr id="548" name="Shape 548"/>
        <p:cNvGrpSpPr/>
        <p:nvPr/>
      </p:nvGrpSpPr>
      <p:grpSpPr>
        <a:xfrm>
          <a:off x="0" y="0"/>
          <a:ext cx="0" cy="0"/>
          <a:chOff x="0" y="0"/>
          <a:chExt cx="0" cy="0"/>
        </a:xfrm>
      </p:grpSpPr>
      <p:sp>
        <p:nvSpPr>
          <p:cNvPr id="549" name="Google Shape;549;g3ee0adc8e96_0_97"/>
          <p:cNvSpPr/>
          <p:nvPr/>
        </p:nvSpPr>
        <p:spPr>
          <a:xfrm>
            <a:off x="4196112" y="2895222"/>
            <a:ext cx="3181197" cy="3629996"/>
          </a:xfrm>
          <a:custGeom>
            <a:rect b="b" l="l" r="r" t="t"/>
            <a:pathLst>
              <a:path extrusionOk="0" h="5438197" w="4765838">
                <a:moveTo>
                  <a:pt x="0" y="0"/>
                </a:moveTo>
                <a:lnTo>
                  <a:pt x="4765838" y="0"/>
                </a:lnTo>
                <a:lnTo>
                  <a:pt x="4765838" y="5438198"/>
                </a:lnTo>
                <a:lnTo>
                  <a:pt x="0" y="5438198"/>
                </a:lnTo>
                <a:lnTo>
                  <a:pt x="0" y="0"/>
                </a:lnTo>
                <a:close/>
              </a:path>
            </a:pathLst>
          </a:custGeom>
          <a:blipFill rotWithShape="1">
            <a:blip r:embed="rId3">
              <a:alphaModFix/>
            </a:blip>
            <a:stretch>
              <a:fillRect b="0" l="0" r="0" t="0"/>
            </a:stretch>
          </a:blipFill>
          <a:ln>
            <a:noFill/>
          </a:ln>
        </p:spPr>
      </p:sp>
      <p:sp>
        <p:nvSpPr>
          <p:cNvPr id="550" name="Google Shape;550;g3ee0adc8e96_0_97"/>
          <p:cNvSpPr/>
          <p:nvPr/>
        </p:nvSpPr>
        <p:spPr>
          <a:xfrm>
            <a:off x="9446231" y="-155274"/>
            <a:ext cx="2627718" cy="1508087"/>
          </a:xfrm>
          <a:custGeom>
            <a:rect b="b" l="l" r="r" t="t"/>
            <a:pathLst>
              <a:path extrusionOk="0" h="1728467" w="2044917">
                <a:moveTo>
                  <a:pt x="0" y="0"/>
                </a:moveTo>
                <a:lnTo>
                  <a:pt x="2044916" y="0"/>
                </a:lnTo>
                <a:lnTo>
                  <a:pt x="2044916" y="1728467"/>
                </a:lnTo>
                <a:lnTo>
                  <a:pt x="0" y="1728467"/>
                </a:lnTo>
                <a:lnTo>
                  <a:pt x="0" y="0"/>
                </a:lnTo>
                <a:close/>
              </a:path>
            </a:pathLst>
          </a:custGeom>
          <a:blipFill rotWithShape="1">
            <a:blip r:embed="rId4">
              <a:alphaModFix/>
            </a:blip>
            <a:stretch>
              <a:fillRect b="0" l="0" r="0" t="0"/>
            </a:stretch>
          </a:blipFill>
          <a:ln>
            <a:noFill/>
          </a:ln>
        </p:spPr>
      </p:sp>
      <p:sp>
        <p:nvSpPr>
          <p:cNvPr id="551" name="Google Shape;551;g3ee0adc8e96_0_97"/>
          <p:cNvSpPr txBox="1"/>
          <p:nvPr/>
        </p:nvSpPr>
        <p:spPr>
          <a:xfrm>
            <a:off x="373282" y="25400"/>
            <a:ext cx="87366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2850"/>
              <a:buNone/>
            </a:pPr>
            <a:r>
              <a:rPr b="1" lang="en" sz="3600">
                <a:solidFill>
                  <a:schemeClr val="dk1"/>
                </a:solidFill>
              </a:rPr>
              <a:t>Deliverables: Business and Technical</a:t>
            </a:r>
            <a:endParaRPr b="1" sz="3600">
              <a:solidFill>
                <a:schemeClr val="dk1"/>
              </a:solidFill>
              <a:latin typeface="Montserrat"/>
              <a:ea typeface="Montserrat"/>
              <a:cs typeface="Montserrat"/>
              <a:sym typeface="Montserrat"/>
            </a:endParaRPr>
          </a:p>
        </p:txBody>
      </p:sp>
      <p:sp>
        <p:nvSpPr>
          <p:cNvPr id="552" name="Google Shape;552;g3ee0adc8e96_0_97"/>
          <p:cNvSpPr txBox="1"/>
          <p:nvPr/>
        </p:nvSpPr>
        <p:spPr>
          <a:xfrm>
            <a:off x="0" y="1218300"/>
            <a:ext cx="4843200" cy="4332600"/>
          </a:xfrm>
          <a:prstGeom prst="rect">
            <a:avLst/>
          </a:prstGeom>
          <a:solidFill>
            <a:srgbClr val="F3F8FC"/>
          </a:solidFill>
          <a:ln cap="flat" cmpd="sng" w="9525">
            <a:solidFill>
              <a:srgbClr val="BBD7EC"/>
            </a:solidFill>
            <a:prstDash val="solid"/>
            <a:round/>
            <a:headEnd len="sm" w="sm" type="none"/>
            <a:tailEnd len="sm" w="sm" type="none"/>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1290"/>
              <a:buFont typeface="Arial"/>
              <a:buNone/>
            </a:pPr>
            <a:r>
              <a:rPr b="1" i="0" lang="en" sz="2400" u="none" cap="none" strike="noStrike">
                <a:solidFill>
                  <a:schemeClr val="dk1"/>
                </a:solidFill>
              </a:rPr>
              <a:t>Business deliverables</a:t>
            </a:r>
            <a:endParaRPr b="1" sz="2400">
              <a:solidFill>
                <a:schemeClr val="dk1"/>
              </a:solidFill>
            </a:endParaRPr>
          </a:p>
          <a:p>
            <a:pPr indent="0" lvl="0" marL="0" marR="0" rtl="0" algn="l">
              <a:lnSpc>
                <a:spcPct val="100000"/>
              </a:lnSpc>
              <a:spcBef>
                <a:spcPts val="0"/>
              </a:spcBef>
              <a:spcAft>
                <a:spcPts val="0"/>
              </a:spcAft>
              <a:buClr>
                <a:srgbClr val="000000"/>
              </a:buClr>
              <a:buSzPts val="1290"/>
              <a:buFont typeface="Arial"/>
              <a:buNone/>
            </a:pPr>
            <a:r>
              <a:t/>
            </a:r>
            <a:endParaRPr b="0" i="0" sz="1800" u="none" cap="none" strike="noStrike">
              <a:solidFill>
                <a:srgbClr val="111827"/>
              </a:solidFill>
              <a:latin typeface="Arial"/>
              <a:ea typeface="Arial"/>
              <a:cs typeface="Arial"/>
              <a:sym typeface="Arial"/>
            </a:endParaRPr>
          </a:p>
          <a:p>
            <a:pPr indent="-212385" lvl="0" marL="279999" marR="0" rtl="0" algn="l">
              <a:lnSpc>
                <a:spcPct val="100000"/>
              </a:lnSpc>
              <a:spcBef>
                <a:spcPts val="0"/>
              </a:spcBef>
              <a:spcAft>
                <a:spcPts val="0"/>
              </a:spcAft>
              <a:buClr>
                <a:srgbClr val="000000"/>
              </a:buClr>
              <a:buSzPts val="1800"/>
              <a:buFont typeface="Arial"/>
              <a:buChar char="•"/>
            </a:pPr>
            <a:r>
              <a:rPr b="0" i="0" lang="en" sz="1800" u="none" cap="none" strike="noStrike">
                <a:solidFill>
                  <a:srgbClr val="111827"/>
                </a:solidFill>
                <a:latin typeface="Arial"/>
                <a:ea typeface="Arial"/>
                <a:cs typeface="Arial"/>
                <a:sym typeface="Arial"/>
              </a:rPr>
              <a:t>Procurement use case and business case rationale</a:t>
            </a:r>
            <a:endParaRPr b="0" i="0" sz="1800" u="none" cap="none" strike="noStrike">
              <a:solidFill>
                <a:srgbClr val="111827"/>
              </a:solidFill>
              <a:latin typeface="Arial"/>
              <a:ea typeface="Arial"/>
              <a:cs typeface="Arial"/>
              <a:sym typeface="Arial"/>
            </a:endParaRPr>
          </a:p>
          <a:p>
            <a:pPr indent="0" lvl="0" marL="457200" marR="0" rtl="0" algn="l">
              <a:lnSpc>
                <a:spcPct val="100000"/>
              </a:lnSpc>
              <a:spcBef>
                <a:spcPts val="0"/>
              </a:spcBef>
              <a:spcAft>
                <a:spcPts val="0"/>
              </a:spcAft>
              <a:buNone/>
            </a:pPr>
            <a:r>
              <a:t/>
            </a:r>
            <a:endParaRPr sz="1800">
              <a:solidFill>
                <a:srgbClr val="111827"/>
              </a:solidFill>
            </a:endParaRPr>
          </a:p>
          <a:p>
            <a:pPr indent="-212385" lvl="0" marL="279999" marR="0" rtl="0" algn="l">
              <a:lnSpc>
                <a:spcPct val="100000"/>
              </a:lnSpc>
              <a:spcBef>
                <a:spcPts val="0"/>
              </a:spcBef>
              <a:spcAft>
                <a:spcPts val="0"/>
              </a:spcAft>
              <a:buClr>
                <a:srgbClr val="000000"/>
              </a:buClr>
              <a:buSzPts val="1800"/>
              <a:buFont typeface="Arial"/>
              <a:buChar char="•"/>
            </a:pPr>
            <a:r>
              <a:rPr b="0" i="0" lang="en" sz="1800" u="none" cap="none" strike="noStrike">
                <a:solidFill>
                  <a:srgbClr val="111827"/>
                </a:solidFill>
                <a:latin typeface="Arial"/>
                <a:ea typeface="Arial"/>
                <a:cs typeface="Arial"/>
                <a:sym typeface="Arial"/>
              </a:rPr>
              <a:t>Cost-driver interpretation and analy</a:t>
            </a:r>
            <a:r>
              <a:rPr lang="en" sz="1800">
                <a:solidFill>
                  <a:srgbClr val="111827"/>
                </a:solidFill>
              </a:rPr>
              <a:t>sis</a:t>
            </a:r>
            <a:r>
              <a:rPr b="0" i="0" lang="en" sz="1800" u="none" cap="none" strike="noStrike">
                <a:solidFill>
                  <a:srgbClr val="111827"/>
                </a:solidFill>
                <a:latin typeface="Arial"/>
                <a:ea typeface="Arial"/>
                <a:cs typeface="Arial"/>
                <a:sym typeface="Arial"/>
              </a:rPr>
              <a:t> for supplier </a:t>
            </a:r>
            <a:r>
              <a:rPr lang="en" sz="1800">
                <a:solidFill>
                  <a:srgbClr val="111827"/>
                </a:solidFill>
              </a:rPr>
              <a:t>quote</a:t>
            </a:r>
            <a:endParaRPr sz="1800">
              <a:solidFill>
                <a:srgbClr val="111827"/>
              </a:solidFill>
            </a:endParaRPr>
          </a:p>
          <a:p>
            <a:pPr indent="0" lvl="0" marL="457200" marR="0" rtl="0" algn="l">
              <a:lnSpc>
                <a:spcPct val="100000"/>
              </a:lnSpc>
              <a:spcBef>
                <a:spcPts val="0"/>
              </a:spcBef>
              <a:spcAft>
                <a:spcPts val="0"/>
              </a:spcAft>
              <a:buNone/>
            </a:pPr>
            <a:r>
              <a:t/>
            </a:r>
            <a:endParaRPr sz="1800">
              <a:solidFill>
                <a:srgbClr val="111827"/>
              </a:solidFill>
            </a:endParaRPr>
          </a:p>
          <a:p>
            <a:pPr indent="-212385" lvl="0" marL="279999" marR="0" rtl="0" algn="l">
              <a:lnSpc>
                <a:spcPct val="100000"/>
              </a:lnSpc>
              <a:spcBef>
                <a:spcPts val="0"/>
              </a:spcBef>
              <a:spcAft>
                <a:spcPts val="0"/>
              </a:spcAft>
              <a:buClr>
                <a:srgbClr val="000000"/>
              </a:buClr>
              <a:buSzPts val="1800"/>
              <a:buFont typeface="Arial"/>
              <a:buChar char="•"/>
            </a:pPr>
            <a:r>
              <a:rPr b="0" i="0" lang="en" sz="1800" u="none" cap="none" strike="noStrike">
                <a:solidFill>
                  <a:srgbClr val="111827"/>
                </a:solidFill>
                <a:latin typeface="Arial"/>
                <a:ea typeface="Arial"/>
                <a:cs typeface="Arial"/>
                <a:sym typeface="Arial"/>
              </a:rPr>
              <a:t>Recommendations on how predictions can support quote validation</a:t>
            </a:r>
            <a:endParaRPr b="0" i="0" sz="1800" u="none" cap="none" strike="noStrike">
              <a:solidFill>
                <a:srgbClr val="111827"/>
              </a:solidFill>
              <a:latin typeface="Arial"/>
              <a:ea typeface="Arial"/>
              <a:cs typeface="Arial"/>
              <a:sym typeface="Arial"/>
            </a:endParaRPr>
          </a:p>
          <a:p>
            <a:pPr indent="0" lvl="0" marL="457200" marR="0" rtl="0" algn="l">
              <a:lnSpc>
                <a:spcPct val="100000"/>
              </a:lnSpc>
              <a:spcBef>
                <a:spcPts val="0"/>
              </a:spcBef>
              <a:spcAft>
                <a:spcPts val="0"/>
              </a:spcAft>
              <a:buNone/>
            </a:pPr>
            <a:r>
              <a:t/>
            </a:r>
            <a:endParaRPr sz="1800">
              <a:solidFill>
                <a:srgbClr val="111827"/>
              </a:solidFill>
            </a:endParaRPr>
          </a:p>
          <a:p>
            <a:pPr indent="-212385" lvl="0" marL="279999" marR="0" rtl="0" algn="l">
              <a:lnSpc>
                <a:spcPct val="100000"/>
              </a:lnSpc>
              <a:spcBef>
                <a:spcPts val="0"/>
              </a:spcBef>
              <a:spcAft>
                <a:spcPts val="0"/>
              </a:spcAft>
              <a:buClr>
                <a:srgbClr val="000000"/>
              </a:buClr>
              <a:buSzPts val="1800"/>
              <a:buFont typeface="Arial"/>
              <a:buChar char="•"/>
            </a:pPr>
            <a:r>
              <a:rPr lang="en" sz="1800">
                <a:solidFill>
                  <a:schemeClr val="dk1"/>
                </a:solidFill>
              </a:rPr>
              <a:t>Predictive models to support procurement quote validation</a:t>
            </a:r>
            <a:endParaRPr sz="1800">
              <a:solidFill>
                <a:schemeClr val="dk1"/>
              </a:solidFill>
            </a:endParaRPr>
          </a:p>
          <a:p>
            <a:pPr indent="0" lvl="0" marL="0" rtl="0" algn="l">
              <a:lnSpc>
                <a:spcPct val="90000"/>
              </a:lnSpc>
              <a:spcBef>
                <a:spcPts val="0"/>
              </a:spcBef>
              <a:spcAft>
                <a:spcPts val="0"/>
              </a:spcAft>
              <a:buNone/>
            </a:pPr>
            <a:r>
              <a:t/>
            </a:r>
            <a:endParaRPr sz="1250">
              <a:solidFill>
                <a:schemeClr val="dk1"/>
              </a:solidFill>
            </a:endParaRPr>
          </a:p>
          <a:p>
            <a:pPr indent="0" lvl="0" marL="0" rtl="0" algn="l">
              <a:lnSpc>
                <a:spcPct val="90000"/>
              </a:lnSpc>
              <a:spcBef>
                <a:spcPts val="0"/>
              </a:spcBef>
              <a:spcAft>
                <a:spcPts val="0"/>
              </a:spcAft>
              <a:buNone/>
            </a:pPr>
            <a:r>
              <a:t/>
            </a:r>
            <a:endParaRPr sz="1250">
              <a:solidFill>
                <a:srgbClr val="111827"/>
              </a:solidFill>
            </a:endParaRPr>
          </a:p>
        </p:txBody>
      </p:sp>
      <p:sp>
        <p:nvSpPr>
          <p:cNvPr id="553" name="Google Shape;553;g3ee0adc8e96_0_97"/>
          <p:cNvSpPr txBox="1"/>
          <p:nvPr/>
        </p:nvSpPr>
        <p:spPr>
          <a:xfrm>
            <a:off x="6331075" y="1351450"/>
            <a:ext cx="5742300" cy="4332600"/>
          </a:xfrm>
          <a:prstGeom prst="rect">
            <a:avLst/>
          </a:prstGeom>
          <a:solidFill>
            <a:srgbClr val="F8FAFC"/>
          </a:solidFill>
          <a:ln cap="flat" cmpd="sng" w="9525">
            <a:solidFill>
              <a:srgbClr val="CBD5E1"/>
            </a:solidFill>
            <a:prstDash val="solid"/>
            <a:round/>
            <a:headEnd len="sm" w="sm" type="none"/>
            <a:tailEnd len="sm" w="sm" type="none"/>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1290"/>
              <a:buFont typeface="Arial"/>
              <a:buNone/>
            </a:pPr>
            <a:r>
              <a:rPr b="1" i="0" lang="en" sz="2400" u="none" cap="none" strike="noStrike">
                <a:solidFill>
                  <a:schemeClr val="dk1"/>
                </a:solidFill>
              </a:rPr>
              <a:t>Technical deliverables</a:t>
            </a:r>
            <a:endParaRPr b="1" sz="2400">
              <a:solidFill>
                <a:schemeClr val="dk1"/>
              </a:solidFill>
            </a:endParaRPr>
          </a:p>
          <a:p>
            <a:pPr indent="0" lvl="0" marL="0" marR="0" rtl="0" algn="l">
              <a:lnSpc>
                <a:spcPct val="100000"/>
              </a:lnSpc>
              <a:spcBef>
                <a:spcPts val="0"/>
              </a:spcBef>
              <a:spcAft>
                <a:spcPts val="0"/>
              </a:spcAft>
              <a:buClr>
                <a:srgbClr val="000000"/>
              </a:buClr>
              <a:buSzPts val="1290"/>
              <a:buFont typeface="Arial"/>
              <a:buNone/>
            </a:pPr>
            <a:r>
              <a:t/>
            </a:r>
            <a:endParaRPr b="0" i="0" sz="1800" u="none" cap="none" strike="noStrike">
              <a:solidFill>
                <a:srgbClr val="111827"/>
              </a:solidFill>
              <a:latin typeface="Arial"/>
              <a:ea typeface="Arial"/>
              <a:cs typeface="Arial"/>
              <a:sym typeface="Arial"/>
            </a:endParaRPr>
          </a:p>
          <a:p>
            <a:pPr indent="-212385" lvl="0" marL="279999" marR="0" rtl="0" algn="l">
              <a:lnSpc>
                <a:spcPct val="100000"/>
              </a:lnSpc>
              <a:spcBef>
                <a:spcPts val="0"/>
              </a:spcBef>
              <a:spcAft>
                <a:spcPts val="0"/>
              </a:spcAft>
              <a:buClr>
                <a:srgbClr val="000000"/>
              </a:buClr>
              <a:buSzPts val="1800"/>
              <a:buFont typeface="Arial"/>
              <a:buChar char="•"/>
            </a:pPr>
            <a:r>
              <a:rPr b="0" i="0" lang="en" sz="1800" u="none" cap="none" strike="noStrike">
                <a:solidFill>
                  <a:srgbClr val="111827"/>
                </a:solidFill>
                <a:latin typeface="Arial"/>
                <a:ea typeface="Arial"/>
                <a:cs typeface="Arial"/>
                <a:sym typeface="Arial"/>
              </a:rPr>
              <a:t>Cleaned and merged Final_DF dataset</a:t>
            </a:r>
            <a:endParaRPr b="0" i="0" sz="1800" u="none" cap="none" strike="noStrike">
              <a:solidFill>
                <a:srgbClr val="111827"/>
              </a:solidFill>
              <a:latin typeface="Arial"/>
              <a:ea typeface="Arial"/>
              <a:cs typeface="Arial"/>
              <a:sym typeface="Arial"/>
            </a:endParaRPr>
          </a:p>
          <a:p>
            <a:pPr indent="0" lvl="0" marL="457200" marR="0" rtl="0" algn="l">
              <a:lnSpc>
                <a:spcPct val="100000"/>
              </a:lnSpc>
              <a:spcBef>
                <a:spcPts val="0"/>
              </a:spcBef>
              <a:spcAft>
                <a:spcPts val="0"/>
              </a:spcAft>
              <a:buNone/>
            </a:pPr>
            <a:r>
              <a:t/>
            </a:r>
            <a:endParaRPr sz="1800">
              <a:solidFill>
                <a:srgbClr val="111827"/>
              </a:solidFill>
            </a:endParaRPr>
          </a:p>
          <a:p>
            <a:pPr indent="-212385" lvl="0" marL="279999" marR="0" rtl="0" algn="l">
              <a:lnSpc>
                <a:spcPct val="100000"/>
              </a:lnSpc>
              <a:spcBef>
                <a:spcPts val="0"/>
              </a:spcBef>
              <a:spcAft>
                <a:spcPts val="0"/>
              </a:spcAft>
              <a:buClr>
                <a:srgbClr val="000000"/>
              </a:buClr>
              <a:buSzPts val="1800"/>
              <a:buFont typeface="Arial"/>
              <a:buChar char="•"/>
            </a:pPr>
            <a:r>
              <a:rPr b="0" i="0" lang="en" sz="1800" u="none" cap="none" strike="noStrike">
                <a:solidFill>
                  <a:srgbClr val="111827"/>
                </a:solidFill>
                <a:latin typeface="Arial"/>
                <a:ea typeface="Arial"/>
                <a:cs typeface="Arial"/>
                <a:sym typeface="Arial"/>
              </a:rPr>
              <a:t>Notebook code, model metrics, plots, and saved model files</a:t>
            </a:r>
            <a:endParaRPr b="0" i="0" sz="1800" u="none" cap="none" strike="noStrike">
              <a:solidFill>
                <a:srgbClr val="111827"/>
              </a:solidFill>
              <a:latin typeface="Arial"/>
              <a:ea typeface="Arial"/>
              <a:cs typeface="Arial"/>
              <a:sym typeface="Arial"/>
            </a:endParaRPr>
          </a:p>
          <a:p>
            <a:pPr indent="0" lvl="0" marL="457200" marR="0" rtl="0" algn="l">
              <a:lnSpc>
                <a:spcPct val="100000"/>
              </a:lnSpc>
              <a:spcBef>
                <a:spcPts val="0"/>
              </a:spcBef>
              <a:spcAft>
                <a:spcPts val="0"/>
              </a:spcAft>
              <a:buNone/>
            </a:pPr>
            <a:r>
              <a:t/>
            </a:r>
            <a:endParaRPr sz="1800">
              <a:solidFill>
                <a:srgbClr val="111827"/>
              </a:solidFill>
            </a:endParaRPr>
          </a:p>
          <a:p>
            <a:pPr indent="-212385" lvl="0" marL="279999" marR="0" rtl="0" algn="l">
              <a:lnSpc>
                <a:spcPct val="100000"/>
              </a:lnSpc>
              <a:spcBef>
                <a:spcPts val="0"/>
              </a:spcBef>
              <a:spcAft>
                <a:spcPts val="0"/>
              </a:spcAft>
              <a:buClr>
                <a:srgbClr val="000000"/>
              </a:buClr>
              <a:buSzPts val="1800"/>
              <a:buFont typeface="Arial"/>
              <a:buChar char="•"/>
            </a:pPr>
            <a:r>
              <a:rPr b="0" i="0" lang="en" sz="1800" u="none" cap="none" strike="noStrike">
                <a:solidFill>
                  <a:srgbClr val="111827"/>
                </a:solidFill>
                <a:latin typeface="Arial"/>
                <a:ea typeface="Arial"/>
                <a:cs typeface="Arial"/>
                <a:sym typeface="Arial"/>
              </a:rPr>
              <a:t>Validation setup, feature importance, and reproducible </a:t>
            </a:r>
            <a:r>
              <a:rPr lang="en" sz="1800">
                <a:solidFill>
                  <a:srgbClr val="111827"/>
                </a:solidFill>
              </a:rPr>
              <a:t>code repository (on Github)</a:t>
            </a:r>
            <a:endParaRPr sz="1800">
              <a:solidFill>
                <a:srgbClr val="111827"/>
              </a:solidFill>
            </a:endParaRPr>
          </a:p>
          <a:p>
            <a:pPr indent="0" lvl="0" marL="457200" marR="0" rtl="0" algn="l">
              <a:lnSpc>
                <a:spcPct val="100000"/>
              </a:lnSpc>
              <a:spcBef>
                <a:spcPts val="0"/>
              </a:spcBef>
              <a:spcAft>
                <a:spcPts val="0"/>
              </a:spcAft>
              <a:buNone/>
            </a:pPr>
            <a:r>
              <a:t/>
            </a:r>
            <a:endParaRPr sz="1800">
              <a:solidFill>
                <a:srgbClr val="111827"/>
              </a:solidFill>
            </a:endParaRPr>
          </a:p>
          <a:p>
            <a:pPr indent="-212385" lvl="0" marL="279999" marR="0" rtl="0" algn="l">
              <a:lnSpc>
                <a:spcPct val="100000"/>
              </a:lnSpc>
              <a:spcBef>
                <a:spcPts val="0"/>
              </a:spcBef>
              <a:spcAft>
                <a:spcPts val="0"/>
              </a:spcAft>
              <a:buClr>
                <a:srgbClr val="000000"/>
              </a:buClr>
              <a:buSzPts val="1800"/>
              <a:buFont typeface="Arial"/>
              <a:buChar char="•"/>
            </a:pPr>
            <a:r>
              <a:rPr lang="en" sz="1800">
                <a:solidFill>
                  <a:schemeClr val="dk1"/>
                </a:solidFill>
              </a:rPr>
              <a:t>Visual analysis of pricing drivers</a:t>
            </a:r>
            <a:endParaRPr sz="1800">
              <a:solidFill>
                <a:schemeClr val="dk1"/>
              </a:solidFill>
            </a:endParaRPr>
          </a:p>
          <a:p>
            <a:pPr indent="0" lvl="0" marL="457200" marR="0" rtl="0" algn="l">
              <a:lnSpc>
                <a:spcPct val="100000"/>
              </a:lnSpc>
              <a:spcBef>
                <a:spcPts val="0"/>
              </a:spcBef>
              <a:spcAft>
                <a:spcPts val="0"/>
              </a:spcAft>
              <a:buNone/>
            </a:pPr>
            <a:r>
              <a:t/>
            </a:r>
            <a:endParaRPr sz="1800">
              <a:solidFill>
                <a:schemeClr val="dk1"/>
              </a:solidFill>
            </a:endParaRPr>
          </a:p>
          <a:p>
            <a:pPr indent="-212385" lvl="0" marL="279999" marR="0" rtl="0" algn="l">
              <a:lnSpc>
                <a:spcPct val="100000"/>
              </a:lnSpc>
              <a:spcBef>
                <a:spcPts val="0"/>
              </a:spcBef>
              <a:spcAft>
                <a:spcPts val="0"/>
              </a:spcAft>
              <a:buClr>
                <a:srgbClr val="000000"/>
              </a:buClr>
              <a:buSzPts val="1800"/>
              <a:buFont typeface="Arial"/>
              <a:buChar char="•"/>
            </a:pPr>
            <a:r>
              <a:rPr lang="en" sz="1800">
                <a:solidFill>
                  <a:schemeClr val="dk1"/>
                </a:solidFill>
              </a:rPr>
              <a:t>Evaluation result: RMSE, MAE, R2 across models</a:t>
            </a:r>
            <a:endParaRPr sz="1800">
              <a:solidFill>
                <a:schemeClr val="dk1"/>
              </a:solidFill>
            </a:endParaRPr>
          </a:p>
          <a:p>
            <a:pPr indent="0" lvl="0" marL="457200" marR="0" rtl="0" algn="l">
              <a:lnSpc>
                <a:spcPct val="100000"/>
              </a:lnSpc>
              <a:spcBef>
                <a:spcPts val="0"/>
              </a:spcBef>
              <a:spcAft>
                <a:spcPts val="0"/>
              </a:spcAft>
              <a:buNone/>
            </a:pPr>
            <a:r>
              <a:t/>
            </a:r>
            <a:endParaRPr sz="1800">
              <a:solidFill>
                <a:schemeClr val="dk1"/>
              </a:solidFill>
            </a:endParaRPr>
          </a:p>
          <a:p>
            <a:pPr indent="-212385" lvl="0" marL="279999" marR="0" rtl="0" algn="l">
              <a:lnSpc>
                <a:spcPct val="100000"/>
              </a:lnSpc>
              <a:spcBef>
                <a:spcPts val="0"/>
              </a:spcBef>
              <a:spcAft>
                <a:spcPts val="0"/>
              </a:spcAft>
              <a:buClr>
                <a:srgbClr val="000000"/>
              </a:buClr>
              <a:buSzPts val="1800"/>
              <a:buFont typeface="Arial"/>
              <a:buChar char="•"/>
            </a:pPr>
            <a:r>
              <a:rPr lang="en" sz="1800">
                <a:solidFill>
                  <a:schemeClr val="dk1"/>
                </a:solidFill>
              </a:rPr>
              <a:t>Fine tuning with hyperparameters</a:t>
            </a:r>
            <a:endParaRPr sz="1800">
              <a:solidFill>
                <a:schemeClr val="dk1"/>
              </a:solidFill>
            </a:endParaRPr>
          </a:p>
        </p:txBody>
      </p:sp>
      <p:sp>
        <p:nvSpPr>
          <p:cNvPr id="554" name="Google Shape;554;g3ee0adc8e96_0_97"/>
          <p:cNvSpPr txBox="1"/>
          <p:nvPr/>
        </p:nvSpPr>
        <p:spPr>
          <a:xfrm>
            <a:off x="0" y="6140400"/>
            <a:ext cx="9725100" cy="712500"/>
          </a:xfrm>
          <a:prstGeom prst="rect">
            <a:avLst/>
          </a:prstGeom>
          <a:noFill/>
          <a:ln cap="flat" cmpd="sng" w="9525">
            <a:solidFill>
              <a:srgbClr val="FFFFFF"/>
            </a:solidFill>
            <a:prstDash val="solid"/>
            <a:round/>
            <a:headEnd len="sm" w="sm" type="none"/>
            <a:tailEnd len="sm" w="sm" type="none"/>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850"/>
              <a:buFont typeface="Arial"/>
              <a:buNone/>
            </a:pPr>
            <a:r>
              <a:rPr b="0" i="0" lang="en" sz="2400" u="none" cap="none" strike="noStrike">
                <a:solidFill>
                  <a:schemeClr val="dk1"/>
                </a:solidFill>
                <a:latin typeface="Arial"/>
                <a:ea typeface="Arial"/>
                <a:cs typeface="Arial"/>
                <a:sym typeface="Arial"/>
              </a:rPr>
              <a:t>Source: Provost &amp; Fawcett (2013); CRISP-DM: Chapman et al. (2000)</a:t>
            </a:r>
            <a:endParaRPr sz="2400"/>
          </a:p>
        </p:txBody>
      </p:sp>
      <p:sp>
        <p:nvSpPr>
          <p:cNvPr id="555" name="Google Shape;555;g3ee0adc8e96_0_97"/>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556" name="Google Shape;556;g3ee0adc8e96_0_9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Clr>
                <a:srgbClr val="757575"/>
              </a:buClr>
              <a:buSzPts val="1200"/>
              <a:buFont typeface="Arial"/>
              <a:buNone/>
            </a:pPr>
            <a:fld id="{00000000-1234-1234-1234-123412341234}" type="slidenum">
              <a:rPr lang="en" sz="1900"/>
              <a:t>‹#›</a:t>
            </a:fld>
            <a:endParaRPr sz="1900"/>
          </a:p>
        </p:txBody>
      </p:sp>
      <p:sp>
        <p:nvSpPr>
          <p:cNvPr id="557" name="Google Shape;557;g3ee0adc8e96_0_97"/>
          <p:cNvSpPr txBox="1"/>
          <p:nvPr/>
        </p:nvSpPr>
        <p:spPr>
          <a:xfrm>
            <a:off x="9873406" y="61404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561" name="Shape 561"/>
        <p:cNvGrpSpPr/>
        <p:nvPr/>
      </p:nvGrpSpPr>
      <p:grpSpPr>
        <a:xfrm>
          <a:off x="0" y="0"/>
          <a:ext cx="0" cy="0"/>
          <a:chOff x="0" y="0"/>
          <a:chExt cx="0" cy="0"/>
        </a:xfrm>
      </p:grpSpPr>
      <p:grpSp>
        <p:nvGrpSpPr>
          <p:cNvPr id="562" name="Google Shape;562;g3ee0adc8e96_0_112"/>
          <p:cNvGrpSpPr/>
          <p:nvPr/>
        </p:nvGrpSpPr>
        <p:grpSpPr>
          <a:xfrm>
            <a:off x="8706107" y="-555302"/>
            <a:ext cx="3969516" cy="7638089"/>
            <a:chOff x="0" y="-57150"/>
            <a:chExt cx="1568173" cy="3017457"/>
          </a:xfrm>
        </p:grpSpPr>
        <p:sp>
          <p:nvSpPr>
            <p:cNvPr id="563" name="Google Shape;563;g3ee0adc8e96_0_112"/>
            <p:cNvSpPr/>
            <p:nvPr/>
          </p:nvSpPr>
          <p:spPr>
            <a:xfrm>
              <a:off x="0" y="0"/>
              <a:ext cx="1568173" cy="2960307"/>
            </a:xfrm>
            <a:custGeom>
              <a:rect b="b" l="l" r="r" t="t"/>
              <a:pathLst>
                <a:path extrusionOk="0" h="2960307" w="1568173">
                  <a:moveTo>
                    <a:pt x="0" y="0"/>
                  </a:moveTo>
                  <a:lnTo>
                    <a:pt x="1568173" y="0"/>
                  </a:lnTo>
                  <a:lnTo>
                    <a:pt x="1568173" y="2960307"/>
                  </a:lnTo>
                  <a:lnTo>
                    <a:pt x="0" y="2960307"/>
                  </a:lnTo>
                  <a:close/>
                </a:path>
              </a:pathLst>
            </a:custGeom>
            <a:solidFill>
              <a:srgbClr val="EFF1E8"/>
            </a:solidFill>
            <a:ln>
              <a:noFill/>
            </a:ln>
          </p:spPr>
        </p:sp>
        <p:sp>
          <p:nvSpPr>
            <p:cNvPr id="564" name="Google Shape;564;g3ee0adc8e96_0_112"/>
            <p:cNvSpPr txBox="1"/>
            <p:nvPr/>
          </p:nvSpPr>
          <p:spPr>
            <a:xfrm>
              <a:off x="0" y="-57150"/>
              <a:ext cx="1568100" cy="30174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565" name="Google Shape;565;g3ee0adc8e96_0_112"/>
          <p:cNvGrpSpPr/>
          <p:nvPr/>
        </p:nvGrpSpPr>
        <p:grpSpPr>
          <a:xfrm>
            <a:off x="204925" y="1010498"/>
            <a:ext cx="8530722" cy="5418289"/>
            <a:chOff x="-18" y="-20223"/>
            <a:chExt cx="2005200" cy="1009500"/>
          </a:xfrm>
        </p:grpSpPr>
        <p:sp>
          <p:nvSpPr>
            <p:cNvPr id="566" name="Google Shape;566;g3ee0adc8e96_0_112"/>
            <p:cNvSpPr/>
            <p:nvPr/>
          </p:nvSpPr>
          <p:spPr>
            <a:xfrm>
              <a:off x="0" y="0"/>
              <a:ext cx="2005166" cy="952383"/>
            </a:xfrm>
            <a:custGeom>
              <a:rect b="b" l="l" r="r" t="t"/>
              <a:pathLst>
                <a:path extrusionOk="0" h="952383" w="2005166">
                  <a:moveTo>
                    <a:pt x="0" y="0"/>
                  </a:moveTo>
                  <a:lnTo>
                    <a:pt x="2005166" y="0"/>
                  </a:lnTo>
                  <a:lnTo>
                    <a:pt x="2005166" y="952383"/>
                  </a:lnTo>
                  <a:lnTo>
                    <a:pt x="0" y="952383"/>
                  </a:lnTo>
                  <a:close/>
                </a:path>
              </a:pathLst>
            </a:custGeom>
            <a:noFill/>
            <a:ln cap="sq" cmpd="sng" w="38100">
              <a:solidFill>
                <a:srgbClr val="EFF1E8"/>
              </a:solidFill>
              <a:prstDash val="solid"/>
              <a:miter lim="8000"/>
              <a:headEnd len="sm" w="sm" type="none"/>
              <a:tailEnd len="sm" w="sm" type="none"/>
            </a:ln>
          </p:spPr>
        </p:sp>
        <p:sp>
          <p:nvSpPr>
            <p:cNvPr id="567" name="Google Shape;567;g3ee0adc8e96_0_112"/>
            <p:cNvSpPr txBox="1"/>
            <p:nvPr/>
          </p:nvSpPr>
          <p:spPr>
            <a:xfrm>
              <a:off x="-18" y="-20223"/>
              <a:ext cx="2005200" cy="10095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568" name="Google Shape;568;g3ee0adc8e96_0_112"/>
          <p:cNvSpPr/>
          <p:nvPr/>
        </p:nvSpPr>
        <p:spPr>
          <a:xfrm>
            <a:off x="0" y="6230323"/>
            <a:ext cx="659253" cy="622716"/>
          </a:xfrm>
          <a:custGeom>
            <a:rect b="b" l="l" r="r" t="t"/>
            <a:pathLst>
              <a:path extrusionOk="0" h="635425" w="635425">
                <a:moveTo>
                  <a:pt x="0" y="0"/>
                </a:moveTo>
                <a:lnTo>
                  <a:pt x="635425" y="0"/>
                </a:lnTo>
                <a:lnTo>
                  <a:pt x="635425" y="635425"/>
                </a:lnTo>
                <a:lnTo>
                  <a:pt x="0" y="635425"/>
                </a:lnTo>
                <a:lnTo>
                  <a:pt x="0" y="0"/>
                </a:lnTo>
                <a:close/>
              </a:path>
            </a:pathLst>
          </a:custGeom>
          <a:blipFill rotWithShape="1">
            <a:blip r:embed="rId3">
              <a:alphaModFix/>
            </a:blip>
            <a:stretch>
              <a:fillRect b="0" l="0" r="0" t="0"/>
            </a:stretch>
          </a:blipFill>
          <a:ln>
            <a:noFill/>
          </a:ln>
        </p:spPr>
      </p:sp>
      <p:sp>
        <p:nvSpPr>
          <p:cNvPr id="569" name="Google Shape;569;g3ee0adc8e96_0_112"/>
          <p:cNvSpPr txBox="1"/>
          <p:nvPr/>
        </p:nvSpPr>
        <p:spPr>
          <a:xfrm>
            <a:off x="429026" y="877488"/>
            <a:ext cx="7651800" cy="2154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t/>
            </a:r>
            <a:endParaRPr b="0" i="0" u="none" cap="none" strike="noStrike">
              <a:solidFill>
                <a:schemeClr val="dk1"/>
              </a:solidFill>
              <a:latin typeface="Poppins"/>
              <a:ea typeface="Poppins"/>
              <a:cs typeface="Poppins"/>
              <a:sym typeface="Poppins"/>
            </a:endParaRPr>
          </a:p>
        </p:txBody>
      </p:sp>
      <p:grpSp>
        <p:nvGrpSpPr>
          <p:cNvPr id="570" name="Google Shape;570;g3ee0adc8e96_0_112"/>
          <p:cNvGrpSpPr/>
          <p:nvPr/>
        </p:nvGrpSpPr>
        <p:grpSpPr>
          <a:xfrm>
            <a:off x="7223676" y="3277900"/>
            <a:ext cx="4782721" cy="3150874"/>
            <a:chOff x="-1889558" y="0"/>
            <a:chExt cx="3894724" cy="2342831"/>
          </a:xfrm>
        </p:grpSpPr>
        <p:sp>
          <p:nvSpPr>
            <p:cNvPr id="571" name="Google Shape;571;g3ee0adc8e96_0_112"/>
            <p:cNvSpPr/>
            <p:nvPr/>
          </p:nvSpPr>
          <p:spPr>
            <a:xfrm>
              <a:off x="0" y="0"/>
              <a:ext cx="2005166" cy="952383"/>
            </a:xfrm>
            <a:custGeom>
              <a:rect b="b" l="l" r="r" t="t"/>
              <a:pathLst>
                <a:path extrusionOk="0" h="952383" w="2005166">
                  <a:moveTo>
                    <a:pt x="0" y="0"/>
                  </a:moveTo>
                  <a:lnTo>
                    <a:pt x="2005166" y="0"/>
                  </a:lnTo>
                  <a:lnTo>
                    <a:pt x="2005166" y="952383"/>
                  </a:lnTo>
                  <a:lnTo>
                    <a:pt x="0" y="952383"/>
                  </a:lnTo>
                  <a:close/>
                </a:path>
              </a:pathLst>
            </a:custGeom>
            <a:noFill/>
            <a:ln cap="sq" cmpd="sng" w="38100">
              <a:solidFill>
                <a:srgbClr val="EFF1E8"/>
              </a:solidFill>
              <a:prstDash val="solid"/>
              <a:miter lim="8000"/>
              <a:headEnd len="sm" w="sm" type="none"/>
              <a:tailEnd len="sm" w="sm" type="none"/>
            </a:ln>
          </p:spPr>
        </p:sp>
        <p:sp>
          <p:nvSpPr>
            <p:cNvPr id="572" name="Google Shape;572;g3ee0adc8e96_0_112"/>
            <p:cNvSpPr txBox="1"/>
            <p:nvPr/>
          </p:nvSpPr>
          <p:spPr>
            <a:xfrm>
              <a:off x="-1889558" y="1333331"/>
              <a:ext cx="2005200" cy="10095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573" name="Google Shape;573;g3ee0adc8e96_0_112"/>
          <p:cNvSpPr/>
          <p:nvPr/>
        </p:nvSpPr>
        <p:spPr>
          <a:xfrm>
            <a:off x="8751800" y="2317026"/>
            <a:ext cx="3967560" cy="4540894"/>
          </a:xfrm>
          <a:custGeom>
            <a:rect b="b" l="l" r="r" t="t"/>
            <a:pathLst>
              <a:path extrusionOk="0" h="5438197" w="4765838">
                <a:moveTo>
                  <a:pt x="0" y="0"/>
                </a:moveTo>
                <a:lnTo>
                  <a:pt x="4765838" y="0"/>
                </a:lnTo>
                <a:lnTo>
                  <a:pt x="4765838" y="5438198"/>
                </a:lnTo>
                <a:lnTo>
                  <a:pt x="0" y="5438198"/>
                </a:lnTo>
                <a:lnTo>
                  <a:pt x="0" y="0"/>
                </a:lnTo>
                <a:close/>
              </a:path>
            </a:pathLst>
          </a:custGeom>
          <a:blipFill rotWithShape="1">
            <a:blip r:embed="rId4">
              <a:alphaModFix/>
            </a:blip>
            <a:stretch>
              <a:fillRect b="0" l="0" r="0" t="0"/>
            </a:stretch>
          </a:blipFill>
          <a:ln>
            <a:noFill/>
          </a:ln>
        </p:spPr>
      </p:sp>
      <p:sp>
        <p:nvSpPr>
          <p:cNvPr id="574" name="Google Shape;574;g3ee0adc8e96_0_112"/>
          <p:cNvSpPr txBox="1"/>
          <p:nvPr>
            <p:ph idx="4294967295" type="title"/>
          </p:nvPr>
        </p:nvSpPr>
        <p:spPr>
          <a:xfrm>
            <a:off x="1930027" y="178902"/>
            <a:ext cx="3817500" cy="831600"/>
          </a:xfrm>
          <a:prstGeom prst="rect">
            <a:avLst/>
          </a:prstGeom>
          <a:noFill/>
          <a:ln>
            <a:noFill/>
          </a:ln>
        </p:spPr>
        <p:txBody>
          <a:bodyPr anchorCtr="0" anchor="t" bIns="121900" lIns="121900" spcFirstLastPara="1" rIns="121900" wrap="square" tIns="121900">
            <a:noAutofit/>
          </a:bodyPr>
          <a:lstStyle/>
          <a:p>
            <a:pPr indent="0" lvl="0" marL="0" rtl="0" algn="l">
              <a:lnSpc>
                <a:spcPct val="90000"/>
              </a:lnSpc>
              <a:spcBef>
                <a:spcPts val="0"/>
              </a:spcBef>
              <a:spcAft>
                <a:spcPts val="0"/>
              </a:spcAft>
              <a:buClr>
                <a:schemeClr val="lt1"/>
              </a:buClr>
              <a:buSzPts val="3111"/>
              <a:buFont typeface="Play"/>
              <a:buNone/>
            </a:pPr>
            <a:r>
              <a:rPr lang="en" sz="6100"/>
              <a:t>Constraints</a:t>
            </a:r>
            <a:endParaRPr sz="6100"/>
          </a:p>
        </p:txBody>
      </p:sp>
      <p:sp>
        <p:nvSpPr>
          <p:cNvPr id="575" name="Google Shape;575;g3ee0adc8e96_0_112"/>
          <p:cNvSpPr txBox="1"/>
          <p:nvPr>
            <p:ph idx="4294967295" type="body"/>
          </p:nvPr>
        </p:nvSpPr>
        <p:spPr>
          <a:xfrm>
            <a:off x="335474" y="1972425"/>
            <a:ext cx="8355600" cy="4101600"/>
          </a:xfrm>
          <a:prstGeom prst="rect">
            <a:avLst/>
          </a:prstGeom>
          <a:noFill/>
          <a:ln>
            <a:noFill/>
          </a:ln>
        </p:spPr>
        <p:txBody>
          <a:bodyPr anchorCtr="0" anchor="t" bIns="121900" lIns="121900" spcFirstLastPara="1" rIns="121900" wrap="square" tIns="121900">
            <a:noAutofit/>
          </a:bodyPr>
          <a:lstStyle/>
          <a:p>
            <a:pPr indent="-533389" lvl="0" marL="609585" rtl="0" algn="l">
              <a:lnSpc>
                <a:spcPct val="90000"/>
              </a:lnSpc>
              <a:spcBef>
                <a:spcPts val="0"/>
              </a:spcBef>
              <a:spcAft>
                <a:spcPts val="0"/>
              </a:spcAft>
              <a:buClr>
                <a:schemeClr val="dk1"/>
              </a:buClr>
              <a:buSzPts val="3100"/>
              <a:buChar char="-"/>
            </a:pPr>
            <a:r>
              <a:rPr lang="en" sz="3100">
                <a:solidFill>
                  <a:schemeClr val="dk1"/>
                </a:solidFill>
              </a:rPr>
              <a:t>Limitations in dataset such as specification dataset which is relational table but the other table is missing.</a:t>
            </a:r>
            <a:endParaRPr sz="3100">
              <a:solidFill>
                <a:schemeClr val="dk1"/>
              </a:solidFill>
            </a:endParaRPr>
          </a:p>
          <a:p>
            <a:pPr indent="-533389" lvl="0" marL="609585" rtl="0" algn="l">
              <a:lnSpc>
                <a:spcPct val="90000"/>
              </a:lnSpc>
              <a:spcBef>
                <a:spcPts val="1600"/>
              </a:spcBef>
              <a:spcAft>
                <a:spcPts val="0"/>
              </a:spcAft>
              <a:buClr>
                <a:schemeClr val="dk1"/>
              </a:buClr>
              <a:buSzPts val="3100"/>
              <a:buChar char="-"/>
            </a:pPr>
            <a:r>
              <a:rPr lang="en" sz="3100">
                <a:solidFill>
                  <a:schemeClr val="dk1"/>
                </a:solidFill>
              </a:rPr>
              <a:t>Time constraints (semester timeline).</a:t>
            </a:r>
            <a:endParaRPr sz="3100"/>
          </a:p>
          <a:p>
            <a:pPr indent="-533389" lvl="0" marL="609585" rtl="0" algn="l">
              <a:lnSpc>
                <a:spcPct val="90000"/>
              </a:lnSpc>
              <a:spcBef>
                <a:spcPts val="1600"/>
              </a:spcBef>
              <a:spcAft>
                <a:spcPts val="0"/>
              </a:spcAft>
              <a:buClr>
                <a:schemeClr val="dk1"/>
              </a:buClr>
              <a:buSzPts val="3100"/>
              <a:buChar char="-"/>
            </a:pPr>
            <a:r>
              <a:rPr lang="en" sz="3100">
                <a:solidFill>
                  <a:schemeClr val="dk1"/>
                </a:solidFill>
              </a:rPr>
              <a:t>Less familiarity with online platforms to integrate codes produced in group, the compilation requires extensive efforts by Project Manager.</a:t>
            </a:r>
            <a:endParaRPr sz="3100">
              <a:solidFill>
                <a:schemeClr val="dk1"/>
              </a:solidFill>
            </a:endParaRPr>
          </a:p>
          <a:p>
            <a:pPr indent="0" lvl="0" marL="609585" rtl="0" algn="l">
              <a:lnSpc>
                <a:spcPct val="90000"/>
              </a:lnSpc>
              <a:spcBef>
                <a:spcPts val="1600"/>
              </a:spcBef>
              <a:spcAft>
                <a:spcPts val="0"/>
              </a:spcAft>
              <a:buClr>
                <a:schemeClr val="dk1"/>
              </a:buClr>
              <a:buSzPts val="1300"/>
              <a:buNone/>
            </a:pPr>
            <a:r>
              <a:t/>
            </a:r>
            <a:endParaRPr sz="2000">
              <a:solidFill>
                <a:schemeClr val="dk1"/>
              </a:solidFill>
            </a:endParaRPr>
          </a:p>
        </p:txBody>
      </p:sp>
      <p:sp>
        <p:nvSpPr>
          <p:cNvPr id="576" name="Google Shape;576;g3ee0adc8e96_0_112"/>
          <p:cNvSpPr/>
          <p:nvPr/>
        </p:nvSpPr>
        <p:spPr>
          <a:xfrm>
            <a:off x="8121100" y="-232475"/>
            <a:ext cx="4442582" cy="2549489"/>
          </a:xfrm>
          <a:custGeom>
            <a:rect b="b" l="l" r="r" t="t"/>
            <a:pathLst>
              <a:path extrusionOk="0" h="1728467" w="2044917">
                <a:moveTo>
                  <a:pt x="0" y="0"/>
                </a:moveTo>
                <a:lnTo>
                  <a:pt x="2044916" y="0"/>
                </a:lnTo>
                <a:lnTo>
                  <a:pt x="2044916" y="1728467"/>
                </a:lnTo>
                <a:lnTo>
                  <a:pt x="0" y="1728467"/>
                </a:lnTo>
                <a:lnTo>
                  <a:pt x="0" y="0"/>
                </a:lnTo>
                <a:close/>
              </a:path>
            </a:pathLst>
          </a:custGeom>
          <a:blipFill rotWithShape="1">
            <a:blip r:embed="rId5">
              <a:alphaModFix/>
            </a:blip>
            <a:stretch>
              <a:fillRect b="0" l="0" r="0" t="0"/>
            </a:stretch>
          </a:blipFill>
          <a:ln>
            <a:noFill/>
          </a:ln>
        </p:spPr>
      </p:sp>
      <p:sp>
        <p:nvSpPr>
          <p:cNvPr id="577" name="Google Shape;577;g3ee0adc8e96_0_112"/>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578" name="Google Shape;578;g3ee0adc8e96_0_11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Clr>
                <a:srgbClr val="757575"/>
              </a:buClr>
              <a:buSzPts val="1200"/>
              <a:buFont typeface="Arial"/>
              <a:buNone/>
            </a:pPr>
            <a:fld id="{00000000-1234-1234-1234-123412341234}" type="slidenum">
              <a:rPr lang="en" sz="1900"/>
              <a:t>‹#›</a:t>
            </a:fld>
            <a:endParaRPr sz="1900"/>
          </a:p>
        </p:txBody>
      </p:sp>
      <p:sp>
        <p:nvSpPr>
          <p:cNvPr id="579" name="Google Shape;579;g3ee0adc8e96_0_112"/>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1E8"/>
        </a:solidFill>
      </p:bgPr>
    </p:bg>
    <p:spTree>
      <p:nvGrpSpPr>
        <p:cNvPr id="583" name="Shape 583"/>
        <p:cNvGrpSpPr/>
        <p:nvPr/>
      </p:nvGrpSpPr>
      <p:grpSpPr>
        <a:xfrm>
          <a:off x="0" y="0"/>
          <a:ext cx="0" cy="0"/>
          <a:chOff x="0" y="0"/>
          <a:chExt cx="0" cy="0"/>
        </a:xfrm>
      </p:grpSpPr>
      <p:sp>
        <p:nvSpPr>
          <p:cNvPr id="584" name="Google Shape;584;g3ee0adc8e96_0_133"/>
          <p:cNvSpPr/>
          <p:nvPr/>
        </p:nvSpPr>
        <p:spPr>
          <a:xfrm>
            <a:off x="7" y="0"/>
            <a:ext cx="12069485" cy="6036399"/>
          </a:xfrm>
          <a:custGeom>
            <a:rect b="b" l="l" r="r" t="t"/>
            <a:pathLst>
              <a:path extrusionOk="0" h="5438197" w="4765838">
                <a:moveTo>
                  <a:pt x="0" y="0"/>
                </a:moveTo>
                <a:lnTo>
                  <a:pt x="4765838" y="0"/>
                </a:lnTo>
                <a:lnTo>
                  <a:pt x="4765838" y="5438198"/>
                </a:lnTo>
                <a:lnTo>
                  <a:pt x="0" y="5438198"/>
                </a:lnTo>
                <a:lnTo>
                  <a:pt x="0" y="0"/>
                </a:lnTo>
                <a:close/>
              </a:path>
            </a:pathLst>
          </a:custGeom>
          <a:blipFill rotWithShape="1">
            <a:blip r:embed="rId3">
              <a:alphaModFix/>
            </a:blip>
            <a:stretch>
              <a:fillRect b="0" l="0" r="0" t="0"/>
            </a:stretch>
          </a:blipFill>
          <a:ln>
            <a:noFill/>
          </a:ln>
        </p:spPr>
      </p:sp>
      <p:sp>
        <p:nvSpPr>
          <p:cNvPr id="585" name="Google Shape;585;g3ee0adc8e96_0_133"/>
          <p:cNvSpPr/>
          <p:nvPr/>
        </p:nvSpPr>
        <p:spPr>
          <a:xfrm>
            <a:off x="8121100" y="-155276"/>
            <a:ext cx="3951802" cy="2471708"/>
          </a:xfrm>
          <a:custGeom>
            <a:rect b="b" l="l" r="r" t="t"/>
            <a:pathLst>
              <a:path extrusionOk="0" h="1728467" w="2044917">
                <a:moveTo>
                  <a:pt x="0" y="0"/>
                </a:moveTo>
                <a:lnTo>
                  <a:pt x="2044916" y="0"/>
                </a:lnTo>
                <a:lnTo>
                  <a:pt x="2044916" y="1728467"/>
                </a:lnTo>
                <a:lnTo>
                  <a:pt x="0" y="1728467"/>
                </a:lnTo>
                <a:lnTo>
                  <a:pt x="0" y="0"/>
                </a:lnTo>
                <a:close/>
              </a:path>
            </a:pathLst>
          </a:custGeom>
          <a:blipFill rotWithShape="1">
            <a:blip r:embed="rId4">
              <a:alphaModFix/>
            </a:blip>
            <a:stretch>
              <a:fillRect b="0" l="0" r="0" t="0"/>
            </a:stretch>
          </a:blipFill>
          <a:ln>
            <a:noFill/>
          </a:ln>
        </p:spPr>
      </p:sp>
      <p:sp>
        <p:nvSpPr>
          <p:cNvPr id="586" name="Google Shape;586;g3ee0adc8e96_0_133"/>
          <p:cNvSpPr txBox="1"/>
          <p:nvPr>
            <p:ph idx="4294967295" type="title"/>
          </p:nvPr>
        </p:nvSpPr>
        <p:spPr>
          <a:xfrm>
            <a:off x="3865950" y="1938625"/>
            <a:ext cx="4975800" cy="1080300"/>
          </a:xfrm>
          <a:prstGeom prst="rect">
            <a:avLst/>
          </a:prstGeom>
          <a:noFill/>
          <a:ln>
            <a:noFill/>
          </a:ln>
        </p:spPr>
        <p:txBody>
          <a:bodyPr anchorCtr="0" anchor="t" bIns="121900" lIns="121900" spcFirstLastPara="1" rIns="121900" wrap="square" tIns="121900">
            <a:noAutofit/>
          </a:bodyPr>
          <a:lstStyle/>
          <a:p>
            <a:pPr indent="0" lvl="0" marL="0" rtl="0" algn="l">
              <a:lnSpc>
                <a:spcPct val="90000"/>
              </a:lnSpc>
              <a:spcBef>
                <a:spcPts val="0"/>
              </a:spcBef>
              <a:spcAft>
                <a:spcPts val="0"/>
              </a:spcAft>
              <a:buClr>
                <a:schemeClr val="dk1"/>
              </a:buClr>
              <a:buSzPts val="4400"/>
              <a:buFont typeface="Play"/>
              <a:buNone/>
            </a:pPr>
            <a:r>
              <a:rPr b="1" lang="en" sz="5900"/>
              <a:t>Business Case</a:t>
            </a:r>
            <a:endParaRPr b="1" sz="5900"/>
          </a:p>
        </p:txBody>
      </p:sp>
      <p:sp>
        <p:nvSpPr>
          <p:cNvPr id="587" name="Google Shape;587;g3ee0adc8e96_0_133"/>
          <p:cNvSpPr txBox="1"/>
          <p:nvPr/>
        </p:nvSpPr>
        <p:spPr>
          <a:xfrm>
            <a:off x="0" y="3254650"/>
            <a:ext cx="12073800" cy="1011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500">
                <a:solidFill>
                  <a:srgbClr val="2E2A26"/>
                </a:solidFill>
              </a:rPr>
              <a:t>Understanding what drives supplier pricing is essential for reducing procurement costs and improving negotiation outcome in industrial analytics.</a:t>
            </a:r>
            <a:endParaRPr sz="2500">
              <a:solidFill>
                <a:srgbClr val="2E2A26"/>
              </a:solidFill>
            </a:endParaRPr>
          </a:p>
        </p:txBody>
      </p:sp>
      <p:sp>
        <p:nvSpPr>
          <p:cNvPr id="588" name="Google Shape;588;g3ee0adc8e96_0_133"/>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589" name="Google Shape;589;g3ee0adc8e96_0_13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Clr>
                <a:srgbClr val="757575"/>
              </a:buClr>
              <a:buSzPts val="1200"/>
              <a:buFont typeface="Arial"/>
              <a:buNone/>
            </a:pPr>
            <a:fld id="{00000000-1234-1234-1234-123412341234}" type="slidenum">
              <a:rPr lang="en" sz="1900"/>
              <a:t>‹#›</a:t>
            </a:fld>
            <a:endParaRPr sz="1900"/>
          </a:p>
        </p:txBody>
      </p:sp>
      <p:sp>
        <p:nvSpPr>
          <p:cNvPr id="590" name="Google Shape;590;g3ee0adc8e96_0_133"/>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594" name="Shape 594"/>
        <p:cNvGrpSpPr/>
        <p:nvPr/>
      </p:nvGrpSpPr>
      <p:grpSpPr>
        <a:xfrm>
          <a:off x="0" y="0"/>
          <a:ext cx="0" cy="0"/>
          <a:chOff x="0" y="0"/>
          <a:chExt cx="0" cy="0"/>
        </a:xfrm>
      </p:grpSpPr>
      <p:grpSp>
        <p:nvGrpSpPr>
          <p:cNvPr id="595" name="Google Shape;595;g3ee0adc8e96_0_143"/>
          <p:cNvGrpSpPr/>
          <p:nvPr/>
        </p:nvGrpSpPr>
        <p:grpSpPr>
          <a:xfrm>
            <a:off x="8706107" y="-555302"/>
            <a:ext cx="3969516" cy="7638089"/>
            <a:chOff x="0" y="-57150"/>
            <a:chExt cx="1568173" cy="3017457"/>
          </a:xfrm>
        </p:grpSpPr>
        <p:sp>
          <p:nvSpPr>
            <p:cNvPr id="596" name="Google Shape;596;g3ee0adc8e96_0_143"/>
            <p:cNvSpPr/>
            <p:nvPr/>
          </p:nvSpPr>
          <p:spPr>
            <a:xfrm>
              <a:off x="0" y="0"/>
              <a:ext cx="1568173" cy="2960307"/>
            </a:xfrm>
            <a:custGeom>
              <a:rect b="b" l="l" r="r" t="t"/>
              <a:pathLst>
                <a:path extrusionOk="0" h="2960307" w="1568173">
                  <a:moveTo>
                    <a:pt x="0" y="0"/>
                  </a:moveTo>
                  <a:lnTo>
                    <a:pt x="1568173" y="0"/>
                  </a:lnTo>
                  <a:lnTo>
                    <a:pt x="1568173" y="2960307"/>
                  </a:lnTo>
                  <a:lnTo>
                    <a:pt x="0" y="2960307"/>
                  </a:lnTo>
                  <a:close/>
                </a:path>
              </a:pathLst>
            </a:custGeom>
            <a:solidFill>
              <a:srgbClr val="EFF1E8"/>
            </a:solidFill>
            <a:ln>
              <a:noFill/>
            </a:ln>
          </p:spPr>
        </p:sp>
        <p:sp>
          <p:nvSpPr>
            <p:cNvPr id="597" name="Google Shape;597;g3ee0adc8e96_0_143"/>
            <p:cNvSpPr txBox="1"/>
            <p:nvPr/>
          </p:nvSpPr>
          <p:spPr>
            <a:xfrm>
              <a:off x="0" y="-57150"/>
              <a:ext cx="1568100" cy="30174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pic>
        <p:nvPicPr>
          <p:cNvPr id="598" name="Google Shape;598;g3ee0adc8e96_0_143"/>
          <p:cNvPicPr preferRelativeResize="0"/>
          <p:nvPr/>
        </p:nvPicPr>
        <p:blipFill>
          <a:blip r:embed="rId3">
            <a:alphaModFix/>
          </a:blip>
          <a:stretch>
            <a:fillRect/>
          </a:stretch>
        </p:blipFill>
        <p:spPr>
          <a:xfrm>
            <a:off x="7423700" y="3"/>
            <a:ext cx="5267125" cy="3446525"/>
          </a:xfrm>
          <a:prstGeom prst="rect">
            <a:avLst/>
          </a:prstGeom>
          <a:noFill/>
          <a:ln>
            <a:noFill/>
          </a:ln>
        </p:spPr>
      </p:pic>
      <p:grpSp>
        <p:nvGrpSpPr>
          <p:cNvPr id="599" name="Google Shape;599;g3ee0adc8e96_0_143"/>
          <p:cNvGrpSpPr/>
          <p:nvPr/>
        </p:nvGrpSpPr>
        <p:grpSpPr>
          <a:xfrm>
            <a:off x="429025" y="1010501"/>
            <a:ext cx="8306742" cy="4196996"/>
            <a:chOff x="-18" y="-20223"/>
            <a:chExt cx="2005200" cy="1009500"/>
          </a:xfrm>
        </p:grpSpPr>
        <p:sp>
          <p:nvSpPr>
            <p:cNvPr id="600" name="Google Shape;600;g3ee0adc8e96_0_143"/>
            <p:cNvSpPr/>
            <p:nvPr/>
          </p:nvSpPr>
          <p:spPr>
            <a:xfrm>
              <a:off x="0" y="0"/>
              <a:ext cx="2005166" cy="952383"/>
            </a:xfrm>
            <a:custGeom>
              <a:rect b="b" l="l" r="r" t="t"/>
              <a:pathLst>
                <a:path extrusionOk="0" h="952383" w="2005166">
                  <a:moveTo>
                    <a:pt x="0" y="0"/>
                  </a:moveTo>
                  <a:lnTo>
                    <a:pt x="2005166" y="0"/>
                  </a:lnTo>
                  <a:lnTo>
                    <a:pt x="2005166" y="952383"/>
                  </a:lnTo>
                  <a:lnTo>
                    <a:pt x="0" y="952383"/>
                  </a:lnTo>
                  <a:close/>
                </a:path>
              </a:pathLst>
            </a:custGeom>
            <a:noFill/>
            <a:ln cap="sq" cmpd="sng" w="37100">
              <a:solidFill>
                <a:srgbClr val="EFF1E8"/>
              </a:solidFill>
              <a:prstDash val="solid"/>
              <a:miter lim="8000"/>
              <a:headEnd len="sm" w="sm" type="none"/>
              <a:tailEnd len="sm" w="sm" type="none"/>
            </a:ln>
          </p:spPr>
        </p:sp>
        <p:sp>
          <p:nvSpPr>
            <p:cNvPr id="601" name="Google Shape;601;g3ee0adc8e96_0_143"/>
            <p:cNvSpPr txBox="1"/>
            <p:nvPr/>
          </p:nvSpPr>
          <p:spPr>
            <a:xfrm>
              <a:off x="-18" y="-20223"/>
              <a:ext cx="2005200" cy="1009500"/>
            </a:xfrm>
            <a:prstGeom prst="rect">
              <a:avLst/>
            </a:prstGeom>
            <a:noFill/>
            <a:ln>
              <a:noFill/>
            </a:ln>
          </p:spPr>
          <p:txBody>
            <a:bodyPr anchorCtr="0" anchor="ctr" bIns="32975" lIns="32975" spcFirstLastPara="1" rIns="32975" wrap="square" tIns="32975">
              <a:noAutofit/>
            </a:bodyPr>
            <a:lstStyle/>
            <a:p>
              <a:pPr indent="0" lvl="0" marL="0" marR="0" rtl="0" algn="ctr">
                <a:lnSpc>
                  <a:spcPct val="155500"/>
                </a:lnSpc>
                <a:spcBef>
                  <a:spcPts val="0"/>
                </a:spcBef>
                <a:spcAft>
                  <a:spcPts val="0"/>
                </a:spcAft>
                <a:buNone/>
              </a:pPr>
              <a:r>
                <a:t/>
              </a:r>
              <a:endParaRPr b="0" i="0" sz="1168" u="none" cap="none" strike="noStrike">
                <a:solidFill>
                  <a:schemeClr val="dk1"/>
                </a:solidFill>
                <a:latin typeface="Calibri"/>
                <a:ea typeface="Calibri"/>
                <a:cs typeface="Calibri"/>
                <a:sym typeface="Calibri"/>
              </a:endParaRPr>
            </a:p>
          </p:txBody>
        </p:sp>
      </p:grpSp>
      <p:sp>
        <p:nvSpPr>
          <p:cNvPr id="602" name="Google Shape;602;g3ee0adc8e96_0_143"/>
          <p:cNvSpPr/>
          <p:nvPr/>
        </p:nvSpPr>
        <p:spPr>
          <a:xfrm>
            <a:off x="0" y="6230323"/>
            <a:ext cx="659253" cy="622716"/>
          </a:xfrm>
          <a:custGeom>
            <a:rect b="b" l="l" r="r" t="t"/>
            <a:pathLst>
              <a:path extrusionOk="0" h="635425" w="635425">
                <a:moveTo>
                  <a:pt x="0" y="0"/>
                </a:moveTo>
                <a:lnTo>
                  <a:pt x="635425" y="0"/>
                </a:lnTo>
                <a:lnTo>
                  <a:pt x="635425" y="635425"/>
                </a:lnTo>
                <a:lnTo>
                  <a:pt x="0" y="635425"/>
                </a:lnTo>
                <a:lnTo>
                  <a:pt x="0" y="0"/>
                </a:lnTo>
                <a:close/>
              </a:path>
            </a:pathLst>
          </a:custGeom>
          <a:blipFill rotWithShape="1">
            <a:blip r:embed="rId4">
              <a:alphaModFix/>
            </a:blip>
            <a:stretch>
              <a:fillRect b="0" l="0" r="0" t="0"/>
            </a:stretch>
          </a:blipFill>
          <a:ln>
            <a:noFill/>
          </a:ln>
        </p:spPr>
      </p:sp>
      <p:grpSp>
        <p:nvGrpSpPr>
          <p:cNvPr id="603" name="Google Shape;603;g3ee0adc8e96_0_143"/>
          <p:cNvGrpSpPr/>
          <p:nvPr/>
        </p:nvGrpSpPr>
        <p:grpSpPr>
          <a:xfrm>
            <a:off x="7223676" y="3277900"/>
            <a:ext cx="4782721" cy="3150874"/>
            <a:chOff x="-1889558" y="0"/>
            <a:chExt cx="3894724" cy="2342831"/>
          </a:xfrm>
        </p:grpSpPr>
        <p:sp>
          <p:nvSpPr>
            <p:cNvPr id="604" name="Google Shape;604;g3ee0adc8e96_0_143"/>
            <p:cNvSpPr/>
            <p:nvPr/>
          </p:nvSpPr>
          <p:spPr>
            <a:xfrm>
              <a:off x="0" y="0"/>
              <a:ext cx="2005166" cy="952383"/>
            </a:xfrm>
            <a:custGeom>
              <a:rect b="b" l="l" r="r" t="t"/>
              <a:pathLst>
                <a:path extrusionOk="0" h="952383" w="2005166">
                  <a:moveTo>
                    <a:pt x="0" y="0"/>
                  </a:moveTo>
                  <a:lnTo>
                    <a:pt x="2005166" y="0"/>
                  </a:lnTo>
                  <a:lnTo>
                    <a:pt x="2005166" y="952383"/>
                  </a:lnTo>
                  <a:lnTo>
                    <a:pt x="0" y="952383"/>
                  </a:lnTo>
                  <a:close/>
                </a:path>
              </a:pathLst>
            </a:custGeom>
            <a:noFill/>
            <a:ln cap="sq" cmpd="sng" w="38100">
              <a:solidFill>
                <a:srgbClr val="EFF1E8"/>
              </a:solidFill>
              <a:prstDash val="solid"/>
              <a:miter lim="8000"/>
              <a:headEnd len="sm" w="sm" type="none"/>
              <a:tailEnd len="sm" w="sm" type="none"/>
            </a:ln>
          </p:spPr>
        </p:sp>
        <p:sp>
          <p:nvSpPr>
            <p:cNvPr id="605" name="Google Shape;605;g3ee0adc8e96_0_143"/>
            <p:cNvSpPr txBox="1"/>
            <p:nvPr/>
          </p:nvSpPr>
          <p:spPr>
            <a:xfrm>
              <a:off x="-1889558" y="1333331"/>
              <a:ext cx="2005200" cy="10095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606" name="Google Shape;606;g3ee0adc8e96_0_143"/>
          <p:cNvSpPr txBox="1"/>
          <p:nvPr/>
        </p:nvSpPr>
        <p:spPr>
          <a:xfrm>
            <a:off x="204924" y="255725"/>
            <a:ext cx="9799200" cy="4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2850"/>
              <a:buFont typeface="Arial"/>
              <a:buNone/>
            </a:pPr>
            <a:r>
              <a:rPr b="1" lang="en" sz="2850">
                <a:solidFill>
                  <a:srgbClr val="111827"/>
                </a:solidFill>
              </a:rPr>
              <a:t>Business Case: Why Predict Supplier Quotes?</a:t>
            </a:r>
            <a:endParaRPr sz="2700">
              <a:latin typeface="Poppins"/>
              <a:ea typeface="Poppins"/>
              <a:cs typeface="Poppins"/>
              <a:sym typeface="Poppins"/>
            </a:endParaRPr>
          </a:p>
        </p:txBody>
      </p:sp>
      <p:sp>
        <p:nvSpPr>
          <p:cNvPr id="607" name="Google Shape;607;g3ee0adc8e96_0_143"/>
          <p:cNvSpPr/>
          <p:nvPr/>
        </p:nvSpPr>
        <p:spPr>
          <a:xfrm>
            <a:off x="8706112" y="3041847"/>
            <a:ext cx="3181197" cy="3629996"/>
          </a:xfrm>
          <a:custGeom>
            <a:rect b="b" l="l" r="r" t="t"/>
            <a:pathLst>
              <a:path extrusionOk="0" h="5438197" w="4765838">
                <a:moveTo>
                  <a:pt x="0" y="0"/>
                </a:moveTo>
                <a:lnTo>
                  <a:pt x="4765838" y="0"/>
                </a:lnTo>
                <a:lnTo>
                  <a:pt x="4765838" y="5438198"/>
                </a:lnTo>
                <a:lnTo>
                  <a:pt x="0" y="5438198"/>
                </a:lnTo>
                <a:lnTo>
                  <a:pt x="0" y="0"/>
                </a:lnTo>
                <a:close/>
              </a:path>
            </a:pathLst>
          </a:custGeom>
          <a:blipFill rotWithShape="1">
            <a:blip r:embed="rId5">
              <a:alphaModFix/>
            </a:blip>
            <a:stretch>
              <a:fillRect b="0" l="0" r="0" t="0"/>
            </a:stretch>
          </a:blipFill>
          <a:ln>
            <a:noFill/>
          </a:ln>
        </p:spPr>
      </p:sp>
      <p:sp>
        <p:nvSpPr>
          <p:cNvPr id="608" name="Google Shape;608;g3ee0adc8e96_0_143"/>
          <p:cNvSpPr txBox="1"/>
          <p:nvPr/>
        </p:nvSpPr>
        <p:spPr>
          <a:xfrm>
            <a:off x="650000" y="1600000"/>
            <a:ext cx="7800000" cy="3200100"/>
          </a:xfrm>
          <a:prstGeom prst="rect">
            <a:avLst/>
          </a:prstGeom>
          <a:solidFill>
            <a:srgbClr val="F8FAFC"/>
          </a:solidFill>
          <a:ln cap="flat" cmpd="sng" w="9525">
            <a:solidFill>
              <a:srgbClr val="CBD5E1"/>
            </a:solidFill>
            <a:prstDash val="solid"/>
            <a:round/>
            <a:headEnd len="sm" w="sm" type="none"/>
            <a:tailEnd len="sm" w="sm" type="none"/>
          </a:ln>
        </p:spPr>
        <p:txBody>
          <a:bodyPr anchorCtr="0" anchor="t" bIns="60000" lIns="90000" spcFirstLastPara="1" rIns="90000" wrap="square" tIns="70000">
            <a:noAutofit/>
          </a:bodyPr>
          <a:lstStyle/>
          <a:p>
            <a:pPr indent="-202225" lvl="0" marL="279999" marR="0" rtl="0" algn="l">
              <a:lnSpc>
                <a:spcPct val="100000"/>
              </a:lnSpc>
              <a:spcBef>
                <a:spcPts val="0"/>
              </a:spcBef>
              <a:spcAft>
                <a:spcPts val="0"/>
              </a:spcAft>
              <a:buClr>
                <a:srgbClr val="000000"/>
              </a:buClr>
              <a:buSzPts val="1800"/>
              <a:buFont typeface="Arial"/>
              <a:buChar char="•"/>
            </a:pPr>
            <a:r>
              <a:rPr b="0" i="0" lang="en" sz="1800" u="none" cap="none" strike="noStrike">
                <a:solidFill>
                  <a:srgbClr val="111827"/>
                </a:solidFill>
                <a:latin typeface="Arial"/>
                <a:ea typeface="Arial"/>
                <a:cs typeface="Arial"/>
                <a:sym typeface="Arial"/>
              </a:rPr>
              <a:t>Tube assemblies are custom industrial components; quote prices can vary by design, volume, supplier, and commercial rules.</a:t>
            </a:r>
            <a:endParaRPr b="0" i="0" sz="1800" u="none" cap="none" strike="noStrike">
              <a:solidFill>
                <a:srgbClr val="111827"/>
              </a:solidFill>
              <a:latin typeface="Arial"/>
              <a:ea typeface="Arial"/>
              <a:cs typeface="Arial"/>
              <a:sym typeface="Arial"/>
            </a:endParaRPr>
          </a:p>
          <a:p>
            <a:pPr indent="0" lvl="0" marL="457200" marR="0" rtl="0" algn="l">
              <a:lnSpc>
                <a:spcPct val="100000"/>
              </a:lnSpc>
              <a:spcBef>
                <a:spcPts val="0"/>
              </a:spcBef>
              <a:spcAft>
                <a:spcPts val="0"/>
              </a:spcAft>
              <a:buNone/>
            </a:pPr>
            <a:r>
              <a:t/>
            </a:r>
            <a:endParaRPr sz="1800">
              <a:solidFill>
                <a:srgbClr val="111827"/>
              </a:solidFill>
            </a:endParaRPr>
          </a:p>
          <a:p>
            <a:pPr indent="-202225" lvl="0" marL="279999" marR="0" rtl="0" algn="l">
              <a:lnSpc>
                <a:spcPct val="100000"/>
              </a:lnSpc>
              <a:spcBef>
                <a:spcPts val="0"/>
              </a:spcBef>
              <a:spcAft>
                <a:spcPts val="0"/>
              </a:spcAft>
              <a:buClr>
                <a:srgbClr val="000000"/>
              </a:buClr>
              <a:buSzPts val="1800"/>
              <a:buFont typeface="Arial"/>
              <a:buChar char="•"/>
            </a:pPr>
            <a:r>
              <a:rPr b="0" i="0" lang="en" sz="1800" u="none" cap="none" strike="noStrike">
                <a:solidFill>
                  <a:srgbClr val="111827"/>
                </a:solidFill>
                <a:latin typeface="Arial"/>
                <a:ea typeface="Arial"/>
                <a:cs typeface="Arial"/>
                <a:sym typeface="Arial"/>
              </a:rPr>
              <a:t>Without a benchmark, procurement may overpay or spend more time validating quotes manually.</a:t>
            </a:r>
            <a:endParaRPr b="0" i="0" sz="1800" u="none" cap="none" strike="noStrike">
              <a:solidFill>
                <a:srgbClr val="111827"/>
              </a:solidFill>
              <a:latin typeface="Arial"/>
              <a:ea typeface="Arial"/>
              <a:cs typeface="Arial"/>
              <a:sym typeface="Arial"/>
            </a:endParaRPr>
          </a:p>
          <a:p>
            <a:pPr indent="0" lvl="0" marL="457200" marR="0" rtl="0" algn="l">
              <a:lnSpc>
                <a:spcPct val="100000"/>
              </a:lnSpc>
              <a:spcBef>
                <a:spcPts val="0"/>
              </a:spcBef>
              <a:spcAft>
                <a:spcPts val="0"/>
              </a:spcAft>
              <a:buNone/>
            </a:pPr>
            <a:r>
              <a:t/>
            </a:r>
            <a:endParaRPr sz="1800">
              <a:solidFill>
                <a:srgbClr val="111827"/>
              </a:solidFill>
            </a:endParaRPr>
          </a:p>
          <a:p>
            <a:pPr indent="-202225" lvl="0" marL="279999" marR="0" rtl="0" algn="l">
              <a:lnSpc>
                <a:spcPct val="100000"/>
              </a:lnSpc>
              <a:spcBef>
                <a:spcPts val="0"/>
              </a:spcBef>
              <a:spcAft>
                <a:spcPts val="0"/>
              </a:spcAft>
              <a:buClr>
                <a:srgbClr val="000000"/>
              </a:buClr>
              <a:buSzPts val="1800"/>
              <a:buFont typeface="Arial"/>
              <a:buChar char="•"/>
            </a:pPr>
            <a:r>
              <a:rPr b="0" i="0" lang="en" sz="1800" u="none" cap="none" strike="noStrike">
                <a:solidFill>
                  <a:srgbClr val="111827"/>
                </a:solidFill>
                <a:latin typeface="Arial"/>
                <a:ea typeface="Arial"/>
                <a:cs typeface="Arial"/>
                <a:sym typeface="Arial"/>
              </a:rPr>
              <a:t>Predictive analytics can support operational decisions by estimating expected outcomes and highlighting exceptions.</a:t>
            </a:r>
            <a:endParaRPr b="0" i="0" sz="1800" u="none" cap="none" strike="noStrike">
              <a:solidFill>
                <a:srgbClr val="111827"/>
              </a:solidFill>
              <a:latin typeface="Arial"/>
              <a:ea typeface="Arial"/>
              <a:cs typeface="Arial"/>
              <a:sym typeface="Arial"/>
            </a:endParaRPr>
          </a:p>
          <a:p>
            <a:pPr indent="0" lvl="0" marL="457200" marR="0" rtl="0" algn="l">
              <a:lnSpc>
                <a:spcPct val="100000"/>
              </a:lnSpc>
              <a:spcBef>
                <a:spcPts val="0"/>
              </a:spcBef>
              <a:spcAft>
                <a:spcPts val="0"/>
              </a:spcAft>
              <a:buNone/>
            </a:pPr>
            <a:r>
              <a:t/>
            </a:r>
            <a:endParaRPr sz="1800">
              <a:solidFill>
                <a:srgbClr val="111827"/>
              </a:solidFill>
            </a:endParaRPr>
          </a:p>
          <a:p>
            <a:pPr indent="-202225" lvl="0" marL="279999" marR="0" rtl="0" algn="l">
              <a:lnSpc>
                <a:spcPct val="100000"/>
              </a:lnSpc>
              <a:spcBef>
                <a:spcPts val="0"/>
              </a:spcBef>
              <a:spcAft>
                <a:spcPts val="0"/>
              </a:spcAft>
              <a:buClr>
                <a:srgbClr val="000000"/>
              </a:buClr>
              <a:buSzPts val="1800"/>
              <a:buFont typeface="Arial"/>
              <a:buChar char="•"/>
            </a:pPr>
            <a:r>
              <a:rPr b="0" i="0" lang="en" sz="1800" u="none" cap="none" strike="noStrike">
                <a:solidFill>
                  <a:srgbClr val="111827"/>
                </a:solidFill>
                <a:latin typeface="Arial"/>
                <a:ea typeface="Arial"/>
                <a:cs typeface="Arial"/>
                <a:sym typeface="Arial"/>
              </a:rPr>
              <a:t>The model therefore creates business value as a decision-support tool: it improves visibility, not automatic price setting.</a:t>
            </a:r>
            <a:endParaRPr sz="1800"/>
          </a:p>
        </p:txBody>
      </p:sp>
      <p:sp>
        <p:nvSpPr>
          <p:cNvPr id="609" name="Google Shape;609;g3ee0adc8e96_0_143"/>
          <p:cNvSpPr txBox="1"/>
          <p:nvPr/>
        </p:nvSpPr>
        <p:spPr>
          <a:xfrm>
            <a:off x="315300" y="5570325"/>
            <a:ext cx="7400100" cy="660000"/>
          </a:xfrm>
          <a:prstGeom prst="rect">
            <a:avLst/>
          </a:prstGeom>
          <a:solidFill>
            <a:srgbClr val="2E86C1"/>
          </a:solidFill>
          <a:ln cap="flat" cmpd="sng" w="9525">
            <a:solidFill>
              <a:srgbClr val="2E86C1"/>
            </a:solidFill>
            <a:prstDash val="solid"/>
            <a:round/>
            <a:headEnd len="sm" w="sm" type="none"/>
            <a:tailEnd len="sm" w="sm" type="none"/>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1450"/>
              <a:buFont typeface="Arial"/>
              <a:buNone/>
            </a:pPr>
            <a:r>
              <a:rPr b="1" i="1" lang="en" sz="1800" u="none" cap="none" strike="noStrike">
                <a:solidFill>
                  <a:srgbClr val="FFFFFF"/>
                </a:solidFill>
                <a:latin typeface="Arial"/>
                <a:ea typeface="Arial"/>
                <a:cs typeface="Arial"/>
                <a:sym typeface="Arial"/>
              </a:rPr>
              <a:t>Business output: a data-based quote benchmark for negotiation, validation, and supplier comparison.</a:t>
            </a:r>
            <a:endParaRPr i="1" sz="1800"/>
          </a:p>
        </p:txBody>
      </p:sp>
      <p:sp>
        <p:nvSpPr>
          <p:cNvPr id="610" name="Google Shape;610;g3ee0adc8e96_0_143"/>
          <p:cNvSpPr txBox="1"/>
          <p:nvPr/>
        </p:nvSpPr>
        <p:spPr>
          <a:xfrm>
            <a:off x="850000" y="6381625"/>
            <a:ext cx="8100000" cy="320100"/>
          </a:xfrm>
          <a:prstGeom prst="rect">
            <a:avLst/>
          </a:prstGeom>
          <a:noFill/>
          <a:ln>
            <a:noFill/>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850"/>
              <a:buFont typeface="Arial"/>
              <a:buNone/>
            </a:pPr>
            <a:r>
              <a:rPr b="0" i="0" lang="en" sz="1800" u="none" cap="none" strike="noStrike">
                <a:solidFill>
                  <a:schemeClr val="dk1"/>
                </a:solidFill>
                <a:latin typeface="Arial"/>
                <a:ea typeface="Arial"/>
                <a:cs typeface="Arial"/>
                <a:sym typeface="Arial"/>
              </a:rPr>
              <a:t>Source: Shmueli &amp; Koppius (2011); Waller &amp; Fawcett (2013); Liu (2022)</a:t>
            </a:r>
            <a:endParaRPr sz="1800">
              <a:solidFill>
                <a:schemeClr val="dk1"/>
              </a:solidFill>
            </a:endParaRPr>
          </a:p>
        </p:txBody>
      </p:sp>
      <p:sp>
        <p:nvSpPr>
          <p:cNvPr id="611" name="Google Shape;611;g3ee0adc8e96_0_143"/>
          <p:cNvSpPr txBox="1"/>
          <p:nvPr/>
        </p:nvSpPr>
        <p:spPr>
          <a:xfrm>
            <a:off x="204925" y="694313"/>
            <a:ext cx="8250000" cy="429900"/>
          </a:xfrm>
          <a:prstGeom prst="rect">
            <a:avLst/>
          </a:prstGeom>
          <a:noFill/>
          <a:ln cap="flat" cmpd="sng" w="9525">
            <a:solidFill>
              <a:srgbClr val="FFFFFF"/>
            </a:solidFill>
            <a:prstDash val="solid"/>
            <a:round/>
            <a:headEnd len="sm" w="sm" type="none"/>
            <a:tailEnd len="sm" w="sm" type="none"/>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1360"/>
              <a:buFont typeface="Arial"/>
              <a:buNone/>
            </a:pPr>
            <a:r>
              <a:rPr i="0" lang="en" u="none" cap="none" strike="noStrike">
                <a:solidFill>
                  <a:schemeClr val="lt1"/>
                </a:solidFill>
              </a:rPr>
              <a:t>The business case is important because procurement decisions are made under cost uncertainty.</a:t>
            </a:r>
            <a:endParaRPr>
              <a:solidFill>
                <a:schemeClr val="lt1"/>
              </a:solidFill>
            </a:endParaRPr>
          </a:p>
        </p:txBody>
      </p:sp>
      <p:sp>
        <p:nvSpPr>
          <p:cNvPr id="612" name="Google Shape;612;g3ee0adc8e96_0_143"/>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13" name="Google Shape;613;g3ee0adc8e96_0_14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Clr>
                <a:srgbClr val="757575"/>
              </a:buClr>
              <a:buSzPts val="1200"/>
              <a:buFont typeface="Arial"/>
              <a:buNone/>
            </a:pPr>
            <a:fld id="{00000000-1234-1234-1234-123412341234}" type="slidenum">
              <a:rPr lang="en" sz="1900"/>
              <a:t>‹#›</a:t>
            </a:fld>
            <a:endParaRPr sz="1900"/>
          </a:p>
        </p:txBody>
      </p:sp>
      <p:sp>
        <p:nvSpPr>
          <p:cNvPr id="614" name="Google Shape;614;g3ee0adc8e96_0_143"/>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1E8"/>
        </a:solidFill>
      </p:bgPr>
    </p:bg>
    <p:spTree>
      <p:nvGrpSpPr>
        <p:cNvPr id="618" name="Shape 618"/>
        <p:cNvGrpSpPr/>
        <p:nvPr/>
      </p:nvGrpSpPr>
      <p:grpSpPr>
        <a:xfrm>
          <a:off x="0" y="0"/>
          <a:ext cx="0" cy="0"/>
          <a:chOff x="0" y="0"/>
          <a:chExt cx="0" cy="0"/>
        </a:xfrm>
      </p:grpSpPr>
      <p:sp>
        <p:nvSpPr>
          <p:cNvPr id="619" name="Google Shape;619;g3ee0adc8e96_0_160"/>
          <p:cNvSpPr/>
          <p:nvPr/>
        </p:nvSpPr>
        <p:spPr>
          <a:xfrm>
            <a:off x="9446231" y="-155274"/>
            <a:ext cx="2627718" cy="1508087"/>
          </a:xfrm>
          <a:custGeom>
            <a:rect b="b" l="l" r="r" t="t"/>
            <a:pathLst>
              <a:path extrusionOk="0" h="1728467" w="2044917">
                <a:moveTo>
                  <a:pt x="0" y="0"/>
                </a:moveTo>
                <a:lnTo>
                  <a:pt x="2044916" y="0"/>
                </a:lnTo>
                <a:lnTo>
                  <a:pt x="2044916" y="1728467"/>
                </a:lnTo>
                <a:lnTo>
                  <a:pt x="0" y="1728467"/>
                </a:lnTo>
                <a:lnTo>
                  <a:pt x="0" y="0"/>
                </a:lnTo>
                <a:close/>
              </a:path>
            </a:pathLst>
          </a:custGeom>
          <a:blipFill rotWithShape="1">
            <a:blip r:embed="rId3">
              <a:alphaModFix/>
            </a:blip>
            <a:stretch>
              <a:fillRect b="0" l="0" r="0" t="0"/>
            </a:stretch>
          </a:blipFill>
          <a:ln>
            <a:noFill/>
          </a:ln>
        </p:spPr>
      </p:sp>
      <p:sp>
        <p:nvSpPr>
          <p:cNvPr id="620" name="Google Shape;620;g3ee0adc8e96_0_160"/>
          <p:cNvSpPr txBox="1"/>
          <p:nvPr/>
        </p:nvSpPr>
        <p:spPr>
          <a:xfrm>
            <a:off x="6517025" y="1658275"/>
            <a:ext cx="5556900" cy="4416900"/>
          </a:xfrm>
          <a:prstGeom prst="rect">
            <a:avLst/>
          </a:prstGeom>
          <a:solidFill>
            <a:srgbClr val="F8FAFC"/>
          </a:solidFill>
          <a:ln cap="flat" cmpd="sng" w="9525">
            <a:solidFill>
              <a:srgbClr val="CBD5E1"/>
            </a:solidFill>
            <a:prstDash val="solid"/>
            <a:round/>
            <a:headEnd len="sm" w="sm" type="none"/>
            <a:tailEnd len="sm" w="sm" type="none"/>
          </a:ln>
        </p:spPr>
        <p:txBody>
          <a:bodyPr anchorCtr="0" anchor="t" bIns="60000" lIns="90000" spcFirstLastPara="1" rIns="90000" wrap="square" tIns="70000">
            <a:noAutofit/>
          </a:bodyPr>
          <a:lstStyle/>
          <a:p>
            <a:pPr indent="-180000" lvl="0" marL="279999" marR="0" rtl="0" algn="l">
              <a:lnSpc>
                <a:spcPct val="100000"/>
              </a:lnSpc>
              <a:spcBef>
                <a:spcPts val="0"/>
              </a:spcBef>
              <a:spcAft>
                <a:spcPts val="0"/>
              </a:spcAft>
              <a:buClr>
                <a:srgbClr val="000000"/>
              </a:buClr>
              <a:buSzPts val="1450"/>
              <a:buFont typeface="Arial"/>
              <a:buChar char="•"/>
            </a:pPr>
            <a:r>
              <a:rPr lang="en" sz="1450">
                <a:solidFill>
                  <a:srgbClr val="111827"/>
                </a:solidFill>
              </a:rPr>
              <a:t>I</a:t>
            </a:r>
            <a:r>
              <a:rPr lang="en" sz="1600">
                <a:solidFill>
                  <a:schemeClr val="dk1"/>
                </a:solidFill>
              </a:rPr>
              <a:t>n our project, s</a:t>
            </a:r>
            <a:r>
              <a:rPr b="0" i="0" lang="en" sz="1600" u="none" cap="none" strike="noStrike">
                <a:solidFill>
                  <a:schemeClr val="dk1"/>
                </a:solidFill>
                <a:latin typeface="Arial"/>
                <a:ea typeface="Arial"/>
                <a:cs typeface="Arial"/>
                <a:sym typeface="Arial"/>
              </a:rPr>
              <a:t>upply management concerns sourcing</a:t>
            </a:r>
            <a:r>
              <a:rPr lang="en" sz="1600">
                <a:solidFill>
                  <a:schemeClr val="dk1"/>
                </a:solidFill>
              </a:rPr>
              <a:t> components and materials</a:t>
            </a:r>
            <a:r>
              <a:rPr b="0" i="0" lang="en" sz="1600" u="none" cap="none" strike="noStrike">
                <a:solidFill>
                  <a:schemeClr val="dk1"/>
                </a:solidFill>
                <a:latin typeface="Arial"/>
                <a:ea typeface="Arial"/>
                <a:cs typeface="Arial"/>
                <a:sym typeface="Arial"/>
              </a:rPr>
              <a:t> from external suppliers.</a:t>
            </a:r>
            <a:endParaRPr b="0" i="0" sz="16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None/>
            </a:pPr>
            <a:r>
              <a:t/>
            </a:r>
            <a:endParaRPr sz="1600">
              <a:solidFill>
                <a:schemeClr val="dk1"/>
              </a:solidFill>
            </a:endParaRPr>
          </a:p>
          <a:p>
            <a:pPr indent="-189525" lvl="0" marL="279999" marR="0" rtl="0" algn="l">
              <a:lnSpc>
                <a:spcPct val="100000"/>
              </a:lnSpc>
              <a:spcBef>
                <a:spcPts val="0"/>
              </a:spcBef>
              <a:spcAft>
                <a:spcPts val="0"/>
              </a:spcAft>
              <a:buClr>
                <a:schemeClr val="dk1"/>
              </a:buClr>
              <a:buSzPts val="1600"/>
              <a:buFont typeface="Arial"/>
              <a:buChar char="•"/>
            </a:pPr>
            <a:r>
              <a:rPr lang="en" sz="1600">
                <a:solidFill>
                  <a:schemeClr val="dk1"/>
                </a:solidFill>
              </a:rPr>
              <a:t>Companies operating in manufacturing sector depend heavily on the supplier network for parts procurement.</a:t>
            </a:r>
            <a:endParaRPr sz="1600">
              <a:solidFill>
                <a:schemeClr val="dk1"/>
              </a:solidFill>
            </a:endParaRPr>
          </a:p>
          <a:p>
            <a:pPr indent="0" lvl="0" marL="457200" marR="0" rtl="0" algn="l">
              <a:lnSpc>
                <a:spcPct val="100000"/>
              </a:lnSpc>
              <a:spcBef>
                <a:spcPts val="0"/>
              </a:spcBef>
              <a:spcAft>
                <a:spcPts val="0"/>
              </a:spcAft>
              <a:buNone/>
            </a:pPr>
            <a:r>
              <a:t/>
            </a:r>
            <a:endParaRPr sz="1600">
              <a:solidFill>
                <a:schemeClr val="dk1"/>
              </a:solidFill>
            </a:endParaRPr>
          </a:p>
          <a:p>
            <a:pPr indent="-189525" lvl="0" marL="279999" marR="0" rtl="0" algn="l">
              <a:lnSpc>
                <a:spcPct val="100000"/>
              </a:lnSpc>
              <a:spcBef>
                <a:spcPts val="0"/>
              </a:spcBef>
              <a:spcAft>
                <a:spcPts val="0"/>
              </a:spcAft>
              <a:buClr>
                <a:schemeClr val="dk1"/>
              </a:buClr>
              <a:buSzPts val="1600"/>
              <a:buFont typeface="Arial"/>
              <a:buChar char="•"/>
            </a:pPr>
            <a:r>
              <a:rPr lang="en" sz="1600">
                <a:solidFill>
                  <a:schemeClr val="dk1"/>
                </a:solidFill>
              </a:rPr>
              <a:t>Operational coordination and a</a:t>
            </a:r>
            <a:r>
              <a:rPr b="0" i="0" lang="en" sz="1600" u="none" cap="none" strike="noStrike">
                <a:solidFill>
                  <a:schemeClr val="dk1"/>
                </a:solidFill>
                <a:latin typeface="Arial"/>
                <a:ea typeface="Arial"/>
                <a:cs typeface="Arial"/>
                <a:sym typeface="Arial"/>
              </a:rPr>
              <a:t>nalytics becomes valuable</a:t>
            </a:r>
            <a:r>
              <a:rPr lang="en" sz="1600">
                <a:solidFill>
                  <a:schemeClr val="dk1"/>
                </a:solidFill>
              </a:rPr>
              <a:t> as </a:t>
            </a:r>
            <a:r>
              <a:rPr b="0" i="0" lang="en" sz="1600" u="none" cap="none" strike="noStrike">
                <a:solidFill>
                  <a:schemeClr val="dk1"/>
                </a:solidFill>
                <a:latin typeface="Arial"/>
                <a:ea typeface="Arial"/>
                <a:cs typeface="Arial"/>
                <a:sym typeface="Arial"/>
              </a:rPr>
              <a:t>it improves decisions such as planning, sourcing, and risk management.</a:t>
            </a:r>
            <a:endParaRPr b="0" i="0" sz="16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None/>
            </a:pPr>
            <a:r>
              <a:t/>
            </a:r>
            <a:endParaRPr sz="1600">
              <a:solidFill>
                <a:schemeClr val="dk1"/>
              </a:solidFill>
            </a:endParaRPr>
          </a:p>
          <a:p>
            <a:pPr indent="-189525" lvl="0" marL="279999" marR="0" rtl="0" algn="l">
              <a:lnSpc>
                <a:spcPct val="10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In this project, supplier quotes are treated as operational data that can reveal pricing patterns.</a:t>
            </a:r>
            <a:endParaRPr b="0" i="0" sz="16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None/>
            </a:pPr>
            <a:r>
              <a:t/>
            </a:r>
            <a:endParaRPr sz="1600">
              <a:solidFill>
                <a:schemeClr val="dk1"/>
              </a:solidFill>
            </a:endParaRPr>
          </a:p>
          <a:p>
            <a:pPr indent="-189525" lvl="0" marL="279999" marR="0" rtl="0" algn="l">
              <a:lnSpc>
                <a:spcPct val="10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Forecasting quote prices fits the literature view of analytics as a tool for decision support in supply chains.</a:t>
            </a:r>
            <a:endParaRPr sz="1600">
              <a:solidFill>
                <a:schemeClr val="dk1"/>
              </a:solidFill>
            </a:endParaRPr>
          </a:p>
        </p:txBody>
      </p:sp>
      <p:sp>
        <p:nvSpPr>
          <p:cNvPr id="621" name="Google Shape;621;g3ee0adc8e96_0_160"/>
          <p:cNvSpPr txBox="1"/>
          <p:nvPr/>
        </p:nvSpPr>
        <p:spPr>
          <a:xfrm>
            <a:off x="383525" y="242525"/>
            <a:ext cx="8736600" cy="712500"/>
          </a:xfrm>
          <a:prstGeom prst="rect">
            <a:avLst/>
          </a:prstGeom>
          <a:noFill/>
          <a:ln>
            <a:noFill/>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2850"/>
              <a:buFont typeface="Arial"/>
              <a:buNone/>
            </a:pPr>
            <a:r>
              <a:rPr b="1" i="0" lang="en" sz="2850" u="none" cap="none" strike="noStrike">
                <a:solidFill>
                  <a:schemeClr val="dk1"/>
                </a:solidFill>
                <a:latin typeface="Arial"/>
                <a:ea typeface="Arial"/>
                <a:cs typeface="Arial"/>
                <a:sym typeface="Arial"/>
              </a:rPr>
              <a:t>Theoretical Background: Supply Chain Analytics</a:t>
            </a:r>
            <a:endParaRPr>
              <a:solidFill>
                <a:schemeClr val="dk1"/>
              </a:solidFill>
            </a:endParaRPr>
          </a:p>
        </p:txBody>
      </p:sp>
      <p:sp>
        <p:nvSpPr>
          <p:cNvPr id="622" name="Google Shape;622;g3ee0adc8e96_0_160"/>
          <p:cNvSpPr txBox="1"/>
          <p:nvPr/>
        </p:nvSpPr>
        <p:spPr>
          <a:xfrm>
            <a:off x="8" y="955025"/>
            <a:ext cx="8609400" cy="429900"/>
          </a:xfrm>
          <a:prstGeom prst="rect">
            <a:avLst/>
          </a:prstGeom>
          <a:noFill/>
          <a:ln>
            <a:noFill/>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1360"/>
              <a:buFont typeface="Arial"/>
              <a:buNone/>
            </a:pPr>
            <a:r>
              <a:rPr b="0" i="0" lang="en" sz="1800" u="none" cap="none" strike="noStrike">
                <a:solidFill>
                  <a:schemeClr val="dk1"/>
                </a:solidFill>
                <a:latin typeface="Arial"/>
                <a:ea typeface="Arial"/>
                <a:cs typeface="Arial"/>
                <a:sym typeface="Arial"/>
              </a:rPr>
              <a:t>Supply chain analytics links operational data to planning, risk, and cost decisions.</a:t>
            </a:r>
            <a:endParaRPr sz="1800">
              <a:solidFill>
                <a:schemeClr val="dk1"/>
              </a:solidFill>
            </a:endParaRPr>
          </a:p>
        </p:txBody>
      </p:sp>
      <p:pic>
        <p:nvPicPr>
          <p:cNvPr id="623" name="Google Shape;623;g3ee0adc8e96_0_160"/>
          <p:cNvPicPr preferRelativeResize="0"/>
          <p:nvPr/>
        </p:nvPicPr>
        <p:blipFill>
          <a:blip r:embed="rId4">
            <a:alphaModFix/>
          </a:blip>
          <a:stretch>
            <a:fillRect/>
          </a:stretch>
        </p:blipFill>
        <p:spPr>
          <a:xfrm>
            <a:off x="0" y="1352825"/>
            <a:ext cx="6559475" cy="4417000"/>
          </a:xfrm>
          <a:prstGeom prst="rect">
            <a:avLst/>
          </a:prstGeom>
          <a:noFill/>
          <a:ln>
            <a:noFill/>
          </a:ln>
        </p:spPr>
      </p:pic>
      <p:sp>
        <p:nvSpPr>
          <p:cNvPr id="624" name="Google Shape;624;g3ee0adc8e96_0_160"/>
          <p:cNvSpPr/>
          <p:nvPr/>
        </p:nvSpPr>
        <p:spPr>
          <a:xfrm>
            <a:off x="3986862" y="3964572"/>
            <a:ext cx="3181197" cy="3629996"/>
          </a:xfrm>
          <a:custGeom>
            <a:rect b="b" l="l" r="r" t="t"/>
            <a:pathLst>
              <a:path extrusionOk="0" h="5438197" w="4765838">
                <a:moveTo>
                  <a:pt x="0" y="0"/>
                </a:moveTo>
                <a:lnTo>
                  <a:pt x="4765838" y="0"/>
                </a:lnTo>
                <a:lnTo>
                  <a:pt x="4765838" y="5438198"/>
                </a:lnTo>
                <a:lnTo>
                  <a:pt x="0" y="5438198"/>
                </a:lnTo>
                <a:lnTo>
                  <a:pt x="0" y="0"/>
                </a:lnTo>
                <a:close/>
              </a:path>
            </a:pathLst>
          </a:custGeom>
          <a:blipFill rotWithShape="1">
            <a:blip r:embed="rId5">
              <a:alphaModFix/>
            </a:blip>
            <a:stretch>
              <a:fillRect b="0" l="0" r="0" t="0"/>
            </a:stretch>
          </a:blipFill>
          <a:ln>
            <a:noFill/>
          </a:ln>
        </p:spPr>
      </p:sp>
      <p:sp>
        <p:nvSpPr>
          <p:cNvPr id="625" name="Google Shape;625;g3ee0adc8e96_0_160"/>
          <p:cNvSpPr txBox="1"/>
          <p:nvPr/>
        </p:nvSpPr>
        <p:spPr>
          <a:xfrm>
            <a:off x="2" y="5769825"/>
            <a:ext cx="4122600" cy="579900"/>
          </a:xfrm>
          <a:prstGeom prst="rect">
            <a:avLst/>
          </a:prstGeom>
          <a:solidFill>
            <a:srgbClr val="2E86C1"/>
          </a:solidFill>
          <a:ln cap="flat" cmpd="sng" w="9525">
            <a:solidFill>
              <a:srgbClr val="2E86C1"/>
            </a:solidFill>
            <a:prstDash val="solid"/>
            <a:round/>
            <a:headEnd len="sm" w="sm" type="none"/>
            <a:tailEnd len="sm" w="sm" type="none"/>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1450"/>
              <a:buFont typeface="Arial"/>
              <a:buNone/>
            </a:pPr>
            <a:r>
              <a:rPr b="1" i="1" lang="en" sz="1450" u="none" cap="none" strike="noStrike">
                <a:solidFill>
                  <a:srgbClr val="FFFFFF"/>
                </a:solidFill>
                <a:latin typeface="Arial"/>
                <a:ea typeface="Arial"/>
                <a:cs typeface="Arial"/>
                <a:sym typeface="Arial"/>
              </a:rPr>
              <a:t>Supply chain data + predictive analytics </a:t>
            </a:r>
            <a:r>
              <a:rPr b="1" i="1" lang="en" sz="1450">
                <a:solidFill>
                  <a:srgbClr val="FFFFFF"/>
                </a:solidFill>
              </a:rPr>
              <a:t>=</a:t>
            </a:r>
            <a:r>
              <a:rPr b="1" i="1" lang="en" sz="1450" u="none" cap="none" strike="noStrike">
                <a:solidFill>
                  <a:srgbClr val="FFFFFF"/>
                </a:solidFill>
                <a:latin typeface="Arial"/>
                <a:ea typeface="Arial"/>
                <a:cs typeface="Arial"/>
                <a:sym typeface="Arial"/>
              </a:rPr>
              <a:t> better sourcing decisions.</a:t>
            </a:r>
            <a:endParaRPr i="1"/>
          </a:p>
        </p:txBody>
      </p:sp>
      <p:sp>
        <p:nvSpPr>
          <p:cNvPr id="626" name="Google Shape;626;g3ee0adc8e96_0_160"/>
          <p:cNvSpPr txBox="1"/>
          <p:nvPr/>
        </p:nvSpPr>
        <p:spPr>
          <a:xfrm>
            <a:off x="0" y="6348525"/>
            <a:ext cx="8100000" cy="320100"/>
          </a:xfrm>
          <a:prstGeom prst="rect">
            <a:avLst/>
          </a:prstGeom>
          <a:noFill/>
          <a:ln>
            <a:noFill/>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850"/>
              <a:buFont typeface="Arial"/>
              <a:buNone/>
            </a:pPr>
            <a:r>
              <a:rPr b="0" i="1" lang="en" sz="1800" u="none" cap="none" strike="noStrike">
                <a:solidFill>
                  <a:schemeClr val="dk1"/>
                </a:solidFill>
                <a:latin typeface="Arial"/>
                <a:ea typeface="Arial"/>
                <a:cs typeface="Arial"/>
                <a:sym typeface="Arial"/>
              </a:rPr>
              <a:t>Sources: Liu (2022); Waller &amp; Fawcett (2013)</a:t>
            </a:r>
            <a:endParaRPr i="1" sz="1800">
              <a:solidFill>
                <a:schemeClr val="dk1"/>
              </a:solidFill>
            </a:endParaRPr>
          </a:p>
        </p:txBody>
      </p:sp>
      <p:sp>
        <p:nvSpPr>
          <p:cNvPr id="627" name="Google Shape;627;g3ee0adc8e96_0_160"/>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28" name="Google Shape;628;g3ee0adc8e96_0_16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Clr>
                <a:srgbClr val="757575"/>
              </a:buClr>
              <a:buSzPts val="1200"/>
              <a:buFont typeface="Arial"/>
              <a:buNone/>
            </a:pPr>
            <a:fld id="{00000000-1234-1234-1234-123412341234}" type="slidenum">
              <a:rPr lang="en" sz="1900"/>
              <a:t>‹#›</a:t>
            </a:fld>
            <a:endParaRPr sz="1900"/>
          </a:p>
        </p:txBody>
      </p:sp>
      <p:sp>
        <p:nvSpPr>
          <p:cNvPr id="629" name="Google Shape;629;g3ee0adc8e96_0_160"/>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633" name="Shape 633"/>
        <p:cNvGrpSpPr/>
        <p:nvPr/>
      </p:nvGrpSpPr>
      <p:grpSpPr>
        <a:xfrm>
          <a:off x="0" y="0"/>
          <a:ext cx="0" cy="0"/>
          <a:chOff x="0" y="0"/>
          <a:chExt cx="0" cy="0"/>
        </a:xfrm>
      </p:grpSpPr>
      <p:grpSp>
        <p:nvGrpSpPr>
          <p:cNvPr id="634" name="Google Shape;634;g3ee0adc8e96_0_167"/>
          <p:cNvGrpSpPr/>
          <p:nvPr/>
        </p:nvGrpSpPr>
        <p:grpSpPr>
          <a:xfrm>
            <a:off x="8706107" y="-555302"/>
            <a:ext cx="3969516" cy="7638089"/>
            <a:chOff x="0" y="-57150"/>
            <a:chExt cx="1568173" cy="3017457"/>
          </a:xfrm>
        </p:grpSpPr>
        <p:sp>
          <p:nvSpPr>
            <p:cNvPr id="635" name="Google Shape;635;g3ee0adc8e96_0_167"/>
            <p:cNvSpPr/>
            <p:nvPr/>
          </p:nvSpPr>
          <p:spPr>
            <a:xfrm>
              <a:off x="0" y="0"/>
              <a:ext cx="1568173" cy="2960307"/>
            </a:xfrm>
            <a:custGeom>
              <a:rect b="b" l="l" r="r" t="t"/>
              <a:pathLst>
                <a:path extrusionOk="0" h="2960307" w="1568173">
                  <a:moveTo>
                    <a:pt x="0" y="0"/>
                  </a:moveTo>
                  <a:lnTo>
                    <a:pt x="1568173" y="0"/>
                  </a:lnTo>
                  <a:lnTo>
                    <a:pt x="1568173" y="2960307"/>
                  </a:lnTo>
                  <a:lnTo>
                    <a:pt x="0" y="2960307"/>
                  </a:lnTo>
                  <a:close/>
                </a:path>
              </a:pathLst>
            </a:custGeom>
            <a:solidFill>
              <a:srgbClr val="EFF1E8"/>
            </a:solidFill>
            <a:ln>
              <a:noFill/>
            </a:ln>
          </p:spPr>
        </p:sp>
        <p:sp>
          <p:nvSpPr>
            <p:cNvPr id="636" name="Google Shape;636;g3ee0adc8e96_0_167"/>
            <p:cNvSpPr txBox="1"/>
            <p:nvPr/>
          </p:nvSpPr>
          <p:spPr>
            <a:xfrm>
              <a:off x="0" y="-57150"/>
              <a:ext cx="1568100" cy="30174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637" name="Google Shape;637;g3ee0adc8e96_0_167"/>
          <p:cNvGrpSpPr/>
          <p:nvPr/>
        </p:nvGrpSpPr>
        <p:grpSpPr>
          <a:xfrm>
            <a:off x="204925" y="599823"/>
            <a:ext cx="8530722" cy="2678103"/>
            <a:chOff x="-18" y="-20223"/>
            <a:chExt cx="2005200" cy="1009500"/>
          </a:xfrm>
        </p:grpSpPr>
        <p:sp>
          <p:nvSpPr>
            <p:cNvPr id="638" name="Google Shape;638;g3ee0adc8e96_0_167"/>
            <p:cNvSpPr/>
            <p:nvPr/>
          </p:nvSpPr>
          <p:spPr>
            <a:xfrm>
              <a:off x="0" y="0"/>
              <a:ext cx="2005166" cy="952383"/>
            </a:xfrm>
            <a:custGeom>
              <a:rect b="b" l="l" r="r" t="t"/>
              <a:pathLst>
                <a:path extrusionOk="0" h="952383" w="2005166">
                  <a:moveTo>
                    <a:pt x="0" y="0"/>
                  </a:moveTo>
                  <a:lnTo>
                    <a:pt x="2005166" y="0"/>
                  </a:lnTo>
                  <a:lnTo>
                    <a:pt x="2005166" y="952383"/>
                  </a:lnTo>
                  <a:lnTo>
                    <a:pt x="0" y="952383"/>
                  </a:lnTo>
                  <a:close/>
                </a:path>
              </a:pathLst>
            </a:custGeom>
            <a:noFill/>
            <a:ln cap="sq" cmpd="sng" w="38100">
              <a:solidFill>
                <a:srgbClr val="EFF1E8"/>
              </a:solidFill>
              <a:prstDash val="solid"/>
              <a:miter lim="8000"/>
              <a:headEnd len="sm" w="sm" type="none"/>
              <a:tailEnd len="sm" w="sm" type="none"/>
            </a:ln>
          </p:spPr>
        </p:sp>
        <p:sp>
          <p:nvSpPr>
            <p:cNvPr id="639" name="Google Shape;639;g3ee0adc8e96_0_167"/>
            <p:cNvSpPr txBox="1"/>
            <p:nvPr/>
          </p:nvSpPr>
          <p:spPr>
            <a:xfrm>
              <a:off x="-18" y="-20223"/>
              <a:ext cx="2005200" cy="10095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640" name="Google Shape;640;g3ee0adc8e96_0_167"/>
          <p:cNvSpPr/>
          <p:nvPr/>
        </p:nvSpPr>
        <p:spPr>
          <a:xfrm>
            <a:off x="0" y="6230323"/>
            <a:ext cx="659253" cy="622716"/>
          </a:xfrm>
          <a:custGeom>
            <a:rect b="b" l="l" r="r" t="t"/>
            <a:pathLst>
              <a:path extrusionOk="0" h="635425" w="635425">
                <a:moveTo>
                  <a:pt x="0" y="0"/>
                </a:moveTo>
                <a:lnTo>
                  <a:pt x="635425" y="0"/>
                </a:lnTo>
                <a:lnTo>
                  <a:pt x="635425" y="635425"/>
                </a:lnTo>
                <a:lnTo>
                  <a:pt x="0" y="635425"/>
                </a:lnTo>
                <a:lnTo>
                  <a:pt x="0" y="0"/>
                </a:lnTo>
                <a:close/>
              </a:path>
            </a:pathLst>
          </a:custGeom>
          <a:blipFill rotWithShape="1">
            <a:blip r:embed="rId3">
              <a:alphaModFix/>
            </a:blip>
            <a:stretch>
              <a:fillRect b="0" l="0" r="0" t="0"/>
            </a:stretch>
          </a:blipFill>
          <a:ln>
            <a:noFill/>
          </a:ln>
        </p:spPr>
      </p:sp>
      <p:grpSp>
        <p:nvGrpSpPr>
          <p:cNvPr id="641" name="Google Shape;641;g3ee0adc8e96_0_167"/>
          <p:cNvGrpSpPr/>
          <p:nvPr/>
        </p:nvGrpSpPr>
        <p:grpSpPr>
          <a:xfrm>
            <a:off x="7223676" y="3277900"/>
            <a:ext cx="4782721" cy="3150874"/>
            <a:chOff x="-1889558" y="0"/>
            <a:chExt cx="3894724" cy="2342831"/>
          </a:xfrm>
        </p:grpSpPr>
        <p:sp>
          <p:nvSpPr>
            <p:cNvPr id="642" name="Google Shape;642;g3ee0adc8e96_0_167"/>
            <p:cNvSpPr/>
            <p:nvPr/>
          </p:nvSpPr>
          <p:spPr>
            <a:xfrm>
              <a:off x="0" y="0"/>
              <a:ext cx="2005166" cy="952383"/>
            </a:xfrm>
            <a:custGeom>
              <a:rect b="b" l="l" r="r" t="t"/>
              <a:pathLst>
                <a:path extrusionOk="0" h="952383" w="2005166">
                  <a:moveTo>
                    <a:pt x="0" y="0"/>
                  </a:moveTo>
                  <a:lnTo>
                    <a:pt x="2005166" y="0"/>
                  </a:lnTo>
                  <a:lnTo>
                    <a:pt x="2005166" y="952383"/>
                  </a:lnTo>
                  <a:lnTo>
                    <a:pt x="0" y="952383"/>
                  </a:lnTo>
                  <a:close/>
                </a:path>
              </a:pathLst>
            </a:custGeom>
            <a:noFill/>
            <a:ln cap="sq" cmpd="sng" w="38100">
              <a:solidFill>
                <a:srgbClr val="EFF1E8"/>
              </a:solidFill>
              <a:prstDash val="solid"/>
              <a:miter lim="8000"/>
              <a:headEnd len="sm" w="sm" type="none"/>
              <a:tailEnd len="sm" w="sm" type="none"/>
            </a:ln>
          </p:spPr>
        </p:sp>
        <p:sp>
          <p:nvSpPr>
            <p:cNvPr id="643" name="Google Shape;643;g3ee0adc8e96_0_167"/>
            <p:cNvSpPr txBox="1"/>
            <p:nvPr/>
          </p:nvSpPr>
          <p:spPr>
            <a:xfrm>
              <a:off x="-1889558" y="1333331"/>
              <a:ext cx="2005200" cy="10095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644" name="Google Shape;644;g3ee0adc8e96_0_167"/>
          <p:cNvSpPr txBox="1"/>
          <p:nvPr/>
        </p:nvSpPr>
        <p:spPr>
          <a:xfrm>
            <a:off x="204928" y="0"/>
            <a:ext cx="7744800" cy="6096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4400"/>
              <a:buFont typeface="Play"/>
              <a:buNone/>
            </a:pPr>
            <a:r>
              <a:rPr lang="en" sz="4400">
                <a:solidFill>
                  <a:schemeClr val="dk1"/>
                </a:solidFill>
                <a:latin typeface="Play"/>
                <a:ea typeface="Play"/>
                <a:cs typeface="Play"/>
                <a:sym typeface="Play"/>
              </a:rPr>
              <a:t>What are tube assemblies?</a:t>
            </a:r>
            <a:endParaRPr sz="2700">
              <a:latin typeface="Poppins"/>
              <a:ea typeface="Poppins"/>
              <a:cs typeface="Poppins"/>
              <a:sym typeface="Poppins"/>
            </a:endParaRPr>
          </a:p>
        </p:txBody>
      </p:sp>
      <p:sp>
        <p:nvSpPr>
          <p:cNvPr id="645" name="Google Shape;645;g3ee0adc8e96_0_167"/>
          <p:cNvSpPr/>
          <p:nvPr/>
        </p:nvSpPr>
        <p:spPr>
          <a:xfrm>
            <a:off x="9585701" y="-352076"/>
            <a:ext cx="2835674" cy="2610335"/>
          </a:xfrm>
          <a:custGeom>
            <a:rect b="b" l="l" r="r" t="t"/>
            <a:pathLst>
              <a:path extrusionOk="0" h="5438197" w="4765838">
                <a:moveTo>
                  <a:pt x="0" y="0"/>
                </a:moveTo>
                <a:lnTo>
                  <a:pt x="4765838" y="0"/>
                </a:lnTo>
                <a:lnTo>
                  <a:pt x="4765838" y="5438198"/>
                </a:lnTo>
                <a:lnTo>
                  <a:pt x="0" y="5438198"/>
                </a:lnTo>
                <a:lnTo>
                  <a:pt x="0" y="0"/>
                </a:lnTo>
                <a:close/>
              </a:path>
            </a:pathLst>
          </a:custGeom>
          <a:blipFill rotWithShape="1">
            <a:blip r:embed="rId4">
              <a:alphaModFix/>
            </a:blip>
            <a:stretch>
              <a:fillRect b="0" l="0" r="0" t="0"/>
            </a:stretch>
          </a:blipFill>
          <a:ln>
            <a:noFill/>
          </a:ln>
        </p:spPr>
      </p:sp>
      <p:sp>
        <p:nvSpPr>
          <p:cNvPr id="646" name="Google Shape;646;g3ee0adc8e96_0_167"/>
          <p:cNvSpPr txBox="1"/>
          <p:nvPr/>
        </p:nvSpPr>
        <p:spPr>
          <a:xfrm>
            <a:off x="164000" y="680250"/>
            <a:ext cx="8530800" cy="201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rPr>
              <a:t>Multi-component industrial products used in hydraulic and pneumatic systems.</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rPr lang="en" sz="1700">
                <a:solidFill>
                  <a:schemeClr val="dk1"/>
                </a:solidFill>
              </a:rPr>
              <a:t>Comprises of bends, fittings, bosses, brackets, and end connections and each contribute to final assembly cost.</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rPr lang="en" sz="1700">
                <a:solidFill>
                  <a:schemeClr val="dk1"/>
                </a:solidFill>
              </a:rPr>
              <a:t>Each tube is custom-configured to specification, no two assemblies are priced identically, making cost estimation unreliable.</a:t>
            </a:r>
            <a:endParaRPr sz="1700">
              <a:solidFill>
                <a:schemeClr val="dk1"/>
              </a:solidFill>
            </a:endParaRPr>
          </a:p>
        </p:txBody>
      </p:sp>
      <p:pic>
        <p:nvPicPr>
          <p:cNvPr id="647" name="Google Shape;647;g3ee0adc8e96_0_167" title="Screenshot 2026-05-05 at 05.02.05.png"/>
          <p:cNvPicPr preferRelativeResize="0"/>
          <p:nvPr/>
        </p:nvPicPr>
        <p:blipFill rotWithShape="1">
          <a:blip r:embed="rId5">
            <a:alphaModFix/>
          </a:blip>
          <a:srcRect b="0" l="0" r="0" t="0"/>
          <a:stretch/>
        </p:blipFill>
        <p:spPr>
          <a:xfrm>
            <a:off x="129634" y="3429001"/>
            <a:ext cx="6636432" cy="3238500"/>
          </a:xfrm>
          <a:prstGeom prst="rect">
            <a:avLst/>
          </a:prstGeom>
          <a:noFill/>
          <a:ln>
            <a:noFill/>
          </a:ln>
        </p:spPr>
      </p:pic>
      <p:pic>
        <p:nvPicPr>
          <p:cNvPr id="648" name="Google Shape;648;g3ee0adc8e96_0_167"/>
          <p:cNvPicPr preferRelativeResize="0"/>
          <p:nvPr/>
        </p:nvPicPr>
        <p:blipFill rotWithShape="1">
          <a:blip r:embed="rId6">
            <a:alphaModFix/>
          </a:blip>
          <a:srcRect b="0" l="0" r="0" t="0"/>
          <a:stretch/>
        </p:blipFill>
        <p:spPr>
          <a:xfrm>
            <a:off x="6963077" y="2829200"/>
            <a:ext cx="5712549" cy="3642724"/>
          </a:xfrm>
          <a:prstGeom prst="rect">
            <a:avLst/>
          </a:prstGeom>
          <a:noFill/>
          <a:ln>
            <a:noFill/>
          </a:ln>
        </p:spPr>
      </p:pic>
      <p:sp>
        <p:nvSpPr>
          <p:cNvPr id="649" name="Google Shape;649;g3ee0adc8e96_0_167"/>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50" name="Google Shape;650;g3ee0adc8e96_0_167"/>
          <p:cNvSpPr txBox="1"/>
          <p:nvPr>
            <p:ph idx="12" type="sldNum"/>
          </p:nvPr>
        </p:nvSpPr>
        <p:spPr>
          <a:xfrm>
            <a:off x="11274711" y="6428773"/>
            <a:ext cx="731700" cy="524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Clr>
                <a:srgbClr val="757575"/>
              </a:buClr>
              <a:buSzPts val="1200"/>
              <a:buFont typeface="Arial"/>
              <a:buNone/>
            </a:pPr>
            <a:fld id="{00000000-1234-1234-1234-123412341234}" type="slidenum">
              <a:rPr lang="en" sz="1900"/>
              <a:t>‹#›</a:t>
            </a:fld>
            <a:endParaRPr sz="1900"/>
          </a:p>
        </p:txBody>
      </p:sp>
      <p:sp>
        <p:nvSpPr>
          <p:cNvPr id="651" name="Google Shape;651;g3ee0adc8e96_0_167"/>
          <p:cNvSpPr txBox="1"/>
          <p:nvPr/>
        </p:nvSpPr>
        <p:spPr>
          <a:xfrm>
            <a:off x="9249981" y="6537225"/>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1E8"/>
        </a:solidFill>
      </p:bgPr>
    </p:bg>
    <p:spTree>
      <p:nvGrpSpPr>
        <p:cNvPr id="655" name="Shape 655"/>
        <p:cNvGrpSpPr/>
        <p:nvPr/>
      </p:nvGrpSpPr>
      <p:grpSpPr>
        <a:xfrm>
          <a:off x="0" y="0"/>
          <a:ext cx="0" cy="0"/>
          <a:chOff x="0" y="0"/>
          <a:chExt cx="0" cy="0"/>
        </a:xfrm>
      </p:grpSpPr>
      <p:sp>
        <p:nvSpPr>
          <p:cNvPr id="656" name="Google Shape;656;g3ee0adc8e96_0_184"/>
          <p:cNvSpPr/>
          <p:nvPr/>
        </p:nvSpPr>
        <p:spPr>
          <a:xfrm>
            <a:off x="8055187" y="2104822"/>
            <a:ext cx="3181197" cy="3629996"/>
          </a:xfrm>
          <a:custGeom>
            <a:rect b="b" l="l" r="r" t="t"/>
            <a:pathLst>
              <a:path extrusionOk="0" h="5438197" w="4765838">
                <a:moveTo>
                  <a:pt x="0" y="0"/>
                </a:moveTo>
                <a:lnTo>
                  <a:pt x="4765838" y="0"/>
                </a:lnTo>
                <a:lnTo>
                  <a:pt x="4765838" y="5438198"/>
                </a:lnTo>
                <a:lnTo>
                  <a:pt x="0" y="5438198"/>
                </a:lnTo>
                <a:lnTo>
                  <a:pt x="0" y="0"/>
                </a:lnTo>
                <a:close/>
              </a:path>
            </a:pathLst>
          </a:custGeom>
          <a:blipFill rotWithShape="1">
            <a:blip r:embed="rId3">
              <a:alphaModFix/>
            </a:blip>
            <a:stretch>
              <a:fillRect b="0" l="0" r="0" t="0"/>
            </a:stretch>
          </a:blipFill>
          <a:ln>
            <a:noFill/>
          </a:ln>
        </p:spPr>
      </p:sp>
      <p:sp>
        <p:nvSpPr>
          <p:cNvPr id="657" name="Google Shape;657;g3ee0adc8e96_0_184"/>
          <p:cNvSpPr/>
          <p:nvPr/>
        </p:nvSpPr>
        <p:spPr>
          <a:xfrm>
            <a:off x="9446231" y="-155274"/>
            <a:ext cx="2627718" cy="1508087"/>
          </a:xfrm>
          <a:custGeom>
            <a:rect b="b" l="l" r="r" t="t"/>
            <a:pathLst>
              <a:path extrusionOk="0" h="1728467" w="2044917">
                <a:moveTo>
                  <a:pt x="0" y="0"/>
                </a:moveTo>
                <a:lnTo>
                  <a:pt x="2044916" y="0"/>
                </a:lnTo>
                <a:lnTo>
                  <a:pt x="2044916" y="1728467"/>
                </a:lnTo>
                <a:lnTo>
                  <a:pt x="0" y="1728467"/>
                </a:lnTo>
                <a:lnTo>
                  <a:pt x="0" y="0"/>
                </a:lnTo>
                <a:close/>
              </a:path>
            </a:pathLst>
          </a:custGeom>
          <a:blipFill rotWithShape="1">
            <a:blip r:embed="rId4">
              <a:alphaModFix/>
            </a:blip>
            <a:stretch>
              <a:fillRect b="0" l="0" r="0" t="0"/>
            </a:stretch>
          </a:blipFill>
          <a:ln>
            <a:noFill/>
          </a:ln>
        </p:spPr>
      </p:sp>
      <p:sp>
        <p:nvSpPr>
          <p:cNvPr id="658" name="Google Shape;658;g3ee0adc8e96_0_184"/>
          <p:cNvSpPr txBox="1"/>
          <p:nvPr/>
        </p:nvSpPr>
        <p:spPr>
          <a:xfrm>
            <a:off x="373282" y="25400"/>
            <a:ext cx="8736600" cy="4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2850"/>
              <a:buFont typeface="Arial"/>
              <a:buNone/>
            </a:pPr>
            <a:r>
              <a:rPr b="1" lang="en" sz="2850">
                <a:solidFill>
                  <a:schemeClr val="dk1"/>
                </a:solidFill>
              </a:rPr>
              <a:t>Why Pricing Is Difficult</a:t>
            </a:r>
            <a:endParaRPr b="1" sz="3600">
              <a:solidFill>
                <a:schemeClr val="dk1"/>
              </a:solidFill>
              <a:latin typeface="Montserrat"/>
              <a:ea typeface="Montserrat"/>
              <a:cs typeface="Montserrat"/>
              <a:sym typeface="Montserrat"/>
            </a:endParaRPr>
          </a:p>
        </p:txBody>
      </p:sp>
      <p:sp>
        <p:nvSpPr>
          <p:cNvPr id="659" name="Google Shape;659;g3ee0adc8e96_0_184"/>
          <p:cNvSpPr txBox="1"/>
          <p:nvPr/>
        </p:nvSpPr>
        <p:spPr>
          <a:xfrm>
            <a:off x="0" y="736175"/>
            <a:ext cx="9887700" cy="874200"/>
          </a:xfrm>
          <a:prstGeom prst="rect">
            <a:avLst/>
          </a:prstGeom>
          <a:noFill/>
          <a:ln>
            <a:noFill/>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1360"/>
              <a:buFont typeface="Arial"/>
              <a:buNone/>
            </a:pPr>
            <a:r>
              <a:rPr b="0" i="0" lang="en" sz="2400" u="none" cap="none" strike="noStrike">
                <a:solidFill>
                  <a:schemeClr val="dk1"/>
                </a:solidFill>
                <a:latin typeface="Arial"/>
                <a:ea typeface="Arial"/>
                <a:cs typeface="Arial"/>
                <a:sym typeface="Arial"/>
              </a:rPr>
              <a:t>Pricing is nonlinear because cost depends on interacting product, supplier, and order factors.</a:t>
            </a:r>
            <a:endParaRPr sz="2400">
              <a:solidFill>
                <a:schemeClr val="dk1"/>
              </a:solidFill>
            </a:endParaRPr>
          </a:p>
        </p:txBody>
      </p:sp>
      <p:sp>
        <p:nvSpPr>
          <p:cNvPr id="660" name="Google Shape;660;g3ee0adc8e96_0_184"/>
          <p:cNvSpPr txBox="1"/>
          <p:nvPr/>
        </p:nvSpPr>
        <p:spPr>
          <a:xfrm>
            <a:off x="0" y="1603950"/>
            <a:ext cx="7800000" cy="3990900"/>
          </a:xfrm>
          <a:prstGeom prst="rect">
            <a:avLst/>
          </a:prstGeom>
          <a:solidFill>
            <a:srgbClr val="F8FAFC"/>
          </a:solidFill>
          <a:ln cap="flat" cmpd="sng" w="9525">
            <a:solidFill>
              <a:srgbClr val="CBD5E1"/>
            </a:solidFill>
            <a:prstDash val="solid"/>
            <a:round/>
            <a:headEnd len="sm" w="sm" type="none"/>
            <a:tailEnd len="sm" w="sm" type="none"/>
          </a:ln>
        </p:spPr>
        <p:txBody>
          <a:bodyPr anchorCtr="0" anchor="t" bIns="60000" lIns="90000" spcFirstLastPara="1" rIns="90000" wrap="square" tIns="70000">
            <a:noAutofit/>
          </a:bodyPr>
          <a:lstStyle/>
          <a:p>
            <a:pPr indent="0" lvl="0" marL="0" rtl="0" algn="l">
              <a:spcBef>
                <a:spcPts val="0"/>
              </a:spcBef>
              <a:spcAft>
                <a:spcPts val="0"/>
              </a:spcAft>
              <a:buNone/>
            </a:pPr>
            <a:r>
              <a:t/>
            </a:r>
            <a:endParaRPr sz="1420">
              <a:solidFill>
                <a:srgbClr val="111827"/>
              </a:solidFill>
            </a:endParaRPr>
          </a:p>
          <a:p>
            <a:pPr indent="-204130" lvl="0" marL="279999" marR="0" rtl="0" algn="l">
              <a:lnSpc>
                <a:spcPct val="100000"/>
              </a:lnSpc>
              <a:spcBef>
                <a:spcPts val="0"/>
              </a:spcBef>
              <a:spcAft>
                <a:spcPts val="0"/>
              </a:spcAft>
              <a:buClr>
                <a:srgbClr val="000000"/>
              </a:buClr>
              <a:buSzPts val="1800"/>
              <a:buFont typeface="Arial"/>
              <a:buChar char="•"/>
            </a:pPr>
            <a:r>
              <a:rPr b="0" i="0" lang="en" sz="1800" u="none" cap="none" strike="noStrike">
                <a:solidFill>
                  <a:srgbClr val="111827"/>
                </a:solidFill>
                <a:latin typeface="Arial"/>
                <a:ea typeface="Arial"/>
                <a:cs typeface="Arial"/>
                <a:sym typeface="Arial"/>
              </a:rPr>
              <a:t>Component mix and end forms can signal special processing, tooling, or assembly complexity</a:t>
            </a:r>
            <a:endParaRPr b="0" i="0" sz="1800" u="none" cap="none" strike="noStrike">
              <a:solidFill>
                <a:srgbClr val="111827"/>
              </a:solidFill>
              <a:latin typeface="Arial"/>
              <a:ea typeface="Arial"/>
              <a:cs typeface="Arial"/>
              <a:sym typeface="Arial"/>
            </a:endParaRPr>
          </a:p>
          <a:p>
            <a:pPr indent="0" lvl="0" marL="457200" marR="0" rtl="0" algn="l">
              <a:lnSpc>
                <a:spcPct val="100000"/>
              </a:lnSpc>
              <a:spcBef>
                <a:spcPts val="0"/>
              </a:spcBef>
              <a:spcAft>
                <a:spcPts val="0"/>
              </a:spcAft>
              <a:buNone/>
            </a:pPr>
            <a:r>
              <a:t/>
            </a:r>
            <a:endParaRPr sz="1800">
              <a:solidFill>
                <a:srgbClr val="111827"/>
              </a:solidFill>
            </a:endParaRPr>
          </a:p>
          <a:p>
            <a:pPr indent="-204130" lvl="0" marL="279999" marR="0" rtl="0" algn="l">
              <a:lnSpc>
                <a:spcPct val="100000"/>
              </a:lnSpc>
              <a:spcBef>
                <a:spcPts val="0"/>
              </a:spcBef>
              <a:spcAft>
                <a:spcPts val="0"/>
              </a:spcAft>
              <a:buClr>
                <a:srgbClr val="000000"/>
              </a:buClr>
              <a:buSzPts val="1800"/>
              <a:buFont typeface="Arial"/>
              <a:buChar char="•"/>
            </a:pPr>
            <a:r>
              <a:rPr lang="en" sz="1800">
                <a:solidFill>
                  <a:srgbClr val="2E2A26"/>
                </a:solidFill>
              </a:rPr>
              <a:t>Supplier quote prices are difficult to predict because they depend on geometry, materials, components, and supplier strategy.</a:t>
            </a:r>
            <a:endParaRPr sz="1800">
              <a:solidFill>
                <a:srgbClr val="111827"/>
              </a:solidFill>
            </a:endParaRPr>
          </a:p>
          <a:p>
            <a:pPr indent="0" lvl="0" marL="100000" marR="0" rtl="0" algn="l">
              <a:lnSpc>
                <a:spcPct val="100000"/>
              </a:lnSpc>
              <a:spcBef>
                <a:spcPts val="0"/>
              </a:spcBef>
              <a:spcAft>
                <a:spcPts val="0"/>
              </a:spcAft>
              <a:buNone/>
            </a:pPr>
            <a:r>
              <a:t/>
            </a:r>
            <a:endParaRPr b="0" i="0" sz="1800" u="none" cap="none" strike="noStrike">
              <a:solidFill>
                <a:srgbClr val="111827"/>
              </a:solidFill>
              <a:latin typeface="Arial"/>
              <a:ea typeface="Arial"/>
              <a:cs typeface="Arial"/>
              <a:sym typeface="Arial"/>
            </a:endParaRPr>
          </a:p>
          <a:p>
            <a:pPr indent="-204130" lvl="0" marL="279999" marR="0" rtl="0" algn="l">
              <a:lnSpc>
                <a:spcPct val="100000"/>
              </a:lnSpc>
              <a:spcBef>
                <a:spcPts val="0"/>
              </a:spcBef>
              <a:spcAft>
                <a:spcPts val="0"/>
              </a:spcAft>
              <a:buClr>
                <a:srgbClr val="000000"/>
              </a:buClr>
              <a:buSzPts val="1800"/>
              <a:buFont typeface="Arial"/>
              <a:buChar char="•"/>
            </a:pPr>
            <a:r>
              <a:rPr b="0" i="0" lang="en" sz="1800" u="none" cap="none" strike="noStrike">
                <a:solidFill>
                  <a:srgbClr val="111827"/>
                </a:solidFill>
                <a:latin typeface="Arial"/>
                <a:ea typeface="Arial"/>
                <a:cs typeface="Arial"/>
                <a:sym typeface="Arial"/>
              </a:rPr>
              <a:t>Quantity tiers and minimum-order rules change unit price behavior.</a:t>
            </a:r>
            <a:endParaRPr sz="1800"/>
          </a:p>
          <a:p>
            <a:pPr indent="0" lvl="0" marL="100000" marR="0" rtl="0" algn="l">
              <a:lnSpc>
                <a:spcPct val="100000"/>
              </a:lnSpc>
              <a:spcBef>
                <a:spcPts val="0"/>
              </a:spcBef>
              <a:spcAft>
                <a:spcPts val="0"/>
              </a:spcAft>
              <a:buNone/>
            </a:pPr>
            <a:r>
              <a:t/>
            </a:r>
            <a:endParaRPr b="0" i="0" sz="1800" u="none" cap="none" strike="noStrike">
              <a:solidFill>
                <a:srgbClr val="111827"/>
              </a:solidFill>
              <a:latin typeface="Arial"/>
              <a:ea typeface="Arial"/>
              <a:cs typeface="Arial"/>
              <a:sym typeface="Arial"/>
            </a:endParaRPr>
          </a:p>
          <a:p>
            <a:pPr indent="-204130" lvl="0" marL="279999" marR="0" rtl="0" algn="l">
              <a:lnSpc>
                <a:spcPct val="100000"/>
              </a:lnSpc>
              <a:spcBef>
                <a:spcPts val="0"/>
              </a:spcBef>
              <a:spcAft>
                <a:spcPts val="0"/>
              </a:spcAft>
              <a:buClr>
                <a:srgbClr val="000000"/>
              </a:buClr>
              <a:buSzPts val="1800"/>
              <a:buFont typeface="Arial"/>
              <a:buChar char="•"/>
            </a:pPr>
            <a:r>
              <a:rPr b="0" i="0" lang="en" sz="1800" u="none" cap="none" strike="noStrike">
                <a:solidFill>
                  <a:srgbClr val="111827"/>
                </a:solidFill>
                <a:latin typeface="Arial"/>
                <a:ea typeface="Arial"/>
                <a:cs typeface="Arial"/>
                <a:sym typeface="Arial"/>
              </a:rPr>
              <a:t>Supplier strategy and risk can add margins that are not visible from geometry alone.</a:t>
            </a:r>
            <a:endParaRPr sz="1800"/>
          </a:p>
          <a:p>
            <a:pPr indent="0" lvl="0" marL="100000" marR="0" rtl="0" algn="l">
              <a:lnSpc>
                <a:spcPct val="100000"/>
              </a:lnSpc>
              <a:spcBef>
                <a:spcPts val="0"/>
              </a:spcBef>
              <a:spcAft>
                <a:spcPts val="0"/>
              </a:spcAft>
              <a:buNone/>
            </a:pPr>
            <a:r>
              <a:t/>
            </a:r>
            <a:endParaRPr b="0" i="0" sz="1800" u="none" cap="none" strike="noStrike">
              <a:solidFill>
                <a:srgbClr val="111827"/>
              </a:solidFill>
              <a:latin typeface="Arial"/>
              <a:ea typeface="Arial"/>
              <a:cs typeface="Arial"/>
              <a:sym typeface="Arial"/>
            </a:endParaRPr>
          </a:p>
          <a:p>
            <a:pPr indent="-204130" lvl="0" marL="279999" marR="0" rtl="0" algn="l">
              <a:lnSpc>
                <a:spcPct val="100000"/>
              </a:lnSpc>
              <a:spcBef>
                <a:spcPts val="0"/>
              </a:spcBef>
              <a:spcAft>
                <a:spcPts val="0"/>
              </a:spcAft>
              <a:buClr>
                <a:srgbClr val="000000"/>
              </a:buClr>
              <a:buSzPts val="1800"/>
              <a:buFont typeface="Arial"/>
              <a:buChar char="•"/>
            </a:pPr>
            <a:r>
              <a:rPr b="0" i="0" lang="en" sz="1800" u="none" cap="none" strike="noStrike">
                <a:solidFill>
                  <a:srgbClr val="111827"/>
                </a:solidFill>
                <a:latin typeface="Arial"/>
                <a:ea typeface="Arial"/>
                <a:cs typeface="Arial"/>
                <a:sym typeface="Arial"/>
              </a:rPr>
              <a:t>This justifies using machine learning models that can capture interactions rather than only simple averages.</a:t>
            </a:r>
            <a:endParaRPr sz="1800"/>
          </a:p>
        </p:txBody>
      </p:sp>
      <p:sp>
        <p:nvSpPr>
          <p:cNvPr id="661" name="Google Shape;661;g3ee0adc8e96_0_184"/>
          <p:cNvSpPr txBox="1"/>
          <p:nvPr/>
        </p:nvSpPr>
        <p:spPr>
          <a:xfrm>
            <a:off x="430000" y="5897101"/>
            <a:ext cx="8100000" cy="539100"/>
          </a:xfrm>
          <a:prstGeom prst="rect">
            <a:avLst/>
          </a:prstGeom>
          <a:noFill/>
          <a:ln>
            <a:noFill/>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850"/>
              <a:buFont typeface="Arial"/>
              <a:buNone/>
            </a:pPr>
            <a:r>
              <a:rPr b="0" i="1" lang="en" sz="2400" u="none" cap="none" strike="noStrike">
                <a:solidFill>
                  <a:schemeClr val="dk1"/>
                </a:solidFill>
                <a:latin typeface="Arial"/>
                <a:ea typeface="Arial"/>
                <a:cs typeface="Arial"/>
                <a:sym typeface="Arial"/>
              </a:rPr>
              <a:t>Source: Liu (2022); Provost &amp; Fawcett (2013)</a:t>
            </a:r>
            <a:endParaRPr i="1" sz="2400">
              <a:solidFill>
                <a:schemeClr val="dk1"/>
              </a:solidFill>
            </a:endParaRPr>
          </a:p>
        </p:txBody>
      </p:sp>
      <p:sp>
        <p:nvSpPr>
          <p:cNvPr id="662" name="Google Shape;662;g3ee0adc8e96_0_184"/>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63" name="Google Shape;663;g3ee0adc8e96_0_18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Clr>
                <a:srgbClr val="757575"/>
              </a:buClr>
              <a:buSzPts val="1200"/>
              <a:buFont typeface="Arial"/>
              <a:buNone/>
            </a:pPr>
            <a:fld id="{00000000-1234-1234-1234-123412341234}" type="slidenum">
              <a:rPr lang="en" sz="1900"/>
              <a:t>‹#›</a:t>
            </a:fld>
            <a:endParaRPr sz="1900"/>
          </a:p>
        </p:txBody>
      </p:sp>
      <p:sp>
        <p:nvSpPr>
          <p:cNvPr id="664" name="Google Shape;664;g3ee0adc8e96_0_184"/>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668" name="Shape 668"/>
        <p:cNvGrpSpPr/>
        <p:nvPr/>
      </p:nvGrpSpPr>
      <p:grpSpPr>
        <a:xfrm>
          <a:off x="0" y="0"/>
          <a:ext cx="0" cy="0"/>
          <a:chOff x="0" y="0"/>
          <a:chExt cx="0" cy="0"/>
        </a:xfrm>
      </p:grpSpPr>
      <p:grpSp>
        <p:nvGrpSpPr>
          <p:cNvPr id="669" name="Google Shape;669;g3ee0adc8e96_0_191"/>
          <p:cNvGrpSpPr/>
          <p:nvPr/>
        </p:nvGrpSpPr>
        <p:grpSpPr>
          <a:xfrm>
            <a:off x="8706107" y="-555302"/>
            <a:ext cx="3969516" cy="7638089"/>
            <a:chOff x="0" y="-57150"/>
            <a:chExt cx="1568173" cy="3017457"/>
          </a:xfrm>
        </p:grpSpPr>
        <p:sp>
          <p:nvSpPr>
            <p:cNvPr id="670" name="Google Shape;670;g3ee0adc8e96_0_191"/>
            <p:cNvSpPr/>
            <p:nvPr/>
          </p:nvSpPr>
          <p:spPr>
            <a:xfrm>
              <a:off x="0" y="0"/>
              <a:ext cx="1568173" cy="2960307"/>
            </a:xfrm>
            <a:custGeom>
              <a:rect b="b" l="l" r="r" t="t"/>
              <a:pathLst>
                <a:path extrusionOk="0" h="2960307" w="1568173">
                  <a:moveTo>
                    <a:pt x="0" y="0"/>
                  </a:moveTo>
                  <a:lnTo>
                    <a:pt x="1568173" y="0"/>
                  </a:lnTo>
                  <a:lnTo>
                    <a:pt x="1568173" y="2960307"/>
                  </a:lnTo>
                  <a:lnTo>
                    <a:pt x="0" y="2960307"/>
                  </a:lnTo>
                  <a:close/>
                </a:path>
              </a:pathLst>
            </a:custGeom>
            <a:solidFill>
              <a:srgbClr val="EFF1E8"/>
            </a:solidFill>
            <a:ln>
              <a:noFill/>
            </a:ln>
          </p:spPr>
        </p:sp>
        <p:sp>
          <p:nvSpPr>
            <p:cNvPr id="671" name="Google Shape;671;g3ee0adc8e96_0_191"/>
            <p:cNvSpPr txBox="1"/>
            <p:nvPr/>
          </p:nvSpPr>
          <p:spPr>
            <a:xfrm>
              <a:off x="0" y="-57150"/>
              <a:ext cx="1568100" cy="30174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672" name="Google Shape;672;g3ee0adc8e96_0_191"/>
          <p:cNvSpPr/>
          <p:nvPr/>
        </p:nvSpPr>
        <p:spPr>
          <a:xfrm>
            <a:off x="0" y="6230323"/>
            <a:ext cx="659253" cy="622716"/>
          </a:xfrm>
          <a:custGeom>
            <a:rect b="b" l="l" r="r" t="t"/>
            <a:pathLst>
              <a:path extrusionOk="0" h="635425" w="635425">
                <a:moveTo>
                  <a:pt x="0" y="0"/>
                </a:moveTo>
                <a:lnTo>
                  <a:pt x="635425" y="0"/>
                </a:lnTo>
                <a:lnTo>
                  <a:pt x="635425" y="635425"/>
                </a:lnTo>
                <a:lnTo>
                  <a:pt x="0" y="635425"/>
                </a:lnTo>
                <a:lnTo>
                  <a:pt x="0" y="0"/>
                </a:lnTo>
                <a:close/>
              </a:path>
            </a:pathLst>
          </a:custGeom>
          <a:blipFill rotWithShape="1">
            <a:blip r:embed="rId3">
              <a:alphaModFix/>
            </a:blip>
            <a:stretch>
              <a:fillRect b="0" l="0" r="0" t="0"/>
            </a:stretch>
          </a:blipFill>
          <a:ln>
            <a:noFill/>
          </a:ln>
        </p:spPr>
      </p:sp>
      <p:sp>
        <p:nvSpPr>
          <p:cNvPr id="673" name="Google Shape;673;g3ee0adc8e96_0_191"/>
          <p:cNvSpPr txBox="1"/>
          <p:nvPr/>
        </p:nvSpPr>
        <p:spPr>
          <a:xfrm>
            <a:off x="429026" y="877488"/>
            <a:ext cx="7651800" cy="2154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t/>
            </a:r>
            <a:endParaRPr b="0" i="0" u="none" cap="none" strike="noStrike">
              <a:solidFill>
                <a:schemeClr val="dk1"/>
              </a:solidFill>
              <a:latin typeface="Poppins"/>
              <a:ea typeface="Poppins"/>
              <a:cs typeface="Poppins"/>
              <a:sym typeface="Poppins"/>
            </a:endParaRPr>
          </a:p>
        </p:txBody>
      </p:sp>
      <p:grpSp>
        <p:nvGrpSpPr>
          <p:cNvPr id="674" name="Google Shape;674;g3ee0adc8e96_0_191"/>
          <p:cNvGrpSpPr/>
          <p:nvPr/>
        </p:nvGrpSpPr>
        <p:grpSpPr>
          <a:xfrm>
            <a:off x="5187551" y="3735338"/>
            <a:ext cx="4782721" cy="3150874"/>
            <a:chOff x="-1889558" y="0"/>
            <a:chExt cx="3894724" cy="2342831"/>
          </a:xfrm>
        </p:grpSpPr>
        <p:sp>
          <p:nvSpPr>
            <p:cNvPr id="675" name="Google Shape;675;g3ee0adc8e96_0_191"/>
            <p:cNvSpPr/>
            <p:nvPr/>
          </p:nvSpPr>
          <p:spPr>
            <a:xfrm>
              <a:off x="0" y="0"/>
              <a:ext cx="2005166" cy="952383"/>
            </a:xfrm>
            <a:custGeom>
              <a:rect b="b" l="l" r="r" t="t"/>
              <a:pathLst>
                <a:path extrusionOk="0" h="952383" w="2005166">
                  <a:moveTo>
                    <a:pt x="0" y="0"/>
                  </a:moveTo>
                  <a:lnTo>
                    <a:pt x="2005166" y="0"/>
                  </a:lnTo>
                  <a:lnTo>
                    <a:pt x="2005166" y="952383"/>
                  </a:lnTo>
                  <a:lnTo>
                    <a:pt x="0" y="952383"/>
                  </a:lnTo>
                  <a:close/>
                </a:path>
              </a:pathLst>
            </a:custGeom>
            <a:noFill/>
            <a:ln cap="sq" cmpd="sng" w="38100">
              <a:solidFill>
                <a:srgbClr val="EFF1E8"/>
              </a:solidFill>
              <a:prstDash val="solid"/>
              <a:miter lim="8000"/>
              <a:headEnd len="sm" w="sm" type="none"/>
              <a:tailEnd len="sm" w="sm" type="none"/>
            </a:ln>
          </p:spPr>
        </p:sp>
        <p:sp>
          <p:nvSpPr>
            <p:cNvPr id="676" name="Google Shape;676;g3ee0adc8e96_0_191"/>
            <p:cNvSpPr txBox="1"/>
            <p:nvPr/>
          </p:nvSpPr>
          <p:spPr>
            <a:xfrm>
              <a:off x="-1889558" y="1333331"/>
              <a:ext cx="2005200" cy="10095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677" name="Google Shape;677;g3ee0adc8e96_0_191"/>
          <p:cNvSpPr txBox="1"/>
          <p:nvPr/>
        </p:nvSpPr>
        <p:spPr>
          <a:xfrm>
            <a:off x="597890" y="186000"/>
            <a:ext cx="77448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2850"/>
              <a:buNone/>
            </a:pPr>
            <a:r>
              <a:rPr b="1" lang="en" sz="3600">
                <a:solidFill>
                  <a:schemeClr val="dk1"/>
                </a:solidFill>
              </a:rPr>
              <a:t>Supplier Quote Process</a:t>
            </a:r>
            <a:endParaRPr b="1" sz="3600">
              <a:solidFill>
                <a:schemeClr val="dk1"/>
              </a:solidFill>
            </a:endParaRPr>
          </a:p>
        </p:txBody>
      </p:sp>
      <p:sp>
        <p:nvSpPr>
          <p:cNvPr id="678" name="Google Shape;678;g3ee0adc8e96_0_191"/>
          <p:cNvSpPr/>
          <p:nvPr/>
        </p:nvSpPr>
        <p:spPr>
          <a:xfrm>
            <a:off x="8706112" y="3041847"/>
            <a:ext cx="3181197" cy="3629996"/>
          </a:xfrm>
          <a:custGeom>
            <a:rect b="b" l="l" r="r" t="t"/>
            <a:pathLst>
              <a:path extrusionOk="0" h="5438197" w="4765838">
                <a:moveTo>
                  <a:pt x="0" y="0"/>
                </a:moveTo>
                <a:lnTo>
                  <a:pt x="4765838" y="0"/>
                </a:lnTo>
                <a:lnTo>
                  <a:pt x="4765838" y="5438198"/>
                </a:lnTo>
                <a:lnTo>
                  <a:pt x="0" y="5438198"/>
                </a:lnTo>
                <a:lnTo>
                  <a:pt x="0" y="0"/>
                </a:lnTo>
                <a:close/>
              </a:path>
            </a:pathLst>
          </a:custGeom>
          <a:blipFill rotWithShape="1">
            <a:blip r:embed="rId4">
              <a:alphaModFix/>
            </a:blip>
            <a:stretch>
              <a:fillRect b="0" l="0" r="0" t="0"/>
            </a:stretch>
          </a:blipFill>
          <a:ln>
            <a:noFill/>
          </a:ln>
        </p:spPr>
      </p:sp>
      <p:sp>
        <p:nvSpPr>
          <p:cNvPr id="679" name="Google Shape;679;g3ee0adc8e96_0_191"/>
          <p:cNvSpPr txBox="1"/>
          <p:nvPr/>
        </p:nvSpPr>
        <p:spPr>
          <a:xfrm>
            <a:off x="150850" y="883113"/>
            <a:ext cx="3471600" cy="622800"/>
          </a:xfrm>
          <a:prstGeom prst="rect">
            <a:avLst/>
          </a:prstGeom>
          <a:noFill/>
          <a:ln>
            <a:noFill/>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1360"/>
              <a:buFont typeface="Arial"/>
              <a:buNone/>
            </a:pPr>
            <a:r>
              <a:rPr b="0" i="0" lang="en" sz="1800" u="none" cap="none" strike="noStrike">
                <a:solidFill>
                  <a:schemeClr val="lt1"/>
                </a:solidFill>
                <a:latin typeface="Arial"/>
                <a:ea typeface="Arial"/>
                <a:cs typeface="Arial"/>
                <a:sym typeface="Arial"/>
              </a:rPr>
              <a:t>The business process defines what the model predicts and how the output can be used.</a:t>
            </a:r>
            <a:endParaRPr sz="1800"/>
          </a:p>
        </p:txBody>
      </p:sp>
      <p:sp>
        <p:nvSpPr>
          <p:cNvPr id="680" name="Google Shape;680;g3ee0adc8e96_0_191"/>
          <p:cNvSpPr txBox="1"/>
          <p:nvPr/>
        </p:nvSpPr>
        <p:spPr>
          <a:xfrm>
            <a:off x="8395387" y="186000"/>
            <a:ext cx="3969600" cy="3399900"/>
          </a:xfrm>
          <a:prstGeom prst="rect">
            <a:avLst/>
          </a:prstGeom>
          <a:solidFill>
            <a:srgbClr val="F8FAFC"/>
          </a:solidFill>
          <a:ln cap="flat" cmpd="sng" w="9525">
            <a:solidFill>
              <a:srgbClr val="CBD5E1"/>
            </a:solidFill>
            <a:prstDash val="solid"/>
            <a:round/>
            <a:headEnd len="sm" w="sm" type="none"/>
            <a:tailEnd len="sm" w="sm" type="none"/>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1290"/>
              <a:buFont typeface="Arial"/>
              <a:buNone/>
            </a:pPr>
            <a:r>
              <a:rPr b="0" i="0" lang="en" u="none" cap="none" strike="noStrike">
                <a:solidFill>
                  <a:schemeClr val="dk1"/>
                </a:solidFill>
                <a:latin typeface="Arial"/>
                <a:ea typeface="Arial"/>
                <a:cs typeface="Arial"/>
                <a:sym typeface="Arial"/>
              </a:rPr>
              <a:t>Technical representation</a:t>
            </a:r>
            <a:endParaRPr>
              <a:solidFill>
                <a:schemeClr val="dk1"/>
              </a:solidFill>
            </a:endParaRPr>
          </a:p>
          <a:p>
            <a:pPr indent="-186985" lvl="0" marL="279999" marR="0" rtl="0" algn="l">
              <a:lnSpc>
                <a:spcPct val="100000"/>
              </a:lnSpc>
              <a:spcBef>
                <a:spcPts val="0"/>
              </a:spcBef>
              <a:spcAft>
                <a:spcPts val="0"/>
              </a:spcAft>
              <a:buClr>
                <a:schemeClr val="dk1"/>
              </a:buClr>
              <a:buSzPts val="1400"/>
              <a:buFont typeface="Arial"/>
              <a:buChar char="•"/>
            </a:pPr>
            <a:r>
              <a:rPr b="0" i="0" lang="en" u="none" cap="none" strike="noStrike">
                <a:solidFill>
                  <a:schemeClr val="dk1"/>
                </a:solidFill>
                <a:latin typeface="Arial"/>
                <a:ea typeface="Arial"/>
                <a:cs typeface="Arial"/>
                <a:sym typeface="Arial"/>
              </a:rPr>
              <a:t>Rows represent historical quote observations</a:t>
            </a:r>
            <a:endParaRPr b="0" i="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None/>
            </a:pPr>
            <a:r>
              <a:t/>
            </a:r>
            <a:endParaRPr>
              <a:solidFill>
                <a:schemeClr val="dk1"/>
              </a:solidFill>
            </a:endParaRPr>
          </a:p>
          <a:p>
            <a:pPr indent="-186985" lvl="0" marL="279999" marR="0" rtl="0" algn="l">
              <a:lnSpc>
                <a:spcPct val="100000"/>
              </a:lnSpc>
              <a:spcBef>
                <a:spcPts val="0"/>
              </a:spcBef>
              <a:spcAft>
                <a:spcPts val="0"/>
              </a:spcAft>
              <a:buClr>
                <a:schemeClr val="dk1"/>
              </a:buClr>
              <a:buSzPts val="1400"/>
              <a:buFont typeface="Arial"/>
              <a:buChar char="•"/>
            </a:pPr>
            <a:r>
              <a:rPr b="0" i="0" lang="en" u="none" cap="none" strike="noStrike">
                <a:solidFill>
                  <a:schemeClr val="dk1"/>
                </a:solidFill>
                <a:latin typeface="Arial"/>
                <a:ea typeface="Arial"/>
                <a:cs typeface="Arial"/>
                <a:sym typeface="Arial"/>
              </a:rPr>
              <a:t>Features represent commercial and engineering conditions</a:t>
            </a:r>
            <a:endParaRPr b="0" i="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None/>
            </a:pPr>
            <a:r>
              <a:t/>
            </a:r>
            <a:endParaRPr>
              <a:solidFill>
                <a:schemeClr val="dk1"/>
              </a:solidFill>
            </a:endParaRPr>
          </a:p>
          <a:p>
            <a:pPr indent="-186985" lvl="0" marL="279999" marR="0" rtl="0" algn="l">
              <a:lnSpc>
                <a:spcPct val="100000"/>
              </a:lnSpc>
              <a:spcBef>
                <a:spcPts val="0"/>
              </a:spcBef>
              <a:spcAft>
                <a:spcPts val="0"/>
              </a:spcAft>
              <a:buClr>
                <a:schemeClr val="dk1"/>
              </a:buClr>
              <a:buSzPts val="1400"/>
              <a:buFont typeface="Arial"/>
              <a:buChar char="•"/>
            </a:pPr>
            <a:r>
              <a:rPr b="0" i="0" lang="en" u="none" cap="none" strike="noStrike">
                <a:solidFill>
                  <a:schemeClr val="dk1"/>
                </a:solidFill>
                <a:latin typeface="Arial"/>
                <a:ea typeface="Arial"/>
                <a:cs typeface="Arial"/>
                <a:sym typeface="Arial"/>
              </a:rPr>
              <a:t>Target variable is the observed supplier quote cost</a:t>
            </a:r>
            <a:endParaRPr b="0" i="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None/>
            </a:pPr>
            <a:r>
              <a:t/>
            </a:r>
            <a:endParaRPr>
              <a:solidFill>
                <a:schemeClr val="dk1"/>
              </a:solidFill>
            </a:endParaRPr>
          </a:p>
          <a:p>
            <a:pPr indent="-186985" lvl="0" marL="279999" marR="0" rtl="0" algn="l">
              <a:lnSpc>
                <a:spcPct val="100000"/>
              </a:lnSpc>
              <a:spcBef>
                <a:spcPts val="0"/>
              </a:spcBef>
              <a:spcAft>
                <a:spcPts val="0"/>
              </a:spcAft>
              <a:buClr>
                <a:schemeClr val="dk1"/>
              </a:buClr>
              <a:buSzPts val="1400"/>
              <a:buFont typeface="Arial"/>
              <a:buChar char="•"/>
            </a:pPr>
            <a:r>
              <a:rPr lang="en">
                <a:solidFill>
                  <a:schemeClr val="dk1"/>
                </a:solidFill>
              </a:rPr>
              <a:t>Understanding the bracket and non-bracket pricing regimes is critical because treating them as the same during modeling will introduce errors in the prediction.</a:t>
            </a:r>
            <a:endParaRPr>
              <a:solidFill>
                <a:schemeClr val="dk1"/>
              </a:solidFill>
            </a:endParaRPr>
          </a:p>
        </p:txBody>
      </p:sp>
      <p:sp>
        <p:nvSpPr>
          <p:cNvPr id="681" name="Google Shape;681;g3ee0adc8e96_0_191"/>
          <p:cNvSpPr txBox="1"/>
          <p:nvPr/>
        </p:nvSpPr>
        <p:spPr>
          <a:xfrm>
            <a:off x="755450" y="6230288"/>
            <a:ext cx="8100000" cy="622800"/>
          </a:xfrm>
          <a:prstGeom prst="rect">
            <a:avLst/>
          </a:prstGeom>
          <a:noFill/>
          <a:ln>
            <a:noFill/>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850"/>
              <a:buFont typeface="Arial"/>
              <a:buNone/>
            </a:pPr>
            <a:r>
              <a:rPr b="0" i="1" lang="en" sz="2400" u="none" cap="none" strike="noStrike">
                <a:solidFill>
                  <a:schemeClr val="lt1"/>
                </a:solidFill>
                <a:latin typeface="Arial"/>
                <a:ea typeface="Arial"/>
                <a:cs typeface="Arial"/>
                <a:sym typeface="Arial"/>
              </a:rPr>
              <a:t>Source: Shmueli &amp; Koppius (2011); Liu (2022)</a:t>
            </a:r>
            <a:endParaRPr i="1" sz="2400"/>
          </a:p>
        </p:txBody>
      </p:sp>
      <p:grpSp>
        <p:nvGrpSpPr>
          <p:cNvPr id="682" name="Google Shape;682;g3ee0adc8e96_0_191"/>
          <p:cNvGrpSpPr/>
          <p:nvPr/>
        </p:nvGrpSpPr>
        <p:grpSpPr>
          <a:xfrm>
            <a:off x="-243727" y="1998934"/>
            <a:ext cx="4260756" cy="1232769"/>
            <a:chOff x="-182800" y="1499238"/>
            <a:chExt cx="3195647" cy="924600"/>
          </a:xfrm>
        </p:grpSpPr>
        <p:cxnSp>
          <p:nvCxnSpPr>
            <p:cNvPr id="683" name="Google Shape;683;g3ee0adc8e96_0_191"/>
            <p:cNvCxnSpPr/>
            <p:nvPr/>
          </p:nvCxnSpPr>
          <p:spPr>
            <a:xfrm rot="10800000">
              <a:off x="1787647" y="1915644"/>
              <a:ext cx="1225200" cy="0"/>
            </a:xfrm>
            <a:prstGeom prst="straightConnector1">
              <a:avLst/>
            </a:prstGeom>
            <a:noFill/>
            <a:ln cap="flat" cmpd="sng" w="9525">
              <a:solidFill>
                <a:srgbClr val="249C91"/>
              </a:solidFill>
              <a:prstDash val="solid"/>
              <a:round/>
              <a:headEnd len="sm" w="sm" type="none"/>
              <a:tailEnd len="med" w="med" type="oval"/>
            </a:ln>
          </p:spPr>
        </p:cxnSp>
        <p:sp>
          <p:nvSpPr>
            <p:cNvPr id="684" name="Google Shape;684;g3ee0adc8e96_0_191"/>
            <p:cNvSpPr txBox="1"/>
            <p:nvPr/>
          </p:nvSpPr>
          <p:spPr>
            <a:xfrm>
              <a:off x="-182800" y="1499238"/>
              <a:ext cx="2124000" cy="924600"/>
            </a:xfrm>
            <a:prstGeom prst="rect">
              <a:avLst/>
            </a:prstGeom>
            <a:noFill/>
            <a:ln>
              <a:noFill/>
            </a:ln>
          </p:spPr>
          <p:txBody>
            <a:bodyPr anchorCtr="0" anchor="ctr" bIns="121900" lIns="121900" spcFirstLastPara="1" rIns="121900" wrap="square" tIns="121900">
              <a:noAutofit/>
            </a:bodyPr>
            <a:lstStyle/>
            <a:p>
              <a:pPr indent="0" lvl="0" marL="457200" rtl="0" algn="l">
                <a:spcBef>
                  <a:spcPts val="0"/>
                </a:spcBef>
                <a:spcAft>
                  <a:spcPts val="0"/>
                </a:spcAft>
                <a:buNone/>
              </a:pPr>
              <a:r>
                <a:rPr lang="en" sz="1290">
                  <a:solidFill>
                    <a:srgbClr val="111827"/>
                  </a:solidFill>
                </a:rPr>
                <a:t>Supplier receives request for assembly and quantity</a:t>
              </a:r>
              <a:endParaRPr b="1" sz="1600">
                <a:latin typeface="Roboto"/>
                <a:ea typeface="Roboto"/>
                <a:cs typeface="Roboto"/>
                <a:sym typeface="Roboto"/>
              </a:endParaRPr>
            </a:p>
            <a:p>
              <a:pPr indent="0" lvl="0" marL="0" rtl="0" algn="r">
                <a:spcBef>
                  <a:spcPts val="0"/>
                </a:spcBef>
                <a:spcAft>
                  <a:spcPts val="0"/>
                </a:spcAft>
                <a:buNone/>
              </a:pPr>
              <a:r>
                <a:t/>
              </a:r>
              <a:endParaRPr b="1" sz="1100">
                <a:latin typeface="Roboto"/>
                <a:ea typeface="Roboto"/>
                <a:cs typeface="Roboto"/>
                <a:sym typeface="Roboto"/>
              </a:endParaRPr>
            </a:p>
            <a:p>
              <a:pPr indent="0" lvl="0" marL="0" rtl="0" algn="r">
                <a:spcBef>
                  <a:spcPts val="0"/>
                </a:spcBef>
                <a:spcAft>
                  <a:spcPts val="2100"/>
                </a:spcAft>
                <a:buNone/>
              </a:pPr>
              <a:r>
                <a:t/>
              </a:r>
              <a:endParaRPr b="1" sz="1100">
                <a:latin typeface="Roboto"/>
                <a:ea typeface="Roboto"/>
                <a:cs typeface="Roboto"/>
                <a:sym typeface="Roboto"/>
              </a:endParaRPr>
            </a:p>
          </p:txBody>
        </p:sp>
      </p:grpSp>
      <p:grpSp>
        <p:nvGrpSpPr>
          <p:cNvPr id="685" name="Google Shape;685;g3ee0adc8e96_0_191"/>
          <p:cNvGrpSpPr/>
          <p:nvPr/>
        </p:nvGrpSpPr>
        <p:grpSpPr>
          <a:xfrm>
            <a:off x="6" y="4018861"/>
            <a:ext cx="3541689" cy="1082614"/>
            <a:chOff x="-1181181" y="3014980"/>
            <a:chExt cx="3024758" cy="924600"/>
          </a:xfrm>
        </p:grpSpPr>
        <p:cxnSp>
          <p:nvCxnSpPr>
            <p:cNvPr id="686" name="Google Shape;686;g3ee0adc8e96_0_191"/>
            <p:cNvCxnSpPr/>
            <p:nvPr/>
          </p:nvCxnSpPr>
          <p:spPr>
            <a:xfrm rot="10800000">
              <a:off x="913577" y="3444812"/>
              <a:ext cx="930000" cy="0"/>
            </a:xfrm>
            <a:prstGeom prst="straightConnector1">
              <a:avLst/>
            </a:prstGeom>
            <a:noFill/>
            <a:ln cap="flat" cmpd="sng" w="9525">
              <a:solidFill>
                <a:srgbClr val="1F887E"/>
              </a:solidFill>
              <a:prstDash val="solid"/>
              <a:round/>
              <a:headEnd len="sm" w="sm" type="none"/>
              <a:tailEnd len="med" w="med" type="oval"/>
            </a:ln>
          </p:spPr>
        </p:cxnSp>
        <p:sp>
          <p:nvSpPr>
            <p:cNvPr id="687" name="Google Shape;687;g3ee0adc8e96_0_191"/>
            <p:cNvSpPr txBox="1"/>
            <p:nvPr/>
          </p:nvSpPr>
          <p:spPr>
            <a:xfrm>
              <a:off x="-1181181" y="3014980"/>
              <a:ext cx="2124000" cy="924600"/>
            </a:xfrm>
            <a:prstGeom prst="rect">
              <a:avLst/>
            </a:prstGeom>
            <a:noFill/>
            <a:ln>
              <a:noFill/>
            </a:ln>
          </p:spPr>
          <p:txBody>
            <a:bodyPr anchorCtr="0" anchor="ctr" bIns="107075" lIns="107075" spcFirstLastPara="1" rIns="107075" wrap="square" tIns="107075">
              <a:noAutofit/>
            </a:bodyPr>
            <a:lstStyle/>
            <a:p>
              <a:pPr indent="0" lvl="0" marL="401526" rtl="0" algn="l">
                <a:spcBef>
                  <a:spcPts val="0"/>
                </a:spcBef>
                <a:spcAft>
                  <a:spcPts val="0"/>
                </a:spcAft>
                <a:buNone/>
              </a:pPr>
              <a:r>
                <a:rPr lang="en">
                  <a:solidFill>
                    <a:srgbClr val="111827"/>
                  </a:solidFill>
                </a:rPr>
                <a:t>Supplier prices based on volume, complexity, timing, and risk</a:t>
              </a:r>
              <a:endParaRPr>
                <a:solidFill>
                  <a:schemeClr val="dk1"/>
                </a:solidFill>
              </a:endParaRPr>
            </a:p>
            <a:p>
              <a:pPr indent="0" lvl="0" marL="0" rtl="0" algn="r">
                <a:spcBef>
                  <a:spcPts val="0"/>
                </a:spcBef>
                <a:spcAft>
                  <a:spcPts val="1844"/>
                </a:spcAft>
                <a:buNone/>
              </a:pPr>
              <a:r>
                <a:t/>
              </a:r>
              <a:endParaRPr b="1">
                <a:latin typeface="Roboto"/>
                <a:ea typeface="Roboto"/>
                <a:cs typeface="Roboto"/>
                <a:sym typeface="Roboto"/>
              </a:endParaRPr>
            </a:p>
          </p:txBody>
        </p:sp>
      </p:grpSp>
      <p:grpSp>
        <p:nvGrpSpPr>
          <p:cNvPr id="688" name="Google Shape;688;g3ee0adc8e96_0_191"/>
          <p:cNvGrpSpPr/>
          <p:nvPr/>
        </p:nvGrpSpPr>
        <p:grpSpPr>
          <a:xfrm>
            <a:off x="5326850" y="5080037"/>
            <a:ext cx="4556215" cy="1232643"/>
            <a:chOff x="4657738" y="3549156"/>
            <a:chExt cx="4741612" cy="1282800"/>
          </a:xfrm>
        </p:grpSpPr>
        <p:cxnSp>
          <p:nvCxnSpPr>
            <p:cNvPr id="689" name="Google Shape;689;g3ee0adc8e96_0_191"/>
            <p:cNvCxnSpPr/>
            <p:nvPr/>
          </p:nvCxnSpPr>
          <p:spPr>
            <a:xfrm>
              <a:off x="4657738" y="3854000"/>
              <a:ext cx="1838700" cy="0"/>
            </a:xfrm>
            <a:prstGeom prst="straightConnector1">
              <a:avLst/>
            </a:prstGeom>
            <a:noFill/>
            <a:ln cap="flat" cmpd="sng" w="9525">
              <a:solidFill>
                <a:srgbClr val="1D7E75"/>
              </a:solidFill>
              <a:prstDash val="solid"/>
              <a:round/>
              <a:headEnd len="sm" w="sm" type="none"/>
              <a:tailEnd len="med" w="med" type="oval"/>
            </a:ln>
          </p:spPr>
        </p:cxnSp>
        <p:sp>
          <p:nvSpPr>
            <p:cNvPr id="690" name="Google Shape;690;g3ee0adc8e96_0_191"/>
            <p:cNvSpPr txBox="1"/>
            <p:nvPr/>
          </p:nvSpPr>
          <p:spPr>
            <a:xfrm>
              <a:off x="6437449" y="3549156"/>
              <a:ext cx="2961900" cy="1282800"/>
            </a:xfrm>
            <a:prstGeom prst="rect">
              <a:avLst/>
            </a:prstGeom>
            <a:noFill/>
            <a:ln>
              <a:noFill/>
            </a:ln>
          </p:spPr>
          <p:txBody>
            <a:bodyPr anchorCtr="0" anchor="ctr" bIns="87850" lIns="87850" spcFirstLastPara="1" rIns="87850" wrap="square" tIns="87850">
              <a:noAutofit/>
            </a:bodyPr>
            <a:lstStyle/>
            <a:p>
              <a:pPr indent="0" lvl="0" marL="329494" rtl="0" algn="l">
                <a:spcBef>
                  <a:spcPts val="0"/>
                </a:spcBef>
                <a:spcAft>
                  <a:spcPts val="0"/>
                </a:spcAft>
                <a:buNone/>
              </a:pPr>
              <a:r>
                <a:rPr lang="en" sz="1800">
                  <a:solidFill>
                    <a:srgbClr val="111827"/>
                  </a:solidFill>
                </a:rPr>
                <a:t>Buyer compares quotes and negotiates with suppliers</a:t>
              </a:r>
              <a:endParaRPr sz="1800">
                <a:solidFill>
                  <a:srgbClr val="111827"/>
                </a:solidFill>
              </a:endParaRPr>
            </a:p>
            <a:p>
              <a:pPr indent="0" lvl="0" marL="0" rtl="0" algn="l">
                <a:spcBef>
                  <a:spcPts val="0"/>
                </a:spcBef>
                <a:spcAft>
                  <a:spcPts val="1513"/>
                </a:spcAft>
                <a:buNone/>
              </a:pPr>
              <a:r>
                <a:t/>
              </a:r>
              <a:endParaRPr b="1" sz="1153">
                <a:latin typeface="Roboto"/>
                <a:ea typeface="Roboto"/>
                <a:cs typeface="Roboto"/>
                <a:sym typeface="Roboto"/>
              </a:endParaRPr>
            </a:p>
          </p:txBody>
        </p:sp>
      </p:grpSp>
      <p:grpSp>
        <p:nvGrpSpPr>
          <p:cNvPr id="691" name="Google Shape;691;g3ee0adc8e96_0_191"/>
          <p:cNvGrpSpPr/>
          <p:nvPr/>
        </p:nvGrpSpPr>
        <p:grpSpPr>
          <a:xfrm>
            <a:off x="4642250" y="811425"/>
            <a:ext cx="3899891" cy="1676011"/>
            <a:chOff x="3606140" y="1023015"/>
            <a:chExt cx="5112600" cy="795638"/>
          </a:xfrm>
        </p:grpSpPr>
        <p:sp>
          <p:nvSpPr>
            <p:cNvPr id="692" name="Google Shape;692;g3ee0adc8e96_0_191"/>
            <p:cNvSpPr txBox="1"/>
            <p:nvPr/>
          </p:nvSpPr>
          <p:spPr>
            <a:xfrm>
              <a:off x="3606140" y="1023015"/>
              <a:ext cx="5112600" cy="320100"/>
            </a:xfrm>
            <a:prstGeom prst="rect">
              <a:avLst/>
            </a:prstGeom>
            <a:noFill/>
            <a:ln>
              <a:noFill/>
            </a:ln>
          </p:spPr>
          <p:txBody>
            <a:bodyPr anchorCtr="0" anchor="ctr" bIns="121900" lIns="121900" spcFirstLastPara="1" rIns="121900" wrap="square" tIns="121900">
              <a:noAutofit/>
            </a:bodyPr>
            <a:lstStyle/>
            <a:p>
              <a:pPr indent="0" lvl="0" marL="457200" rtl="0" algn="l">
                <a:spcBef>
                  <a:spcPts val="0"/>
                </a:spcBef>
                <a:spcAft>
                  <a:spcPts val="0"/>
                </a:spcAft>
                <a:buNone/>
              </a:pPr>
              <a:r>
                <a:rPr lang="en" sz="1600">
                  <a:solidFill>
                    <a:schemeClr val="dk1"/>
                  </a:solidFill>
                </a:rPr>
                <a:t>Non-bracket pricing applies a fixed rate once minimum order quantity is reached.</a:t>
              </a:r>
              <a:endParaRPr b="1" sz="1600">
                <a:latin typeface="Roboto"/>
                <a:ea typeface="Roboto"/>
                <a:cs typeface="Roboto"/>
                <a:sym typeface="Roboto"/>
              </a:endParaRPr>
            </a:p>
          </p:txBody>
        </p:sp>
        <p:cxnSp>
          <p:nvCxnSpPr>
            <p:cNvPr id="693" name="Google Shape;693;g3ee0adc8e96_0_191"/>
            <p:cNvCxnSpPr/>
            <p:nvPr/>
          </p:nvCxnSpPr>
          <p:spPr>
            <a:xfrm flipH="1" rot="10800000">
              <a:off x="5029658" y="1476653"/>
              <a:ext cx="296400" cy="342000"/>
            </a:xfrm>
            <a:prstGeom prst="straightConnector1">
              <a:avLst/>
            </a:prstGeom>
            <a:noFill/>
            <a:ln cap="flat" cmpd="sng" w="9525">
              <a:solidFill>
                <a:srgbClr val="155B55"/>
              </a:solidFill>
              <a:prstDash val="solid"/>
              <a:round/>
              <a:headEnd len="sm" w="sm" type="none"/>
              <a:tailEnd len="med" w="med" type="oval"/>
            </a:ln>
          </p:spPr>
        </p:cxnSp>
      </p:grpSp>
      <p:grpSp>
        <p:nvGrpSpPr>
          <p:cNvPr id="694" name="Google Shape;694;g3ee0adc8e96_0_191"/>
          <p:cNvGrpSpPr/>
          <p:nvPr/>
        </p:nvGrpSpPr>
        <p:grpSpPr>
          <a:xfrm>
            <a:off x="6341273" y="3943850"/>
            <a:ext cx="4964736" cy="1020111"/>
            <a:chOff x="5610288" y="2313360"/>
            <a:chExt cx="4499896" cy="924600"/>
          </a:xfrm>
        </p:grpSpPr>
        <p:cxnSp>
          <p:nvCxnSpPr>
            <p:cNvPr id="695" name="Google Shape;695;g3ee0adc8e96_0_191"/>
            <p:cNvCxnSpPr/>
            <p:nvPr/>
          </p:nvCxnSpPr>
          <p:spPr>
            <a:xfrm>
              <a:off x="5610288" y="2775650"/>
              <a:ext cx="886200" cy="0"/>
            </a:xfrm>
            <a:prstGeom prst="straightConnector1">
              <a:avLst/>
            </a:prstGeom>
            <a:noFill/>
            <a:ln cap="flat" cmpd="sng" w="9525">
              <a:solidFill>
                <a:srgbClr val="1B786F"/>
              </a:solidFill>
              <a:prstDash val="solid"/>
              <a:round/>
              <a:headEnd len="sm" w="sm" type="none"/>
              <a:tailEnd len="med" w="med" type="oval"/>
            </a:ln>
          </p:spPr>
        </p:cxnSp>
        <p:sp>
          <p:nvSpPr>
            <p:cNvPr id="696" name="Google Shape;696;g3ee0adc8e96_0_191"/>
            <p:cNvSpPr txBox="1"/>
            <p:nvPr/>
          </p:nvSpPr>
          <p:spPr>
            <a:xfrm>
              <a:off x="6696484" y="2313360"/>
              <a:ext cx="3413700" cy="924600"/>
            </a:xfrm>
            <a:prstGeom prst="rect">
              <a:avLst/>
            </a:prstGeom>
            <a:noFill/>
            <a:ln>
              <a:noFill/>
            </a:ln>
          </p:spPr>
          <p:txBody>
            <a:bodyPr anchorCtr="0" anchor="ctr" bIns="100875" lIns="100875" spcFirstLastPara="1" rIns="100875" wrap="square" tIns="100875">
              <a:noAutofit/>
            </a:bodyPr>
            <a:lstStyle/>
            <a:p>
              <a:pPr indent="0" lvl="0" marL="378320" rtl="0" algn="l">
                <a:spcBef>
                  <a:spcPts val="0"/>
                </a:spcBef>
                <a:spcAft>
                  <a:spcPts val="0"/>
                </a:spcAft>
                <a:buNone/>
              </a:pPr>
              <a:r>
                <a:rPr lang="en" sz="1800">
                  <a:solidFill>
                    <a:schemeClr val="dk1"/>
                  </a:solidFill>
                </a:rPr>
                <a:t>Bracket pricing changes with quantity ordered, larger orders attract low unit price.</a:t>
              </a:r>
              <a:endParaRPr b="1" sz="1800">
                <a:latin typeface="Roboto"/>
                <a:ea typeface="Roboto"/>
                <a:cs typeface="Roboto"/>
                <a:sym typeface="Roboto"/>
              </a:endParaRPr>
            </a:p>
          </p:txBody>
        </p:sp>
      </p:grpSp>
      <p:grpSp>
        <p:nvGrpSpPr>
          <p:cNvPr id="697" name="Google Shape;697;g3ee0adc8e96_0_191"/>
          <p:cNvGrpSpPr/>
          <p:nvPr/>
        </p:nvGrpSpPr>
        <p:grpSpPr>
          <a:xfrm>
            <a:off x="2588189" y="1648924"/>
            <a:ext cx="4635648" cy="4445421"/>
            <a:chOff x="2610905" y="610653"/>
            <a:chExt cx="3922200" cy="3922200"/>
          </a:xfrm>
        </p:grpSpPr>
        <p:sp>
          <p:nvSpPr>
            <p:cNvPr id="698" name="Google Shape;698;g3ee0adc8e96_0_191"/>
            <p:cNvSpPr/>
            <p:nvPr/>
          </p:nvSpPr>
          <p:spPr>
            <a:xfrm rot="-4980021">
              <a:off x="3204123" y="1186472"/>
              <a:ext cx="2771960" cy="2771960"/>
            </a:xfrm>
            <a:prstGeom prst="blockArc">
              <a:avLst>
                <a:gd fmla="val 12602522" name="adj1"/>
                <a:gd fmla="val 16867657" name="adj2"/>
                <a:gd fmla="val 20844" name="adj3"/>
              </a:avLst>
            </a:prstGeom>
            <a:solidFill>
              <a:srgbClr val="1F887E"/>
            </a:solidFill>
            <a:ln>
              <a:noFill/>
            </a:ln>
          </p:spPr>
          <p:txBody>
            <a:bodyPr anchorCtr="0" anchor="ctr" bIns="103800" lIns="103800" spcFirstLastPara="1" rIns="103800" wrap="square" tIns="103800">
              <a:noAutofit/>
            </a:bodyPr>
            <a:lstStyle/>
            <a:p>
              <a:pPr indent="0" lvl="0" marL="0" rtl="0" algn="l">
                <a:spcBef>
                  <a:spcPts val="0"/>
                </a:spcBef>
                <a:spcAft>
                  <a:spcPts val="0"/>
                </a:spcAft>
                <a:buNone/>
              </a:pPr>
              <a:r>
                <a:t/>
              </a:r>
              <a:endParaRPr/>
            </a:p>
          </p:txBody>
        </p:sp>
        <p:sp>
          <p:nvSpPr>
            <p:cNvPr id="699" name="Google Shape;699;g3ee0adc8e96_0_191"/>
            <p:cNvSpPr/>
            <p:nvPr/>
          </p:nvSpPr>
          <p:spPr>
            <a:xfrm rot="7920309">
              <a:off x="3183402" y="1183149"/>
              <a:ext cx="2777207" cy="2777207"/>
            </a:xfrm>
            <a:prstGeom prst="blockArc">
              <a:avLst>
                <a:gd fmla="val 12602522" name="adj1"/>
                <a:gd fmla="val 16867657" name="adj2"/>
                <a:gd fmla="val 20844" name="adj3"/>
              </a:avLst>
            </a:prstGeom>
            <a:solidFill>
              <a:srgbClr val="1B786F"/>
            </a:solidFill>
            <a:ln>
              <a:noFill/>
            </a:ln>
          </p:spPr>
          <p:txBody>
            <a:bodyPr anchorCtr="0" anchor="ctr" bIns="103800" lIns="103800" spcFirstLastPara="1" rIns="103800" wrap="square" tIns="103800">
              <a:noAutofit/>
            </a:bodyPr>
            <a:lstStyle/>
            <a:p>
              <a:pPr indent="0" lvl="0" marL="0" rtl="0" algn="l">
                <a:spcBef>
                  <a:spcPts val="0"/>
                </a:spcBef>
                <a:spcAft>
                  <a:spcPts val="0"/>
                </a:spcAft>
                <a:buNone/>
              </a:pPr>
              <a:r>
                <a:t/>
              </a:r>
              <a:endParaRPr/>
            </a:p>
          </p:txBody>
        </p:sp>
        <p:sp>
          <p:nvSpPr>
            <p:cNvPr id="700" name="Google Shape;700;g3ee0adc8e96_0_191"/>
            <p:cNvSpPr/>
            <p:nvPr/>
          </p:nvSpPr>
          <p:spPr>
            <a:xfrm rot="3600063">
              <a:off x="3186335" y="1195681"/>
              <a:ext cx="2777488" cy="2777488"/>
            </a:xfrm>
            <a:prstGeom prst="blockArc">
              <a:avLst>
                <a:gd fmla="val 12602522" name="adj1"/>
                <a:gd fmla="val 16867657" name="adj2"/>
                <a:gd fmla="val 20844" name="adj3"/>
              </a:avLst>
            </a:prstGeom>
            <a:solidFill>
              <a:srgbClr val="155B55"/>
            </a:solidFill>
            <a:ln>
              <a:noFill/>
            </a:ln>
          </p:spPr>
          <p:txBody>
            <a:bodyPr anchorCtr="0" anchor="ctr" bIns="103800" lIns="103800" spcFirstLastPara="1" rIns="103800" wrap="square" tIns="103800">
              <a:noAutofit/>
            </a:bodyPr>
            <a:lstStyle/>
            <a:p>
              <a:pPr indent="0" lvl="0" marL="0" rtl="0" algn="l">
                <a:spcBef>
                  <a:spcPts val="0"/>
                </a:spcBef>
                <a:spcAft>
                  <a:spcPts val="0"/>
                </a:spcAft>
                <a:buNone/>
              </a:pPr>
              <a:r>
                <a:t/>
              </a:r>
              <a:endParaRPr/>
            </a:p>
          </p:txBody>
        </p:sp>
        <p:sp>
          <p:nvSpPr>
            <p:cNvPr id="701" name="Google Shape;701;g3ee0adc8e96_0_191"/>
            <p:cNvSpPr/>
            <p:nvPr/>
          </p:nvSpPr>
          <p:spPr>
            <a:xfrm rot="4024705">
              <a:off x="5326681" y="1940898"/>
              <a:ext cx="578477" cy="579147"/>
            </a:xfrm>
            <a:prstGeom prst="pie">
              <a:avLst>
                <a:gd fmla="val 6190354" name="adj1"/>
                <a:gd fmla="val 14996165" name="adj2"/>
              </a:avLst>
            </a:prstGeom>
            <a:solidFill>
              <a:srgbClr val="1B786F"/>
            </a:solidFill>
            <a:ln>
              <a:noFill/>
            </a:ln>
            <a:effectLst>
              <a:outerShdw blurRad="162199" rotWithShape="0" algn="bl">
                <a:srgbClr val="000000">
                  <a:alpha val="43000"/>
                </a:srgbClr>
              </a:outerShdw>
            </a:effectLst>
          </p:spPr>
          <p:txBody>
            <a:bodyPr anchorCtr="0" anchor="ctr" bIns="103800" lIns="103800" spcFirstLastPara="1" rIns="103800" wrap="square" tIns="103800">
              <a:noAutofit/>
            </a:bodyPr>
            <a:lstStyle/>
            <a:p>
              <a:pPr indent="0" lvl="0" marL="0" rtl="0" algn="l">
                <a:spcBef>
                  <a:spcPts val="0"/>
                </a:spcBef>
                <a:spcAft>
                  <a:spcPts val="0"/>
                </a:spcAft>
                <a:buNone/>
              </a:pPr>
              <a:r>
                <a:t/>
              </a:r>
              <a:endParaRPr/>
            </a:p>
          </p:txBody>
        </p:sp>
        <p:sp>
          <p:nvSpPr>
            <p:cNvPr id="702" name="Google Shape;702;g3ee0adc8e96_0_191"/>
            <p:cNvSpPr/>
            <p:nvPr/>
          </p:nvSpPr>
          <p:spPr>
            <a:xfrm rot="-6816027">
              <a:off x="5326729" y="1940918"/>
              <a:ext cx="578485" cy="579035"/>
            </a:xfrm>
            <a:prstGeom prst="pie">
              <a:avLst>
                <a:gd fmla="val 4028252" name="adj1"/>
                <a:gd fmla="val 17183677" name="adj2"/>
              </a:avLst>
            </a:prstGeom>
            <a:solidFill>
              <a:srgbClr val="1B786F"/>
            </a:solidFill>
            <a:ln>
              <a:noFill/>
            </a:ln>
          </p:spPr>
          <p:txBody>
            <a:bodyPr anchorCtr="0" anchor="ctr" bIns="103800" lIns="103800" spcFirstLastPara="1" rIns="103800" wrap="square" tIns="103800">
              <a:noAutofit/>
            </a:bodyPr>
            <a:lstStyle/>
            <a:p>
              <a:pPr indent="0" lvl="0" marL="0" rtl="0" algn="l">
                <a:spcBef>
                  <a:spcPts val="0"/>
                </a:spcBef>
                <a:spcAft>
                  <a:spcPts val="0"/>
                </a:spcAft>
                <a:buNone/>
              </a:pPr>
              <a:r>
                <a:t/>
              </a:r>
              <a:endParaRPr sz="1192"/>
            </a:p>
          </p:txBody>
        </p:sp>
        <p:sp>
          <p:nvSpPr>
            <p:cNvPr id="703" name="Google Shape;703;g3ee0adc8e96_0_191"/>
            <p:cNvSpPr/>
            <p:nvPr/>
          </p:nvSpPr>
          <p:spPr>
            <a:xfrm rot="-9359762">
              <a:off x="3193941" y="1176205"/>
              <a:ext cx="2777287" cy="2777287"/>
            </a:xfrm>
            <a:prstGeom prst="blockArc">
              <a:avLst>
                <a:gd fmla="val 12602522" name="adj1"/>
                <a:gd fmla="val 16867657" name="adj2"/>
                <a:gd fmla="val 20844" name="adj3"/>
              </a:avLst>
            </a:prstGeom>
            <a:solidFill>
              <a:srgbClr val="1D7E75"/>
            </a:solidFill>
            <a:ln>
              <a:noFill/>
            </a:ln>
          </p:spPr>
          <p:txBody>
            <a:bodyPr anchorCtr="0" anchor="ctr" bIns="103800" lIns="103800" spcFirstLastPara="1" rIns="103800" wrap="square" tIns="103800">
              <a:noAutofit/>
            </a:bodyPr>
            <a:lstStyle/>
            <a:p>
              <a:pPr indent="0" lvl="0" marL="0" rtl="0" algn="l">
                <a:spcBef>
                  <a:spcPts val="0"/>
                </a:spcBef>
                <a:spcAft>
                  <a:spcPts val="0"/>
                </a:spcAft>
                <a:buNone/>
              </a:pPr>
              <a:r>
                <a:t/>
              </a:r>
              <a:endParaRPr/>
            </a:p>
          </p:txBody>
        </p:sp>
        <p:sp>
          <p:nvSpPr>
            <p:cNvPr id="704" name="Google Shape;704;g3ee0adc8e96_0_191"/>
            <p:cNvSpPr/>
            <p:nvPr/>
          </p:nvSpPr>
          <p:spPr>
            <a:xfrm rot="-8936366">
              <a:off x="3659126" y="3173505"/>
              <a:ext cx="578551" cy="578963"/>
            </a:xfrm>
            <a:prstGeom prst="pie">
              <a:avLst>
                <a:gd fmla="val 6190354" name="adj1"/>
                <a:gd fmla="val 14996165" name="adj2"/>
              </a:avLst>
            </a:prstGeom>
            <a:solidFill>
              <a:srgbClr val="1F887E"/>
            </a:solidFill>
            <a:ln>
              <a:noFill/>
            </a:ln>
            <a:effectLst>
              <a:outerShdw blurRad="162199" rotWithShape="0" algn="bl">
                <a:srgbClr val="000000">
                  <a:alpha val="43000"/>
                </a:srgbClr>
              </a:outerShdw>
            </a:effectLst>
          </p:spPr>
          <p:txBody>
            <a:bodyPr anchorCtr="0" anchor="ctr" bIns="103800" lIns="103800" spcFirstLastPara="1" rIns="103800" wrap="square" tIns="103800">
              <a:noAutofit/>
            </a:bodyPr>
            <a:lstStyle/>
            <a:p>
              <a:pPr indent="0" lvl="0" marL="0" rtl="0" algn="l">
                <a:spcBef>
                  <a:spcPts val="0"/>
                </a:spcBef>
                <a:spcAft>
                  <a:spcPts val="0"/>
                </a:spcAft>
                <a:buNone/>
              </a:pPr>
              <a:r>
                <a:t/>
              </a:r>
              <a:endParaRPr/>
            </a:p>
          </p:txBody>
        </p:sp>
        <p:sp>
          <p:nvSpPr>
            <p:cNvPr id="705" name="Google Shape;705;g3ee0adc8e96_0_191"/>
            <p:cNvSpPr/>
            <p:nvPr/>
          </p:nvSpPr>
          <p:spPr>
            <a:xfrm rot="1824498">
              <a:off x="3659375" y="3173497"/>
              <a:ext cx="578475" cy="578885"/>
            </a:xfrm>
            <a:prstGeom prst="pie">
              <a:avLst>
                <a:gd fmla="val 4028252" name="adj1"/>
                <a:gd fmla="val 17183677" name="adj2"/>
              </a:avLst>
            </a:prstGeom>
            <a:solidFill>
              <a:srgbClr val="1F887E"/>
            </a:solidFill>
            <a:ln>
              <a:noFill/>
            </a:ln>
          </p:spPr>
          <p:txBody>
            <a:bodyPr anchorCtr="0" anchor="ctr" bIns="103800" lIns="103800" spcFirstLastPara="1" rIns="103800" wrap="square" tIns="103800">
              <a:noAutofit/>
            </a:bodyPr>
            <a:lstStyle/>
            <a:p>
              <a:pPr indent="0" lvl="0" marL="0" rtl="0" algn="l">
                <a:spcBef>
                  <a:spcPts val="0"/>
                </a:spcBef>
                <a:spcAft>
                  <a:spcPts val="0"/>
                </a:spcAft>
                <a:buNone/>
              </a:pPr>
              <a:r>
                <a:t/>
              </a:r>
              <a:endParaRPr/>
            </a:p>
          </p:txBody>
        </p:sp>
        <p:sp>
          <p:nvSpPr>
            <p:cNvPr id="706" name="Google Shape;706;g3ee0adc8e96_0_191"/>
            <p:cNvSpPr/>
            <p:nvPr/>
          </p:nvSpPr>
          <p:spPr>
            <a:xfrm rot="-600092">
              <a:off x="3198852" y="1195456"/>
              <a:ext cx="2777611" cy="2777611"/>
            </a:xfrm>
            <a:prstGeom prst="blockArc">
              <a:avLst>
                <a:gd fmla="val 12513247" name="adj1"/>
                <a:gd fmla="val 16867657" name="adj2"/>
                <a:gd fmla="val 20844" name="adj3"/>
              </a:avLst>
            </a:prstGeom>
            <a:solidFill>
              <a:srgbClr val="249C91"/>
            </a:solidFill>
            <a:ln>
              <a:noFill/>
            </a:ln>
          </p:spPr>
          <p:txBody>
            <a:bodyPr anchorCtr="0" anchor="ctr" bIns="103800" lIns="103800" spcFirstLastPara="1" rIns="103800" wrap="square" tIns="103800">
              <a:noAutofit/>
            </a:bodyPr>
            <a:lstStyle/>
            <a:p>
              <a:pPr indent="0" lvl="0" marL="0" rtl="0" algn="l">
                <a:spcBef>
                  <a:spcPts val="0"/>
                </a:spcBef>
                <a:spcAft>
                  <a:spcPts val="0"/>
                </a:spcAft>
                <a:buNone/>
              </a:pPr>
              <a:r>
                <a:t/>
              </a:r>
              <a:endParaRPr/>
            </a:p>
          </p:txBody>
        </p:sp>
        <p:sp>
          <p:nvSpPr>
            <p:cNvPr id="707" name="Google Shape;707;g3ee0adc8e96_0_191"/>
            <p:cNvSpPr/>
            <p:nvPr/>
          </p:nvSpPr>
          <p:spPr>
            <a:xfrm rot="-176551">
              <a:off x="4312105" y="1195442"/>
              <a:ext cx="578563" cy="579162"/>
            </a:xfrm>
            <a:prstGeom prst="pie">
              <a:avLst>
                <a:gd fmla="val 6190354" name="adj1"/>
                <a:gd fmla="val 14996165" name="adj2"/>
              </a:avLst>
            </a:prstGeom>
            <a:solidFill>
              <a:srgbClr val="155B55"/>
            </a:solidFill>
            <a:ln>
              <a:noFill/>
            </a:ln>
            <a:effectLst>
              <a:outerShdw blurRad="162199" rotWithShape="0" algn="bl">
                <a:srgbClr val="000000">
                  <a:alpha val="43000"/>
                </a:srgbClr>
              </a:outerShdw>
            </a:effectLst>
          </p:spPr>
          <p:txBody>
            <a:bodyPr anchorCtr="0" anchor="ctr" bIns="103800" lIns="103800" spcFirstLastPara="1" rIns="103800" wrap="square" tIns="103800">
              <a:noAutofit/>
            </a:bodyPr>
            <a:lstStyle/>
            <a:p>
              <a:pPr indent="0" lvl="0" marL="0" rtl="0" algn="l">
                <a:spcBef>
                  <a:spcPts val="0"/>
                </a:spcBef>
                <a:spcAft>
                  <a:spcPts val="0"/>
                </a:spcAft>
                <a:buNone/>
              </a:pPr>
              <a:r>
                <a:t/>
              </a:r>
              <a:endParaRPr/>
            </a:p>
          </p:txBody>
        </p:sp>
        <p:sp>
          <p:nvSpPr>
            <p:cNvPr id="708" name="Google Shape;708;g3ee0adc8e96_0_191"/>
            <p:cNvSpPr/>
            <p:nvPr/>
          </p:nvSpPr>
          <p:spPr>
            <a:xfrm rot="10584085">
              <a:off x="4312088" y="1195622"/>
              <a:ext cx="578340" cy="578939"/>
            </a:xfrm>
            <a:prstGeom prst="pie">
              <a:avLst>
                <a:gd fmla="val 4028252" name="adj1"/>
                <a:gd fmla="val 17183677" name="adj2"/>
              </a:avLst>
            </a:prstGeom>
            <a:solidFill>
              <a:srgbClr val="155B55"/>
            </a:solidFill>
            <a:ln>
              <a:noFill/>
            </a:ln>
          </p:spPr>
          <p:txBody>
            <a:bodyPr anchorCtr="0" anchor="ctr" bIns="103800" lIns="103800" spcFirstLastPara="1" rIns="103800" wrap="square" tIns="103800">
              <a:noAutofit/>
            </a:bodyPr>
            <a:lstStyle/>
            <a:p>
              <a:pPr indent="0" lvl="0" marL="0" rtl="0" algn="l">
                <a:spcBef>
                  <a:spcPts val="0"/>
                </a:spcBef>
                <a:spcAft>
                  <a:spcPts val="0"/>
                </a:spcAft>
                <a:buNone/>
              </a:pPr>
              <a:r>
                <a:t/>
              </a:r>
              <a:endParaRPr/>
            </a:p>
          </p:txBody>
        </p:sp>
        <p:sp>
          <p:nvSpPr>
            <p:cNvPr id="709" name="Google Shape;709;g3ee0adc8e96_0_191"/>
            <p:cNvSpPr/>
            <p:nvPr/>
          </p:nvSpPr>
          <p:spPr>
            <a:xfrm rot="8344778">
              <a:off x="4940929" y="3162886"/>
              <a:ext cx="578465" cy="578888"/>
            </a:xfrm>
            <a:prstGeom prst="pie">
              <a:avLst>
                <a:gd fmla="val 6190354" name="adj1"/>
                <a:gd fmla="val 14996165" name="adj2"/>
              </a:avLst>
            </a:prstGeom>
            <a:solidFill>
              <a:srgbClr val="1D7E75"/>
            </a:solidFill>
            <a:ln>
              <a:noFill/>
            </a:ln>
            <a:effectLst>
              <a:outerShdw blurRad="162199" rotWithShape="0" algn="bl">
                <a:srgbClr val="000000">
                  <a:alpha val="43000"/>
                </a:srgbClr>
              </a:outerShdw>
            </a:effectLst>
          </p:spPr>
          <p:txBody>
            <a:bodyPr anchorCtr="0" anchor="ctr" bIns="103800" lIns="103800" spcFirstLastPara="1" rIns="103800" wrap="square" tIns="103800">
              <a:noAutofit/>
            </a:bodyPr>
            <a:lstStyle/>
            <a:p>
              <a:pPr indent="0" lvl="0" marL="0" rtl="0" algn="l">
                <a:spcBef>
                  <a:spcPts val="0"/>
                </a:spcBef>
                <a:spcAft>
                  <a:spcPts val="0"/>
                </a:spcAft>
                <a:buNone/>
              </a:pPr>
              <a:r>
                <a:t/>
              </a:r>
              <a:endParaRPr/>
            </a:p>
          </p:txBody>
        </p:sp>
        <p:sp>
          <p:nvSpPr>
            <p:cNvPr id="710" name="Google Shape;710;g3ee0adc8e96_0_191"/>
            <p:cNvSpPr/>
            <p:nvPr/>
          </p:nvSpPr>
          <p:spPr>
            <a:xfrm rot="-2495643">
              <a:off x="4941000" y="3162728"/>
              <a:ext cx="578445" cy="579093"/>
            </a:xfrm>
            <a:prstGeom prst="pie">
              <a:avLst>
                <a:gd fmla="val 4028252" name="adj1"/>
                <a:gd fmla="val 17183677" name="adj2"/>
              </a:avLst>
            </a:prstGeom>
            <a:solidFill>
              <a:srgbClr val="1D7E75"/>
            </a:solidFill>
            <a:ln>
              <a:noFill/>
            </a:ln>
          </p:spPr>
          <p:txBody>
            <a:bodyPr anchorCtr="0" anchor="ctr" bIns="103800" lIns="103800" spcFirstLastPara="1" rIns="103800" wrap="square" tIns="103800">
              <a:noAutofit/>
            </a:bodyPr>
            <a:lstStyle/>
            <a:p>
              <a:pPr indent="0" lvl="0" marL="0" rtl="0" algn="l">
                <a:spcBef>
                  <a:spcPts val="0"/>
                </a:spcBef>
                <a:spcAft>
                  <a:spcPts val="0"/>
                </a:spcAft>
                <a:buNone/>
              </a:pPr>
              <a:r>
                <a:t/>
              </a:r>
              <a:endParaRPr/>
            </a:p>
          </p:txBody>
        </p:sp>
        <p:sp>
          <p:nvSpPr>
            <p:cNvPr id="711" name="Google Shape;711;g3ee0adc8e96_0_191"/>
            <p:cNvSpPr/>
            <p:nvPr/>
          </p:nvSpPr>
          <p:spPr>
            <a:xfrm rot="-4556960">
              <a:off x="3257335" y="1939059"/>
              <a:ext cx="578302" cy="578957"/>
            </a:xfrm>
            <a:prstGeom prst="pie">
              <a:avLst>
                <a:gd fmla="val 6190354" name="adj1"/>
                <a:gd fmla="val 14996165" name="adj2"/>
              </a:avLst>
            </a:prstGeom>
            <a:solidFill>
              <a:srgbClr val="249C91"/>
            </a:solidFill>
            <a:ln>
              <a:noFill/>
            </a:ln>
            <a:effectLst>
              <a:outerShdw blurRad="162199" rotWithShape="0" algn="bl">
                <a:srgbClr val="000000">
                  <a:alpha val="43000"/>
                </a:srgbClr>
              </a:outerShdw>
            </a:effectLst>
          </p:spPr>
          <p:txBody>
            <a:bodyPr anchorCtr="0" anchor="ctr" bIns="103800" lIns="103800" spcFirstLastPara="1" rIns="103800" wrap="square" tIns="103800">
              <a:noAutofit/>
            </a:bodyPr>
            <a:lstStyle/>
            <a:p>
              <a:pPr indent="0" lvl="0" marL="0" rtl="0" algn="l">
                <a:spcBef>
                  <a:spcPts val="0"/>
                </a:spcBef>
                <a:spcAft>
                  <a:spcPts val="0"/>
                </a:spcAft>
                <a:buNone/>
              </a:pPr>
              <a:r>
                <a:t/>
              </a:r>
              <a:endParaRPr/>
            </a:p>
          </p:txBody>
        </p:sp>
        <p:sp>
          <p:nvSpPr>
            <p:cNvPr id="712" name="Google Shape;712;g3ee0adc8e96_0_191"/>
            <p:cNvSpPr/>
            <p:nvPr/>
          </p:nvSpPr>
          <p:spPr>
            <a:xfrm rot="6204541">
              <a:off x="3257468" y="1938977"/>
              <a:ext cx="578264" cy="578917"/>
            </a:xfrm>
            <a:prstGeom prst="pie">
              <a:avLst>
                <a:gd fmla="val 4028252" name="adj1"/>
                <a:gd fmla="val 17183677" name="adj2"/>
              </a:avLst>
            </a:prstGeom>
            <a:solidFill>
              <a:srgbClr val="249C91"/>
            </a:solidFill>
            <a:ln>
              <a:noFill/>
            </a:ln>
          </p:spPr>
          <p:txBody>
            <a:bodyPr anchorCtr="0" anchor="ctr" bIns="103800" lIns="103800" spcFirstLastPara="1" rIns="103800" wrap="square" tIns="103800">
              <a:noAutofit/>
            </a:bodyPr>
            <a:lstStyle/>
            <a:p>
              <a:pPr indent="0" lvl="0" marL="0" rtl="0" algn="l">
                <a:spcBef>
                  <a:spcPts val="0"/>
                </a:spcBef>
                <a:spcAft>
                  <a:spcPts val="0"/>
                </a:spcAft>
                <a:buNone/>
              </a:pPr>
              <a:r>
                <a:t/>
              </a:r>
              <a:endParaRPr/>
            </a:p>
          </p:txBody>
        </p:sp>
        <p:sp>
          <p:nvSpPr>
            <p:cNvPr id="713" name="Google Shape;713;g3ee0adc8e96_0_191"/>
            <p:cNvSpPr txBox="1"/>
            <p:nvPr/>
          </p:nvSpPr>
          <p:spPr>
            <a:xfrm>
              <a:off x="4341900" y="1271896"/>
              <a:ext cx="507900" cy="266100"/>
            </a:xfrm>
            <a:prstGeom prst="rect">
              <a:avLst/>
            </a:prstGeom>
            <a:noFill/>
            <a:ln>
              <a:noFill/>
            </a:ln>
          </p:spPr>
          <p:txBody>
            <a:bodyPr anchorCtr="0" anchor="t" bIns="103800" lIns="103800" spcFirstLastPara="1" rIns="103800" wrap="square" tIns="103800">
              <a:noAutofit/>
            </a:bodyPr>
            <a:lstStyle/>
            <a:p>
              <a:pPr indent="0" lvl="0" marL="0" rtl="0" algn="ctr">
                <a:spcBef>
                  <a:spcPts val="0"/>
                </a:spcBef>
                <a:spcAft>
                  <a:spcPts val="0"/>
                </a:spcAft>
                <a:buNone/>
              </a:pPr>
              <a:r>
                <a:rPr b="1" lang="en" sz="1788">
                  <a:solidFill>
                    <a:srgbClr val="FFFFFF"/>
                  </a:solidFill>
                  <a:latin typeface="Roboto"/>
                  <a:ea typeface="Roboto"/>
                  <a:cs typeface="Roboto"/>
                  <a:sym typeface="Roboto"/>
                </a:rPr>
                <a:t>05</a:t>
              </a:r>
              <a:endParaRPr b="1" sz="1788">
                <a:solidFill>
                  <a:srgbClr val="FFFFFF"/>
                </a:solidFill>
                <a:latin typeface="Roboto"/>
                <a:ea typeface="Roboto"/>
                <a:cs typeface="Roboto"/>
                <a:sym typeface="Roboto"/>
              </a:endParaRPr>
            </a:p>
          </p:txBody>
        </p:sp>
        <p:sp>
          <p:nvSpPr>
            <p:cNvPr id="714" name="Google Shape;714;g3ee0adc8e96_0_191"/>
            <p:cNvSpPr txBox="1"/>
            <p:nvPr/>
          </p:nvSpPr>
          <p:spPr>
            <a:xfrm>
              <a:off x="3274219" y="2018364"/>
              <a:ext cx="507900" cy="266100"/>
            </a:xfrm>
            <a:prstGeom prst="rect">
              <a:avLst/>
            </a:prstGeom>
            <a:noFill/>
            <a:ln>
              <a:noFill/>
            </a:ln>
          </p:spPr>
          <p:txBody>
            <a:bodyPr anchorCtr="0" anchor="t" bIns="103800" lIns="103800" spcFirstLastPara="1" rIns="103800" wrap="square" tIns="103800">
              <a:noAutofit/>
            </a:bodyPr>
            <a:lstStyle/>
            <a:p>
              <a:pPr indent="0" lvl="0" marL="0" rtl="0" algn="ctr">
                <a:spcBef>
                  <a:spcPts val="0"/>
                </a:spcBef>
                <a:spcAft>
                  <a:spcPts val="0"/>
                </a:spcAft>
                <a:buNone/>
              </a:pPr>
              <a:r>
                <a:rPr b="1" lang="en" sz="1788">
                  <a:solidFill>
                    <a:srgbClr val="FFFFFF"/>
                  </a:solidFill>
                  <a:latin typeface="Roboto"/>
                  <a:ea typeface="Roboto"/>
                  <a:cs typeface="Roboto"/>
                  <a:sym typeface="Roboto"/>
                </a:rPr>
                <a:t>01</a:t>
              </a:r>
              <a:endParaRPr b="1" sz="1788">
                <a:solidFill>
                  <a:srgbClr val="FFFFFF"/>
                </a:solidFill>
                <a:latin typeface="Roboto"/>
                <a:ea typeface="Roboto"/>
                <a:cs typeface="Roboto"/>
                <a:sym typeface="Roboto"/>
              </a:endParaRPr>
            </a:p>
          </p:txBody>
        </p:sp>
        <p:sp>
          <p:nvSpPr>
            <p:cNvPr id="715" name="Google Shape;715;g3ee0adc8e96_0_191"/>
            <p:cNvSpPr txBox="1"/>
            <p:nvPr/>
          </p:nvSpPr>
          <p:spPr>
            <a:xfrm>
              <a:off x="3685317" y="3247321"/>
              <a:ext cx="507900" cy="266100"/>
            </a:xfrm>
            <a:prstGeom prst="rect">
              <a:avLst/>
            </a:prstGeom>
            <a:noFill/>
            <a:ln>
              <a:noFill/>
            </a:ln>
          </p:spPr>
          <p:txBody>
            <a:bodyPr anchorCtr="0" anchor="t" bIns="103800" lIns="103800" spcFirstLastPara="1" rIns="103800" wrap="square" tIns="103800">
              <a:noAutofit/>
            </a:bodyPr>
            <a:lstStyle/>
            <a:p>
              <a:pPr indent="0" lvl="0" marL="0" rtl="0" algn="ctr">
                <a:spcBef>
                  <a:spcPts val="0"/>
                </a:spcBef>
                <a:spcAft>
                  <a:spcPts val="0"/>
                </a:spcAft>
                <a:buNone/>
              </a:pPr>
              <a:r>
                <a:rPr b="1" lang="en" sz="1788">
                  <a:solidFill>
                    <a:srgbClr val="FFFFFF"/>
                  </a:solidFill>
                  <a:latin typeface="Roboto"/>
                  <a:ea typeface="Roboto"/>
                  <a:cs typeface="Roboto"/>
                  <a:sym typeface="Roboto"/>
                </a:rPr>
                <a:t>02</a:t>
              </a:r>
              <a:endParaRPr b="1" sz="1788">
                <a:solidFill>
                  <a:srgbClr val="FFFFFF"/>
                </a:solidFill>
                <a:latin typeface="Roboto"/>
                <a:ea typeface="Roboto"/>
                <a:cs typeface="Roboto"/>
                <a:sym typeface="Roboto"/>
              </a:endParaRPr>
            </a:p>
          </p:txBody>
        </p:sp>
        <p:sp>
          <p:nvSpPr>
            <p:cNvPr id="716" name="Google Shape;716;g3ee0adc8e96_0_191"/>
            <p:cNvSpPr txBox="1"/>
            <p:nvPr/>
          </p:nvSpPr>
          <p:spPr>
            <a:xfrm>
              <a:off x="4955323" y="3247321"/>
              <a:ext cx="507900" cy="266100"/>
            </a:xfrm>
            <a:prstGeom prst="rect">
              <a:avLst/>
            </a:prstGeom>
            <a:noFill/>
            <a:ln>
              <a:noFill/>
            </a:ln>
          </p:spPr>
          <p:txBody>
            <a:bodyPr anchorCtr="0" anchor="t" bIns="103800" lIns="103800" spcFirstLastPara="1" rIns="103800" wrap="square" tIns="103800">
              <a:noAutofit/>
            </a:bodyPr>
            <a:lstStyle/>
            <a:p>
              <a:pPr indent="0" lvl="0" marL="0" rtl="0" algn="ctr">
                <a:spcBef>
                  <a:spcPts val="0"/>
                </a:spcBef>
                <a:spcAft>
                  <a:spcPts val="0"/>
                </a:spcAft>
                <a:buNone/>
              </a:pPr>
              <a:r>
                <a:rPr b="1" lang="en" sz="1788">
                  <a:solidFill>
                    <a:srgbClr val="FFFFFF"/>
                  </a:solidFill>
                  <a:latin typeface="Roboto"/>
                  <a:ea typeface="Roboto"/>
                  <a:cs typeface="Roboto"/>
                  <a:sym typeface="Roboto"/>
                </a:rPr>
                <a:t>03</a:t>
              </a:r>
              <a:endParaRPr b="1" sz="1788">
                <a:solidFill>
                  <a:srgbClr val="FFFFFF"/>
                </a:solidFill>
                <a:latin typeface="Roboto"/>
                <a:ea typeface="Roboto"/>
                <a:cs typeface="Roboto"/>
                <a:sym typeface="Roboto"/>
              </a:endParaRPr>
            </a:p>
          </p:txBody>
        </p:sp>
        <p:sp>
          <p:nvSpPr>
            <p:cNvPr id="717" name="Google Shape;717;g3ee0adc8e96_0_191"/>
            <p:cNvSpPr txBox="1"/>
            <p:nvPr/>
          </p:nvSpPr>
          <p:spPr>
            <a:xfrm>
              <a:off x="5364737" y="2018364"/>
              <a:ext cx="507900" cy="266100"/>
            </a:xfrm>
            <a:prstGeom prst="rect">
              <a:avLst/>
            </a:prstGeom>
            <a:noFill/>
            <a:ln>
              <a:noFill/>
            </a:ln>
          </p:spPr>
          <p:txBody>
            <a:bodyPr anchorCtr="0" anchor="t" bIns="103800" lIns="103800" spcFirstLastPara="1" rIns="103800" wrap="square" tIns="103800">
              <a:noAutofit/>
            </a:bodyPr>
            <a:lstStyle/>
            <a:p>
              <a:pPr indent="0" lvl="0" marL="0" rtl="0" algn="ctr">
                <a:spcBef>
                  <a:spcPts val="0"/>
                </a:spcBef>
                <a:spcAft>
                  <a:spcPts val="0"/>
                </a:spcAft>
                <a:buNone/>
              </a:pPr>
              <a:r>
                <a:rPr b="1" lang="en" sz="1788">
                  <a:solidFill>
                    <a:srgbClr val="FFFFFF"/>
                  </a:solidFill>
                  <a:latin typeface="Roboto"/>
                  <a:ea typeface="Roboto"/>
                  <a:cs typeface="Roboto"/>
                  <a:sym typeface="Roboto"/>
                </a:rPr>
                <a:t>04</a:t>
              </a:r>
              <a:endParaRPr b="1" sz="1788">
                <a:solidFill>
                  <a:srgbClr val="FFFFFF"/>
                </a:solidFill>
                <a:latin typeface="Roboto"/>
                <a:ea typeface="Roboto"/>
                <a:cs typeface="Roboto"/>
                <a:sym typeface="Roboto"/>
              </a:endParaRPr>
            </a:p>
          </p:txBody>
        </p:sp>
      </p:grpSp>
      <p:sp>
        <p:nvSpPr>
          <p:cNvPr id="718" name="Google Shape;718;g3ee0adc8e96_0_191"/>
          <p:cNvSpPr/>
          <p:nvPr/>
        </p:nvSpPr>
        <p:spPr>
          <a:xfrm>
            <a:off x="4517750" y="1557050"/>
            <a:ext cx="232500" cy="1232700"/>
          </a:xfrm>
          <a:prstGeom prst="upArrow">
            <a:avLst>
              <a:gd fmla="val 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19" name="Google Shape;719;g3ee0adc8e96_0_191"/>
          <p:cNvSpPr txBox="1"/>
          <p:nvPr/>
        </p:nvSpPr>
        <p:spPr>
          <a:xfrm>
            <a:off x="3646550" y="1263213"/>
            <a:ext cx="34020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2850"/>
              <a:buNone/>
            </a:pPr>
            <a:r>
              <a:rPr b="1" lang="en">
                <a:solidFill>
                  <a:schemeClr val="dk1"/>
                </a:solidFill>
              </a:rPr>
              <a:t>Process Ends</a:t>
            </a:r>
            <a:endParaRPr b="1">
              <a:solidFill>
                <a:schemeClr val="dk1"/>
              </a:solidFill>
            </a:endParaRPr>
          </a:p>
        </p:txBody>
      </p:sp>
      <p:sp>
        <p:nvSpPr>
          <p:cNvPr id="720" name="Google Shape;720;g3ee0adc8e96_0_191"/>
          <p:cNvSpPr txBox="1"/>
          <p:nvPr/>
        </p:nvSpPr>
        <p:spPr>
          <a:xfrm>
            <a:off x="100750" y="5680400"/>
            <a:ext cx="5463300" cy="549900"/>
          </a:xfrm>
          <a:prstGeom prst="rect">
            <a:avLst/>
          </a:prstGeom>
          <a:solidFill>
            <a:srgbClr val="2E86C1"/>
          </a:solidFill>
          <a:ln cap="flat" cmpd="sng" w="9525">
            <a:solidFill>
              <a:srgbClr val="2E86C1"/>
            </a:solidFill>
            <a:prstDash val="solid"/>
            <a:round/>
            <a:headEnd len="sm" w="sm" type="none"/>
            <a:tailEnd len="sm" w="sm" type="none"/>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1320"/>
              <a:buFont typeface="Arial"/>
              <a:buNone/>
            </a:pPr>
            <a:r>
              <a:rPr b="1" i="0" lang="en" sz="1320" u="none" cap="none" strike="noStrike">
                <a:solidFill>
                  <a:srgbClr val="FFFFFF"/>
                </a:solidFill>
                <a:latin typeface="Arial"/>
                <a:ea typeface="Arial"/>
                <a:cs typeface="Arial"/>
                <a:sym typeface="Arial"/>
              </a:rPr>
              <a:t>P</a:t>
            </a:r>
            <a:r>
              <a:rPr b="1" i="1" lang="en" u="none" cap="none" strike="noStrike">
                <a:solidFill>
                  <a:srgbClr val="FFFFFF"/>
                </a:solidFill>
                <a:latin typeface="Arial"/>
                <a:ea typeface="Arial"/>
                <a:cs typeface="Arial"/>
                <a:sym typeface="Arial"/>
              </a:rPr>
              <a:t>rediction use: compare a submitted quote against the expected cost range from historical data.</a:t>
            </a:r>
            <a:endParaRPr i="1"/>
          </a:p>
        </p:txBody>
      </p:sp>
      <p:sp>
        <p:nvSpPr>
          <p:cNvPr id="721" name="Google Shape;721;g3ee0adc8e96_0_191"/>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722" name="Google Shape;722;g3ee0adc8e96_0_19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Clr>
                <a:srgbClr val="757575"/>
              </a:buClr>
              <a:buSzPts val="1200"/>
              <a:buFont typeface="Arial"/>
              <a:buNone/>
            </a:pPr>
            <a:fld id="{00000000-1234-1234-1234-123412341234}" type="slidenum">
              <a:rPr lang="en" sz="1900"/>
              <a:t>‹#›</a:t>
            </a:fld>
            <a:endParaRPr sz="1900"/>
          </a:p>
        </p:txBody>
      </p:sp>
      <p:sp>
        <p:nvSpPr>
          <p:cNvPr id="723" name="Google Shape;723;g3ee0adc8e96_0_191"/>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1E8"/>
        </a:solidFill>
      </p:bgPr>
    </p:bg>
    <p:spTree>
      <p:nvGrpSpPr>
        <p:cNvPr id="727" name="Shape 727"/>
        <p:cNvGrpSpPr/>
        <p:nvPr/>
      </p:nvGrpSpPr>
      <p:grpSpPr>
        <a:xfrm>
          <a:off x="0" y="0"/>
          <a:ext cx="0" cy="0"/>
          <a:chOff x="0" y="0"/>
          <a:chExt cx="0" cy="0"/>
        </a:xfrm>
      </p:grpSpPr>
      <p:pic>
        <p:nvPicPr>
          <p:cNvPr descr="Price increase line icon. Market growth graph, drop with dollar sign and arrow. Oil industry vector design concept, outline style pictogram on white background. (Provided by Getty Images)" id="728" name="Google Shape;728;g3ee0adc8e96_0_208"/>
          <p:cNvPicPr preferRelativeResize="0"/>
          <p:nvPr/>
        </p:nvPicPr>
        <p:blipFill>
          <a:blip r:embed="rId3">
            <a:alphaModFix/>
          </a:blip>
          <a:stretch>
            <a:fillRect/>
          </a:stretch>
        </p:blipFill>
        <p:spPr>
          <a:xfrm>
            <a:off x="10114075" y="2677323"/>
            <a:ext cx="2145731" cy="2145731"/>
          </a:xfrm>
          <a:prstGeom prst="rect">
            <a:avLst/>
          </a:prstGeom>
          <a:noFill/>
          <a:ln>
            <a:noFill/>
          </a:ln>
        </p:spPr>
      </p:pic>
      <p:sp>
        <p:nvSpPr>
          <p:cNvPr id="729" name="Google Shape;729;g3ee0adc8e96_0_208"/>
          <p:cNvSpPr/>
          <p:nvPr/>
        </p:nvSpPr>
        <p:spPr>
          <a:xfrm>
            <a:off x="3623562" y="3227997"/>
            <a:ext cx="3181197" cy="3629996"/>
          </a:xfrm>
          <a:custGeom>
            <a:rect b="b" l="l" r="r" t="t"/>
            <a:pathLst>
              <a:path extrusionOk="0" h="5438197" w="4765838">
                <a:moveTo>
                  <a:pt x="0" y="0"/>
                </a:moveTo>
                <a:lnTo>
                  <a:pt x="4765838" y="0"/>
                </a:lnTo>
                <a:lnTo>
                  <a:pt x="4765838" y="5438198"/>
                </a:lnTo>
                <a:lnTo>
                  <a:pt x="0" y="5438198"/>
                </a:lnTo>
                <a:lnTo>
                  <a:pt x="0" y="0"/>
                </a:lnTo>
                <a:close/>
              </a:path>
            </a:pathLst>
          </a:custGeom>
          <a:blipFill rotWithShape="1">
            <a:blip r:embed="rId4">
              <a:alphaModFix/>
            </a:blip>
            <a:stretch>
              <a:fillRect b="0" l="0" r="0" t="0"/>
            </a:stretch>
          </a:blipFill>
          <a:ln>
            <a:noFill/>
          </a:ln>
        </p:spPr>
      </p:sp>
      <p:sp>
        <p:nvSpPr>
          <p:cNvPr id="730" name="Google Shape;730;g3ee0adc8e96_0_208"/>
          <p:cNvSpPr txBox="1"/>
          <p:nvPr/>
        </p:nvSpPr>
        <p:spPr>
          <a:xfrm>
            <a:off x="373282" y="25400"/>
            <a:ext cx="8736600" cy="6096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1100"/>
              <a:buFont typeface="Arial"/>
              <a:buNone/>
            </a:pPr>
            <a:r>
              <a:rPr lang="en" sz="4400">
                <a:solidFill>
                  <a:schemeClr val="dk1"/>
                </a:solidFill>
                <a:latin typeface="Play"/>
                <a:ea typeface="Play"/>
                <a:cs typeface="Play"/>
                <a:sym typeface="Play"/>
              </a:rPr>
              <a:t>Pricing Structure</a:t>
            </a:r>
            <a:endParaRPr b="1" sz="3600">
              <a:solidFill>
                <a:schemeClr val="dk1"/>
              </a:solidFill>
              <a:latin typeface="Montserrat"/>
              <a:ea typeface="Montserrat"/>
              <a:cs typeface="Montserrat"/>
              <a:sym typeface="Montserrat"/>
            </a:endParaRPr>
          </a:p>
        </p:txBody>
      </p:sp>
      <p:pic>
        <p:nvPicPr>
          <p:cNvPr descr="3D Tag with Money Isolated (Provided by Getty Images)" id="731" name="Google Shape;731;g3ee0adc8e96_0_208"/>
          <p:cNvPicPr preferRelativeResize="0"/>
          <p:nvPr/>
        </p:nvPicPr>
        <p:blipFill>
          <a:blip r:embed="rId5">
            <a:alphaModFix/>
          </a:blip>
          <a:stretch>
            <a:fillRect/>
          </a:stretch>
        </p:blipFill>
        <p:spPr>
          <a:xfrm>
            <a:off x="0" y="4338750"/>
            <a:ext cx="1976801" cy="2519252"/>
          </a:xfrm>
          <a:prstGeom prst="rect">
            <a:avLst/>
          </a:prstGeom>
          <a:noFill/>
          <a:ln>
            <a:noFill/>
          </a:ln>
        </p:spPr>
      </p:pic>
      <p:sp>
        <p:nvSpPr>
          <p:cNvPr id="732" name="Google Shape;732;g3ee0adc8e96_0_208"/>
          <p:cNvSpPr txBox="1"/>
          <p:nvPr>
            <p:ph idx="4294967295" type="body"/>
          </p:nvPr>
        </p:nvSpPr>
        <p:spPr>
          <a:xfrm>
            <a:off x="183150" y="930400"/>
            <a:ext cx="9914100" cy="4101600"/>
          </a:xfrm>
          <a:prstGeom prst="rect">
            <a:avLst/>
          </a:prstGeom>
          <a:ln cap="flat" cmpd="sng" w="9525">
            <a:solidFill>
              <a:schemeClr val="dk1"/>
            </a:solidFill>
            <a:prstDash val="solid"/>
            <a:round/>
            <a:headEnd len="sm" w="sm" type="none"/>
            <a:tailEnd len="sm" w="sm" type="none"/>
          </a:ln>
        </p:spPr>
        <p:txBody>
          <a:bodyPr anchorCtr="0" anchor="t" bIns="30475" lIns="60950" spcFirstLastPara="1" rIns="60950" wrap="square" tIns="30475">
            <a:normAutofit fontScale="77500" lnSpcReduction="20000"/>
          </a:bodyPr>
          <a:lstStyle/>
          <a:p>
            <a:pPr indent="0" lvl="0" marL="0" rtl="0" algn="l">
              <a:spcBef>
                <a:spcPts val="400"/>
              </a:spcBef>
              <a:spcAft>
                <a:spcPts val="0"/>
              </a:spcAft>
              <a:buClr>
                <a:schemeClr val="dk1"/>
              </a:buClr>
              <a:buSzPct val="36667"/>
              <a:buFont typeface="Arial"/>
              <a:buNone/>
            </a:pPr>
            <a:r>
              <a:rPr b="1" lang="en" sz="3000">
                <a:solidFill>
                  <a:srgbClr val="2E2A26"/>
                </a:solidFill>
              </a:rPr>
              <a:t>- Full cost pricing = fixed cost + variable cost + margin</a:t>
            </a:r>
            <a:endParaRPr b="1" sz="3000">
              <a:solidFill>
                <a:srgbClr val="2E2A26"/>
              </a:solidFill>
            </a:endParaRPr>
          </a:p>
          <a:p>
            <a:pPr indent="0" lvl="0" marL="0" rtl="0" algn="l">
              <a:spcBef>
                <a:spcPts val="900"/>
              </a:spcBef>
              <a:spcAft>
                <a:spcPts val="0"/>
              </a:spcAft>
              <a:buClr>
                <a:schemeClr val="dk1"/>
              </a:buClr>
              <a:buSzPct val="36667"/>
              <a:buFont typeface="Arial"/>
              <a:buNone/>
            </a:pPr>
            <a:r>
              <a:rPr b="1" lang="en" sz="3000">
                <a:solidFill>
                  <a:srgbClr val="2E2A26"/>
                </a:solidFill>
              </a:rPr>
              <a:t>- Fixed cost: </a:t>
            </a:r>
            <a:r>
              <a:rPr lang="en" sz="3000">
                <a:solidFill>
                  <a:srgbClr val="2E2A26"/>
                </a:solidFill>
              </a:rPr>
              <a:t>costs that do not change with quantity, such as tooling and setup. In this dataset, </a:t>
            </a:r>
            <a:r>
              <a:rPr b="1" lang="en" sz="3000">
                <a:solidFill>
                  <a:srgbClr val="E2711D"/>
                </a:solidFill>
              </a:rPr>
              <a:t>bracket_pricing</a:t>
            </a:r>
            <a:r>
              <a:rPr lang="en" sz="3000">
                <a:solidFill>
                  <a:srgbClr val="2E2A26"/>
                </a:solidFill>
              </a:rPr>
              <a:t> and </a:t>
            </a:r>
            <a:r>
              <a:rPr b="1" lang="en" sz="3000">
                <a:solidFill>
                  <a:srgbClr val="E2711D"/>
                </a:solidFill>
              </a:rPr>
              <a:t>min_order_quantity</a:t>
            </a:r>
            <a:r>
              <a:rPr lang="en" sz="3000">
                <a:solidFill>
                  <a:srgbClr val="2E2A26"/>
                </a:solidFill>
              </a:rPr>
              <a:t> capture whether fixed cost thresholds apply</a:t>
            </a:r>
            <a:endParaRPr sz="3000">
              <a:solidFill>
                <a:srgbClr val="2E2A26"/>
              </a:solidFill>
            </a:endParaRPr>
          </a:p>
          <a:p>
            <a:pPr indent="0" lvl="0" marL="0" rtl="0" algn="l">
              <a:lnSpc>
                <a:spcPct val="115000"/>
              </a:lnSpc>
              <a:spcBef>
                <a:spcPts val="1100"/>
              </a:spcBef>
              <a:spcAft>
                <a:spcPts val="0"/>
              </a:spcAft>
              <a:buClr>
                <a:schemeClr val="dk1"/>
              </a:buClr>
              <a:buSzPct val="36667"/>
              <a:buFont typeface="Arial"/>
              <a:buNone/>
            </a:pPr>
            <a:r>
              <a:rPr b="1" lang="en" sz="3000">
                <a:solidFill>
                  <a:srgbClr val="2E2A26"/>
                </a:solidFill>
              </a:rPr>
              <a:t>- Variable cost: </a:t>
            </a:r>
            <a:r>
              <a:rPr lang="en" sz="3000">
                <a:solidFill>
                  <a:srgbClr val="2E2A26"/>
                </a:solidFill>
              </a:rPr>
              <a:t>costs that scale with the tube’s physical properties. Reflected in columns such as wall, length, </a:t>
            </a:r>
            <a:r>
              <a:rPr b="1" lang="en" sz="3000">
                <a:solidFill>
                  <a:srgbClr val="E2711D"/>
                </a:solidFill>
              </a:rPr>
              <a:t>num_bends</a:t>
            </a:r>
            <a:r>
              <a:rPr lang="en" sz="3000">
                <a:solidFill>
                  <a:srgbClr val="2E2A26"/>
                </a:solidFill>
              </a:rPr>
              <a:t>, and </a:t>
            </a:r>
            <a:r>
              <a:rPr b="1" lang="en" sz="3000">
                <a:solidFill>
                  <a:srgbClr val="E2711D"/>
                </a:solidFill>
              </a:rPr>
              <a:t>Total_weight</a:t>
            </a:r>
            <a:r>
              <a:rPr lang="en" sz="3000">
                <a:solidFill>
                  <a:srgbClr val="2E2A26"/>
                </a:solidFill>
              </a:rPr>
              <a:t> from the bill of materials</a:t>
            </a:r>
            <a:endParaRPr sz="3000">
              <a:solidFill>
                <a:srgbClr val="2E2A26"/>
              </a:solidFill>
            </a:endParaRPr>
          </a:p>
          <a:p>
            <a:pPr indent="0" lvl="0" marL="0" rtl="0" algn="l">
              <a:lnSpc>
                <a:spcPct val="115000"/>
              </a:lnSpc>
              <a:spcBef>
                <a:spcPts val="1100"/>
              </a:spcBef>
              <a:spcAft>
                <a:spcPts val="0"/>
              </a:spcAft>
              <a:buClr>
                <a:schemeClr val="dk1"/>
              </a:buClr>
              <a:buSzPct val="36667"/>
              <a:buFont typeface="Arial"/>
              <a:buNone/>
            </a:pPr>
            <a:r>
              <a:rPr b="1" lang="en" sz="3000">
                <a:solidFill>
                  <a:srgbClr val="2E2A26"/>
                </a:solidFill>
              </a:rPr>
              <a:t>- </a:t>
            </a:r>
            <a:r>
              <a:rPr lang="en" sz="3000">
                <a:solidFill>
                  <a:srgbClr val="2E2A26"/>
                </a:solidFill>
              </a:rPr>
              <a:t>The profit markup added by the supplier, which varies by supplier relationship and order risk. The supplier column and </a:t>
            </a:r>
            <a:r>
              <a:rPr b="1" lang="en" sz="3000">
                <a:solidFill>
                  <a:srgbClr val="E2711D"/>
                </a:solidFill>
              </a:rPr>
              <a:t>annual_usage</a:t>
            </a:r>
            <a:r>
              <a:rPr lang="en" sz="3000">
                <a:solidFill>
                  <a:srgbClr val="2E2A26"/>
                </a:solidFill>
              </a:rPr>
              <a:t> partly capture this behaviour</a:t>
            </a:r>
            <a:endParaRPr sz="3000">
              <a:solidFill>
                <a:srgbClr val="2E2A26"/>
              </a:solidFill>
            </a:endParaRPr>
          </a:p>
          <a:p>
            <a:pPr indent="0" lvl="0" marL="0" rtl="0" algn="l">
              <a:spcBef>
                <a:spcPts val="400"/>
              </a:spcBef>
              <a:spcAft>
                <a:spcPts val="0"/>
              </a:spcAft>
              <a:buNone/>
            </a:pPr>
            <a:r>
              <a:t/>
            </a:r>
            <a:endParaRPr/>
          </a:p>
        </p:txBody>
      </p:sp>
      <p:sp>
        <p:nvSpPr>
          <p:cNvPr id="733" name="Google Shape;733;g3ee0adc8e96_0_208"/>
          <p:cNvSpPr/>
          <p:nvPr/>
        </p:nvSpPr>
        <p:spPr>
          <a:xfrm>
            <a:off x="10097150" y="-155275"/>
            <a:ext cx="1978457" cy="2519241"/>
          </a:xfrm>
          <a:custGeom>
            <a:rect b="b" l="l" r="r" t="t"/>
            <a:pathLst>
              <a:path extrusionOk="0" h="1728467" w="2044917">
                <a:moveTo>
                  <a:pt x="0" y="0"/>
                </a:moveTo>
                <a:lnTo>
                  <a:pt x="2044916" y="0"/>
                </a:lnTo>
                <a:lnTo>
                  <a:pt x="2044916" y="1728467"/>
                </a:lnTo>
                <a:lnTo>
                  <a:pt x="0" y="1728467"/>
                </a:lnTo>
                <a:lnTo>
                  <a:pt x="0" y="0"/>
                </a:lnTo>
                <a:close/>
              </a:path>
            </a:pathLst>
          </a:custGeom>
          <a:blipFill rotWithShape="1">
            <a:blip r:embed="rId6">
              <a:alphaModFix/>
            </a:blip>
            <a:stretch>
              <a:fillRect b="0" l="0" r="0" t="0"/>
            </a:stretch>
          </a:blipFill>
          <a:ln>
            <a:noFill/>
          </a:ln>
        </p:spPr>
      </p:sp>
      <p:sp>
        <p:nvSpPr>
          <p:cNvPr id="734" name="Google Shape;734;g3ee0adc8e96_0_20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Clr>
                <a:srgbClr val="757575"/>
              </a:buClr>
              <a:buSzPts val="1200"/>
              <a:buFont typeface="Arial"/>
              <a:buNone/>
            </a:pPr>
            <a:fld id="{00000000-1234-1234-1234-123412341234}" type="slidenum">
              <a:rPr lang="en" sz="1900"/>
              <a:t>‹#›</a:t>
            </a:fld>
            <a:endParaRPr sz="1900"/>
          </a:p>
        </p:txBody>
      </p:sp>
      <p:sp>
        <p:nvSpPr>
          <p:cNvPr id="735" name="Google Shape;735;g3ee0adc8e96_0_208"/>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739" name="Shape 739"/>
        <p:cNvGrpSpPr/>
        <p:nvPr/>
      </p:nvGrpSpPr>
      <p:grpSpPr>
        <a:xfrm>
          <a:off x="0" y="0"/>
          <a:ext cx="0" cy="0"/>
          <a:chOff x="0" y="0"/>
          <a:chExt cx="0" cy="0"/>
        </a:xfrm>
      </p:grpSpPr>
      <p:grpSp>
        <p:nvGrpSpPr>
          <p:cNvPr id="740" name="Google Shape;740;g3ee0adc8e96_0_215"/>
          <p:cNvGrpSpPr/>
          <p:nvPr/>
        </p:nvGrpSpPr>
        <p:grpSpPr>
          <a:xfrm>
            <a:off x="8706120" y="-676502"/>
            <a:ext cx="3969516" cy="7638089"/>
            <a:chOff x="0" y="-57150"/>
            <a:chExt cx="1568173" cy="3017457"/>
          </a:xfrm>
        </p:grpSpPr>
        <p:sp>
          <p:nvSpPr>
            <p:cNvPr id="741" name="Google Shape;741;g3ee0adc8e96_0_215"/>
            <p:cNvSpPr/>
            <p:nvPr/>
          </p:nvSpPr>
          <p:spPr>
            <a:xfrm>
              <a:off x="0" y="0"/>
              <a:ext cx="1568173" cy="2960307"/>
            </a:xfrm>
            <a:custGeom>
              <a:rect b="b" l="l" r="r" t="t"/>
              <a:pathLst>
                <a:path extrusionOk="0" h="2960307" w="1568173">
                  <a:moveTo>
                    <a:pt x="0" y="0"/>
                  </a:moveTo>
                  <a:lnTo>
                    <a:pt x="1568173" y="0"/>
                  </a:lnTo>
                  <a:lnTo>
                    <a:pt x="1568173" y="2960307"/>
                  </a:lnTo>
                  <a:lnTo>
                    <a:pt x="0" y="2960307"/>
                  </a:lnTo>
                  <a:close/>
                </a:path>
              </a:pathLst>
            </a:custGeom>
            <a:solidFill>
              <a:srgbClr val="EFF1E8"/>
            </a:solidFill>
            <a:ln>
              <a:noFill/>
            </a:ln>
          </p:spPr>
        </p:sp>
        <p:sp>
          <p:nvSpPr>
            <p:cNvPr id="742" name="Google Shape;742;g3ee0adc8e96_0_215"/>
            <p:cNvSpPr txBox="1"/>
            <p:nvPr/>
          </p:nvSpPr>
          <p:spPr>
            <a:xfrm>
              <a:off x="0" y="-57150"/>
              <a:ext cx="1568100" cy="30174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743" name="Google Shape;743;g3ee0adc8e96_0_215"/>
          <p:cNvGrpSpPr/>
          <p:nvPr/>
        </p:nvGrpSpPr>
        <p:grpSpPr>
          <a:xfrm>
            <a:off x="204925" y="1010498"/>
            <a:ext cx="8530722" cy="5418289"/>
            <a:chOff x="-18" y="-20223"/>
            <a:chExt cx="2005200" cy="1009500"/>
          </a:xfrm>
        </p:grpSpPr>
        <p:sp>
          <p:nvSpPr>
            <p:cNvPr id="744" name="Google Shape;744;g3ee0adc8e96_0_215"/>
            <p:cNvSpPr/>
            <p:nvPr/>
          </p:nvSpPr>
          <p:spPr>
            <a:xfrm>
              <a:off x="0" y="0"/>
              <a:ext cx="2005166" cy="952383"/>
            </a:xfrm>
            <a:custGeom>
              <a:rect b="b" l="l" r="r" t="t"/>
              <a:pathLst>
                <a:path extrusionOk="0" h="952383" w="2005166">
                  <a:moveTo>
                    <a:pt x="0" y="0"/>
                  </a:moveTo>
                  <a:lnTo>
                    <a:pt x="2005166" y="0"/>
                  </a:lnTo>
                  <a:lnTo>
                    <a:pt x="2005166" y="952383"/>
                  </a:lnTo>
                  <a:lnTo>
                    <a:pt x="0" y="952383"/>
                  </a:lnTo>
                  <a:close/>
                </a:path>
              </a:pathLst>
            </a:custGeom>
            <a:noFill/>
            <a:ln cap="sq" cmpd="sng" w="38100">
              <a:solidFill>
                <a:srgbClr val="EFF1E8"/>
              </a:solidFill>
              <a:prstDash val="solid"/>
              <a:miter lim="8000"/>
              <a:headEnd len="sm" w="sm" type="none"/>
              <a:tailEnd len="sm" w="sm" type="none"/>
            </a:ln>
          </p:spPr>
        </p:sp>
        <p:sp>
          <p:nvSpPr>
            <p:cNvPr id="745" name="Google Shape;745;g3ee0adc8e96_0_215"/>
            <p:cNvSpPr txBox="1"/>
            <p:nvPr/>
          </p:nvSpPr>
          <p:spPr>
            <a:xfrm>
              <a:off x="-18" y="-20223"/>
              <a:ext cx="2005200" cy="10095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746" name="Google Shape;746;g3ee0adc8e96_0_215"/>
          <p:cNvSpPr/>
          <p:nvPr/>
        </p:nvSpPr>
        <p:spPr>
          <a:xfrm>
            <a:off x="0" y="6230323"/>
            <a:ext cx="659253" cy="622716"/>
          </a:xfrm>
          <a:custGeom>
            <a:rect b="b" l="l" r="r" t="t"/>
            <a:pathLst>
              <a:path extrusionOk="0" h="635425" w="635425">
                <a:moveTo>
                  <a:pt x="0" y="0"/>
                </a:moveTo>
                <a:lnTo>
                  <a:pt x="635425" y="0"/>
                </a:lnTo>
                <a:lnTo>
                  <a:pt x="635425" y="635425"/>
                </a:lnTo>
                <a:lnTo>
                  <a:pt x="0" y="635425"/>
                </a:lnTo>
                <a:lnTo>
                  <a:pt x="0" y="0"/>
                </a:lnTo>
                <a:close/>
              </a:path>
            </a:pathLst>
          </a:custGeom>
          <a:blipFill rotWithShape="1">
            <a:blip r:embed="rId3">
              <a:alphaModFix/>
            </a:blip>
            <a:stretch>
              <a:fillRect b="0" l="0" r="0" t="0"/>
            </a:stretch>
          </a:blipFill>
          <a:ln>
            <a:noFill/>
          </a:ln>
        </p:spPr>
      </p:sp>
      <p:sp>
        <p:nvSpPr>
          <p:cNvPr id="747" name="Google Shape;747;g3ee0adc8e96_0_215"/>
          <p:cNvSpPr txBox="1"/>
          <p:nvPr/>
        </p:nvSpPr>
        <p:spPr>
          <a:xfrm>
            <a:off x="429026" y="877488"/>
            <a:ext cx="7651800" cy="2154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t/>
            </a:r>
            <a:endParaRPr b="0" i="0" u="none" cap="none" strike="noStrike">
              <a:solidFill>
                <a:schemeClr val="dk1"/>
              </a:solidFill>
              <a:latin typeface="Poppins"/>
              <a:ea typeface="Poppins"/>
              <a:cs typeface="Poppins"/>
              <a:sym typeface="Poppins"/>
            </a:endParaRPr>
          </a:p>
        </p:txBody>
      </p:sp>
      <p:grpSp>
        <p:nvGrpSpPr>
          <p:cNvPr id="748" name="Google Shape;748;g3ee0adc8e96_0_215"/>
          <p:cNvGrpSpPr/>
          <p:nvPr/>
        </p:nvGrpSpPr>
        <p:grpSpPr>
          <a:xfrm>
            <a:off x="7223676" y="3277900"/>
            <a:ext cx="4782721" cy="3150874"/>
            <a:chOff x="-1889558" y="0"/>
            <a:chExt cx="3894724" cy="2342831"/>
          </a:xfrm>
        </p:grpSpPr>
        <p:sp>
          <p:nvSpPr>
            <p:cNvPr id="749" name="Google Shape;749;g3ee0adc8e96_0_215"/>
            <p:cNvSpPr/>
            <p:nvPr/>
          </p:nvSpPr>
          <p:spPr>
            <a:xfrm>
              <a:off x="0" y="0"/>
              <a:ext cx="2005166" cy="952383"/>
            </a:xfrm>
            <a:custGeom>
              <a:rect b="b" l="l" r="r" t="t"/>
              <a:pathLst>
                <a:path extrusionOk="0" h="952383" w="2005166">
                  <a:moveTo>
                    <a:pt x="0" y="0"/>
                  </a:moveTo>
                  <a:lnTo>
                    <a:pt x="2005166" y="0"/>
                  </a:lnTo>
                  <a:lnTo>
                    <a:pt x="2005166" y="952383"/>
                  </a:lnTo>
                  <a:lnTo>
                    <a:pt x="0" y="952383"/>
                  </a:lnTo>
                  <a:close/>
                </a:path>
              </a:pathLst>
            </a:custGeom>
            <a:noFill/>
            <a:ln cap="sq" cmpd="sng" w="38100">
              <a:solidFill>
                <a:srgbClr val="EFF1E8"/>
              </a:solidFill>
              <a:prstDash val="solid"/>
              <a:miter lim="8000"/>
              <a:headEnd len="sm" w="sm" type="none"/>
              <a:tailEnd len="sm" w="sm" type="none"/>
            </a:ln>
          </p:spPr>
        </p:sp>
        <p:sp>
          <p:nvSpPr>
            <p:cNvPr id="750" name="Google Shape;750;g3ee0adc8e96_0_215"/>
            <p:cNvSpPr txBox="1"/>
            <p:nvPr/>
          </p:nvSpPr>
          <p:spPr>
            <a:xfrm>
              <a:off x="-1889558" y="1333331"/>
              <a:ext cx="2005200" cy="10095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751" name="Google Shape;751;g3ee0adc8e96_0_215"/>
          <p:cNvSpPr txBox="1"/>
          <p:nvPr/>
        </p:nvSpPr>
        <p:spPr>
          <a:xfrm>
            <a:off x="204925" y="0"/>
            <a:ext cx="7744800" cy="4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2850"/>
              <a:buFont typeface="Arial"/>
              <a:buNone/>
            </a:pPr>
            <a:r>
              <a:rPr b="1" lang="en" sz="2850">
                <a:solidFill>
                  <a:schemeClr val="lt1"/>
                </a:solidFill>
              </a:rPr>
              <a:t>Business Context and Importance</a:t>
            </a:r>
            <a:endParaRPr sz="2700">
              <a:latin typeface="Poppins"/>
              <a:ea typeface="Poppins"/>
              <a:cs typeface="Poppins"/>
              <a:sym typeface="Poppins"/>
            </a:endParaRPr>
          </a:p>
        </p:txBody>
      </p:sp>
      <p:sp>
        <p:nvSpPr>
          <p:cNvPr id="752" name="Google Shape;752;g3ee0adc8e96_0_215"/>
          <p:cNvSpPr/>
          <p:nvPr/>
        </p:nvSpPr>
        <p:spPr>
          <a:xfrm>
            <a:off x="8706112" y="3041847"/>
            <a:ext cx="3181197" cy="3629996"/>
          </a:xfrm>
          <a:custGeom>
            <a:rect b="b" l="l" r="r" t="t"/>
            <a:pathLst>
              <a:path extrusionOk="0" h="5438197" w="4765838">
                <a:moveTo>
                  <a:pt x="0" y="0"/>
                </a:moveTo>
                <a:lnTo>
                  <a:pt x="4765838" y="0"/>
                </a:lnTo>
                <a:lnTo>
                  <a:pt x="4765838" y="5438198"/>
                </a:lnTo>
                <a:lnTo>
                  <a:pt x="0" y="5438198"/>
                </a:lnTo>
                <a:lnTo>
                  <a:pt x="0" y="0"/>
                </a:lnTo>
                <a:close/>
              </a:path>
            </a:pathLst>
          </a:custGeom>
          <a:blipFill rotWithShape="1">
            <a:blip r:embed="rId4">
              <a:alphaModFix/>
            </a:blip>
            <a:stretch>
              <a:fillRect b="0" l="0" r="0" t="0"/>
            </a:stretch>
          </a:blipFill>
          <a:ln>
            <a:noFill/>
          </a:ln>
        </p:spPr>
      </p:sp>
      <p:sp>
        <p:nvSpPr>
          <p:cNvPr id="753" name="Google Shape;753;g3ee0adc8e96_0_215"/>
          <p:cNvSpPr txBox="1"/>
          <p:nvPr/>
        </p:nvSpPr>
        <p:spPr>
          <a:xfrm>
            <a:off x="297625" y="1247325"/>
            <a:ext cx="8393400" cy="4675200"/>
          </a:xfrm>
          <a:prstGeom prst="rect">
            <a:avLst/>
          </a:prstGeom>
          <a:solidFill>
            <a:srgbClr val="F8FAFC"/>
          </a:solidFill>
          <a:ln cap="flat" cmpd="sng" w="9525">
            <a:solidFill>
              <a:srgbClr val="CBD5E1"/>
            </a:solidFill>
            <a:prstDash val="solid"/>
            <a:round/>
            <a:headEnd len="sm" w="sm" type="none"/>
            <a:tailEnd len="sm" w="sm" type="none"/>
          </a:ln>
        </p:spPr>
        <p:txBody>
          <a:bodyPr anchorCtr="0" anchor="t" bIns="60000" lIns="90000" spcFirstLastPara="1" rIns="90000" wrap="square" tIns="70000">
            <a:noAutofit/>
          </a:bodyPr>
          <a:lstStyle/>
          <a:p>
            <a:pPr indent="-195875" lvl="0" marL="279999" marR="0" rtl="0" algn="l">
              <a:lnSpc>
                <a:spcPct val="100000"/>
              </a:lnSpc>
              <a:spcBef>
                <a:spcPts val="0"/>
              </a:spcBef>
              <a:spcAft>
                <a:spcPts val="0"/>
              </a:spcAft>
              <a:buClr>
                <a:srgbClr val="000000"/>
              </a:buClr>
              <a:buSzPts val="1700"/>
              <a:buFont typeface="Arial"/>
              <a:buChar char="•"/>
            </a:pPr>
            <a:r>
              <a:rPr b="0" i="0" lang="en" sz="1700" u="none" cap="none" strike="noStrike">
                <a:solidFill>
                  <a:srgbClr val="111827"/>
                </a:solidFill>
                <a:latin typeface="Arial"/>
                <a:ea typeface="Arial"/>
                <a:cs typeface="Arial"/>
                <a:sym typeface="Arial"/>
              </a:rPr>
              <a:t>Procurement teams often need to evaluate quotes before all cost details are transparent.</a:t>
            </a:r>
            <a:endParaRPr sz="1700"/>
          </a:p>
          <a:p>
            <a:pPr indent="0" lvl="0" marL="100000" marR="0" rtl="0" algn="l">
              <a:lnSpc>
                <a:spcPct val="100000"/>
              </a:lnSpc>
              <a:spcBef>
                <a:spcPts val="0"/>
              </a:spcBef>
              <a:spcAft>
                <a:spcPts val="0"/>
              </a:spcAft>
              <a:buNone/>
            </a:pPr>
            <a:r>
              <a:t/>
            </a:r>
            <a:endParaRPr b="0" i="0" sz="1700" u="none" cap="none" strike="noStrike">
              <a:solidFill>
                <a:srgbClr val="111827"/>
              </a:solidFill>
              <a:latin typeface="Arial"/>
              <a:ea typeface="Arial"/>
              <a:cs typeface="Arial"/>
              <a:sym typeface="Arial"/>
            </a:endParaRPr>
          </a:p>
          <a:p>
            <a:pPr indent="-195875" lvl="0" marL="279999" marR="0" rtl="0" algn="l">
              <a:lnSpc>
                <a:spcPct val="100000"/>
              </a:lnSpc>
              <a:spcBef>
                <a:spcPts val="0"/>
              </a:spcBef>
              <a:spcAft>
                <a:spcPts val="0"/>
              </a:spcAft>
              <a:buClr>
                <a:srgbClr val="000000"/>
              </a:buClr>
              <a:buSzPts val="1700"/>
              <a:buFont typeface="Arial"/>
              <a:buChar char="•"/>
            </a:pPr>
            <a:r>
              <a:rPr b="0" i="0" lang="en" sz="1700" u="none" cap="none" strike="noStrike">
                <a:solidFill>
                  <a:srgbClr val="111827"/>
                </a:solidFill>
                <a:latin typeface="Arial"/>
                <a:ea typeface="Arial"/>
                <a:cs typeface="Arial"/>
                <a:sym typeface="Arial"/>
              </a:rPr>
              <a:t>A prediction benchmark supports faster screening of reasonable vs. unusual quotes.</a:t>
            </a:r>
            <a:endParaRPr b="0" i="0" sz="1700" u="none" cap="none" strike="noStrike">
              <a:solidFill>
                <a:srgbClr val="111827"/>
              </a:solidFill>
              <a:latin typeface="Arial"/>
              <a:ea typeface="Arial"/>
              <a:cs typeface="Arial"/>
              <a:sym typeface="Arial"/>
            </a:endParaRPr>
          </a:p>
          <a:p>
            <a:pPr indent="0" lvl="0" marL="457200" marR="0" rtl="0" algn="l">
              <a:lnSpc>
                <a:spcPct val="100000"/>
              </a:lnSpc>
              <a:spcBef>
                <a:spcPts val="0"/>
              </a:spcBef>
              <a:spcAft>
                <a:spcPts val="0"/>
              </a:spcAft>
              <a:buNone/>
            </a:pPr>
            <a:r>
              <a:t/>
            </a:r>
            <a:endParaRPr sz="1700">
              <a:solidFill>
                <a:srgbClr val="111827"/>
              </a:solidFill>
            </a:endParaRPr>
          </a:p>
          <a:p>
            <a:pPr indent="-195875" lvl="0" marL="279999" marR="0" rtl="0" algn="l">
              <a:lnSpc>
                <a:spcPct val="100000"/>
              </a:lnSpc>
              <a:spcBef>
                <a:spcPts val="0"/>
              </a:spcBef>
              <a:spcAft>
                <a:spcPts val="0"/>
              </a:spcAft>
              <a:buClr>
                <a:srgbClr val="000000"/>
              </a:buClr>
              <a:buSzPts val="1700"/>
              <a:buFont typeface="Arial"/>
              <a:buChar char="•"/>
            </a:pPr>
            <a:r>
              <a:rPr lang="en" sz="1700">
                <a:solidFill>
                  <a:srgbClr val="2E2A26"/>
                </a:solidFill>
              </a:rPr>
              <a:t>Manufacturing companies such as Caterpillar depend on external suppliers for thousands of custom industrial components.</a:t>
            </a:r>
            <a:endParaRPr sz="1700">
              <a:solidFill>
                <a:srgbClr val="2E2A26"/>
              </a:solidFill>
            </a:endParaRPr>
          </a:p>
          <a:p>
            <a:pPr indent="0" lvl="0" marL="457200" marR="0" rtl="0" algn="l">
              <a:lnSpc>
                <a:spcPct val="100000"/>
              </a:lnSpc>
              <a:spcBef>
                <a:spcPts val="0"/>
              </a:spcBef>
              <a:spcAft>
                <a:spcPts val="0"/>
              </a:spcAft>
              <a:buNone/>
            </a:pPr>
            <a:r>
              <a:t/>
            </a:r>
            <a:endParaRPr sz="1700">
              <a:solidFill>
                <a:srgbClr val="2E2A26"/>
              </a:solidFill>
            </a:endParaRPr>
          </a:p>
          <a:p>
            <a:pPr indent="-195875" lvl="0" marL="279999" marR="0" rtl="0" algn="l">
              <a:lnSpc>
                <a:spcPct val="100000"/>
              </a:lnSpc>
              <a:spcBef>
                <a:spcPts val="0"/>
              </a:spcBef>
              <a:spcAft>
                <a:spcPts val="0"/>
              </a:spcAft>
              <a:buClr>
                <a:srgbClr val="000000"/>
              </a:buClr>
              <a:buSzPts val="1700"/>
              <a:buFont typeface="Arial"/>
              <a:buChar char="•"/>
            </a:pPr>
            <a:r>
              <a:rPr lang="en" sz="1700">
                <a:solidFill>
                  <a:srgbClr val="2E2A26"/>
                </a:solidFill>
              </a:rPr>
              <a:t>Each component requires a formal price quotation before procurement can proceed.</a:t>
            </a:r>
            <a:endParaRPr sz="1700">
              <a:solidFill>
                <a:srgbClr val="111827"/>
              </a:solidFill>
            </a:endParaRPr>
          </a:p>
          <a:p>
            <a:pPr indent="0" lvl="0" marL="100000" marR="0" rtl="0" algn="l">
              <a:lnSpc>
                <a:spcPct val="100000"/>
              </a:lnSpc>
              <a:spcBef>
                <a:spcPts val="0"/>
              </a:spcBef>
              <a:spcAft>
                <a:spcPts val="0"/>
              </a:spcAft>
              <a:buNone/>
            </a:pPr>
            <a:r>
              <a:t/>
            </a:r>
            <a:endParaRPr b="0" i="0" sz="1700" u="none" cap="none" strike="noStrike">
              <a:solidFill>
                <a:srgbClr val="111827"/>
              </a:solidFill>
              <a:latin typeface="Arial"/>
              <a:ea typeface="Arial"/>
              <a:cs typeface="Arial"/>
              <a:sym typeface="Arial"/>
            </a:endParaRPr>
          </a:p>
          <a:p>
            <a:pPr indent="-195875" lvl="0" marL="279999" marR="0" rtl="0" algn="l">
              <a:lnSpc>
                <a:spcPct val="100000"/>
              </a:lnSpc>
              <a:spcBef>
                <a:spcPts val="0"/>
              </a:spcBef>
              <a:spcAft>
                <a:spcPts val="0"/>
              </a:spcAft>
              <a:buClr>
                <a:srgbClr val="000000"/>
              </a:buClr>
              <a:buSzPts val="1700"/>
              <a:buFont typeface="Arial"/>
              <a:buChar char="•"/>
            </a:pPr>
            <a:r>
              <a:rPr b="0" i="0" lang="en" sz="1700" u="none" cap="none" strike="noStrike">
                <a:solidFill>
                  <a:srgbClr val="111827"/>
                </a:solidFill>
                <a:latin typeface="Arial"/>
                <a:ea typeface="Arial"/>
                <a:cs typeface="Arial"/>
                <a:sym typeface="Arial"/>
              </a:rPr>
              <a:t>Cost-driver insights support better supplier conversations and negotiation preparation.</a:t>
            </a:r>
            <a:endParaRPr sz="1700"/>
          </a:p>
          <a:p>
            <a:pPr indent="0" lvl="0" marL="100000" marR="0" rtl="0" algn="l">
              <a:lnSpc>
                <a:spcPct val="100000"/>
              </a:lnSpc>
              <a:spcBef>
                <a:spcPts val="0"/>
              </a:spcBef>
              <a:spcAft>
                <a:spcPts val="0"/>
              </a:spcAft>
              <a:buNone/>
            </a:pPr>
            <a:r>
              <a:t/>
            </a:r>
            <a:endParaRPr b="0" i="0" sz="1700" u="none" cap="none" strike="noStrike">
              <a:solidFill>
                <a:srgbClr val="111827"/>
              </a:solidFill>
              <a:latin typeface="Arial"/>
              <a:ea typeface="Arial"/>
              <a:cs typeface="Arial"/>
              <a:sym typeface="Arial"/>
            </a:endParaRPr>
          </a:p>
          <a:p>
            <a:pPr indent="-195875" lvl="0" marL="279999" marR="0" rtl="0" algn="l">
              <a:lnSpc>
                <a:spcPct val="100000"/>
              </a:lnSpc>
              <a:spcBef>
                <a:spcPts val="0"/>
              </a:spcBef>
              <a:spcAft>
                <a:spcPts val="0"/>
              </a:spcAft>
              <a:buClr>
                <a:srgbClr val="000000"/>
              </a:buClr>
              <a:buSzPts val="1700"/>
              <a:buFont typeface="Arial"/>
              <a:buChar char="•"/>
            </a:pPr>
            <a:r>
              <a:rPr b="0" i="0" lang="en" sz="1700" u="none" cap="none" strike="noStrike">
                <a:solidFill>
                  <a:srgbClr val="111827"/>
                </a:solidFill>
                <a:latin typeface="Arial"/>
                <a:ea typeface="Arial"/>
                <a:cs typeface="Arial"/>
                <a:sym typeface="Arial"/>
              </a:rPr>
              <a:t>Literature on predictive analytics emphasizes decision support: the model should improve the quality of a business decision, not simply produce a number.</a:t>
            </a:r>
            <a:endParaRPr sz="1700">
              <a:solidFill>
                <a:srgbClr val="111827"/>
              </a:solidFill>
            </a:endParaRPr>
          </a:p>
        </p:txBody>
      </p:sp>
      <p:sp>
        <p:nvSpPr>
          <p:cNvPr id="754" name="Google Shape;754;g3ee0adc8e96_0_215"/>
          <p:cNvSpPr txBox="1"/>
          <p:nvPr/>
        </p:nvSpPr>
        <p:spPr>
          <a:xfrm>
            <a:off x="3178825" y="509588"/>
            <a:ext cx="9496800" cy="429900"/>
          </a:xfrm>
          <a:prstGeom prst="rect">
            <a:avLst/>
          </a:prstGeom>
          <a:noFill/>
          <a:ln>
            <a:noFill/>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1360"/>
              <a:buFont typeface="Arial"/>
              <a:buNone/>
            </a:pPr>
            <a:r>
              <a:rPr b="1" i="0" lang="en" sz="1800" u="none" cap="none" strike="noStrike">
                <a:solidFill>
                  <a:schemeClr val="dk1"/>
                </a:solidFill>
              </a:rPr>
              <a:t>The project matters because pricing visibility affects procurement performance.</a:t>
            </a:r>
            <a:endParaRPr b="1" sz="1800">
              <a:solidFill>
                <a:schemeClr val="dk1"/>
              </a:solidFill>
            </a:endParaRPr>
          </a:p>
        </p:txBody>
      </p:sp>
      <p:sp>
        <p:nvSpPr>
          <p:cNvPr id="755" name="Google Shape;755;g3ee0adc8e96_0_215"/>
          <p:cNvSpPr txBox="1"/>
          <p:nvPr/>
        </p:nvSpPr>
        <p:spPr>
          <a:xfrm>
            <a:off x="8735650" y="1500775"/>
            <a:ext cx="2193000" cy="205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1800">
                <a:solidFill>
                  <a:schemeClr val="dk1"/>
                </a:solidFill>
              </a:rPr>
              <a:t>Pricing uncertainty slows decision-making and increases the risk of overpaying. (Liu, 2022)</a:t>
            </a:r>
            <a:endParaRPr i="1" sz="1800">
              <a:solidFill>
                <a:schemeClr val="dk1"/>
              </a:solidFill>
            </a:endParaRPr>
          </a:p>
        </p:txBody>
      </p:sp>
      <p:sp>
        <p:nvSpPr>
          <p:cNvPr id="756" name="Google Shape;756;g3ee0adc8e96_0_215"/>
          <p:cNvSpPr txBox="1"/>
          <p:nvPr/>
        </p:nvSpPr>
        <p:spPr>
          <a:xfrm>
            <a:off x="659250" y="6257601"/>
            <a:ext cx="8100000" cy="532800"/>
          </a:xfrm>
          <a:prstGeom prst="rect">
            <a:avLst/>
          </a:prstGeom>
          <a:noFill/>
          <a:ln>
            <a:noFill/>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850"/>
              <a:buFont typeface="Arial"/>
              <a:buNone/>
            </a:pPr>
            <a:r>
              <a:rPr b="0" i="1" lang="en" sz="1800" u="none" cap="none" strike="noStrike">
                <a:solidFill>
                  <a:schemeClr val="lt1"/>
                </a:solidFill>
                <a:latin typeface="Arial"/>
                <a:ea typeface="Arial"/>
                <a:cs typeface="Arial"/>
                <a:sym typeface="Arial"/>
              </a:rPr>
              <a:t>Sources: Shmueli &amp; Koppius (2011); Waller &amp; Fawcett (2013); </a:t>
            </a:r>
            <a:r>
              <a:rPr i="1" lang="en" sz="1800">
                <a:solidFill>
                  <a:schemeClr val="lt1"/>
                </a:solidFill>
              </a:rPr>
              <a:t>Liu, 2022</a:t>
            </a:r>
            <a:endParaRPr i="1" sz="1800"/>
          </a:p>
        </p:txBody>
      </p:sp>
      <p:sp>
        <p:nvSpPr>
          <p:cNvPr id="757" name="Google Shape;757;g3ee0adc8e96_0_215"/>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758" name="Google Shape;758;g3ee0adc8e96_0_21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Clr>
                <a:srgbClr val="757575"/>
              </a:buClr>
              <a:buSzPts val="1200"/>
              <a:buFont typeface="Arial"/>
              <a:buNone/>
            </a:pPr>
            <a:fld id="{00000000-1234-1234-1234-123412341234}" type="slidenum">
              <a:rPr lang="en" sz="1900"/>
              <a:t>‹#›</a:t>
            </a:fld>
            <a:endParaRPr sz="1900"/>
          </a:p>
        </p:txBody>
      </p:sp>
      <p:sp>
        <p:nvSpPr>
          <p:cNvPr id="759" name="Google Shape;759;g3ee0adc8e96_0_215"/>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1E8"/>
        </a:solidFill>
      </p:bgPr>
    </p:bg>
    <p:spTree>
      <p:nvGrpSpPr>
        <p:cNvPr id="763" name="Shape 763"/>
        <p:cNvGrpSpPr/>
        <p:nvPr/>
      </p:nvGrpSpPr>
      <p:grpSpPr>
        <a:xfrm>
          <a:off x="0" y="0"/>
          <a:ext cx="0" cy="0"/>
          <a:chOff x="0" y="0"/>
          <a:chExt cx="0" cy="0"/>
        </a:xfrm>
      </p:grpSpPr>
      <p:sp>
        <p:nvSpPr>
          <p:cNvPr id="764" name="Google Shape;764;g3ee0adc8e96_0_232"/>
          <p:cNvSpPr/>
          <p:nvPr/>
        </p:nvSpPr>
        <p:spPr>
          <a:xfrm>
            <a:off x="4196112" y="2895222"/>
            <a:ext cx="3181197" cy="3629996"/>
          </a:xfrm>
          <a:custGeom>
            <a:rect b="b" l="l" r="r" t="t"/>
            <a:pathLst>
              <a:path extrusionOk="0" h="5438197" w="4765838">
                <a:moveTo>
                  <a:pt x="0" y="0"/>
                </a:moveTo>
                <a:lnTo>
                  <a:pt x="4765838" y="0"/>
                </a:lnTo>
                <a:lnTo>
                  <a:pt x="4765838" y="5438198"/>
                </a:lnTo>
                <a:lnTo>
                  <a:pt x="0" y="5438198"/>
                </a:lnTo>
                <a:lnTo>
                  <a:pt x="0" y="0"/>
                </a:lnTo>
                <a:close/>
              </a:path>
            </a:pathLst>
          </a:custGeom>
          <a:blipFill rotWithShape="1">
            <a:blip r:embed="rId3">
              <a:alphaModFix/>
            </a:blip>
            <a:stretch>
              <a:fillRect b="0" l="0" r="0" t="0"/>
            </a:stretch>
          </a:blipFill>
          <a:ln>
            <a:noFill/>
          </a:ln>
        </p:spPr>
      </p:sp>
      <p:sp>
        <p:nvSpPr>
          <p:cNvPr id="765" name="Google Shape;765;g3ee0adc8e96_0_232"/>
          <p:cNvSpPr/>
          <p:nvPr/>
        </p:nvSpPr>
        <p:spPr>
          <a:xfrm>
            <a:off x="9446231" y="-155274"/>
            <a:ext cx="2627718" cy="1508087"/>
          </a:xfrm>
          <a:custGeom>
            <a:rect b="b" l="l" r="r" t="t"/>
            <a:pathLst>
              <a:path extrusionOk="0" h="1728467" w="2044917">
                <a:moveTo>
                  <a:pt x="0" y="0"/>
                </a:moveTo>
                <a:lnTo>
                  <a:pt x="2044916" y="0"/>
                </a:lnTo>
                <a:lnTo>
                  <a:pt x="2044916" y="1728467"/>
                </a:lnTo>
                <a:lnTo>
                  <a:pt x="0" y="1728467"/>
                </a:lnTo>
                <a:lnTo>
                  <a:pt x="0" y="0"/>
                </a:lnTo>
                <a:close/>
              </a:path>
            </a:pathLst>
          </a:custGeom>
          <a:blipFill rotWithShape="1">
            <a:blip r:embed="rId4">
              <a:alphaModFix/>
            </a:blip>
            <a:stretch>
              <a:fillRect b="0" l="0" r="0" t="0"/>
            </a:stretch>
          </a:blipFill>
          <a:ln>
            <a:noFill/>
          </a:ln>
        </p:spPr>
      </p:sp>
      <p:sp>
        <p:nvSpPr>
          <p:cNvPr id="766" name="Google Shape;766;g3ee0adc8e96_0_232"/>
          <p:cNvSpPr txBox="1"/>
          <p:nvPr/>
        </p:nvSpPr>
        <p:spPr>
          <a:xfrm>
            <a:off x="7" y="388675"/>
            <a:ext cx="87366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2850"/>
              <a:buNone/>
            </a:pPr>
            <a:r>
              <a:rPr b="1" lang="en" sz="3600">
                <a:solidFill>
                  <a:schemeClr val="dk1"/>
                </a:solidFill>
              </a:rPr>
              <a:t>Business Problem Formulation</a:t>
            </a:r>
            <a:endParaRPr b="1" sz="3600">
              <a:solidFill>
                <a:schemeClr val="dk1"/>
              </a:solidFill>
            </a:endParaRPr>
          </a:p>
        </p:txBody>
      </p:sp>
      <p:sp>
        <p:nvSpPr>
          <p:cNvPr id="767" name="Google Shape;767;g3ee0adc8e96_0_232"/>
          <p:cNvSpPr txBox="1"/>
          <p:nvPr/>
        </p:nvSpPr>
        <p:spPr>
          <a:xfrm>
            <a:off x="76700" y="1057750"/>
            <a:ext cx="5609400" cy="3682500"/>
          </a:xfrm>
          <a:prstGeom prst="rect">
            <a:avLst/>
          </a:prstGeom>
          <a:noFill/>
          <a:ln cap="flat" cmpd="sng" w="9525">
            <a:solidFill>
              <a:schemeClr val="dk1"/>
            </a:solidFill>
            <a:prstDash val="solid"/>
            <a:round/>
            <a:headEnd len="sm" w="sm" type="none"/>
            <a:tailEnd len="sm" w="sm" type="none"/>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1360"/>
              <a:buFont typeface="Arial"/>
              <a:buNone/>
            </a:pPr>
            <a:r>
              <a:rPr b="0" i="0" lang="en" sz="1800" u="none" cap="none" strike="noStrike">
                <a:solidFill>
                  <a:schemeClr val="dk1"/>
                </a:solidFill>
                <a:latin typeface="Arial"/>
                <a:ea typeface="Arial"/>
                <a:cs typeface="Arial"/>
                <a:sym typeface="Arial"/>
              </a:rPr>
              <a:t>The practical problem is translated into a supervised regression task.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60"/>
              <a:buFont typeface="Arial"/>
              <a:buNone/>
            </a:pPr>
            <a:r>
              <a:t/>
            </a:r>
            <a:endParaRPr sz="1800">
              <a:solidFill>
                <a:schemeClr val="dk1"/>
              </a:solidFill>
            </a:endParaRPr>
          </a:p>
          <a:p>
            <a:pPr indent="0" lvl="0" marL="0" marR="0" rtl="0" algn="l">
              <a:lnSpc>
                <a:spcPct val="100000"/>
              </a:lnSpc>
              <a:spcBef>
                <a:spcPts val="0"/>
              </a:spcBef>
              <a:spcAft>
                <a:spcPts val="0"/>
              </a:spcAft>
              <a:buClr>
                <a:srgbClr val="000000"/>
              </a:buClr>
              <a:buSzPts val="1360"/>
              <a:buFont typeface="Arial"/>
              <a:buNone/>
            </a:pPr>
            <a:r>
              <a:rPr lang="en" sz="1800">
                <a:solidFill>
                  <a:schemeClr val="dk1"/>
                </a:solidFill>
              </a:rPr>
              <a:t>The core business problem is predicting the supplier quote price for a given tube assembly before the quote is received.</a:t>
            </a:r>
            <a:endParaRPr sz="1800">
              <a:solidFill>
                <a:schemeClr val="dk1"/>
              </a:solidFill>
            </a:endParaRPr>
          </a:p>
          <a:p>
            <a:pPr indent="0" lvl="0" marL="0" marR="0" rtl="0" algn="l">
              <a:lnSpc>
                <a:spcPct val="100000"/>
              </a:lnSpc>
              <a:spcBef>
                <a:spcPts val="0"/>
              </a:spcBef>
              <a:spcAft>
                <a:spcPts val="0"/>
              </a:spcAft>
              <a:buClr>
                <a:srgbClr val="000000"/>
              </a:buClr>
              <a:buSzPts val="1360"/>
              <a:buFont typeface="Arial"/>
              <a:buNone/>
            </a:pPr>
            <a:r>
              <a:t/>
            </a:r>
            <a:endParaRPr sz="1800">
              <a:solidFill>
                <a:schemeClr val="dk1"/>
              </a:solidFill>
            </a:endParaRPr>
          </a:p>
          <a:p>
            <a:pPr indent="0" lvl="0" marL="0" rtl="0" algn="l">
              <a:lnSpc>
                <a:spcPct val="115000"/>
              </a:lnSpc>
              <a:spcBef>
                <a:spcPts val="1500"/>
              </a:spcBef>
              <a:spcAft>
                <a:spcPts val="0"/>
              </a:spcAft>
              <a:buNone/>
            </a:pPr>
            <a:r>
              <a:rPr lang="en" sz="1800">
                <a:solidFill>
                  <a:schemeClr val="dk1"/>
                </a:solidFill>
              </a:rPr>
              <a:t>Help Caterpillar procurement team to reduce quote uncertainty and set internal benchmarks.</a:t>
            </a:r>
            <a:endParaRPr sz="1800">
              <a:solidFill>
                <a:schemeClr val="dk1"/>
              </a:solidFill>
            </a:endParaRPr>
          </a:p>
        </p:txBody>
      </p:sp>
      <p:sp>
        <p:nvSpPr>
          <p:cNvPr id="768" name="Google Shape;768;g3ee0adc8e96_0_232"/>
          <p:cNvSpPr txBox="1"/>
          <p:nvPr/>
        </p:nvSpPr>
        <p:spPr>
          <a:xfrm>
            <a:off x="6932550" y="1619075"/>
            <a:ext cx="5141400" cy="4418100"/>
          </a:xfrm>
          <a:prstGeom prst="rect">
            <a:avLst/>
          </a:prstGeom>
          <a:solidFill>
            <a:srgbClr val="F8FAFC"/>
          </a:solidFill>
          <a:ln>
            <a:noFill/>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1290"/>
              <a:buFont typeface="Arial"/>
              <a:buNone/>
            </a:pPr>
            <a:r>
              <a:rPr b="1" i="0" lang="en" sz="2400" u="none" cap="none" strike="noStrike">
                <a:solidFill>
                  <a:srgbClr val="111827"/>
                </a:solidFill>
              </a:rPr>
              <a:t>Data mining</a:t>
            </a:r>
            <a:endParaRPr b="1" i="0" sz="2400" u="none" cap="none" strike="noStrike">
              <a:solidFill>
                <a:srgbClr val="111827"/>
              </a:solidFill>
            </a:endParaRPr>
          </a:p>
          <a:p>
            <a:pPr indent="0" lvl="0" marL="0" marR="0" rtl="0" algn="l">
              <a:lnSpc>
                <a:spcPct val="100000"/>
              </a:lnSpc>
              <a:spcBef>
                <a:spcPts val="0"/>
              </a:spcBef>
              <a:spcAft>
                <a:spcPts val="0"/>
              </a:spcAft>
              <a:buClr>
                <a:srgbClr val="000000"/>
              </a:buClr>
              <a:buSzPts val="1290"/>
              <a:buFont typeface="Arial"/>
              <a:buNone/>
            </a:pPr>
            <a:r>
              <a:t/>
            </a:r>
            <a:endParaRPr sz="1500">
              <a:solidFill>
                <a:srgbClr val="111827"/>
              </a:solidFill>
            </a:endParaRPr>
          </a:p>
          <a:p>
            <a:pPr indent="-193335" lvl="0" marL="279999" marR="0" rtl="0" algn="l">
              <a:lnSpc>
                <a:spcPct val="100000"/>
              </a:lnSpc>
              <a:spcBef>
                <a:spcPts val="0"/>
              </a:spcBef>
              <a:spcAft>
                <a:spcPts val="0"/>
              </a:spcAft>
              <a:buClr>
                <a:srgbClr val="000000"/>
              </a:buClr>
              <a:buSzPts val="1500"/>
              <a:buFont typeface="Arial"/>
              <a:buChar char="•"/>
            </a:pPr>
            <a:r>
              <a:rPr b="0" i="0" lang="en" sz="1500" u="none" cap="none" strike="noStrike">
                <a:solidFill>
                  <a:srgbClr val="111827"/>
                </a:solidFill>
                <a:latin typeface="Arial"/>
                <a:ea typeface="Arial"/>
                <a:cs typeface="Arial"/>
                <a:sym typeface="Arial"/>
              </a:rPr>
              <a:t>Predict continuous target variable: cost</a:t>
            </a:r>
            <a:endParaRPr b="0" i="0" sz="1500" u="none" cap="none" strike="noStrike">
              <a:solidFill>
                <a:srgbClr val="111827"/>
              </a:solidFill>
              <a:latin typeface="Arial"/>
              <a:ea typeface="Arial"/>
              <a:cs typeface="Arial"/>
              <a:sym typeface="Arial"/>
            </a:endParaRPr>
          </a:p>
          <a:p>
            <a:pPr indent="0" lvl="0" marL="457200" marR="0" rtl="0" algn="l">
              <a:lnSpc>
                <a:spcPct val="100000"/>
              </a:lnSpc>
              <a:spcBef>
                <a:spcPts val="0"/>
              </a:spcBef>
              <a:spcAft>
                <a:spcPts val="0"/>
              </a:spcAft>
              <a:buNone/>
            </a:pPr>
            <a:r>
              <a:t/>
            </a:r>
            <a:endParaRPr sz="1500">
              <a:solidFill>
                <a:srgbClr val="111827"/>
              </a:solidFill>
            </a:endParaRPr>
          </a:p>
          <a:p>
            <a:pPr indent="-193335" lvl="0" marL="279999" marR="0" rtl="0" algn="l">
              <a:lnSpc>
                <a:spcPct val="100000"/>
              </a:lnSpc>
              <a:spcBef>
                <a:spcPts val="0"/>
              </a:spcBef>
              <a:spcAft>
                <a:spcPts val="0"/>
              </a:spcAft>
              <a:buClr>
                <a:srgbClr val="000000"/>
              </a:buClr>
              <a:buSzPts val="1500"/>
              <a:buFont typeface="Arial"/>
              <a:buChar char="•"/>
            </a:pPr>
            <a:r>
              <a:rPr b="0" i="0" lang="en" sz="1500" u="none" cap="none" strike="noStrike">
                <a:solidFill>
                  <a:srgbClr val="111827"/>
                </a:solidFill>
                <a:latin typeface="Arial"/>
                <a:ea typeface="Arial"/>
                <a:cs typeface="Arial"/>
                <a:sym typeface="Arial"/>
              </a:rPr>
              <a:t>Use engineered features from supplier, tube, BOM, and date data</a:t>
            </a:r>
            <a:endParaRPr b="0" i="0" sz="1500" u="none" cap="none" strike="noStrike">
              <a:solidFill>
                <a:srgbClr val="111827"/>
              </a:solidFill>
              <a:latin typeface="Arial"/>
              <a:ea typeface="Arial"/>
              <a:cs typeface="Arial"/>
              <a:sym typeface="Arial"/>
            </a:endParaRPr>
          </a:p>
          <a:p>
            <a:pPr indent="0" lvl="0" marL="457200" marR="0" rtl="0" algn="l">
              <a:lnSpc>
                <a:spcPct val="100000"/>
              </a:lnSpc>
              <a:spcBef>
                <a:spcPts val="0"/>
              </a:spcBef>
              <a:spcAft>
                <a:spcPts val="0"/>
              </a:spcAft>
              <a:buNone/>
            </a:pPr>
            <a:r>
              <a:t/>
            </a:r>
            <a:endParaRPr sz="1500">
              <a:solidFill>
                <a:srgbClr val="111827"/>
              </a:solidFill>
            </a:endParaRPr>
          </a:p>
          <a:p>
            <a:pPr indent="-193335" lvl="0" marL="279999" marR="0" rtl="0" algn="l">
              <a:lnSpc>
                <a:spcPct val="100000"/>
              </a:lnSpc>
              <a:spcBef>
                <a:spcPts val="0"/>
              </a:spcBef>
              <a:spcAft>
                <a:spcPts val="0"/>
              </a:spcAft>
              <a:buClr>
                <a:srgbClr val="000000"/>
              </a:buClr>
              <a:buSzPts val="1500"/>
              <a:buFont typeface="Arial"/>
              <a:buChar char="•"/>
            </a:pPr>
            <a:r>
              <a:rPr b="0" i="0" lang="en" sz="1500" u="none" cap="none" strike="noStrike">
                <a:solidFill>
                  <a:srgbClr val="111827"/>
                </a:solidFill>
                <a:latin typeface="Arial"/>
                <a:ea typeface="Arial"/>
                <a:cs typeface="Arial"/>
                <a:sym typeface="Arial"/>
              </a:rPr>
              <a:t>Evaluate accuracy and interpretability before recommending use</a:t>
            </a:r>
            <a:endParaRPr b="0" i="0" sz="1500" u="none" cap="none" strike="noStrike">
              <a:solidFill>
                <a:srgbClr val="111827"/>
              </a:solidFill>
              <a:latin typeface="Arial"/>
              <a:ea typeface="Arial"/>
              <a:cs typeface="Arial"/>
              <a:sym typeface="Arial"/>
            </a:endParaRPr>
          </a:p>
          <a:p>
            <a:pPr indent="0" lvl="0" marL="0" rtl="0" algn="l">
              <a:spcBef>
                <a:spcPts val="0"/>
              </a:spcBef>
              <a:spcAft>
                <a:spcPts val="0"/>
              </a:spcAft>
              <a:buNone/>
            </a:pPr>
            <a:r>
              <a:t/>
            </a:r>
            <a:endParaRPr sz="1500">
              <a:solidFill>
                <a:srgbClr val="111827"/>
              </a:solidFill>
            </a:endParaRPr>
          </a:p>
          <a:p>
            <a:pPr indent="0" lvl="0" marL="0" rtl="0" algn="l">
              <a:spcBef>
                <a:spcPts val="0"/>
              </a:spcBef>
              <a:spcAft>
                <a:spcPts val="0"/>
              </a:spcAft>
              <a:buNone/>
            </a:pPr>
            <a:r>
              <a:t/>
            </a:r>
            <a:endParaRPr sz="1500">
              <a:solidFill>
                <a:srgbClr val="111827"/>
              </a:solidFill>
            </a:endParaRPr>
          </a:p>
          <a:p>
            <a:pPr indent="0" lvl="0" marL="0" rtl="0" algn="l">
              <a:spcBef>
                <a:spcPts val="0"/>
              </a:spcBef>
              <a:spcAft>
                <a:spcPts val="0"/>
              </a:spcAft>
              <a:buNone/>
            </a:pPr>
            <a:r>
              <a:rPr lang="en" sz="1500">
                <a:solidFill>
                  <a:srgbClr val="111827"/>
                </a:solidFill>
              </a:rPr>
              <a:t>Business questions</a:t>
            </a:r>
            <a:endParaRPr sz="1500">
              <a:solidFill>
                <a:srgbClr val="111827"/>
              </a:solidFill>
            </a:endParaRPr>
          </a:p>
          <a:p>
            <a:pPr indent="-193335" lvl="0" marL="279999" rtl="0" algn="l">
              <a:spcBef>
                <a:spcPts val="0"/>
              </a:spcBef>
              <a:spcAft>
                <a:spcPts val="0"/>
              </a:spcAft>
              <a:buClr>
                <a:schemeClr val="dk1"/>
              </a:buClr>
              <a:buSzPts val="1500"/>
              <a:buChar char="•"/>
            </a:pPr>
            <a:r>
              <a:rPr lang="en" sz="1500">
                <a:solidFill>
                  <a:srgbClr val="111827"/>
                </a:solidFill>
              </a:rPr>
              <a:t>What is a reasonable quote price for this tube assembly?</a:t>
            </a:r>
            <a:endParaRPr sz="1500">
              <a:solidFill>
                <a:srgbClr val="111827"/>
              </a:solidFill>
            </a:endParaRPr>
          </a:p>
          <a:p>
            <a:pPr indent="0" lvl="0" marL="457200" rtl="0" algn="l">
              <a:spcBef>
                <a:spcPts val="0"/>
              </a:spcBef>
              <a:spcAft>
                <a:spcPts val="0"/>
              </a:spcAft>
              <a:buNone/>
            </a:pPr>
            <a:r>
              <a:t/>
            </a:r>
            <a:endParaRPr sz="1500">
              <a:solidFill>
                <a:srgbClr val="111827"/>
              </a:solidFill>
            </a:endParaRPr>
          </a:p>
          <a:p>
            <a:pPr indent="-193335" lvl="0" marL="279999" rtl="0" algn="l">
              <a:spcBef>
                <a:spcPts val="0"/>
              </a:spcBef>
              <a:spcAft>
                <a:spcPts val="0"/>
              </a:spcAft>
              <a:buClr>
                <a:schemeClr val="dk1"/>
              </a:buClr>
              <a:buSzPts val="1500"/>
              <a:buChar char="•"/>
            </a:pPr>
            <a:r>
              <a:rPr lang="en" sz="1500">
                <a:solidFill>
                  <a:srgbClr val="111827"/>
                </a:solidFill>
              </a:rPr>
              <a:t>Which quotes appear unusually high or low?</a:t>
            </a:r>
            <a:endParaRPr sz="1500">
              <a:solidFill>
                <a:srgbClr val="111827"/>
              </a:solidFill>
            </a:endParaRPr>
          </a:p>
          <a:p>
            <a:pPr indent="0" lvl="0" marL="457200" rtl="0" algn="l">
              <a:spcBef>
                <a:spcPts val="0"/>
              </a:spcBef>
              <a:spcAft>
                <a:spcPts val="0"/>
              </a:spcAft>
              <a:buNone/>
            </a:pPr>
            <a:r>
              <a:t/>
            </a:r>
            <a:endParaRPr sz="1500">
              <a:solidFill>
                <a:srgbClr val="111827"/>
              </a:solidFill>
            </a:endParaRPr>
          </a:p>
          <a:p>
            <a:pPr indent="-193335" lvl="0" marL="279999" rtl="0" algn="l">
              <a:spcBef>
                <a:spcPts val="0"/>
              </a:spcBef>
              <a:spcAft>
                <a:spcPts val="0"/>
              </a:spcAft>
              <a:buClr>
                <a:schemeClr val="dk1"/>
              </a:buClr>
              <a:buSzPts val="1500"/>
              <a:buChar char="•"/>
            </a:pPr>
            <a:r>
              <a:rPr lang="en" sz="1500">
                <a:solidFill>
                  <a:srgbClr val="111827"/>
                </a:solidFill>
              </a:rPr>
              <a:t>Which cost drivers should procurement investigate?</a:t>
            </a:r>
            <a:endParaRPr sz="1500">
              <a:solidFill>
                <a:srgbClr val="111827"/>
              </a:solidFill>
            </a:endParaRPr>
          </a:p>
        </p:txBody>
      </p:sp>
      <p:sp>
        <p:nvSpPr>
          <p:cNvPr id="769" name="Google Shape;769;g3ee0adc8e96_0_232"/>
          <p:cNvSpPr txBox="1"/>
          <p:nvPr/>
        </p:nvSpPr>
        <p:spPr>
          <a:xfrm>
            <a:off x="76700" y="4855225"/>
            <a:ext cx="6231000" cy="1354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i="1" lang="en" sz="1900">
                <a:solidFill>
                  <a:schemeClr val="dk1"/>
                </a:solidFill>
              </a:rPr>
              <a:t>Without a reliable price forecast, procurement decisions rely on experience and intuition rather than data and creating inconsistency and negotiation risk. (Sarode et al., 2024) </a:t>
            </a:r>
            <a:endParaRPr i="1" sz="1900">
              <a:solidFill>
                <a:schemeClr val="dk1"/>
              </a:solidFill>
            </a:endParaRPr>
          </a:p>
        </p:txBody>
      </p:sp>
      <p:sp>
        <p:nvSpPr>
          <p:cNvPr id="770" name="Google Shape;770;g3ee0adc8e96_0_232"/>
          <p:cNvSpPr txBox="1"/>
          <p:nvPr/>
        </p:nvSpPr>
        <p:spPr>
          <a:xfrm>
            <a:off x="76700" y="6233225"/>
            <a:ext cx="8100000" cy="554100"/>
          </a:xfrm>
          <a:prstGeom prst="rect">
            <a:avLst/>
          </a:prstGeom>
          <a:noFill/>
          <a:ln>
            <a:noFill/>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850"/>
              <a:buFont typeface="Arial"/>
              <a:buNone/>
            </a:pPr>
            <a:r>
              <a:rPr b="0" i="0" lang="en" sz="1800" u="none" cap="none" strike="noStrike">
                <a:solidFill>
                  <a:schemeClr val="dk1"/>
                </a:solidFill>
                <a:latin typeface="Arial"/>
                <a:ea typeface="Arial"/>
                <a:cs typeface="Arial"/>
                <a:sym typeface="Arial"/>
              </a:rPr>
              <a:t>Sources: Provost &amp; Fawcett (2013); </a:t>
            </a:r>
            <a:r>
              <a:rPr lang="en" sz="1800">
                <a:solidFill>
                  <a:schemeClr val="dk1"/>
                </a:solidFill>
              </a:rPr>
              <a:t>Géron, Aurélien (2025)</a:t>
            </a:r>
            <a:endParaRPr sz="1800">
              <a:solidFill>
                <a:schemeClr val="dk1"/>
              </a:solidFill>
            </a:endParaRPr>
          </a:p>
        </p:txBody>
      </p:sp>
      <p:sp>
        <p:nvSpPr>
          <p:cNvPr id="771" name="Google Shape;771;g3ee0adc8e96_0_232"/>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772" name="Google Shape;772;g3ee0adc8e96_0_23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Clr>
                <a:srgbClr val="757575"/>
              </a:buClr>
              <a:buSzPts val="1200"/>
              <a:buFont typeface="Arial"/>
              <a:buNone/>
            </a:pPr>
            <a:fld id="{00000000-1234-1234-1234-123412341234}" type="slidenum">
              <a:rPr lang="en" sz="1900"/>
              <a:t>‹#›</a:t>
            </a:fld>
            <a:endParaRPr sz="1900"/>
          </a:p>
        </p:txBody>
      </p:sp>
      <p:sp>
        <p:nvSpPr>
          <p:cNvPr id="773" name="Google Shape;773;g3ee0adc8e96_0_232"/>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777" name="Shape 777"/>
        <p:cNvGrpSpPr/>
        <p:nvPr/>
      </p:nvGrpSpPr>
      <p:grpSpPr>
        <a:xfrm>
          <a:off x="0" y="0"/>
          <a:ext cx="0" cy="0"/>
          <a:chOff x="0" y="0"/>
          <a:chExt cx="0" cy="0"/>
        </a:xfrm>
      </p:grpSpPr>
      <p:grpSp>
        <p:nvGrpSpPr>
          <p:cNvPr id="778" name="Google Shape;778;g3ee0adc8e96_0_239"/>
          <p:cNvGrpSpPr/>
          <p:nvPr/>
        </p:nvGrpSpPr>
        <p:grpSpPr>
          <a:xfrm>
            <a:off x="8706107" y="-555302"/>
            <a:ext cx="3969516" cy="7638089"/>
            <a:chOff x="0" y="-57150"/>
            <a:chExt cx="1568173" cy="3017457"/>
          </a:xfrm>
        </p:grpSpPr>
        <p:sp>
          <p:nvSpPr>
            <p:cNvPr id="779" name="Google Shape;779;g3ee0adc8e96_0_239"/>
            <p:cNvSpPr/>
            <p:nvPr/>
          </p:nvSpPr>
          <p:spPr>
            <a:xfrm>
              <a:off x="0" y="0"/>
              <a:ext cx="1568173" cy="2960307"/>
            </a:xfrm>
            <a:custGeom>
              <a:rect b="b" l="l" r="r" t="t"/>
              <a:pathLst>
                <a:path extrusionOk="0" h="2960307" w="1568173">
                  <a:moveTo>
                    <a:pt x="0" y="0"/>
                  </a:moveTo>
                  <a:lnTo>
                    <a:pt x="1568173" y="0"/>
                  </a:lnTo>
                  <a:lnTo>
                    <a:pt x="1568173" y="2960307"/>
                  </a:lnTo>
                  <a:lnTo>
                    <a:pt x="0" y="2960307"/>
                  </a:lnTo>
                  <a:close/>
                </a:path>
              </a:pathLst>
            </a:custGeom>
            <a:solidFill>
              <a:srgbClr val="EFF1E8"/>
            </a:solidFill>
            <a:ln>
              <a:noFill/>
            </a:ln>
          </p:spPr>
        </p:sp>
        <p:sp>
          <p:nvSpPr>
            <p:cNvPr id="780" name="Google Shape;780;g3ee0adc8e96_0_239"/>
            <p:cNvSpPr txBox="1"/>
            <p:nvPr/>
          </p:nvSpPr>
          <p:spPr>
            <a:xfrm>
              <a:off x="0" y="-57150"/>
              <a:ext cx="1568100" cy="30174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781" name="Google Shape;781;g3ee0adc8e96_0_239"/>
          <p:cNvGrpSpPr/>
          <p:nvPr/>
        </p:nvGrpSpPr>
        <p:grpSpPr>
          <a:xfrm>
            <a:off x="204925" y="2185252"/>
            <a:ext cx="6681126" cy="4243534"/>
            <a:chOff x="-18" y="-20223"/>
            <a:chExt cx="2005200" cy="1009500"/>
          </a:xfrm>
        </p:grpSpPr>
        <p:sp>
          <p:nvSpPr>
            <p:cNvPr id="782" name="Google Shape;782;g3ee0adc8e96_0_239"/>
            <p:cNvSpPr/>
            <p:nvPr/>
          </p:nvSpPr>
          <p:spPr>
            <a:xfrm>
              <a:off x="0" y="0"/>
              <a:ext cx="2005166" cy="952383"/>
            </a:xfrm>
            <a:custGeom>
              <a:rect b="b" l="l" r="r" t="t"/>
              <a:pathLst>
                <a:path extrusionOk="0" h="952383" w="2005166">
                  <a:moveTo>
                    <a:pt x="0" y="0"/>
                  </a:moveTo>
                  <a:lnTo>
                    <a:pt x="2005166" y="0"/>
                  </a:lnTo>
                  <a:lnTo>
                    <a:pt x="2005166" y="952383"/>
                  </a:lnTo>
                  <a:lnTo>
                    <a:pt x="0" y="952383"/>
                  </a:lnTo>
                  <a:close/>
                </a:path>
              </a:pathLst>
            </a:custGeom>
            <a:noFill/>
            <a:ln cap="sq" cmpd="sng" w="29850">
              <a:solidFill>
                <a:srgbClr val="EFF1E8"/>
              </a:solidFill>
              <a:prstDash val="solid"/>
              <a:miter lim="8000"/>
              <a:headEnd len="sm" w="sm" type="none"/>
              <a:tailEnd len="sm" w="sm" type="none"/>
            </a:ln>
          </p:spPr>
        </p:sp>
        <p:sp>
          <p:nvSpPr>
            <p:cNvPr id="783" name="Google Shape;783;g3ee0adc8e96_0_239"/>
            <p:cNvSpPr txBox="1"/>
            <p:nvPr/>
          </p:nvSpPr>
          <p:spPr>
            <a:xfrm>
              <a:off x="-18" y="-20223"/>
              <a:ext cx="2005200" cy="1009500"/>
            </a:xfrm>
            <a:prstGeom prst="rect">
              <a:avLst/>
            </a:prstGeom>
            <a:noFill/>
            <a:ln>
              <a:noFill/>
            </a:ln>
          </p:spPr>
          <p:txBody>
            <a:bodyPr anchorCtr="0" anchor="ctr" bIns="26525" lIns="26525" spcFirstLastPara="1" rIns="26525" wrap="square" tIns="26525">
              <a:noAutofit/>
            </a:bodyPr>
            <a:lstStyle/>
            <a:p>
              <a:pPr indent="0" lvl="0" marL="0" marR="0" rtl="0" algn="ctr">
                <a:lnSpc>
                  <a:spcPct val="155500"/>
                </a:lnSpc>
                <a:spcBef>
                  <a:spcPts val="0"/>
                </a:spcBef>
                <a:spcAft>
                  <a:spcPts val="0"/>
                </a:spcAft>
                <a:buNone/>
              </a:pPr>
              <a:r>
                <a:t/>
              </a:r>
              <a:endParaRPr b="0" i="0" sz="940" u="none" cap="none" strike="noStrike">
                <a:solidFill>
                  <a:schemeClr val="dk1"/>
                </a:solidFill>
                <a:latin typeface="Calibri"/>
                <a:ea typeface="Calibri"/>
                <a:cs typeface="Calibri"/>
                <a:sym typeface="Calibri"/>
              </a:endParaRPr>
            </a:p>
          </p:txBody>
        </p:sp>
      </p:grpSp>
      <p:sp>
        <p:nvSpPr>
          <p:cNvPr id="784" name="Google Shape;784;g3ee0adc8e96_0_239"/>
          <p:cNvSpPr/>
          <p:nvPr/>
        </p:nvSpPr>
        <p:spPr>
          <a:xfrm>
            <a:off x="0" y="6230323"/>
            <a:ext cx="659253" cy="622716"/>
          </a:xfrm>
          <a:custGeom>
            <a:rect b="b" l="l" r="r" t="t"/>
            <a:pathLst>
              <a:path extrusionOk="0" h="635425" w="635425">
                <a:moveTo>
                  <a:pt x="0" y="0"/>
                </a:moveTo>
                <a:lnTo>
                  <a:pt x="635425" y="0"/>
                </a:lnTo>
                <a:lnTo>
                  <a:pt x="635425" y="635425"/>
                </a:lnTo>
                <a:lnTo>
                  <a:pt x="0" y="635425"/>
                </a:lnTo>
                <a:lnTo>
                  <a:pt x="0" y="0"/>
                </a:lnTo>
                <a:close/>
              </a:path>
            </a:pathLst>
          </a:custGeom>
          <a:blipFill rotWithShape="1">
            <a:blip r:embed="rId3">
              <a:alphaModFix/>
            </a:blip>
            <a:stretch>
              <a:fillRect b="0" l="0" r="0" t="0"/>
            </a:stretch>
          </a:blipFill>
          <a:ln>
            <a:noFill/>
          </a:ln>
        </p:spPr>
      </p:sp>
      <p:sp>
        <p:nvSpPr>
          <p:cNvPr id="785" name="Google Shape;785;g3ee0adc8e96_0_239"/>
          <p:cNvSpPr txBox="1"/>
          <p:nvPr/>
        </p:nvSpPr>
        <p:spPr>
          <a:xfrm>
            <a:off x="429026" y="877488"/>
            <a:ext cx="7651800" cy="2154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t/>
            </a:r>
            <a:endParaRPr b="0" i="0" u="none" cap="none" strike="noStrike">
              <a:solidFill>
                <a:schemeClr val="dk1"/>
              </a:solidFill>
              <a:latin typeface="Poppins"/>
              <a:ea typeface="Poppins"/>
              <a:cs typeface="Poppins"/>
              <a:sym typeface="Poppins"/>
            </a:endParaRPr>
          </a:p>
        </p:txBody>
      </p:sp>
      <p:grpSp>
        <p:nvGrpSpPr>
          <p:cNvPr id="786" name="Google Shape;786;g3ee0adc8e96_0_239"/>
          <p:cNvGrpSpPr/>
          <p:nvPr/>
        </p:nvGrpSpPr>
        <p:grpSpPr>
          <a:xfrm>
            <a:off x="7223676" y="3277900"/>
            <a:ext cx="4782721" cy="3150874"/>
            <a:chOff x="-1889558" y="0"/>
            <a:chExt cx="3894724" cy="2342831"/>
          </a:xfrm>
        </p:grpSpPr>
        <p:sp>
          <p:nvSpPr>
            <p:cNvPr id="787" name="Google Shape;787;g3ee0adc8e96_0_239"/>
            <p:cNvSpPr/>
            <p:nvPr/>
          </p:nvSpPr>
          <p:spPr>
            <a:xfrm>
              <a:off x="0" y="0"/>
              <a:ext cx="2005166" cy="952383"/>
            </a:xfrm>
            <a:custGeom>
              <a:rect b="b" l="l" r="r" t="t"/>
              <a:pathLst>
                <a:path extrusionOk="0" h="952383" w="2005166">
                  <a:moveTo>
                    <a:pt x="0" y="0"/>
                  </a:moveTo>
                  <a:lnTo>
                    <a:pt x="2005166" y="0"/>
                  </a:lnTo>
                  <a:lnTo>
                    <a:pt x="2005166" y="952383"/>
                  </a:lnTo>
                  <a:lnTo>
                    <a:pt x="0" y="952383"/>
                  </a:lnTo>
                  <a:close/>
                </a:path>
              </a:pathLst>
            </a:custGeom>
            <a:noFill/>
            <a:ln cap="sq" cmpd="sng" w="38100">
              <a:solidFill>
                <a:srgbClr val="EFF1E8"/>
              </a:solidFill>
              <a:prstDash val="solid"/>
              <a:miter lim="8000"/>
              <a:headEnd len="sm" w="sm" type="none"/>
              <a:tailEnd len="sm" w="sm" type="none"/>
            </a:ln>
          </p:spPr>
        </p:sp>
        <p:sp>
          <p:nvSpPr>
            <p:cNvPr id="788" name="Google Shape;788;g3ee0adc8e96_0_239"/>
            <p:cNvSpPr txBox="1"/>
            <p:nvPr/>
          </p:nvSpPr>
          <p:spPr>
            <a:xfrm>
              <a:off x="-1889558" y="1333331"/>
              <a:ext cx="2005200" cy="10095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789" name="Google Shape;789;g3ee0adc8e96_0_239"/>
          <p:cNvSpPr/>
          <p:nvPr/>
        </p:nvSpPr>
        <p:spPr>
          <a:xfrm>
            <a:off x="8706112" y="3041847"/>
            <a:ext cx="3181197" cy="3629996"/>
          </a:xfrm>
          <a:custGeom>
            <a:rect b="b" l="l" r="r" t="t"/>
            <a:pathLst>
              <a:path extrusionOk="0" h="5438197" w="4765838">
                <a:moveTo>
                  <a:pt x="0" y="0"/>
                </a:moveTo>
                <a:lnTo>
                  <a:pt x="4765838" y="0"/>
                </a:lnTo>
                <a:lnTo>
                  <a:pt x="4765838" y="5438198"/>
                </a:lnTo>
                <a:lnTo>
                  <a:pt x="0" y="5438198"/>
                </a:lnTo>
                <a:lnTo>
                  <a:pt x="0" y="0"/>
                </a:lnTo>
                <a:close/>
              </a:path>
            </a:pathLst>
          </a:custGeom>
          <a:blipFill rotWithShape="1">
            <a:blip r:embed="rId4">
              <a:alphaModFix/>
            </a:blip>
            <a:stretch>
              <a:fillRect b="0" l="0" r="0" t="0"/>
            </a:stretch>
          </a:blipFill>
          <a:ln>
            <a:noFill/>
          </a:ln>
        </p:spPr>
      </p:sp>
      <p:sp>
        <p:nvSpPr>
          <p:cNvPr id="790" name="Google Shape;790;g3ee0adc8e96_0_239"/>
          <p:cNvSpPr txBox="1"/>
          <p:nvPr>
            <p:ph idx="4294967295" type="body"/>
          </p:nvPr>
        </p:nvSpPr>
        <p:spPr>
          <a:xfrm>
            <a:off x="429025" y="2256213"/>
            <a:ext cx="5333100" cy="4101600"/>
          </a:xfrm>
          <a:prstGeom prst="rect">
            <a:avLst/>
          </a:prstGeom>
          <a:noFill/>
          <a:ln>
            <a:noFill/>
          </a:ln>
        </p:spPr>
        <p:txBody>
          <a:bodyPr anchorCtr="0" anchor="t" bIns="121900" lIns="121900" spcFirstLastPara="1" rIns="121900" wrap="square" tIns="121900">
            <a:normAutofit/>
          </a:bodyPr>
          <a:lstStyle/>
          <a:p>
            <a:pPr indent="0" lvl="0" marL="0" rtl="0" algn="l">
              <a:spcBef>
                <a:spcPts val="400"/>
              </a:spcBef>
              <a:spcAft>
                <a:spcPts val="0"/>
              </a:spcAft>
              <a:buClr>
                <a:schemeClr val="dk1"/>
              </a:buClr>
              <a:buSzPts val="1100"/>
              <a:buFont typeface="Arial"/>
              <a:buNone/>
            </a:pPr>
            <a:r>
              <a:rPr lang="en"/>
              <a:t>- Accurate forecasts expose outlier quotes and negotiation opportunities that deviate significantly from the expected price range</a:t>
            </a:r>
            <a:endParaRPr/>
          </a:p>
          <a:p>
            <a:pPr indent="0" lvl="0" marL="0" rtl="0" algn="l">
              <a:spcBef>
                <a:spcPts val="400"/>
              </a:spcBef>
              <a:spcAft>
                <a:spcPts val="0"/>
              </a:spcAft>
              <a:buClr>
                <a:schemeClr val="dk1"/>
              </a:buClr>
              <a:buSzPts val="1100"/>
              <a:buFont typeface="Arial"/>
              <a:buNone/>
            </a:pPr>
            <a:r>
              <a:t/>
            </a:r>
            <a:endParaRPr/>
          </a:p>
          <a:p>
            <a:pPr indent="0" lvl="0" marL="0" rtl="0" algn="l">
              <a:spcBef>
                <a:spcPts val="400"/>
              </a:spcBef>
              <a:spcAft>
                <a:spcPts val="0"/>
              </a:spcAft>
              <a:buClr>
                <a:schemeClr val="dk1"/>
              </a:buClr>
              <a:buSzPts val="1100"/>
              <a:buFont typeface="Arial"/>
              <a:buNone/>
            </a:pPr>
            <a:r>
              <a:rPr lang="en"/>
              <a:t>- Insight into cost drivers reduces price variability</a:t>
            </a:r>
            <a:endParaRPr/>
          </a:p>
          <a:p>
            <a:pPr indent="0" lvl="0" marL="0" rtl="0" algn="l">
              <a:spcBef>
                <a:spcPts val="400"/>
              </a:spcBef>
              <a:spcAft>
                <a:spcPts val="0"/>
              </a:spcAft>
              <a:buClr>
                <a:schemeClr val="dk1"/>
              </a:buClr>
              <a:buSzPts val="1100"/>
              <a:buFont typeface="Arial"/>
              <a:buNone/>
            </a:pPr>
            <a:r>
              <a:t/>
            </a:r>
            <a:endParaRPr/>
          </a:p>
          <a:p>
            <a:pPr indent="0" lvl="0" marL="0" rtl="0" algn="l">
              <a:spcBef>
                <a:spcPts val="400"/>
              </a:spcBef>
              <a:spcAft>
                <a:spcPts val="0"/>
              </a:spcAft>
              <a:buClr>
                <a:schemeClr val="dk1"/>
              </a:buClr>
              <a:buSzPts val="1100"/>
              <a:buFont typeface="Arial"/>
              <a:buNone/>
            </a:pPr>
            <a:r>
              <a:rPr lang="en"/>
              <a:t>- The model supports strategic supplier management by identifying which suppliers consistently over-price relative to assembly</a:t>
            </a:r>
            <a:endParaRPr/>
          </a:p>
          <a:p>
            <a:pPr indent="0" lvl="0" marL="0" rtl="0" algn="l">
              <a:spcBef>
                <a:spcPts val="400"/>
              </a:spcBef>
              <a:spcAft>
                <a:spcPts val="0"/>
              </a:spcAft>
              <a:buClr>
                <a:schemeClr val="dk1"/>
              </a:buClr>
              <a:buSzPts val="1100"/>
              <a:buFont typeface="Arial"/>
              <a:buNone/>
            </a:pPr>
            <a:r>
              <a:rPr lang="en"/>
              <a:t>complexity</a:t>
            </a:r>
            <a:endParaRPr sz="2533"/>
          </a:p>
        </p:txBody>
      </p:sp>
      <p:sp>
        <p:nvSpPr>
          <p:cNvPr id="791" name="Google Shape;791;g3ee0adc8e96_0_239"/>
          <p:cNvSpPr txBox="1"/>
          <p:nvPr>
            <p:ph idx="4294967295" type="body"/>
          </p:nvPr>
        </p:nvSpPr>
        <p:spPr>
          <a:xfrm>
            <a:off x="6554200" y="1092900"/>
            <a:ext cx="5333100" cy="4101600"/>
          </a:xfrm>
          <a:prstGeom prst="rect">
            <a:avLst/>
          </a:prstGeom>
          <a:noFill/>
          <a:ln>
            <a:noFill/>
          </a:ln>
        </p:spPr>
        <p:txBody>
          <a:bodyPr anchorCtr="0" anchor="t" bIns="121900" lIns="121900" spcFirstLastPara="1" rIns="121900" wrap="square" tIns="121900">
            <a:normAutofit/>
          </a:bodyPr>
          <a:lstStyle/>
          <a:p>
            <a:pPr indent="0" lvl="0" marL="0" rtl="0" algn="l">
              <a:spcBef>
                <a:spcPts val="400"/>
              </a:spcBef>
              <a:spcAft>
                <a:spcPts val="0"/>
              </a:spcAft>
              <a:buNone/>
            </a:pPr>
            <a:r>
              <a:rPr lang="en" sz="2350"/>
              <a:t>- Risk of overpaying suppliers due to information asymmetry</a:t>
            </a:r>
            <a:endParaRPr sz="2350"/>
          </a:p>
          <a:p>
            <a:pPr indent="0" lvl="0" marL="609585" rtl="0" algn="l">
              <a:spcBef>
                <a:spcPts val="400"/>
              </a:spcBef>
              <a:spcAft>
                <a:spcPts val="0"/>
              </a:spcAft>
              <a:buNone/>
            </a:pPr>
            <a:r>
              <a:t/>
            </a:r>
            <a:endParaRPr sz="2350"/>
          </a:p>
          <a:p>
            <a:pPr indent="0" lvl="0" marL="0" rtl="0" algn="l">
              <a:spcBef>
                <a:spcPts val="400"/>
              </a:spcBef>
              <a:spcAft>
                <a:spcPts val="0"/>
              </a:spcAft>
              <a:buNone/>
            </a:pPr>
            <a:r>
              <a:rPr lang="en" sz="2350"/>
              <a:t>- Lack of standard pricing benchmarks across assembly types</a:t>
            </a:r>
            <a:endParaRPr sz="2350"/>
          </a:p>
          <a:p>
            <a:pPr indent="0" lvl="0" marL="609585" rtl="0" algn="l">
              <a:spcBef>
                <a:spcPts val="400"/>
              </a:spcBef>
              <a:spcAft>
                <a:spcPts val="0"/>
              </a:spcAft>
              <a:buNone/>
            </a:pPr>
            <a:r>
              <a:t/>
            </a:r>
            <a:endParaRPr sz="2350"/>
          </a:p>
          <a:p>
            <a:pPr indent="0" lvl="0" marL="0" rtl="0" algn="l">
              <a:spcBef>
                <a:spcPts val="400"/>
              </a:spcBef>
              <a:spcAft>
                <a:spcPts val="0"/>
              </a:spcAft>
              <a:buNone/>
            </a:pPr>
            <a:r>
              <a:rPr lang="en" sz="2350"/>
              <a:t>- Slow decision-making process caused by manual quote evaluation processes</a:t>
            </a:r>
            <a:endParaRPr sz="2350"/>
          </a:p>
          <a:p>
            <a:pPr indent="0" lvl="0" marL="0" rtl="0" algn="l">
              <a:lnSpc>
                <a:spcPct val="90000"/>
              </a:lnSpc>
              <a:spcBef>
                <a:spcPts val="1333"/>
              </a:spcBef>
              <a:spcAft>
                <a:spcPts val="0"/>
              </a:spcAft>
              <a:buNone/>
            </a:pPr>
            <a:r>
              <a:t/>
            </a:r>
            <a:endParaRPr sz="2533"/>
          </a:p>
        </p:txBody>
      </p:sp>
      <p:sp>
        <p:nvSpPr>
          <p:cNvPr id="792" name="Google Shape;792;g3ee0adc8e96_0_239"/>
          <p:cNvSpPr/>
          <p:nvPr/>
        </p:nvSpPr>
        <p:spPr>
          <a:xfrm>
            <a:off x="5762134" y="877511"/>
            <a:ext cx="6682216" cy="4002390"/>
          </a:xfrm>
          <a:custGeom>
            <a:rect b="b" l="l" r="r" t="t"/>
            <a:pathLst>
              <a:path extrusionOk="0" h="952383" w="2005166">
                <a:moveTo>
                  <a:pt x="0" y="0"/>
                </a:moveTo>
                <a:lnTo>
                  <a:pt x="2005166" y="0"/>
                </a:lnTo>
                <a:lnTo>
                  <a:pt x="2005166" y="952383"/>
                </a:lnTo>
                <a:lnTo>
                  <a:pt x="0" y="952383"/>
                </a:lnTo>
                <a:close/>
              </a:path>
            </a:pathLst>
          </a:custGeom>
          <a:noFill/>
          <a:ln cap="sq" cmpd="sng" w="29850">
            <a:solidFill>
              <a:srgbClr val="EFF1E8"/>
            </a:solidFill>
            <a:prstDash val="solid"/>
            <a:miter lim="8000"/>
            <a:headEnd len="sm" w="sm" type="none"/>
            <a:tailEnd len="sm" w="sm" type="none"/>
          </a:ln>
        </p:spPr>
      </p:sp>
      <p:sp>
        <p:nvSpPr>
          <p:cNvPr id="793" name="Google Shape;793;g3ee0adc8e96_0_239"/>
          <p:cNvSpPr txBox="1"/>
          <p:nvPr>
            <p:ph idx="4294967295" type="title"/>
          </p:nvPr>
        </p:nvSpPr>
        <p:spPr>
          <a:xfrm>
            <a:off x="204933" y="1353650"/>
            <a:ext cx="4637100" cy="831600"/>
          </a:xfrm>
          <a:prstGeom prst="rect">
            <a:avLst/>
          </a:prstGeom>
          <a:noFill/>
          <a:ln>
            <a:noFill/>
          </a:ln>
        </p:spPr>
        <p:txBody>
          <a:bodyPr anchorCtr="0" anchor="t" bIns="121900" lIns="121900" spcFirstLastPara="1" rIns="121900" wrap="square" tIns="121900">
            <a:normAutofit/>
          </a:bodyPr>
          <a:lstStyle/>
          <a:p>
            <a:pPr indent="0" lvl="0" marL="0" rtl="0" algn="l">
              <a:lnSpc>
                <a:spcPct val="90000"/>
              </a:lnSpc>
              <a:spcBef>
                <a:spcPts val="0"/>
              </a:spcBef>
              <a:spcAft>
                <a:spcPts val="0"/>
              </a:spcAft>
              <a:buClr>
                <a:schemeClr val="lt1"/>
              </a:buClr>
              <a:buSzPts val="3111"/>
              <a:buFont typeface="Play"/>
              <a:buNone/>
            </a:pPr>
            <a:r>
              <a:rPr b="1" lang="en" sz="3600"/>
              <a:t>Business impact</a:t>
            </a:r>
            <a:endParaRPr b="1" sz="3600"/>
          </a:p>
        </p:txBody>
      </p:sp>
      <p:sp>
        <p:nvSpPr>
          <p:cNvPr id="794" name="Google Shape;794;g3ee0adc8e96_0_239"/>
          <p:cNvSpPr txBox="1"/>
          <p:nvPr>
            <p:ph idx="4294967295" type="title"/>
          </p:nvPr>
        </p:nvSpPr>
        <p:spPr>
          <a:xfrm>
            <a:off x="6681900" y="156450"/>
            <a:ext cx="5510100" cy="831600"/>
          </a:xfrm>
          <a:prstGeom prst="rect">
            <a:avLst/>
          </a:prstGeom>
          <a:noFill/>
          <a:ln>
            <a:noFill/>
          </a:ln>
        </p:spPr>
        <p:txBody>
          <a:bodyPr anchorCtr="0" anchor="t" bIns="121900" lIns="121900" spcFirstLastPara="1" rIns="121900" wrap="square" tIns="121900">
            <a:noAutofit/>
          </a:bodyPr>
          <a:lstStyle/>
          <a:p>
            <a:pPr indent="0" lvl="0" marL="0" rtl="0" algn="l">
              <a:lnSpc>
                <a:spcPct val="90000"/>
              </a:lnSpc>
              <a:spcBef>
                <a:spcPts val="0"/>
              </a:spcBef>
              <a:spcAft>
                <a:spcPts val="0"/>
              </a:spcAft>
              <a:buSzPts val="990"/>
              <a:buFont typeface="Play"/>
              <a:buNone/>
            </a:pPr>
            <a:r>
              <a:rPr lang="en" sz="3773"/>
              <a:t>Business challenge</a:t>
            </a:r>
            <a:endParaRPr sz="3773"/>
          </a:p>
          <a:p>
            <a:pPr indent="0" lvl="0" marL="0" rtl="0" algn="l">
              <a:lnSpc>
                <a:spcPct val="90000"/>
              </a:lnSpc>
              <a:spcBef>
                <a:spcPts val="0"/>
              </a:spcBef>
              <a:spcAft>
                <a:spcPts val="0"/>
              </a:spcAft>
              <a:buSzPts val="990"/>
              <a:buFont typeface="Play"/>
              <a:buNone/>
            </a:pPr>
            <a:r>
              <a:t/>
            </a:r>
            <a:endParaRPr sz="3360"/>
          </a:p>
        </p:txBody>
      </p:sp>
      <p:sp>
        <p:nvSpPr>
          <p:cNvPr id="795" name="Google Shape;795;g3ee0adc8e96_0_239"/>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796" name="Google Shape;796;g3ee0adc8e96_0_23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Clr>
                <a:srgbClr val="757575"/>
              </a:buClr>
              <a:buSzPts val="1200"/>
              <a:buFont typeface="Arial"/>
              <a:buNone/>
            </a:pPr>
            <a:fld id="{00000000-1234-1234-1234-123412341234}" type="slidenum">
              <a:rPr lang="en" sz="1900"/>
              <a:t>‹#›</a:t>
            </a:fld>
            <a:endParaRPr sz="1900"/>
          </a:p>
        </p:txBody>
      </p:sp>
      <p:sp>
        <p:nvSpPr>
          <p:cNvPr id="797" name="Google Shape;797;g3ee0adc8e96_0_239"/>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1E8"/>
        </a:solidFill>
      </p:bgPr>
    </p:bg>
    <p:spTree>
      <p:nvGrpSpPr>
        <p:cNvPr id="801" name="Shape 801"/>
        <p:cNvGrpSpPr/>
        <p:nvPr/>
      </p:nvGrpSpPr>
      <p:grpSpPr>
        <a:xfrm>
          <a:off x="0" y="0"/>
          <a:ext cx="0" cy="0"/>
          <a:chOff x="0" y="0"/>
          <a:chExt cx="0" cy="0"/>
        </a:xfrm>
      </p:grpSpPr>
      <p:sp>
        <p:nvSpPr>
          <p:cNvPr id="802" name="Google Shape;802;g3ee0adc8e96_0_256"/>
          <p:cNvSpPr/>
          <p:nvPr/>
        </p:nvSpPr>
        <p:spPr>
          <a:xfrm>
            <a:off x="4196112" y="2895222"/>
            <a:ext cx="3181197" cy="3629996"/>
          </a:xfrm>
          <a:custGeom>
            <a:rect b="b" l="l" r="r" t="t"/>
            <a:pathLst>
              <a:path extrusionOk="0" h="5438197" w="4765838">
                <a:moveTo>
                  <a:pt x="0" y="0"/>
                </a:moveTo>
                <a:lnTo>
                  <a:pt x="4765838" y="0"/>
                </a:lnTo>
                <a:lnTo>
                  <a:pt x="4765838" y="5438198"/>
                </a:lnTo>
                <a:lnTo>
                  <a:pt x="0" y="5438198"/>
                </a:lnTo>
                <a:lnTo>
                  <a:pt x="0" y="0"/>
                </a:lnTo>
                <a:close/>
              </a:path>
            </a:pathLst>
          </a:custGeom>
          <a:blipFill rotWithShape="1">
            <a:blip r:embed="rId3">
              <a:alphaModFix/>
            </a:blip>
            <a:stretch>
              <a:fillRect b="0" l="0" r="0" t="0"/>
            </a:stretch>
          </a:blipFill>
          <a:ln>
            <a:noFill/>
          </a:ln>
        </p:spPr>
      </p:sp>
      <p:sp>
        <p:nvSpPr>
          <p:cNvPr id="803" name="Google Shape;803;g3ee0adc8e96_0_256"/>
          <p:cNvSpPr/>
          <p:nvPr/>
        </p:nvSpPr>
        <p:spPr>
          <a:xfrm>
            <a:off x="9446231" y="-155274"/>
            <a:ext cx="2627718" cy="1508087"/>
          </a:xfrm>
          <a:custGeom>
            <a:rect b="b" l="l" r="r" t="t"/>
            <a:pathLst>
              <a:path extrusionOk="0" h="1728467" w="2044917">
                <a:moveTo>
                  <a:pt x="0" y="0"/>
                </a:moveTo>
                <a:lnTo>
                  <a:pt x="2044916" y="0"/>
                </a:lnTo>
                <a:lnTo>
                  <a:pt x="2044916" y="1728467"/>
                </a:lnTo>
                <a:lnTo>
                  <a:pt x="0" y="1728467"/>
                </a:lnTo>
                <a:lnTo>
                  <a:pt x="0" y="0"/>
                </a:lnTo>
                <a:close/>
              </a:path>
            </a:pathLst>
          </a:custGeom>
          <a:blipFill rotWithShape="1">
            <a:blip r:embed="rId4">
              <a:alphaModFix/>
            </a:blip>
            <a:stretch>
              <a:fillRect b="0" l="0" r="0" t="0"/>
            </a:stretch>
          </a:blipFill>
          <a:ln>
            <a:noFill/>
          </a:ln>
        </p:spPr>
      </p:sp>
      <p:sp>
        <p:nvSpPr>
          <p:cNvPr id="804" name="Google Shape;804;g3ee0adc8e96_0_256"/>
          <p:cNvSpPr txBox="1"/>
          <p:nvPr/>
        </p:nvSpPr>
        <p:spPr>
          <a:xfrm>
            <a:off x="373282" y="25400"/>
            <a:ext cx="8736600" cy="4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2850"/>
              <a:buFont typeface="Arial"/>
              <a:buNone/>
            </a:pPr>
            <a:r>
              <a:rPr b="1" lang="en" sz="2850">
                <a:solidFill>
                  <a:schemeClr val="dk1"/>
                </a:solidFill>
              </a:rPr>
              <a:t>Success Criteria: Business and Technical</a:t>
            </a:r>
            <a:endParaRPr b="1" sz="3600">
              <a:solidFill>
                <a:schemeClr val="dk1"/>
              </a:solidFill>
              <a:latin typeface="Montserrat"/>
              <a:ea typeface="Montserrat"/>
              <a:cs typeface="Montserrat"/>
              <a:sym typeface="Montserrat"/>
            </a:endParaRPr>
          </a:p>
        </p:txBody>
      </p:sp>
      <p:sp>
        <p:nvSpPr>
          <p:cNvPr id="805" name="Google Shape;805;g3ee0adc8e96_0_256"/>
          <p:cNvSpPr txBox="1"/>
          <p:nvPr/>
        </p:nvSpPr>
        <p:spPr>
          <a:xfrm>
            <a:off x="0" y="1661025"/>
            <a:ext cx="4657200" cy="3399900"/>
          </a:xfrm>
          <a:prstGeom prst="rect">
            <a:avLst/>
          </a:prstGeom>
          <a:solidFill>
            <a:srgbClr val="F3F8FC"/>
          </a:solidFill>
          <a:ln cap="flat" cmpd="sng" w="9525">
            <a:solidFill>
              <a:srgbClr val="BBD7EC"/>
            </a:solidFill>
            <a:prstDash val="solid"/>
            <a:round/>
            <a:headEnd len="sm" w="sm" type="none"/>
            <a:tailEnd len="sm" w="sm" type="none"/>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1290"/>
              <a:buFont typeface="Arial"/>
              <a:buNone/>
            </a:pPr>
            <a:r>
              <a:rPr b="1" i="0" lang="en" sz="2400" u="none" cap="none" strike="noStrike">
                <a:solidFill>
                  <a:schemeClr val="dk1"/>
                </a:solidFill>
              </a:rPr>
              <a:t>Business success criteria</a:t>
            </a:r>
            <a:endParaRPr b="1" i="0" sz="2400" u="none" cap="none" strike="noStrike">
              <a:solidFill>
                <a:schemeClr val="dk1"/>
              </a:solidFill>
            </a:endParaRPr>
          </a:p>
          <a:p>
            <a:pPr indent="0" lvl="0" marL="0" marR="0" rtl="0" algn="l">
              <a:lnSpc>
                <a:spcPct val="100000"/>
              </a:lnSpc>
              <a:spcBef>
                <a:spcPts val="0"/>
              </a:spcBef>
              <a:spcAft>
                <a:spcPts val="0"/>
              </a:spcAft>
              <a:buClr>
                <a:srgbClr val="000000"/>
              </a:buClr>
              <a:buSzPts val="1290"/>
              <a:buFont typeface="Arial"/>
              <a:buNone/>
            </a:pPr>
            <a:r>
              <a:t/>
            </a:r>
            <a:endParaRPr sz="1800">
              <a:solidFill>
                <a:schemeClr val="dk1"/>
              </a:solidFill>
            </a:endParaRPr>
          </a:p>
          <a:p>
            <a:pPr indent="-212385" lvl="0" marL="279999" marR="0" rtl="0" algn="l">
              <a:lnSpc>
                <a:spcPct val="100000"/>
              </a:lnSpc>
              <a:spcBef>
                <a:spcPts val="0"/>
              </a:spcBef>
              <a:spcAft>
                <a:spcPts val="0"/>
              </a:spcAft>
              <a:buClr>
                <a:schemeClr val="dk1"/>
              </a:buClr>
              <a:buSzPts val="1800"/>
              <a:buFont typeface="Arial"/>
              <a:buChar char="•"/>
            </a:pPr>
            <a:r>
              <a:rPr b="0" i="0" lang="en" sz="1800" u="none" cap="none" strike="noStrike">
                <a:solidFill>
                  <a:schemeClr val="dk1"/>
                </a:solidFill>
                <a:latin typeface="Arial"/>
                <a:ea typeface="Arial"/>
                <a:cs typeface="Arial"/>
                <a:sym typeface="Arial"/>
              </a:rPr>
              <a:t>Prediction output is understandable for procurement users</a:t>
            </a:r>
            <a:endParaRPr b="0" i="0" sz="18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None/>
            </a:pPr>
            <a:r>
              <a:t/>
            </a:r>
            <a:endParaRPr sz="1800">
              <a:solidFill>
                <a:schemeClr val="dk1"/>
              </a:solidFill>
            </a:endParaRPr>
          </a:p>
          <a:p>
            <a:pPr indent="-212385" lvl="0" marL="279999" marR="0" rtl="0" algn="l">
              <a:lnSpc>
                <a:spcPct val="100000"/>
              </a:lnSpc>
              <a:spcBef>
                <a:spcPts val="0"/>
              </a:spcBef>
              <a:spcAft>
                <a:spcPts val="0"/>
              </a:spcAft>
              <a:buClr>
                <a:schemeClr val="dk1"/>
              </a:buClr>
              <a:buSzPts val="1800"/>
              <a:buFont typeface="Arial"/>
              <a:buChar char="•"/>
            </a:pPr>
            <a:r>
              <a:rPr b="0" i="0" lang="en" sz="1800" u="none" cap="none" strike="noStrike">
                <a:solidFill>
                  <a:schemeClr val="dk1"/>
                </a:solidFill>
                <a:latin typeface="Arial"/>
                <a:ea typeface="Arial"/>
                <a:cs typeface="Arial"/>
                <a:sym typeface="Arial"/>
              </a:rPr>
              <a:t>Model highlights relevant cost drivers and outlier quotes</a:t>
            </a:r>
            <a:endParaRPr b="0" i="0" sz="18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None/>
            </a:pPr>
            <a:r>
              <a:t/>
            </a:r>
            <a:endParaRPr sz="1800">
              <a:solidFill>
                <a:schemeClr val="dk1"/>
              </a:solidFill>
            </a:endParaRPr>
          </a:p>
          <a:p>
            <a:pPr indent="-212385" lvl="0" marL="279999" marR="0" rtl="0" algn="l">
              <a:lnSpc>
                <a:spcPct val="100000"/>
              </a:lnSpc>
              <a:spcBef>
                <a:spcPts val="0"/>
              </a:spcBef>
              <a:spcAft>
                <a:spcPts val="0"/>
              </a:spcAft>
              <a:buClr>
                <a:schemeClr val="dk1"/>
              </a:buClr>
              <a:buSzPts val="1800"/>
              <a:buFont typeface="Arial"/>
              <a:buChar char="•"/>
            </a:pPr>
            <a:r>
              <a:rPr b="0" i="0" lang="en" sz="1800" u="none" cap="none" strike="noStrike">
                <a:solidFill>
                  <a:schemeClr val="dk1"/>
                </a:solidFill>
                <a:latin typeface="Arial"/>
                <a:ea typeface="Arial"/>
                <a:cs typeface="Arial"/>
                <a:sym typeface="Arial"/>
              </a:rPr>
              <a:t>Recommendations are usable in supplier comparison and negotiation</a:t>
            </a:r>
            <a:endParaRPr sz="1800">
              <a:solidFill>
                <a:schemeClr val="dk1"/>
              </a:solidFill>
            </a:endParaRPr>
          </a:p>
        </p:txBody>
      </p:sp>
      <p:sp>
        <p:nvSpPr>
          <p:cNvPr id="806" name="Google Shape;806;g3ee0adc8e96_0_256"/>
          <p:cNvSpPr txBox="1"/>
          <p:nvPr/>
        </p:nvSpPr>
        <p:spPr>
          <a:xfrm>
            <a:off x="6026850" y="1857250"/>
            <a:ext cx="6047100" cy="3886800"/>
          </a:xfrm>
          <a:prstGeom prst="rect">
            <a:avLst/>
          </a:prstGeom>
          <a:solidFill>
            <a:srgbClr val="F8FAFC"/>
          </a:solidFill>
          <a:ln cap="flat" cmpd="sng" w="9525">
            <a:solidFill>
              <a:srgbClr val="CBD5E1"/>
            </a:solidFill>
            <a:prstDash val="solid"/>
            <a:round/>
            <a:headEnd len="sm" w="sm" type="none"/>
            <a:tailEnd len="sm" w="sm" type="none"/>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1290"/>
              <a:buFont typeface="Arial"/>
              <a:buNone/>
            </a:pPr>
            <a:r>
              <a:rPr b="1" i="0" lang="en" sz="1800" u="none" cap="none" strike="noStrike">
                <a:solidFill>
                  <a:schemeClr val="dk1"/>
                </a:solidFill>
              </a:rPr>
              <a:t>Technical success criteria</a:t>
            </a:r>
            <a:endParaRPr b="1" i="0" sz="1800" u="none" cap="none" strike="noStrike">
              <a:solidFill>
                <a:schemeClr val="dk1"/>
              </a:solidFill>
            </a:endParaRPr>
          </a:p>
          <a:p>
            <a:pPr indent="0" lvl="0" marL="0" marR="0" rtl="0" algn="l">
              <a:lnSpc>
                <a:spcPct val="100000"/>
              </a:lnSpc>
              <a:spcBef>
                <a:spcPts val="0"/>
              </a:spcBef>
              <a:spcAft>
                <a:spcPts val="0"/>
              </a:spcAft>
              <a:buClr>
                <a:srgbClr val="000000"/>
              </a:buClr>
              <a:buSzPts val="1290"/>
              <a:buFont typeface="Arial"/>
              <a:buNone/>
            </a:pPr>
            <a:r>
              <a:t/>
            </a:r>
            <a:endParaRPr sz="1290">
              <a:solidFill>
                <a:srgbClr val="111827"/>
              </a:solidFill>
            </a:endParaRPr>
          </a:p>
          <a:p>
            <a:pPr indent="-186985" lvl="0" marL="279999" marR="0" rtl="0" algn="l">
              <a:lnSpc>
                <a:spcPct val="100000"/>
              </a:lnSpc>
              <a:spcBef>
                <a:spcPts val="0"/>
              </a:spcBef>
              <a:spcAft>
                <a:spcPts val="0"/>
              </a:spcAft>
              <a:buClr>
                <a:schemeClr val="dk1"/>
              </a:buClr>
              <a:buSzPts val="1400"/>
              <a:buFont typeface="Arial"/>
              <a:buChar char="•"/>
            </a:pPr>
            <a:r>
              <a:rPr b="0" i="0" lang="en" u="none" cap="none" strike="noStrike">
                <a:solidFill>
                  <a:schemeClr val="dk1"/>
                </a:solidFill>
                <a:latin typeface="Arial"/>
                <a:ea typeface="Arial"/>
                <a:cs typeface="Arial"/>
                <a:sym typeface="Arial"/>
              </a:rPr>
              <a:t>Clean joins and consistent feature engineering</a:t>
            </a:r>
            <a:endParaRPr b="0" i="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None/>
            </a:pPr>
            <a:r>
              <a:t/>
            </a:r>
            <a:endParaRPr>
              <a:solidFill>
                <a:schemeClr val="dk1"/>
              </a:solidFill>
            </a:endParaRPr>
          </a:p>
          <a:p>
            <a:pPr indent="-186985" lvl="0" marL="279999" marR="0" rtl="0" algn="l">
              <a:lnSpc>
                <a:spcPct val="100000"/>
              </a:lnSpc>
              <a:spcBef>
                <a:spcPts val="0"/>
              </a:spcBef>
              <a:spcAft>
                <a:spcPts val="0"/>
              </a:spcAft>
              <a:buClr>
                <a:schemeClr val="dk1"/>
              </a:buClr>
              <a:buSzPts val="1400"/>
              <a:buFont typeface="Arial"/>
              <a:buChar char="•"/>
            </a:pPr>
            <a:r>
              <a:rPr b="0" i="0" lang="en" u="none" cap="none" strike="noStrike">
                <a:solidFill>
                  <a:schemeClr val="dk1"/>
                </a:solidFill>
                <a:latin typeface="Arial"/>
                <a:ea typeface="Arial"/>
                <a:cs typeface="Arial"/>
                <a:sym typeface="Arial"/>
              </a:rPr>
              <a:t>Strong validation metrics across pricing regime</a:t>
            </a:r>
            <a:r>
              <a:rPr lang="en">
                <a:solidFill>
                  <a:schemeClr val="dk1"/>
                </a:solidFill>
              </a:rPr>
              <a:t>.</a:t>
            </a:r>
            <a:endParaRPr>
              <a:solidFill>
                <a:schemeClr val="dk1"/>
              </a:solidFill>
            </a:endParaRPr>
          </a:p>
          <a:p>
            <a:pPr indent="0" lvl="0" marL="457200" marR="0" rtl="0" algn="l">
              <a:lnSpc>
                <a:spcPct val="100000"/>
              </a:lnSpc>
              <a:spcBef>
                <a:spcPts val="0"/>
              </a:spcBef>
              <a:spcAft>
                <a:spcPts val="0"/>
              </a:spcAft>
              <a:buNone/>
            </a:pPr>
            <a:r>
              <a:t/>
            </a:r>
            <a:endParaRPr>
              <a:solidFill>
                <a:schemeClr val="dk1"/>
              </a:solidFill>
            </a:endParaRPr>
          </a:p>
          <a:p>
            <a:pPr indent="-186985" lvl="0" marL="279999" marR="0" rtl="0" algn="l">
              <a:lnSpc>
                <a:spcPct val="100000"/>
              </a:lnSpc>
              <a:spcBef>
                <a:spcPts val="0"/>
              </a:spcBef>
              <a:spcAft>
                <a:spcPts val="0"/>
              </a:spcAft>
              <a:buClr>
                <a:schemeClr val="dk1"/>
              </a:buClr>
              <a:buSzPts val="1400"/>
              <a:buFont typeface="Arial"/>
              <a:buChar char="•"/>
            </a:pPr>
            <a:r>
              <a:rPr b="0" i="0" lang="en" u="none" cap="none" strike="noStrike">
                <a:solidFill>
                  <a:schemeClr val="dk1"/>
                </a:solidFill>
                <a:latin typeface="Arial"/>
                <a:ea typeface="Arial"/>
                <a:cs typeface="Arial"/>
                <a:sym typeface="Arial"/>
              </a:rPr>
              <a:t>Reproducible notebook, saved outputs, and documented limitations</a:t>
            </a:r>
            <a:endParaRPr b="0" i="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None/>
            </a:pPr>
            <a:r>
              <a:t/>
            </a:r>
            <a:endParaRPr>
              <a:solidFill>
                <a:schemeClr val="dk1"/>
              </a:solidFill>
            </a:endParaRPr>
          </a:p>
          <a:p>
            <a:pPr indent="-186985" lvl="0" marL="279999" marR="0" rtl="0" algn="l">
              <a:lnSpc>
                <a:spcPct val="100000"/>
              </a:lnSpc>
              <a:spcBef>
                <a:spcPts val="0"/>
              </a:spcBef>
              <a:spcAft>
                <a:spcPts val="0"/>
              </a:spcAft>
              <a:buClr>
                <a:schemeClr val="dk1"/>
              </a:buClr>
              <a:buSzPts val="1400"/>
              <a:buFont typeface="Arial"/>
              <a:buChar char="•"/>
            </a:pPr>
            <a:r>
              <a:rPr lang="en">
                <a:solidFill>
                  <a:schemeClr val="dk1"/>
                </a:solidFill>
              </a:rPr>
              <a:t>Implemented models to demonstrate meaningful</a:t>
            </a:r>
            <a:endParaRPr>
              <a:solidFill>
                <a:schemeClr val="dk1"/>
              </a:solidFill>
            </a:endParaRPr>
          </a:p>
          <a:p>
            <a:pPr indent="0" lvl="0" marL="457200" marR="0" rtl="0" algn="l">
              <a:lnSpc>
                <a:spcPct val="100000"/>
              </a:lnSpc>
              <a:spcBef>
                <a:spcPts val="0"/>
              </a:spcBef>
              <a:spcAft>
                <a:spcPts val="0"/>
              </a:spcAft>
              <a:buNone/>
            </a:pPr>
            <a:r>
              <a:rPr lang="en">
                <a:solidFill>
                  <a:schemeClr val="dk1"/>
                </a:solidFill>
              </a:rPr>
              <a:t> </a:t>
            </a:r>
            <a:endParaRPr>
              <a:solidFill>
                <a:schemeClr val="dk1"/>
              </a:solidFill>
            </a:endParaRPr>
          </a:p>
          <a:p>
            <a:pPr indent="-186985" lvl="0" marL="279999" marR="0" rtl="0" algn="l">
              <a:lnSpc>
                <a:spcPct val="100000"/>
              </a:lnSpc>
              <a:spcBef>
                <a:spcPts val="0"/>
              </a:spcBef>
              <a:spcAft>
                <a:spcPts val="0"/>
              </a:spcAft>
              <a:buClr>
                <a:schemeClr val="dk1"/>
              </a:buClr>
              <a:buSzPts val="1400"/>
              <a:buFont typeface="Arial"/>
              <a:buChar char="•"/>
            </a:pPr>
            <a:r>
              <a:rPr lang="en">
                <a:solidFill>
                  <a:schemeClr val="dk1"/>
                </a:solidFill>
              </a:rPr>
              <a:t>improvement over a naive baseline prediction</a:t>
            </a:r>
            <a:endParaRPr>
              <a:solidFill>
                <a:schemeClr val="dk1"/>
              </a:solidFill>
            </a:endParaRPr>
          </a:p>
          <a:p>
            <a:pPr indent="0" lvl="0" marL="457200" marR="0" rtl="0" algn="l">
              <a:lnSpc>
                <a:spcPct val="100000"/>
              </a:lnSpc>
              <a:spcBef>
                <a:spcPts val="0"/>
              </a:spcBef>
              <a:spcAft>
                <a:spcPts val="0"/>
              </a:spcAft>
              <a:buNone/>
            </a:pPr>
            <a:r>
              <a:t/>
            </a:r>
            <a:endParaRPr>
              <a:solidFill>
                <a:schemeClr val="dk1"/>
              </a:solidFill>
            </a:endParaRPr>
          </a:p>
          <a:p>
            <a:pPr indent="-186985" lvl="0" marL="279999" marR="0" rtl="0" algn="l">
              <a:lnSpc>
                <a:spcPct val="100000"/>
              </a:lnSpc>
              <a:spcBef>
                <a:spcPts val="0"/>
              </a:spcBef>
              <a:spcAft>
                <a:spcPts val="0"/>
              </a:spcAft>
              <a:buClr>
                <a:schemeClr val="dk1"/>
              </a:buClr>
              <a:buSzPts val="1400"/>
              <a:buFont typeface="Arial"/>
              <a:buChar char="•"/>
            </a:pPr>
            <a:r>
              <a:rPr lang="en">
                <a:solidFill>
                  <a:schemeClr val="dk1"/>
                </a:solidFill>
              </a:rPr>
              <a:t>(Success indicators are MAE, MAPE, RMSE and R² scores</a:t>
            </a:r>
            <a:endParaRPr>
              <a:solidFill>
                <a:schemeClr val="dk1"/>
              </a:solidFill>
            </a:endParaRPr>
          </a:p>
          <a:p>
            <a:pPr indent="0" lvl="0" marL="457200" marR="0" rtl="0" algn="l">
              <a:lnSpc>
                <a:spcPct val="100000"/>
              </a:lnSpc>
              <a:spcBef>
                <a:spcPts val="0"/>
              </a:spcBef>
              <a:spcAft>
                <a:spcPts val="0"/>
              </a:spcAft>
              <a:buNone/>
            </a:pPr>
            <a:r>
              <a:rPr lang="en">
                <a:solidFill>
                  <a:schemeClr val="dk1"/>
                </a:solidFill>
              </a:rPr>
              <a:t>across algorithms.)</a:t>
            </a:r>
            <a:endParaRPr>
              <a:solidFill>
                <a:schemeClr val="dk1"/>
              </a:solidFill>
            </a:endParaRPr>
          </a:p>
          <a:p>
            <a:pPr indent="0" lvl="0" marL="0" marR="0" rtl="0" algn="l">
              <a:lnSpc>
                <a:spcPct val="100000"/>
              </a:lnSpc>
              <a:spcBef>
                <a:spcPts val="0"/>
              </a:spcBef>
              <a:spcAft>
                <a:spcPts val="0"/>
              </a:spcAft>
              <a:buNone/>
            </a:pPr>
            <a:r>
              <a:t/>
            </a:r>
            <a:endParaRPr>
              <a:solidFill>
                <a:schemeClr val="dk1"/>
              </a:solidFill>
            </a:endParaRPr>
          </a:p>
          <a:p>
            <a:pPr indent="-186985" lvl="0" marL="279999" marR="0" rtl="0" algn="l">
              <a:lnSpc>
                <a:spcPct val="100000"/>
              </a:lnSpc>
              <a:spcBef>
                <a:spcPts val="0"/>
              </a:spcBef>
              <a:spcAft>
                <a:spcPts val="0"/>
              </a:spcAft>
              <a:buClr>
                <a:schemeClr val="dk1"/>
              </a:buClr>
              <a:buSzPts val="1400"/>
              <a:buFont typeface="Arial"/>
              <a:buChar char="•"/>
            </a:pPr>
            <a:r>
              <a:rPr lang="en">
                <a:solidFill>
                  <a:schemeClr val="dk1"/>
                </a:solidFill>
              </a:rPr>
              <a:t>Other success indicators include interpretable cost drivers, consistent cross-validation performance, and a clean reproducible codebase</a:t>
            </a:r>
            <a:endParaRPr>
              <a:solidFill>
                <a:schemeClr val="dk1"/>
              </a:solidFill>
            </a:endParaRPr>
          </a:p>
        </p:txBody>
      </p:sp>
      <p:sp>
        <p:nvSpPr>
          <p:cNvPr id="807" name="Google Shape;807;g3ee0adc8e96_0_256"/>
          <p:cNvSpPr txBox="1"/>
          <p:nvPr/>
        </p:nvSpPr>
        <p:spPr>
          <a:xfrm>
            <a:off x="0" y="6257950"/>
            <a:ext cx="10504800" cy="600000"/>
          </a:xfrm>
          <a:prstGeom prst="rect">
            <a:avLst/>
          </a:prstGeom>
          <a:noFill/>
          <a:ln>
            <a:noFill/>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850"/>
              <a:buFont typeface="Arial"/>
              <a:buNone/>
            </a:pPr>
            <a:r>
              <a:rPr b="0" i="0" lang="en" sz="2400" u="none" cap="none" strike="noStrike">
                <a:solidFill>
                  <a:schemeClr val="dk1"/>
                </a:solidFill>
                <a:latin typeface="Arial"/>
                <a:ea typeface="Arial"/>
                <a:cs typeface="Arial"/>
                <a:sym typeface="Arial"/>
              </a:rPr>
              <a:t>Sources: Provost &amp; Fawcett (2013); CRISP-DM: Chapman et al. (2000)</a:t>
            </a:r>
            <a:endParaRPr sz="2400">
              <a:solidFill>
                <a:schemeClr val="dk1"/>
              </a:solidFill>
            </a:endParaRPr>
          </a:p>
        </p:txBody>
      </p:sp>
      <p:sp>
        <p:nvSpPr>
          <p:cNvPr id="808" name="Google Shape;808;g3ee0adc8e96_0_256"/>
          <p:cNvSpPr txBox="1"/>
          <p:nvPr/>
        </p:nvSpPr>
        <p:spPr>
          <a:xfrm>
            <a:off x="189605" y="647475"/>
            <a:ext cx="8094300" cy="429900"/>
          </a:xfrm>
          <a:prstGeom prst="rect">
            <a:avLst/>
          </a:prstGeom>
          <a:noFill/>
          <a:ln>
            <a:noFill/>
          </a:ln>
        </p:spPr>
        <p:txBody>
          <a:bodyPr anchorCtr="0" anchor="t" bIns="60000" lIns="90000" spcFirstLastPara="1" rIns="90000" wrap="square" tIns="70000">
            <a:noAutofit/>
          </a:bodyPr>
          <a:lstStyle/>
          <a:p>
            <a:pPr indent="0" lvl="0" marL="0" marR="0" rtl="0" algn="l">
              <a:lnSpc>
                <a:spcPct val="100000"/>
              </a:lnSpc>
              <a:spcBef>
                <a:spcPts val="0"/>
              </a:spcBef>
              <a:spcAft>
                <a:spcPts val="0"/>
              </a:spcAft>
              <a:buClr>
                <a:srgbClr val="000000"/>
              </a:buClr>
              <a:buSzPts val="1360"/>
              <a:buFont typeface="Arial"/>
              <a:buNone/>
            </a:pPr>
            <a:r>
              <a:rPr b="0" i="0" lang="en" sz="1800" u="none" cap="none" strike="noStrike">
                <a:solidFill>
                  <a:schemeClr val="dk1"/>
                </a:solidFill>
                <a:latin typeface="Arial"/>
                <a:ea typeface="Arial"/>
                <a:cs typeface="Arial"/>
                <a:sym typeface="Arial"/>
              </a:rPr>
              <a:t>Success requires both model quality and decision usefulness.</a:t>
            </a:r>
            <a:endParaRPr sz="1800">
              <a:solidFill>
                <a:schemeClr val="dk1"/>
              </a:solidFill>
            </a:endParaRPr>
          </a:p>
        </p:txBody>
      </p:sp>
      <p:sp>
        <p:nvSpPr>
          <p:cNvPr id="809" name="Google Shape;809;g3ee0adc8e96_0_256"/>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810" name="Google Shape;810;g3ee0adc8e96_0_25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Clr>
                <a:srgbClr val="757575"/>
              </a:buClr>
              <a:buSzPts val="1200"/>
              <a:buFont typeface="Arial"/>
              <a:buNone/>
            </a:pPr>
            <a:fld id="{00000000-1234-1234-1234-123412341234}" type="slidenum">
              <a:rPr lang="en" sz="1900"/>
              <a:t>‹#›</a:t>
            </a:fld>
            <a:endParaRPr sz="1900"/>
          </a:p>
        </p:txBody>
      </p:sp>
      <p:sp>
        <p:nvSpPr>
          <p:cNvPr id="811" name="Google Shape;811;g3ee0adc8e96_0_256"/>
          <p:cNvSpPr txBox="1"/>
          <p:nvPr/>
        </p:nvSpPr>
        <p:spPr>
          <a:xfrm>
            <a:off x="10096081" y="6326075"/>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815" name="Shape 815"/>
        <p:cNvGrpSpPr/>
        <p:nvPr/>
      </p:nvGrpSpPr>
      <p:grpSpPr>
        <a:xfrm>
          <a:off x="0" y="0"/>
          <a:ext cx="0" cy="0"/>
          <a:chOff x="0" y="0"/>
          <a:chExt cx="0" cy="0"/>
        </a:xfrm>
      </p:grpSpPr>
      <p:grpSp>
        <p:nvGrpSpPr>
          <p:cNvPr id="816" name="Google Shape;816;g3ee0adc8e96_0_263"/>
          <p:cNvGrpSpPr/>
          <p:nvPr/>
        </p:nvGrpSpPr>
        <p:grpSpPr>
          <a:xfrm>
            <a:off x="8706107" y="-555302"/>
            <a:ext cx="3969516" cy="7638089"/>
            <a:chOff x="0" y="-57150"/>
            <a:chExt cx="1568173" cy="3017457"/>
          </a:xfrm>
        </p:grpSpPr>
        <p:sp>
          <p:nvSpPr>
            <p:cNvPr id="817" name="Google Shape;817;g3ee0adc8e96_0_263"/>
            <p:cNvSpPr/>
            <p:nvPr/>
          </p:nvSpPr>
          <p:spPr>
            <a:xfrm>
              <a:off x="0" y="0"/>
              <a:ext cx="1568173" cy="2960307"/>
            </a:xfrm>
            <a:custGeom>
              <a:rect b="b" l="l" r="r" t="t"/>
              <a:pathLst>
                <a:path extrusionOk="0" h="2960307" w="1568173">
                  <a:moveTo>
                    <a:pt x="0" y="0"/>
                  </a:moveTo>
                  <a:lnTo>
                    <a:pt x="1568173" y="0"/>
                  </a:lnTo>
                  <a:lnTo>
                    <a:pt x="1568173" y="2960307"/>
                  </a:lnTo>
                  <a:lnTo>
                    <a:pt x="0" y="2960307"/>
                  </a:lnTo>
                  <a:close/>
                </a:path>
              </a:pathLst>
            </a:custGeom>
            <a:solidFill>
              <a:srgbClr val="EFF1E8"/>
            </a:solidFill>
            <a:ln>
              <a:noFill/>
            </a:ln>
          </p:spPr>
        </p:sp>
        <p:sp>
          <p:nvSpPr>
            <p:cNvPr id="818" name="Google Shape;818;g3ee0adc8e96_0_263"/>
            <p:cNvSpPr txBox="1"/>
            <p:nvPr/>
          </p:nvSpPr>
          <p:spPr>
            <a:xfrm>
              <a:off x="0" y="-57150"/>
              <a:ext cx="1568100" cy="30174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819" name="Google Shape;819;g3ee0adc8e96_0_263"/>
          <p:cNvGrpSpPr/>
          <p:nvPr/>
        </p:nvGrpSpPr>
        <p:grpSpPr>
          <a:xfrm>
            <a:off x="204925" y="1092898"/>
            <a:ext cx="8530722" cy="5418289"/>
            <a:chOff x="-18" y="-20223"/>
            <a:chExt cx="2005200" cy="1009500"/>
          </a:xfrm>
        </p:grpSpPr>
        <p:sp>
          <p:nvSpPr>
            <p:cNvPr id="820" name="Google Shape;820;g3ee0adc8e96_0_263"/>
            <p:cNvSpPr/>
            <p:nvPr/>
          </p:nvSpPr>
          <p:spPr>
            <a:xfrm>
              <a:off x="0" y="0"/>
              <a:ext cx="2005166" cy="952383"/>
            </a:xfrm>
            <a:custGeom>
              <a:rect b="b" l="l" r="r" t="t"/>
              <a:pathLst>
                <a:path extrusionOk="0" h="952383" w="2005166">
                  <a:moveTo>
                    <a:pt x="0" y="0"/>
                  </a:moveTo>
                  <a:lnTo>
                    <a:pt x="2005166" y="0"/>
                  </a:lnTo>
                  <a:lnTo>
                    <a:pt x="2005166" y="952383"/>
                  </a:lnTo>
                  <a:lnTo>
                    <a:pt x="0" y="952383"/>
                  </a:lnTo>
                  <a:close/>
                </a:path>
              </a:pathLst>
            </a:custGeom>
            <a:noFill/>
            <a:ln cap="sq" cmpd="sng" w="38100">
              <a:solidFill>
                <a:srgbClr val="EFF1E8"/>
              </a:solidFill>
              <a:prstDash val="solid"/>
              <a:miter lim="8000"/>
              <a:headEnd len="sm" w="sm" type="none"/>
              <a:tailEnd len="sm" w="sm" type="none"/>
            </a:ln>
          </p:spPr>
        </p:sp>
        <p:sp>
          <p:nvSpPr>
            <p:cNvPr id="821" name="Google Shape;821;g3ee0adc8e96_0_263"/>
            <p:cNvSpPr txBox="1"/>
            <p:nvPr/>
          </p:nvSpPr>
          <p:spPr>
            <a:xfrm>
              <a:off x="-18" y="-20223"/>
              <a:ext cx="2005200" cy="10095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822" name="Google Shape;822;g3ee0adc8e96_0_263"/>
          <p:cNvSpPr/>
          <p:nvPr/>
        </p:nvSpPr>
        <p:spPr>
          <a:xfrm>
            <a:off x="0" y="6230323"/>
            <a:ext cx="659253" cy="622716"/>
          </a:xfrm>
          <a:custGeom>
            <a:rect b="b" l="l" r="r" t="t"/>
            <a:pathLst>
              <a:path extrusionOk="0" h="635425" w="635425">
                <a:moveTo>
                  <a:pt x="0" y="0"/>
                </a:moveTo>
                <a:lnTo>
                  <a:pt x="635425" y="0"/>
                </a:lnTo>
                <a:lnTo>
                  <a:pt x="635425" y="635425"/>
                </a:lnTo>
                <a:lnTo>
                  <a:pt x="0" y="635425"/>
                </a:lnTo>
                <a:lnTo>
                  <a:pt x="0" y="0"/>
                </a:lnTo>
                <a:close/>
              </a:path>
            </a:pathLst>
          </a:custGeom>
          <a:blipFill rotWithShape="1">
            <a:blip r:embed="rId3">
              <a:alphaModFix/>
            </a:blip>
            <a:stretch>
              <a:fillRect b="0" l="0" r="0" t="0"/>
            </a:stretch>
          </a:blipFill>
          <a:ln>
            <a:noFill/>
          </a:ln>
        </p:spPr>
      </p:sp>
      <p:sp>
        <p:nvSpPr>
          <p:cNvPr id="823" name="Google Shape;823;g3ee0adc8e96_0_263"/>
          <p:cNvSpPr txBox="1"/>
          <p:nvPr/>
        </p:nvSpPr>
        <p:spPr>
          <a:xfrm>
            <a:off x="429026" y="877488"/>
            <a:ext cx="7651800" cy="2154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t/>
            </a:r>
            <a:endParaRPr b="0" i="0" u="none" cap="none" strike="noStrike">
              <a:solidFill>
                <a:schemeClr val="dk1"/>
              </a:solidFill>
              <a:latin typeface="Poppins"/>
              <a:ea typeface="Poppins"/>
              <a:cs typeface="Poppins"/>
              <a:sym typeface="Poppins"/>
            </a:endParaRPr>
          </a:p>
        </p:txBody>
      </p:sp>
      <p:grpSp>
        <p:nvGrpSpPr>
          <p:cNvPr id="824" name="Google Shape;824;g3ee0adc8e96_0_263"/>
          <p:cNvGrpSpPr/>
          <p:nvPr/>
        </p:nvGrpSpPr>
        <p:grpSpPr>
          <a:xfrm>
            <a:off x="7223676" y="3277900"/>
            <a:ext cx="4782721" cy="3150874"/>
            <a:chOff x="-1889558" y="0"/>
            <a:chExt cx="3894724" cy="2342831"/>
          </a:xfrm>
        </p:grpSpPr>
        <p:sp>
          <p:nvSpPr>
            <p:cNvPr id="825" name="Google Shape;825;g3ee0adc8e96_0_263"/>
            <p:cNvSpPr/>
            <p:nvPr/>
          </p:nvSpPr>
          <p:spPr>
            <a:xfrm>
              <a:off x="0" y="0"/>
              <a:ext cx="2005166" cy="952383"/>
            </a:xfrm>
            <a:custGeom>
              <a:rect b="b" l="l" r="r" t="t"/>
              <a:pathLst>
                <a:path extrusionOk="0" h="952383" w="2005166">
                  <a:moveTo>
                    <a:pt x="0" y="0"/>
                  </a:moveTo>
                  <a:lnTo>
                    <a:pt x="2005166" y="0"/>
                  </a:lnTo>
                  <a:lnTo>
                    <a:pt x="2005166" y="952383"/>
                  </a:lnTo>
                  <a:lnTo>
                    <a:pt x="0" y="952383"/>
                  </a:lnTo>
                  <a:close/>
                </a:path>
              </a:pathLst>
            </a:custGeom>
            <a:noFill/>
            <a:ln cap="sq" cmpd="sng" w="38100">
              <a:solidFill>
                <a:srgbClr val="EFF1E8"/>
              </a:solidFill>
              <a:prstDash val="solid"/>
              <a:miter lim="8000"/>
              <a:headEnd len="sm" w="sm" type="none"/>
              <a:tailEnd len="sm" w="sm" type="none"/>
            </a:ln>
          </p:spPr>
        </p:sp>
        <p:sp>
          <p:nvSpPr>
            <p:cNvPr id="826" name="Google Shape;826;g3ee0adc8e96_0_263"/>
            <p:cNvSpPr txBox="1"/>
            <p:nvPr/>
          </p:nvSpPr>
          <p:spPr>
            <a:xfrm>
              <a:off x="-1889558" y="1333331"/>
              <a:ext cx="2005200" cy="10095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827" name="Google Shape;827;g3ee0adc8e96_0_263"/>
          <p:cNvSpPr/>
          <p:nvPr/>
        </p:nvSpPr>
        <p:spPr>
          <a:xfrm>
            <a:off x="8706112" y="3041847"/>
            <a:ext cx="3181197" cy="3629996"/>
          </a:xfrm>
          <a:custGeom>
            <a:rect b="b" l="l" r="r" t="t"/>
            <a:pathLst>
              <a:path extrusionOk="0" h="5438197" w="4765838">
                <a:moveTo>
                  <a:pt x="0" y="0"/>
                </a:moveTo>
                <a:lnTo>
                  <a:pt x="4765838" y="0"/>
                </a:lnTo>
                <a:lnTo>
                  <a:pt x="4765838" y="5438198"/>
                </a:lnTo>
                <a:lnTo>
                  <a:pt x="0" y="5438198"/>
                </a:lnTo>
                <a:lnTo>
                  <a:pt x="0" y="0"/>
                </a:lnTo>
                <a:close/>
              </a:path>
            </a:pathLst>
          </a:custGeom>
          <a:blipFill rotWithShape="1">
            <a:blip r:embed="rId4">
              <a:alphaModFix/>
            </a:blip>
            <a:stretch>
              <a:fillRect b="0" l="0" r="0" t="0"/>
            </a:stretch>
          </a:blipFill>
          <a:ln>
            <a:noFill/>
          </a:ln>
        </p:spPr>
      </p:sp>
      <p:sp>
        <p:nvSpPr>
          <p:cNvPr id="828" name="Google Shape;828;g3ee0adc8e96_0_263"/>
          <p:cNvSpPr/>
          <p:nvPr/>
        </p:nvSpPr>
        <p:spPr>
          <a:xfrm>
            <a:off x="0" y="3681702"/>
            <a:ext cx="12192000" cy="3176298"/>
          </a:xfrm>
          <a:custGeom>
            <a:rect b="b" l="l" r="r" t="t"/>
            <a:pathLst>
              <a:path extrusionOk="0" h="3176298" w="12192000">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Arial"/>
              <a:ea typeface="Arial"/>
              <a:cs typeface="Arial"/>
              <a:sym typeface="Arial"/>
            </a:endParaRPr>
          </a:p>
        </p:txBody>
      </p:sp>
      <p:sp>
        <p:nvSpPr>
          <p:cNvPr id="829" name="Google Shape;829;g3ee0adc8e96_0_263"/>
          <p:cNvSpPr txBox="1"/>
          <p:nvPr>
            <p:ph idx="4294967295" type="ctrTitle"/>
          </p:nvPr>
        </p:nvSpPr>
        <p:spPr>
          <a:xfrm>
            <a:off x="838199" y="1120676"/>
            <a:ext cx="7021500" cy="2308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7200"/>
              <a:buFont typeface="Play"/>
              <a:buNone/>
            </a:pPr>
            <a:r>
              <a:rPr lang="en" sz="7200">
                <a:solidFill>
                  <a:schemeClr val="lt1"/>
                </a:solidFill>
              </a:rPr>
              <a:t>Dataset Exploration</a:t>
            </a:r>
            <a:endParaRPr sz="7200">
              <a:solidFill>
                <a:schemeClr val="lt1"/>
              </a:solidFill>
            </a:endParaRPr>
          </a:p>
        </p:txBody>
      </p:sp>
      <p:sp>
        <p:nvSpPr>
          <p:cNvPr id="830" name="Google Shape;830;g3ee0adc8e96_0_263"/>
          <p:cNvSpPr txBox="1"/>
          <p:nvPr/>
        </p:nvSpPr>
        <p:spPr>
          <a:xfrm>
            <a:off x="1078573" y="4440925"/>
            <a:ext cx="76125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2400">
                <a:solidFill>
                  <a:schemeClr val="lt1"/>
                </a:solidFill>
                <a:latin typeface="Arial"/>
                <a:ea typeface="Arial"/>
                <a:cs typeface="Arial"/>
                <a:sym typeface="Arial"/>
              </a:rPr>
              <a:t>Format: .csv</a:t>
            </a:r>
            <a:endParaRPr sz="2400"/>
          </a:p>
          <a:p>
            <a:pPr indent="0" lvl="0" marL="0" marR="0" rtl="0" algn="l">
              <a:spcBef>
                <a:spcPts val="0"/>
              </a:spcBef>
              <a:spcAft>
                <a:spcPts val="0"/>
              </a:spcAft>
              <a:buNone/>
            </a:pPr>
            <a:r>
              <a:rPr lang="en" sz="2400">
                <a:solidFill>
                  <a:schemeClr val="lt1"/>
                </a:solidFill>
                <a:latin typeface="Arial"/>
                <a:ea typeface="Arial"/>
                <a:cs typeface="Arial"/>
                <a:sym typeface="Arial"/>
              </a:rPr>
              <a:t>Access method: Downloaded from GitHub</a:t>
            </a:r>
            <a:endParaRPr sz="2400"/>
          </a:p>
        </p:txBody>
      </p:sp>
      <p:sp>
        <p:nvSpPr>
          <p:cNvPr id="831" name="Google Shape;831;g3ee0adc8e96_0_263"/>
          <p:cNvSpPr txBox="1"/>
          <p:nvPr/>
        </p:nvSpPr>
        <p:spPr>
          <a:xfrm>
            <a:off x="1929602" y="3750250"/>
            <a:ext cx="8530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sng" strike="noStrike">
                <a:solidFill>
                  <a:schemeClr val="dk1"/>
                </a:solidFill>
                <a:hlinkClick r:id="rId5">
                  <a:extLst>
                    <a:ext uri="{A12FA001-AC4F-418D-AE19-62706E023703}">
                      <ahyp:hlinkClr val="tx"/>
                    </a:ext>
                  </a:extLst>
                </a:hlinkClick>
              </a:rPr>
              <a:t>https://github.com/pysca/SCA/tree/main/Chapter%206/Supplier%20Pricing</a:t>
            </a:r>
            <a:endParaRPr b="1" sz="1800">
              <a:solidFill>
                <a:schemeClr val="dk1"/>
              </a:solidFill>
            </a:endParaRPr>
          </a:p>
        </p:txBody>
      </p:sp>
      <p:sp>
        <p:nvSpPr>
          <p:cNvPr id="832" name="Google Shape;832;g3ee0adc8e96_0_263"/>
          <p:cNvSpPr txBox="1"/>
          <p:nvPr/>
        </p:nvSpPr>
        <p:spPr>
          <a:xfrm>
            <a:off x="985602" y="3794428"/>
            <a:ext cx="1695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lt1"/>
                </a:solidFill>
                <a:latin typeface="Arial"/>
                <a:ea typeface="Arial"/>
                <a:cs typeface="Arial"/>
                <a:sym typeface="Arial"/>
              </a:rPr>
              <a:t>Source:</a:t>
            </a:r>
            <a:endParaRPr sz="1800"/>
          </a:p>
        </p:txBody>
      </p:sp>
      <p:sp>
        <p:nvSpPr>
          <p:cNvPr id="833" name="Google Shape;833;g3ee0adc8e96_0_263"/>
          <p:cNvSpPr/>
          <p:nvPr/>
        </p:nvSpPr>
        <p:spPr>
          <a:xfrm>
            <a:off x="9446231" y="-155274"/>
            <a:ext cx="2627718" cy="1508087"/>
          </a:xfrm>
          <a:custGeom>
            <a:rect b="b" l="l" r="r" t="t"/>
            <a:pathLst>
              <a:path extrusionOk="0" h="1728467" w="2044917">
                <a:moveTo>
                  <a:pt x="0" y="0"/>
                </a:moveTo>
                <a:lnTo>
                  <a:pt x="2044916" y="0"/>
                </a:lnTo>
                <a:lnTo>
                  <a:pt x="2044916" y="1728467"/>
                </a:lnTo>
                <a:lnTo>
                  <a:pt x="0" y="1728467"/>
                </a:lnTo>
                <a:lnTo>
                  <a:pt x="0" y="0"/>
                </a:lnTo>
                <a:close/>
              </a:path>
            </a:pathLst>
          </a:custGeom>
          <a:blipFill rotWithShape="1">
            <a:blip r:embed="rId6">
              <a:alphaModFix/>
            </a:blip>
            <a:stretch>
              <a:fillRect b="0" l="0" r="0" t="0"/>
            </a:stretch>
          </a:blipFill>
          <a:ln>
            <a:noFill/>
          </a:ln>
        </p:spPr>
      </p:sp>
      <p:sp>
        <p:nvSpPr>
          <p:cNvPr id="834" name="Google Shape;834;g3ee0adc8e96_0_263"/>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835" name="Google Shape;835;g3ee0adc8e96_0_26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Clr>
                <a:srgbClr val="757575"/>
              </a:buClr>
              <a:buSzPts val="1200"/>
              <a:buFont typeface="Arial"/>
              <a:buNone/>
            </a:pPr>
            <a:fld id="{00000000-1234-1234-1234-123412341234}" type="slidenum">
              <a:rPr lang="en" sz="1900"/>
              <a:t>‹#›</a:t>
            </a:fld>
            <a:endParaRPr sz="1900"/>
          </a:p>
        </p:txBody>
      </p:sp>
      <p:sp>
        <p:nvSpPr>
          <p:cNvPr id="836" name="Google Shape;836;g3ee0adc8e96_0_263"/>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0" name="Shape 840"/>
        <p:cNvGrpSpPr/>
        <p:nvPr/>
      </p:nvGrpSpPr>
      <p:grpSpPr>
        <a:xfrm>
          <a:off x="0" y="0"/>
          <a:ext cx="0" cy="0"/>
          <a:chOff x="0" y="0"/>
          <a:chExt cx="0" cy="0"/>
        </a:xfrm>
      </p:grpSpPr>
      <p:sp>
        <p:nvSpPr>
          <p:cNvPr id="841" name="Google Shape;841;p20"/>
          <p:cNvSpPr/>
          <p:nvPr/>
        </p:nvSpPr>
        <p:spPr>
          <a:xfrm>
            <a:off x="0" y="16422"/>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42" name="Google Shape;842;p20"/>
          <p:cNvSpPr/>
          <p:nvPr/>
        </p:nvSpPr>
        <p:spPr>
          <a:xfrm flipH="1" rot="5400000">
            <a:off x="-1417539" y="1417538"/>
            <a:ext cx="6875818" cy="4040744"/>
          </a:xfrm>
          <a:prstGeom prst="rect">
            <a:avLst/>
          </a:prstGeom>
          <a:gradFill>
            <a:gsLst>
              <a:gs pos="0">
                <a:srgbClr val="000000"/>
              </a:gs>
              <a:gs pos="100000">
                <a:srgbClr val="0F4861"/>
              </a:gs>
            </a:gsLst>
            <a:lin ang="18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43" name="Google Shape;843;p20"/>
          <p:cNvSpPr/>
          <p:nvPr/>
        </p:nvSpPr>
        <p:spPr>
          <a:xfrm rot="-5400000">
            <a:off x="-158495" y="2660473"/>
            <a:ext cx="4355594" cy="4038603"/>
          </a:xfrm>
          <a:prstGeom prst="rect">
            <a:avLst/>
          </a:prstGeom>
          <a:gradFill>
            <a:gsLst>
              <a:gs pos="0">
                <a:srgbClr val="156082">
                  <a:alpha val="50196"/>
                </a:srgbClr>
              </a:gs>
              <a:gs pos="100000">
                <a:srgbClr val="0A3041">
                  <a:alpha val="0"/>
                </a:srgbClr>
              </a:gs>
            </a:gsLst>
            <a:lin ang="11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44" name="Google Shape;844;p20"/>
          <p:cNvSpPr/>
          <p:nvPr/>
        </p:nvSpPr>
        <p:spPr>
          <a:xfrm flipH="1" rot="-5400000">
            <a:off x="-1180882" y="1638085"/>
            <a:ext cx="6857572" cy="3581401"/>
          </a:xfrm>
          <a:prstGeom prst="rect">
            <a:avLst/>
          </a:prstGeom>
          <a:gradFill>
            <a:gsLst>
              <a:gs pos="0">
                <a:srgbClr val="000000">
                  <a:alpha val="58823"/>
                </a:srgbClr>
              </a:gs>
              <a:gs pos="69000">
                <a:srgbClr val="156082">
                  <a:alpha val="0"/>
                </a:srgbClr>
              </a:gs>
              <a:gs pos="100000">
                <a:srgbClr val="156082">
                  <a:alpha val="0"/>
                </a:srgbClr>
              </a:gs>
            </a:gsLst>
            <a:lin ang="13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45" name="Google Shape;845;p20"/>
          <p:cNvSpPr/>
          <p:nvPr/>
        </p:nvSpPr>
        <p:spPr>
          <a:xfrm rot="6097846">
            <a:off x="-747355" y="1201312"/>
            <a:ext cx="4808302" cy="4088666"/>
          </a:xfrm>
          <a:custGeom>
            <a:rect b="b" l="l" r="r" t="t"/>
            <a:pathLst>
              <a:path extrusionOk="0" h="4088666" w="4808302">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43AFE2">
                  <a:alpha val="0"/>
                </a:srgbClr>
              </a:gs>
              <a:gs pos="39000">
                <a:srgbClr val="43AFE2">
                  <a:alpha val="0"/>
                </a:srgbClr>
              </a:gs>
              <a:gs pos="100000">
                <a:srgbClr val="0F4861">
                  <a:alpha val="25882"/>
                </a:srgbClr>
              </a:gs>
            </a:gsLst>
            <a:lin ang="18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46" name="Google Shape;846;p20"/>
          <p:cNvSpPr txBox="1"/>
          <p:nvPr>
            <p:ph type="title"/>
          </p:nvPr>
        </p:nvSpPr>
        <p:spPr>
          <a:xfrm>
            <a:off x="372076" y="2767100"/>
            <a:ext cx="3168900" cy="3072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Play"/>
              <a:buNone/>
            </a:pPr>
            <a:r>
              <a:rPr lang="en" sz="4000">
                <a:solidFill>
                  <a:srgbClr val="FFFFFF"/>
                </a:solidFill>
                <a:latin typeface="Play"/>
                <a:ea typeface="Play"/>
                <a:cs typeface="Play"/>
                <a:sym typeface="Play"/>
              </a:rPr>
              <a:t>Key tables and relationship model</a:t>
            </a:r>
            <a:endParaRPr/>
          </a:p>
        </p:txBody>
      </p:sp>
      <p:pic>
        <p:nvPicPr>
          <p:cNvPr id="847" name="Google Shape;847;p20"/>
          <p:cNvPicPr preferRelativeResize="0"/>
          <p:nvPr/>
        </p:nvPicPr>
        <p:blipFill rotWithShape="1">
          <a:blip r:embed="rId3">
            <a:alphaModFix/>
          </a:blip>
          <a:srcRect b="0" l="0" r="0" t="0"/>
          <a:stretch/>
        </p:blipFill>
        <p:spPr>
          <a:xfrm>
            <a:off x="4507140" y="467208"/>
            <a:ext cx="7216324" cy="5923584"/>
          </a:xfrm>
          <a:prstGeom prst="rect">
            <a:avLst/>
          </a:prstGeom>
          <a:noFill/>
          <a:ln>
            <a:noFill/>
          </a:ln>
        </p:spPr>
      </p:pic>
      <p:sp>
        <p:nvSpPr>
          <p:cNvPr id="848" name="Google Shape;848;p20"/>
          <p:cNvSpPr txBox="1"/>
          <p:nvPr>
            <p:ph idx="12" type="sldNum"/>
          </p:nvPr>
        </p:nvSpPr>
        <p:spPr>
          <a:xfrm>
            <a:off x="10880275" y="6356350"/>
            <a:ext cx="6153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849" name="Google Shape;849;p20"/>
          <p:cNvSpPr txBox="1"/>
          <p:nvPr/>
        </p:nvSpPr>
        <p:spPr>
          <a:xfrm>
            <a:off x="9457781" y="63850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3" name="Shape 853"/>
        <p:cNvGrpSpPr/>
        <p:nvPr/>
      </p:nvGrpSpPr>
      <p:grpSpPr>
        <a:xfrm>
          <a:off x="0" y="0"/>
          <a:ext cx="0" cy="0"/>
          <a:chOff x="0" y="0"/>
          <a:chExt cx="0" cy="0"/>
        </a:xfrm>
      </p:grpSpPr>
      <p:sp>
        <p:nvSpPr>
          <p:cNvPr id="854" name="Google Shape;854;p2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55" name="Google Shape;855;p21"/>
          <p:cNvSpPr/>
          <p:nvPr/>
        </p:nvSpPr>
        <p:spPr>
          <a:xfrm flipH="1" rot="10800000">
            <a:off x="2" y="0"/>
            <a:ext cx="12191998" cy="1575955"/>
          </a:xfrm>
          <a:prstGeom prst="rect">
            <a:avLst/>
          </a:prstGeom>
          <a:gradFill>
            <a:gsLst>
              <a:gs pos="0">
                <a:srgbClr val="000000">
                  <a:alpha val="96078"/>
                </a:srgbClr>
              </a:gs>
              <a:gs pos="100000">
                <a:srgbClr val="0F4861"/>
              </a:gs>
            </a:gsLst>
            <a:lin ang="6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56" name="Google Shape;856;p21"/>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57" name="Google Shape;857;p21"/>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58" name="Google Shape;858;p21"/>
          <p:cNvSpPr txBox="1"/>
          <p:nvPr>
            <p:ph type="title"/>
          </p:nvPr>
        </p:nvSpPr>
        <p:spPr>
          <a:xfrm>
            <a:off x="699713" y="248038"/>
            <a:ext cx="7063721" cy="11592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FFFF"/>
              </a:buClr>
              <a:buSzPct val="100000"/>
              <a:buFont typeface="Play"/>
              <a:buNone/>
            </a:pPr>
            <a:r>
              <a:rPr lang="en" sz="4000">
                <a:solidFill>
                  <a:srgbClr val="FFFFFF"/>
                </a:solidFill>
                <a:latin typeface="Play"/>
                <a:ea typeface="Play"/>
                <a:cs typeface="Play"/>
                <a:sym typeface="Play"/>
              </a:rPr>
              <a:t>Train Dataset - Number of columns and rows</a:t>
            </a:r>
            <a:endParaRPr/>
          </a:p>
        </p:txBody>
      </p:sp>
      <p:pic>
        <p:nvPicPr>
          <p:cNvPr id="859" name="Google Shape;859;p21"/>
          <p:cNvPicPr preferRelativeResize="0"/>
          <p:nvPr/>
        </p:nvPicPr>
        <p:blipFill rotWithShape="1">
          <a:blip r:embed="rId3">
            <a:alphaModFix/>
          </a:blip>
          <a:srcRect b="0" l="0" r="0" t="0"/>
          <a:stretch/>
        </p:blipFill>
        <p:spPr>
          <a:xfrm>
            <a:off x="432223" y="2125426"/>
            <a:ext cx="11327549" cy="3681453"/>
          </a:xfrm>
          <a:prstGeom prst="rect">
            <a:avLst/>
          </a:prstGeom>
          <a:noFill/>
          <a:ln>
            <a:noFill/>
          </a:ln>
        </p:spPr>
      </p:pic>
      <p:sp>
        <p:nvSpPr>
          <p:cNvPr id="860" name="Google Shape;860;p21"/>
          <p:cNvSpPr txBox="1"/>
          <p:nvPr>
            <p:ph idx="12" type="sldNum"/>
          </p:nvPr>
        </p:nvSpPr>
        <p:spPr>
          <a:xfrm>
            <a:off x="10983525" y="6356350"/>
            <a:ext cx="370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861" name="Google Shape;861;p21"/>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5" name="Shape 865"/>
        <p:cNvGrpSpPr/>
        <p:nvPr/>
      </p:nvGrpSpPr>
      <p:grpSpPr>
        <a:xfrm>
          <a:off x="0" y="0"/>
          <a:ext cx="0" cy="0"/>
          <a:chOff x="0" y="0"/>
          <a:chExt cx="0" cy="0"/>
        </a:xfrm>
      </p:grpSpPr>
      <p:sp>
        <p:nvSpPr>
          <p:cNvPr id="866" name="Google Shape;866;p2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867" name="Google Shape;867;p22"/>
          <p:cNvSpPr/>
          <p:nvPr/>
        </p:nvSpPr>
        <p:spPr>
          <a:xfrm flipH="1">
            <a:off x="2" y="492"/>
            <a:ext cx="12191998" cy="1575955"/>
          </a:xfrm>
          <a:prstGeom prst="rect">
            <a:avLst/>
          </a:prstGeom>
          <a:gradFill>
            <a:gsLst>
              <a:gs pos="0">
                <a:srgbClr val="0A3041"/>
              </a:gs>
              <a:gs pos="100000">
                <a:srgbClr val="0F4861"/>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8" name="Google Shape;868;p22"/>
          <p:cNvSpPr/>
          <p:nvPr/>
        </p:nvSpPr>
        <p:spPr>
          <a:xfrm flipH="1" rot="10800000">
            <a:off x="8128857" y="35"/>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9" name="Google Shape;869;p22"/>
          <p:cNvSpPr/>
          <p:nvPr/>
        </p:nvSpPr>
        <p:spPr>
          <a:xfrm rot="5400000">
            <a:off x="5307778" y="-5307777"/>
            <a:ext cx="1576446" cy="12192001"/>
          </a:xfrm>
          <a:prstGeom prst="rect">
            <a:avLst/>
          </a:prstGeom>
          <a:gradFill>
            <a:gsLst>
              <a:gs pos="0">
                <a:srgbClr val="000000">
                  <a:alpha val="0"/>
                </a:srgbClr>
              </a:gs>
              <a:gs pos="16000">
                <a:srgbClr val="000000">
                  <a:alpha val="0"/>
                </a:srgbClr>
              </a:gs>
              <a:gs pos="99000">
                <a:srgbClr val="000000">
                  <a:alpha val="87058"/>
                </a:srgbClr>
              </a:gs>
              <a:gs pos="100000">
                <a:srgbClr val="000000">
                  <a:alpha val="87058"/>
                </a:srgbClr>
              </a:gs>
            </a:gsLst>
            <a:lin ang="11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70" name="Google Shape;870;p22"/>
          <p:cNvSpPr/>
          <p:nvPr/>
        </p:nvSpPr>
        <p:spPr>
          <a:xfrm>
            <a:off x="3825434" y="986"/>
            <a:ext cx="4303422" cy="1575461"/>
          </a:xfrm>
          <a:prstGeom prst="rect">
            <a:avLst/>
          </a:prstGeom>
          <a:gradFill>
            <a:gsLst>
              <a:gs pos="0">
                <a:srgbClr val="156082">
                  <a:alpha val="16862"/>
                </a:srgbClr>
              </a:gs>
              <a:gs pos="74000">
                <a:srgbClr val="0A3041">
                  <a:alpha val="0"/>
                </a:srgbClr>
              </a:gs>
              <a:gs pos="100000">
                <a:srgbClr val="0A3041">
                  <a:alpha val="0"/>
                </a:srgbClr>
              </a:gs>
            </a:gsLst>
            <a:lin ang="14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71" name="Google Shape;871;p22"/>
          <p:cNvSpPr txBox="1"/>
          <p:nvPr>
            <p:ph type="title"/>
          </p:nvPr>
        </p:nvSpPr>
        <p:spPr>
          <a:xfrm>
            <a:off x="699714" y="353160"/>
            <a:ext cx="7091300" cy="89858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Play"/>
              <a:buNone/>
            </a:pPr>
            <a:r>
              <a:rPr lang="en" sz="4000">
                <a:solidFill>
                  <a:srgbClr val="FFFFFF"/>
                </a:solidFill>
              </a:rPr>
              <a:t>Train Dataset - Key statistics and data types </a:t>
            </a:r>
            <a:endParaRPr/>
          </a:p>
        </p:txBody>
      </p:sp>
      <p:pic>
        <p:nvPicPr>
          <p:cNvPr id="872" name="Google Shape;872;p22"/>
          <p:cNvPicPr preferRelativeResize="0"/>
          <p:nvPr/>
        </p:nvPicPr>
        <p:blipFill rotWithShape="1">
          <a:blip r:embed="rId3">
            <a:alphaModFix/>
          </a:blip>
          <a:srcRect b="0" l="0" r="0" t="0"/>
          <a:stretch/>
        </p:blipFill>
        <p:spPr>
          <a:xfrm>
            <a:off x="229501" y="2468019"/>
            <a:ext cx="6115662" cy="2949589"/>
          </a:xfrm>
          <a:prstGeom prst="rect">
            <a:avLst/>
          </a:prstGeom>
          <a:noFill/>
          <a:ln>
            <a:noFill/>
          </a:ln>
        </p:spPr>
      </p:pic>
      <p:pic>
        <p:nvPicPr>
          <p:cNvPr id="873" name="Google Shape;873;p22"/>
          <p:cNvPicPr preferRelativeResize="0"/>
          <p:nvPr/>
        </p:nvPicPr>
        <p:blipFill rotWithShape="1">
          <a:blip r:embed="rId4">
            <a:alphaModFix/>
          </a:blip>
          <a:srcRect b="0" l="0" r="0" t="0"/>
          <a:stretch/>
        </p:blipFill>
        <p:spPr>
          <a:xfrm>
            <a:off x="6345165" y="2468019"/>
            <a:ext cx="5131087" cy="3497422"/>
          </a:xfrm>
          <a:prstGeom prst="rect">
            <a:avLst/>
          </a:prstGeom>
          <a:noFill/>
          <a:ln>
            <a:noFill/>
          </a:ln>
        </p:spPr>
      </p:pic>
      <p:sp>
        <p:nvSpPr>
          <p:cNvPr id="874" name="Google Shape;874;p2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875" name="Google Shape;875;p22"/>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9" name="Shape 879"/>
        <p:cNvGrpSpPr/>
        <p:nvPr/>
      </p:nvGrpSpPr>
      <p:grpSpPr>
        <a:xfrm>
          <a:off x="0" y="0"/>
          <a:ext cx="0" cy="0"/>
          <a:chOff x="0" y="0"/>
          <a:chExt cx="0" cy="0"/>
        </a:xfrm>
      </p:grpSpPr>
      <p:sp>
        <p:nvSpPr>
          <p:cNvPr id="880" name="Google Shape;880;p2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81" name="Google Shape;881;p23"/>
          <p:cNvSpPr/>
          <p:nvPr/>
        </p:nvSpPr>
        <p:spPr>
          <a:xfrm flipH="1" rot="10800000">
            <a:off x="2" y="0"/>
            <a:ext cx="12191998" cy="1575955"/>
          </a:xfrm>
          <a:prstGeom prst="rect">
            <a:avLst/>
          </a:prstGeom>
          <a:gradFill>
            <a:gsLst>
              <a:gs pos="0">
                <a:srgbClr val="000000">
                  <a:alpha val="96078"/>
                </a:srgbClr>
              </a:gs>
              <a:gs pos="100000">
                <a:srgbClr val="0F4861"/>
              </a:gs>
            </a:gsLst>
            <a:lin ang="6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82" name="Google Shape;882;p23"/>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83" name="Google Shape;883;p23"/>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84" name="Google Shape;884;p23"/>
          <p:cNvSpPr txBox="1"/>
          <p:nvPr>
            <p:ph type="title"/>
          </p:nvPr>
        </p:nvSpPr>
        <p:spPr>
          <a:xfrm>
            <a:off x="699713" y="248038"/>
            <a:ext cx="7063721" cy="1159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700"/>
              <a:buFont typeface="Play"/>
              <a:buNone/>
            </a:pPr>
            <a:r>
              <a:rPr lang="en" sz="3700">
                <a:solidFill>
                  <a:srgbClr val="FFFFFF"/>
                </a:solidFill>
                <a:latin typeface="Play"/>
                <a:ea typeface="Play"/>
                <a:cs typeface="Play"/>
                <a:sym typeface="Play"/>
              </a:rPr>
              <a:t>Cost Distribution (Train Dataset)</a:t>
            </a:r>
            <a:endParaRPr/>
          </a:p>
        </p:txBody>
      </p:sp>
      <p:pic>
        <p:nvPicPr>
          <p:cNvPr id="885" name="Google Shape;885;p23"/>
          <p:cNvPicPr preferRelativeResize="0"/>
          <p:nvPr/>
        </p:nvPicPr>
        <p:blipFill rotWithShape="1">
          <a:blip r:embed="rId3">
            <a:alphaModFix/>
          </a:blip>
          <a:srcRect b="0" l="0" r="0" t="0"/>
          <a:stretch/>
        </p:blipFill>
        <p:spPr>
          <a:xfrm>
            <a:off x="1007817" y="1966293"/>
            <a:ext cx="10176364" cy="4452160"/>
          </a:xfrm>
          <a:prstGeom prst="rect">
            <a:avLst/>
          </a:prstGeom>
          <a:noFill/>
          <a:ln>
            <a:noFill/>
          </a:ln>
        </p:spPr>
      </p:pic>
      <p:sp>
        <p:nvSpPr>
          <p:cNvPr id="886" name="Google Shape;886;p2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pic>
        <p:nvPicPr>
          <p:cNvPr id="887" name="Google Shape;887;p23" title="Screenshot 2026-06-14 at 6.45.21 PM.png"/>
          <p:cNvPicPr preferRelativeResize="0"/>
          <p:nvPr/>
        </p:nvPicPr>
        <p:blipFill>
          <a:blip r:embed="rId4">
            <a:alphaModFix/>
          </a:blip>
          <a:stretch>
            <a:fillRect/>
          </a:stretch>
        </p:blipFill>
        <p:spPr>
          <a:xfrm>
            <a:off x="6976236" y="2097076"/>
            <a:ext cx="3909689" cy="1159200"/>
          </a:xfrm>
          <a:prstGeom prst="rect">
            <a:avLst/>
          </a:prstGeom>
          <a:noFill/>
          <a:ln>
            <a:noFill/>
          </a:ln>
        </p:spPr>
      </p:pic>
      <p:sp>
        <p:nvSpPr>
          <p:cNvPr id="888" name="Google Shape;888;p23"/>
          <p:cNvSpPr txBox="1"/>
          <p:nvPr/>
        </p:nvSpPr>
        <p:spPr>
          <a:xfrm>
            <a:off x="9264806" y="63850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2" name="Shape 892"/>
        <p:cNvGrpSpPr/>
        <p:nvPr/>
      </p:nvGrpSpPr>
      <p:grpSpPr>
        <a:xfrm>
          <a:off x="0" y="0"/>
          <a:ext cx="0" cy="0"/>
          <a:chOff x="0" y="0"/>
          <a:chExt cx="0" cy="0"/>
        </a:xfrm>
      </p:grpSpPr>
      <p:sp>
        <p:nvSpPr>
          <p:cNvPr id="893" name="Google Shape;893;p2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894" name="Google Shape;894;p24"/>
          <p:cNvSpPr/>
          <p:nvPr/>
        </p:nvSpPr>
        <p:spPr>
          <a:xfrm flipH="1">
            <a:off x="2" y="492"/>
            <a:ext cx="12191998" cy="1575955"/>
          </a:xfrm>
          <a:prstGeom prst="rect">
            <a:avLst/>
          </a:prstGeom>
          <a:gradFill>
            <a:gsLst>
              <a:gs pos="0">
                <a:srgbClr val="0A3041"/>
              </a:gs>
              <a:gs pos="100000">
                <a:srgbClr val="0F4861"/>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5" name="Google Shape;895;p24"/>
          <p:cNvSpPr/>
          <p:nvPr/>
        </p:nvSpPr>
        <p:spPr>
          <a:xfrm flipH="1" rot="10800000">
            <a:off x="8128857" y="35"/>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6" name="Google Shape;896;p24"/>
          <p:cNvSpPr/>
          <p:nvPr/>
        </p:nvSpPr>
        <p:spPr>
          <a:xfrm rot="5400000">
            <a:off x="5307778" y="-5307777"/>
            <a:ext cx="1576446" cy="12192001"/>
          </a:xfrm>
          <a:prstGeom prst="rect">
            <a:avLst/>
          </a:prstGeom>
          <a:gradFill>
            <a:gsLst>
              <a:gs pos="0">
                <a:srgbClr val="000000">
                  <a:alpha val="0"/>
                </a:srgbClr>
              </a:gs>
              <a:gs pos="16000">
                <a:srgbClr val="000000">
                  <a:alpha val="0"/>
                </a:srgbClr>
              </a:gs>
              <a:gs pos="99000">
                <a:srgbClr val="000000">
                  <a:alpha val="87058"/>
                </a:srgbClr>
              </a:gs>
              <a:gs pos="100000">
                <a:srgbClr val="000000">
                  <a:alpha val="87058"/>
                </a:srgbClr>
              </a:gs>
            </a:gsLst>
            <a:lin ang="11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7" name="Google Shape;897;p24"/>
          <p:cNvSpPr/>
          <p:nvPr/>
        </p:nvSpPr>
        <p:spPr>
          <a:xfrm>
            <a:off x="3825434" y="986"/>
            <a:ext cx="4303422" cy="1575461"/>
          </a:xfrm>
          <a:prstGeom prst="rect">
            <a:avLst/>
          </a:prstGeom>
          <a:gradFill>
            <a:gsLst>
              <a:gs pos="0">
                <a:srgbClr val="156082">
                  <a:alpha val="16862"/>
                </a:srgbClr>
              </a:gs>
              <a:gs pos="74000">
                <a:srgbClr val="0A3041">
                  <a:alpha val="0"/>
                </a:srgbClr>
              </a:gs>
              <a:gs pos="100000">
                <a:srgbClr val="0A3041">
                  <a:alpha val="0"/>
                </a:srgbClr>
              </a:gs>
            </a:gsLst>
            <a:lin ang="14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8" name="Google Shape;898;p24"/>
          <p:cNvSpPr txBox="1"/>
          <p:nvPr>
            <p:ph type="title"/>
          </p:nvPr>
        </p:nvSpPr>
        <p:spPr>
          <a:xfrm>
            <a:off x="5870645" y="338975"/>
            <a:ext cx="4063200" cy="898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Play"/>
              <a:buNone/>
            </a:pPr>
            <a:r>
              <a:rPr lang="en" sz="4000">
                <a:solidFill>
                  <a:srgbClr val="FFFFFF"/>
                </a:solidFill>
              </a:rPr>
              <a:t>Cost clusters</a:t>
            </a:r>
            <a:endParaRPr/>
          </a:p>
        </p:txBody>
      </p:sp>
      <p:pic>
        <p:nvPicPr>
          <p:cNvPr id="899" name="Google Shape;899;p24"/>
          <p:cNvPicPr preferRelativeResize="0"/>
          <p:nvPr/>
        </p:nvPicPr>
        <p:blipFill rotWithShape="1">
          <a:blip r:embed="rId3">
            <a:alphaModFix/>
          </a:blip>
          <a:srcRect b="0" l="0" r="0" t="0"/>
          <a:stretch/>
        </p:blipFill>
        <p:spPr>
          <a:xfrm>
            <a:off x="112267" y="3009463"/>
            <a:ext cx="5758395" cy="3699769"/>
          </a:xfrm>
          <a:prstGeom prst="rect">
            <a:avLst/>
          </a:prstGeom>
          <a:noFill/>
          <a:ln>
            <a:noFill/>
          </a:ln>
        </p:spPr>
      </p:pic>
      <p:graphicFrame>
        <p:nvGraphicFramePr>
          <p:cNvPr id="900" name="Google Shape;900;p24"/>
          <p:cNvGraphicFramePr/>
          <p:nvPr/>
        </p:nvGraphicFramePr>
        <p:xfrm>
          <a:off x="6237044" y="2189696"/>
          <a:ext cx="3000000" cy="3000000"/>
        </p:xfrm>
        <a:graphic>
          <a:graphicData uri="http://schemas.openxmlformats.org/drawingml/2006/table">
            <a:tbl>
              <a:tblPr>
                <a:solidFill>
                  <a:srgbClr val="F7F7F7"/>
                </a:solidFill>
                <a:tableStyleId>{45EFA893-811E-4007-9D9D-CAB5BEB4294B}</a:tableStyleId>
              </a:tblPr>
              <a:tblGrid>
                <a:gridCol w="848425"/>
                <a:gridCol w="2179375"/>
                <a:gridCol w="2644375"/>
              </a:tblGrid>
              <a:tr h="309050">
                <a:tc>
                  <a:txBody>
                    <a:bodyPr/>
                    <a:lstStyle/>
                    <a:p>
                      <a:pPr indent="0" lvl="0" marL="0" marR="0" rtl="0" algn="l">
                        <a:spcBef>
                          <a:spcPts val="0"/>
                        </a:spcBef>
                        <a:spcAft>
                          <a:spcPts val="0"/>
                        </a:spcAft>
                        <a:buClr>
                          <a:schemeClr val="dk1"/>
                        </a:buClr>
                        <a:buSzPts val="1100"/>
                        <a:buFont typeface="Arial"/>
                        <a:buNone/>
                      </a:pPr>
                      <a:r>
                        <a:rPr lang="en" sz="1100" u="none" cap="none" strike="noStrike">
                          <a:solidFill>
                            <a:schemeClr val="dk1"/>
                          </a:solidFill>
                        </a:rPr>
                        <a:t>Cluster</a:t>
                      </a:r>
                      <a:endParaRPr/>
                    </a:p>
                  </a:txBody>
                  <a:tcPr marT="47525" marB="64100" marR="34800" marL="34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7F7F7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7F7F7"/>
                    </a:solidFill>
                  </a:tcPr>
                </a:tc>
                <a:tc>
                  <a:txBody>
                    <a:bodyPr/>
                    <a:lstStyle/>
                    <a:p>
                      <a:pPr indent="0" lvl="0" marL="0" marR="0" rtl="0" algn="l">
                        <a:spcBef>
                          <a:spcPts val="0"/>
                        </a:spcBef>
                        <a:spcAft>
                          <a:spcPts val="0"/>
                        </a:spcAft>
                        <a:buClr>
                          <a:schemeClr val="dk1"/>
                        </a:buClr>
                        <a:buSzPts val="1100"/>
                        <a:buFont typeface="Arial"/>
                        <a:buNone/>
                      </a:pPr>
                      <a:r>
                        <a:rPr lang="en" sz="1100" u="none" cap="none" strike="noStrike">
                          <a:solidFill>
                            <a:schemeClr val="dk1"/>
                          </a:solidFill>
                        </a:rPr>
                        <a:t>Pattern</a:t>
                      </a:r>
                      <a:endParaRPr/>
                    </a:p>
                  </a:txBody>
                  <a:tcPr marT="47525" marB="64100" marR="34800" marL="34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7F7F7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7F7F7"/>
                    </a:solidFill>
                  </a:tcPr>
                </a:tc>
                <a:tc>
                  <a:txBody>
                    <a:bodyPr/>
                    <a:lstStyle/>
                    <a:p>
                      <a:pPr indent="0" lvl="0" marL="0" marR="0" rtl="0" algn="l">
                        <a:spcBef>
                          <a:spcPts val="0"/>
                        </a:spcBef>
                        <a:spcAft>
                          <a:spcPts val="0"/>
                        </a:spcAft>
                        <a:buClr>
                          <a:schemeClr val="dk1"/>
                        </a:buClr>
                        <a:buSzPts val="1100"/>
                        <a:buFont typeface="Arial"/>
                        <a:buNone/>
                      </a:pPr>
                      <a:r>
                        <a:rPr lang="en" sz="1100" u="none" cap="none" strike="noStrike">
                          <a:solidFill>
                            <a:schemeClr val="dk1"/>
                          </a:solidFill>
                        </a:rPr>
                        <a:t>Interpretation</a:t>
                      </a:r>
                      <a:endParaRPr/>
                    </a:p>
                  </a:txBody>
                  <a:tcPr marT="47525" marB="64100" marR="34800" marL="34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7F7F7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7F7F7"/>
                    </a:solidFill>
                  </a:tcPr>
                </a:tc>
              </a:tr>
              <a:tr h="651850">
                <a:tc>
                  <a:txBody>
                    <a:bodyPr/>
                    <a:lstStyle/>
                    <a:p>
                      <a:pPr indent="0" lvl="0" marL="0" marR="0" rtl="0" algn="l">
                        <a:spcBef>
                          <a:spcPts val="0"/>
                        </a:spcBef>
                        <a:spcAft>
                          <a:spcPts val="0"/>
                        </a:spcAft>
                        <a:buClr>
                          <a:schemeClr val="dk1"/>
                        </a:buClr>
                        <a:buSzPts val="1100"/>
                        <a:buFont typeface="Arial"/>
                        <a:buNone/>
                      </a:pPr>
                      <a:r>
                        <a:rPr b="1" lang="en" sz="1100" u="none" cap="none" strike="noStrike">
                          <a:solidFill>
                            <a:schemeClr val="dk1"/>
                          </a:solidFill>
                        </a:rPr>
                        <a:t>Cluster 0</a:t>
                      </a:r>
                      <a:endParaRPr sz="1100" u="none" cap="none" strike="noStrike">
                        <a:solidFill>
                          <a:schemeClr val="dk1"/>
                        </a:solidFill>
                      </a:endParaRPr>
                    </a:p>
                  </a:txBody>
                  <a:tcPr marT="47525" marB="64100" marR="34800" marL="34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7F7F7"/>
                    </a:solidFill>
                  </a:tcPr>
                </a:tc>
                <a:tc>
                  <a:txBody>
                    <a:bodyPr/>
                    <a:lstStyle/>
                    <a:p>
                      <a:pPr indent="0" lvl="0" marL="0" marR="0" rtl="0" algn="l">
                        <a:spcBef>
                          <a:spcPts val="0"/>
                        </a:spcBef>
                        <a:spcAft>
                          <a:spcPts val="0"/>
                        </a:spcAft>
                        <a:buClr>
                          <a:schemeClr val="dk1"/>
                        </a:buClr>
                        <a:buSzPts val="1100"/>
                        <a:buFont typeface="Arial"/>
                        <a:buNone/>
                      </a:pPr>
                      <a:r>
                        <a:rPr lang="en" sz="1100" u="none" cap="none" strike="noStrike">
                          <a:solidFill>
                            <a:schemeClr val="dk1"/>
                          </a:solidFill>
                        </a:rPr>
                        <a:t>Medium spread, highest median among the low-cost groups</a:t>
                      </a:r>
                      <a:endParaRPr/>
                    </a:p>
                  </a:txBody>
                  <a:tcPr marT="47525" marB="64100" marR="34800" marL="34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7F7F7"/>
                    </a:solidFill>
                  </a:tcPr>
                </a:tc>
                <a:tc>
                  <a:txBody>
                    <a:bodyPr/>
                    <a:lstStyle/>
                    <a:p>
                      <a:pPr indent="0" lvl="0" marL="0" marR="0" rtl="0" algn="l">
                        <a:spcBef>
                          <a:spcPts val="0"/>
                        </a:spcBef>
                        <a:spcAft>
                          <a:spcPts val="0"/>
                        </a:spcAft>
                        <a:buClr>
                          <a:schemeClr val="dk1"/>
                        </a:buClr>
                        <a:buSzPts val="1100"/>
                        <a:buFont typeface="Arial"/>
                        <a:buNone/>
                      </a:pPr>
                      <a:r>
                        <a:rPr lang="en" sz="1100" u="none" cap="none" strike="noStrike">
                          <a:solidFill>
                            <a:schemeClr val="dk1"/>
                          </a:solidFill>
                        </a:rPr>
                        <a:t>Relatively consistent costs, mostly between ~10 to ~100. Some high outliers up to ~280.</a:t>
                      </a:r>
                      <a:endParaRPr/>
                    </a:p>
                  </a:txBody>
                  <a:tcPr marT="47525" marB="64100" marR="34800" marL="34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7F7F7"/>
                    </a:solidFill>
                  </a:tcPr>
                </a:tc>
              </a:tr>
              <a:tr h="1236325">
                <a:tc>
                  <a:txBody>
                    <a:bodyPr/>
                    <a:lstStyle/>
                    <a:p>
                      <a:pPr indent="0" lvl="0" marL="0" marR="0" rtl="0" algn="l">
                        <a:spcBef>
                          <a:spcPts val="0"/>
                        </a:spcBef>
                        <a:spcAft>
                          <a:spcPts val="0"/>
                        </a:spcAft>
                        <a:buClr>
                          <a:schemeClr val="dk1"/>
                        </a:buClr>
                        <a:buSzPts val="1100"/>
                        <a:buFont typeface="Arial"/>
                        <a:buNone/>
                      </a:pPr>
                      <a:r>
                        <a:rPr b="1" lang="en" sz="1100" u="none" cap="none" strike="noStrike">
                          <a:solidFill>
                            <a:schemeClr val="dk1"/>
                          </a:solidFill>
                        </a:rPr>
                        <a:t>Cluster 1</a:t>
                      </a:r>
                      <a:endParaRPr sz="1100" u="none" cap="none" strike="noStrike">
                        <a:solidFill>
                          <a:schemeClr val="dk1"/>
                        </a:solidFill>
                      </a:endParaRPr>
                    </a:p>
                  </a:txBody>
                  <a:tcPr marT="47525" marB="64100" marR="34800" marL="34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7F7F7"/>
                    </a:solidFill>
                  </a:tcPr>
                </a:tc>
                <a:tc>
                  <a:txBody>
                    <a:bodyPr/>
                    <a:lstStyle/>
                    <a:p>
                      <a:pPr indent="0" lvl="0" marL="0" marR="0" rtl="0" algn="l">
                        <a:spcBef>
                          <a:spcPts val="0"/>
                        </a:spcBef>
                        <a:spcAft>
                          <a:spcPts val="0"/>
                        </a:spcAft>
                        <a:buClr>
                          <a:schemeClr val="dk1"/>
                        </a:buClr>
                        <a:buSzPts val="1100"/>
                        <a:buFont typeface="Arial"/>
                        <a:buNone/>
                      </a:pPr>
                      <a:r>
                        <a:rPr lang="en" sz="1100" u="none" cap="none" strike="noStrike">
                          <a:solidFill>
                            <a:schemeClr val="dk1"/>
                          </a:solidFill>
                        </a:rPr>
                        <a:t>Very wide-spread + many extreme outliers</a:t>
                      </a:r>
                      <a:endParaRPr/>
                    </a:p>
                  </a:txBody>
                  <a:tcPr marT="47525" marB="64100" marR="34800" marL="34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7F7F7"/>
                    </a:solidFill>
                  </a:tcPr>
                </a:tc>
                <a:tc>
                  <a:txBody>
                    <a:bodyPr/>
                    <a:lstStyle/>
                    <a:p>
                      <a:pPr indent="0" lvl="0" marL="0" marR="0" rtl="0" algn="l">
                        <a:spcBef>
                          <a:spcPts val="0"/>
                        </a:spcBef>
                        <a:spcAft>
                          <a:spcPts val="0"/>
                        </a:spcAft>
                        <a:buClr>
                          <a:schemeClr val="dk1"/>
                        </a:buClr>
                        <a:buSzPts val="1100"/>
                        <a:buFont typeface="Arial"/>
                        <a:buNone/>
                      </a:pPr>
                      <a:r>
                        <a:rPr b="1" lang="en" sz="1100" u="none" cap="none" strike="noStrike">
                          <a:solidFill>
                            <a:schemeClr val="dk1"/>
                          </a:solidFill>
                        </a:rPr>
                        <a:t>Most interesting cluster.</a:t>
                      </a:r>
                      <a:r>
                        <a:rPr lang="en" sz="1100" u="none" cap="none" strike="noStrike">
                          <a:solidFill>
                            <a:schemeClr val="dk1"/>
                          </a:solidFill>
                        </a:rPr>
                        <a:t> Huge variation in cost — from very cheap to extremely expensive (up to ~1000). Lots of outliers above 400–900. This cluster likely contains complex or highly customized tubes.</a:t>
                      </a:r>
                      <a:endParaRPr/>
                    </a:p>
                  </a:txBody>
                  <a:tcPr marT="47525" marB="64100" marR="34800" marL="34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7F7F7"/>
                    </a:solidFill>
                  </a:tcPr>
                </a:tc>
              </a:tr>
              <a:tr h="651850">
                <a:tc>
                  <a:txBody>
                    <a:bodyPr/>
                    <a:lstStyle/>
                    <a:p>
                      <a:pPr indent="0" lvl="0" marL="0" marR="0" rtl="0" algn="l">
                        <a:spcBef>
                          <a:spcPts val="0"/>
                        </a:spcBef>
                        <a:spcAft>
                          <a:spcPts val="0"/>
                        </a:spcAft>
                        <a:buClr>
                          <a:schemeClr val="dk1"/>
                        </a:buClr>
                        <a:buSzPts val="1100"/>
                        <a:buFont typeface="Arial"/>
                        <a:buNone/>
                      </a:pPr>
                      <a:r>
                        <a:rPr b="1" lang="en" sz="1100" u="none" cap="none" strike="noStrike">
                          <a:solidFill>
                            <a:schemeClr val="dk1"/>
                          </a:solidFill>
                        </a:rPr>
                        <a:t>Cluster 2</a:t>
                      </a:r>
                      <a:endParaRPr sz="1100" u="none" cap="none" strike="noStrike">
                        <a:solidFill>
                          <a:schemeClr val="dk1"/>
                        </a:solidFill>
                      </a:endParaRPr>
                    </a:p>
                  </a:txBody>
                  <a:tcPr marT="47525" marB="64100" marR="34800" marL="34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7F7F7"/>
                    </a:solidFill>
                  </a:tcPr>
                </a:tc>
                <a:tc>
                  <a:txBody>
                    <a:bodyPr/>
                    <a:lstStyle/>
                    <a:p>
                      <a:pPr indent="0" lvl="0" marL="0" marR="0" rtl="0" algn="l">
                        <a:spcBef>
                          <a:spcPts val="0"/>
                        </a:spcBef>
                        <a:spcAft>
                          <a:spcPts val="0"/>
                        </a:spcAft>
                        <a:buClr>
                          <a:schemeClr val="dk1"/>
                        </a:buClr>
                        <a:buSzPts val="1100"/>
                        <a:buFont typeface="Arial"/>
                        <a:buNone/>
                      </a:pPr>
                      <a:r>
                        <a:rPr lang="en" sz="1100" u="none" cap="none" strike="noStrike">
                          <a:solidFill>
                            <a:schemeClr val="dk1"/>
                          </a:solidFill>
                        </a:rPr>
                        <a:t>Moderate spread, some high outliers</a:t>
                      </a:r>
                      <a:endParaRPr/>
                    </a:p>
                  </a:txBody>
                  <a:tcPr marT="47525" marB="64100" marR="34800" marL="34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7F7F7"/>
                    </a:solidFill>
                  </a:tcPr>
                </a:tc>
                <a:tc>
                  <a:txBody>
                    <a:bodyPr/>
                    <a:lstStyle/>
                    <a:p>
                      <a:pPr indent="0" lvl="0" marL="0" marR="0" rtl="0" algn="l">
                        <a:spcBef>
                          <a:spcPts val="0"/>
                        </a:spcBef>
                        <a:spcAft>
                          <a:spcPts val="0"/>
                        </a:spcAft>
                        <a:buClr>
                          <a:schemeClr val="dk1"/>
                        </a:buClr>
                        <a:buSzPts val="1100"/>
                        <a:buFont typeface="Arial"/>
                        <a:buNone/>
                      </a:pPr>
                      <a:r>
                        <a:rPr lang="en" sz="1100" u="none" cap="none" strike="noStrike">
                          <a:solidFill>
                            <a:schemeClr val="dk1"/>
                          </a:solidFill>
                        </a:rPr>
                        <a:t>Similar to cluster 0 but slightly higher variation. Many points between 0–50 with outliers up to ~400.</a:t>
                      </a:r>
                      <a:endParaRPr/>
                    </a:p>
                  </a:txBody>
                  <a:tcPr marT="47525" marB="64100" marR="34800" marL="34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7F7F7"/>
                    </a:solidFill>
                  </a:tcPr>
                </a:tc>
              </a:tr>
              <a:tr h="823225">
                <a:tc>
                  <a:txBody>
                    <a:bodyPr/>
                    <a:lstStyle/>
                    <a:p>
                      <a:pPr indent="0" lvl="0" marL="0" marR="0" rtl="0" algn="l">
                        <a:spcBef>
                          <a:spcPts val="0"/>
                        </a:spcBef>
                        <a:spcAft>
                          <a:spcPts val="0"/>
                        </a:spcAft>
                        <a:buClr>
                          <a:schemeClr val="dk1"/>
                        </a:buClr>
                        <a:buSzPts val="1100"/>
                        <a:buFont typeface="Arial"/>
                        <a:buNone/>
                      </a:pPr>
                      <a:r>
                        <a:rPr b="1" lang="en" sz="1100" u="none" cap="none" strike="noStrike">
                          <a:solidFill>
                            <a:schemeClr val="dk1"/>
                          </a:solidFill>
                        </a:rPr>
                        <a:t>Cluster 3</a:t>
                      </a:r>
                      <a:endParaRPr sz="1100" u="none" cap="none" strike="noStrike">
                        <a:solidFill>
                          <a:schemeClr val="dk1"/>
                        </a:solidFill>
                      </a:endParaRPr>
                    </a:p>
                  </a:txBody>
                  <a:tcPr marT="47525" marB="64100" marR="34800" marL="34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7F7F7F"/>
                      </a:solidFill>
                      <a:prstDash val="solid"/>
                      <a:round/>
                      <a:headEnd len="sm" w="sm" type="none"/>
                      <a:tailEnd len="sm" w="sm" type="none"/>
                    </a:lnB>
                    <a:solidFill>
                      <a:srgbClr val="F7F7F7"/>
                    </a:solidFill>
                  </a:tcPr>
                </a:tc>
                <a:tc>
                  <a:txBody>
                    <a:bodyPr/>
                    <a:lstStyle/>
                    <a:p>
                      <a:pPr indent="0" lvl="0" marL="0" marR="0" rtl="0" algn="l">
                        <a:spcBef>
                          <a:spcPts val="0"/>
                        </a:spcBef>
                        <a:spcAft>
                          <a:spcPts val="0"/>
                        </a:spcAft>
                        <a:buClr>
                          <a:schemeClr val="dk1"/>
                        </a:buClr>
                        <a:buSzPts val="1100"/>
                        <a:buFont typeface="Arial"/>
                        <a:buNone/>
                      </a:pPr>
                      <a:r>
                        <a:rPr lang="en" sz="1100" u="none" cap="none" strike="noStrike">
                          <a:solidFill>
                            <a:schemeClr val="dk1"/>
                          </a:solidFill>
                        </a:rPr>
                        <a:t>Very tight and low cost</a:t>
                      </a:r>
                      <a:endParaRPr/>
                    </a:p>
                  </a:txBody>
                  <a:tcPr marT="47525" marB="64100" marR="34800" marL="34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7F7F7F"/>
                      </a:solidFill>
                      <a:prstDash val="solid"/>
                      <a:round/>
                      <a:headEnd len="sm" w="sm" type="none"/>
                      <a:tailEnd len="sm" w="sm" type="none"/>
                    </a:lnB>
                    <a:solidFill>
                      <a:srgbClr val="F7F7F7"/>
                    </a:solidFill>
                  </a:tcPr>
                </a:tc>
                <a:tc>
                  <a:txBody>
                    <a:bodyPr/>
                    <a:lstStyle/>
                    <a:p>
                      <a:pPr indent="0" lvl="0" marL="0" marR="0" rtl="0" algn="l">
                        <a:spcBef>
                          <a:spcPts val="0"/>
                        </a:spcBef>
                        <a:spcAft>
                          <a:spcPts val="0"/>
                        </a:spcAft>
                        <a:buClr>
                          <a:schemeClr val="dk1"/>
                        </a:buClr>
                        <a:buSzPts val="1100"/>
                        <a:buFont typeface="Arial"/>
                        <a:buNone/>
                      </a:pPr>
                      <a:r>
                        <a:rPr b="1" lang="en" sz="1100" u="none" cap="none" strike="noStrike">
                          <a:solidFill>
                            <a:schemeClr val="dk1"/>
                          </a:solidFill>
                        </a:rPr>
                        <a:t>Cheapest and most consistent cluster.</a:t>
                      </a:r>
                      <a:r>
                        <a:rPr lang="en" sz="1100" u="none" cap="none" strike="noStrike">
                          <a:solidFill>
                            <a:schemeClr val="dk1"/>
                          </a:solidFill>
                        </a:rPr>
                        <a:t> Almost all tubes are low cost with very little variation. Looks like a "standard/simple" group.</a:t>
                      </a:r>
                      <a:endParaRPr/>
                    </a:p>
                  </a:txBody>
                  <a:tcPr marT="47525" marB="64100" marR="34800" marL="34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7F7F7F"/>
                      </a:solidFill>
                      <a:prstDash val="solid"/>
                      <a:round/>
                      <a:headEnd len="sm" w="sm" type="none"/>
                      <a:tailEnd len="sm" w="sm" type="none"/>
                    </a:lnB>
                    <a:solidFill>
                      <a:srgbClr val="F7F7F7"/>
                    </a:solidFill>
                  </a:tcPr>
                </a:tc>
              </a:tr>
            </a:tbl>
          </a:graphicData>
        </a:graphic>
      </p:graphicFrame>
      <p:sp>
        <p:nvSpPr>
          <p:cNvPr id="901" name="Google Shape;901;p24"/>
          <p:cNvSpPr txBox="1"/>
          <p:nvPr>
            <p:ph idx="12" type="sldNum"/>
          </p:nvPr>
        </p:nvSpPr>
        <p:spPr>
          <a:xfrm>
            <a:off x="10683675" y="6326425"/>
            <a:ext cx="506400" cy="382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
              <a:t>‹#›</a:t>
            </a:fld>
            <a:endParaRPr/>
          </a:p>
        </p:txBody>
      </p:sp>
      <p:pic>
        <p:nvPicPr>
          <p:cNvPr id="902" name="Google Shape;902;p24" title="Screenshot 2026-06-14 at 6.52.03 PM.png"/>
          <p:cNvPicPr preferRelativeResize="0"/>
          <p:nvPr/>
        </p:nvPicPr>
        <p:blipFill>
          <a:blip r:embed="rId4">
            <a:alphaModFix/>
          </a:blip>
          <a:stretch>
            <a:fillRect/>
          </a:stretch>
        </p:blipFill>
        <p:spPr>
          <a:xfrm>
            <a:off x="554148" y="205025"/>
            <a:ext cx="4303425" cy="2720834"/>
          </a:xfrm>
          <a:prstGeom prst="rect">
            <a:avLst/>
          </a:prstGeom>
          <a:noFill/>
          <a:ln>
            <a:noFill/>
          </a:ln>
        </p:spPr>
      </p:pic>
      <p:sp>
        <p:nvSpPr>
          <p:cNvPr id="903" name="Google Shape;903;p24"/>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7" name="Shape 907"/>
        <p:cNvGrpSpPr/>
        <p:nvPr/>
      </p:nvGrpSpPr>
      <p:grpSpPr>
        <a:xfrm>
          <a:off x="0" y="0"/>
          <a:ext cx="0" cy="0"/>
          <a:chOff x="0" y="0"/>
          <a:chExt cx="0" cy="0"/>
        </a:xfrm>
      </p:grpSpPr>
      <p:sp>
        <p:nvSpPr>
          <p:cNvPr id="908" name="Google Shape;908;p2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9" name="Google Shape;909;p25"/>
          <p:cNvSpPr/>
          <p:nvPr/>
        </p:nvSpPr>
        <p:spPr>
          <a:xfrm flipH="1" rot="10800000">
            <a:off x="2" y="0"/>
            <a:ext cx="12191998" cy="1575955"/>
          </a:xfrm>
          <a:prstGeom prst="rect">
            <a:avLst/>
          </a:prstGeom>
          <a:gradFill>
            <a:gsLst>
              <a:gs pos="0">
                <a:srgbClr val="000000">
                  <a:alpha val="96078"/>
                </a:srgbClr>
              </a:gs>
              <a:gs pos="100000">
                <a:srgbClr val="0F4861"/>
              </a:gs>
            </a:gsLst>
            <a:lin ang="6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0" name="Google Shape;910;p25"/>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1" name="Google Shape;911;p25"/>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2" name="Google Shape;912;p25"/>
          <p:cNvSpPr txBox="1"/>
          <p:nvPr>
            <p:ph type="title"/>
          </p:nvPr>
        </p:nvSpPr>
        <p:spPr>
          <a:xfrm>
            <a:off x="699713" y="248038"/>
            <a:ext cx="7063721" cy="1159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700"/>
              <a:buFont typeface="Play"/>
              <a:buNone/>
            </a:pPr>
            <a:r>
              <a:rPr lang="en" sz="3700">
                <a:solidFill>
                  <a:srgbClr val="FFFFFF"/>
                </a:solidFill>
                <a:latin typeface="Play"/>
                <a:ea typeface="Play"/>
                <a:cs typeface="Play"/>
                <a:sym typeface="Play"/>
              </a:rPr>
              <a:t>Tube Dataset - Number of columns and rows</a:t>
            </a:r>
            <a:endParaRPr/>
          </a:p>
        </p:txBody>
      </p:sp>
      <p:pic>
        <p:nvPicPr>
          <p:cNvPr id="913" name="Google Shape;913;p25"/>
          <p:cNvPicPr preferRelativeResize="0"/>
          <p:nvPr/>
        </p:nvPicPr>
        <p:blipFill rotWithShape="1">
          <a:blip r:embed="rId3">
            <a:alphaModFix/>
          </a:blip>
          <a:srcRect b="0" l="0" r="0" t="0"/>
          <a:stretch/>
        </p:blipFill>
        <p:spPr>
          <a:xfrm>
            <a:off x="432225" y="2351646"/>
            <a:ext cx="11327549" cy="3681453"/>
          </a:xfrm>
          <a:prstGeom prst="rect">
            <a:avLst/>
          </a:prstGeom>
          <a:noFill/>
          <a:ln>
            <a:noFill/>
          </a:ln>
        </p:spPr>
      </p:pic>
      <p:sp>
        <p:nvSpPr>
          <p:cNvPr id="914" name="Google Shape;914;p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915" name="Google Shape;915;p25"/>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9" name="Shape 919"/>
        <p:cNvGrpSpPr/>
        <p:nvPr/>
      </p:nvGrpSpPr>
      <p:grpSpPr>
        <a:xfrm>
          <a:off x="0" y="0"/>
          <a:ext cx="0" cy="0"/>
          <a:chOff x="0" y="0"/>
          <a:chExt cx="0" cy="0"/>
        </a:xfrm>
      </p:grpSpPr>
      <p:sp>
        <p:nvSpPr>
          <p:cNvPr id="920" name="Google Shape;920;p2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921" name="Google Shape;921;p26"/>
          <p:cNvSpPr/>
          <p:nvPr/>
        </p:nvSpPr>
        <p:spPr>
          <a:xfrm flipH="1">
            <a:off x="2" y="492"/>
            <a:ext cx="12191998" cy="1575955"/>
          </a:xfrm>
          <a:prstGeom prst="rect">
            <a:avLst/>
          </a:prstGeom>
          <a:gradFill>
            <a:gsLst>
              <a:gs pos="0">
                <a:srgbClr val="0A3041"/>
              </a:gs>
              <a:gs pos="100000">
                <a:srgbClr val="0F4861"/>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22" name="Google Shape;922;p26"/>
          <p:cNvSpPr/>
          <p:nvPr/>
        </p:nvSpPr>
        <p:spPr>
          <a:xfrm flipH="1" rot="10800000">
            <a:off x="8128857" y="35"/>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23" name="Google Shape;923;p26"/>
          <p:cNvSpPr/>
          <p:nvPr/>
        </p:nvSpPr>
        <p:spPr>
          <a:xfrm rot="5400000">
            <a:off x="5307778" y="-5307777"/>
            <a:ext cx="1576446" cy="12192001"/>
          </a:xfrm>
          <a:prstGeom prst="rect">
            <a:avLst/>
          </a:prstGeom>
          <a:gradFill>
            <a:gsLst>
              <a:gs pos="0">
                <a:srgbClr val="000000">
                  <a:alpha val="0"/>
                </a:srgbClr>
              </a:gs>
              <a:gs pos="16000">
                <a:srgbClr val="000000">
                  <a:alpha val="0"/>
                </a:srgbClr>
              </a:gs>
              <a:gs pos="99000">
                <a:srgbClr val="000000">
                  <a:alpha val="87058"/>
                </a:srgbClr>
              </a:gs>
              <a:gs pos="100000">
                <a:srgbClr val="000000">
                  <a:alpha val="87058"/>
                </a:srgbClr>
              </a:gs>
            </a:gsLst>
            <a:lin ang="11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24" name="Google Shape;924;p26"/>
          <p:cNvSpPr/>
          <p:nvPr/>
        </p:nvSpPr>
        <p:spPr>
          <a:xfrm>
            <a:off x="3825434" y="986"/>
            <a:ext cx="4303422" cy="1575461"/>
          </a:xfrm>
          <a:prstGeom prst="rect">
            <a:avLst/>
          </a:prstGeom>
          <a:gradFill>
            <a:gsLst>
              <a:gs pos="0">
                <a:srgbClr val="156082">
                  <a:alpha val="16862"/>
                </a:srgbClr>
              </a:gs>
              <a:gs pos="74000">
                <a:srgbClr val="0A3041">
                  <a:alpha val="0"/>
                </a:srgbClr>
              </a:gs>
              <a:gs pos="100000">
                <a:srgbClr val="0A3041">
                  <a:alpha val="0"/>
                </a:srgbClr>
              </a:gs>
            </a:gsLst>
            <a:lin ang="14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25" name="Google Shape;925;p26"/>
          <p:cNvSpPr txBox="1"/>
          <p:nvPr>
            <p:ph type="title"/>
          </p:nvPr>
        </p:nvSpPr>
        <p:spPr>
          <a:xfrm>
            <a:off x="699714" y="353160"/>
            <a:ext cx="7091300" cy="89858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100"/>
              <a:buFont typeface="Play"/>
              <a:buNone/>
            </a:pPr>
            <a:r>
              <a:rPr lang="en" sz="3100">
                <a:solidFill>
                  <a:srgbClr val="FFFFFF"/>
                </a:solidFill>
              </a:rPr>
              <a:t>Tube Dataset- Key statistics and data types </a:t>
            </a:r>
            <a:endParaRPr/>
          </a:p>
        </p:txBody>
      </p:sp>
      <p:pic>
        <p:nvPicPr>
          <p:cNvPr id="926" name="Google Shape;926;p26"/>
          <p:cNvPicPr preferRelativeResize="0"/>
          <p:nvPr/>
        </p:nvPicPr>
        <p:blipFill rotWithShape="1">
          <a:blip r:embed="rId3">
            <a:alphaModFix/>
          </a:blip>
          <a:srcRect b="0" l="0" r="0" t="0"/>
          <a:stretch/>
        </p:blipFill>
        <p:spPr>
          <a:xfrm>
            <a:off x="197145" y="2598058"/>
            <a:ext cx="7203123" cy="2583542"/>
          </a:xfrm>
          <a:prstGeom prst="rect">
            <a:avLst/>
          </a:prstGeom>
          <a:noFill/>
          <a:ln>
            <a:noFill/>
          </a:ln>
        </p:spPr>
      </p:pic>
      <p:pic>
        <p:nvPicPr>
          <p:cNvPr id="927" name="Google Shape;927;p26"/>
          <p:cNvPicPr preferRelativeResize="0"/>
          <p:nvPr/>
        </p:nvPicPr>
        <p:blipFill rotWithShape="1">
          <a:blip r:embed="rId4">
            <a:alphaModFix/>
          </a:blip>
          <a:srcRect b="0" l="0" r="0" t="0"/>
          <a:stretch/>
        </p:blipFill>
        <p:spPr>
          <a:xfrm>
            <a:off x="7346652" y="1653371"/>
            <a:ext cx="4409920" cy="4992130"/>
          </a:xfrm>
          <a:prstGeom prst="rect">
            <a:avLst/>
          </a:prstGeom>
          <a:noFill/>
          <a:ln>
            <a:noFill/>
          </a:ln>
        </p:spPr>
      </p:pic>
      <p:sp>
        <p:nvSpPr>
          <p:cNvPr id="928" name="Google Shape;928;p2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929" name="Google Shape;929;p26"/>
          <p:cNvSpPr txBox="1"/>
          <p:nvPr/>
        </p:nvSpPr>
        <p:spPr>
          <a:xfrm>
            <a:off x="699731" y="635635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3" name="Shape 933"/>
        <p:cNvGrpSpPr/>
        <p:nvPr/>
      </p:nvGrpSpPr>
      <p:grpSpPr>
        <a:xfrm>
          <a:off x="0" y="0"/>
          <a:ext cx="0" cy="0"/>
          <a:chOff x="0" y="0"/>
          <a:chExt cx="0" cy="0"/>
        </a:xfrm>
      </p:grpSpPr>
      <p:sp>
        <p:nvSpPr>
          <p:cNvPr id="934" name="Google Shape;934;p2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935" name="Google Shape;935;p27"/>
          <p:cNvSpPr/>
          <p:nvPr/>
        </p:nvSpPr>
        <p:spPr>
          <a:xfrm flipH="1">
            <a:off x="2" y="492"/>
            <a:ext cx="12191998" cy="1575955"/>
          </a:xfrm>
          <a:prstGeom prst="rect">
            <a:avLst/>
          </a:prstGeom>
          <a:gradFill>
            <a:gsLst>
              <a:gs pos="0">
                <a:srgbClr val="0A3041"/>
              </a:gs>
              <a:gs pos="100000">
                <a:srgbClr val="0F4861"/>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36" name="Google Shape;936;p27"/>
          <p:cNvSpPr/>
          <p:nvPr/>
        </p:nvSpPr>
        <p:spPr>
          <a:xfrm flipH="1" rot="10800000">
            <a:off x="8128857" y="35"/>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37" name="Google Shape;937;p27"/>
          <p:cNvSpPr/>
          <p:nvPr/>
        </p:nvSpPr>
        <p:spPr>
          <a:xfrm rot="5400000">
            <a:off x="5307778" y="-5307777"/>
            <a:ext cx="1576446" cy="12192001"/>
          </a:xfrm>
          <a:prstGeom prst="rect">
            <a:avLst/>
          </a:prstGeom>
          <a:gradFill>
            <a:gsLst>
              <a:gs pos="0">
                <a:srgbClr val="000000">
                  <a:alpha val="0"/>
                </a:srgbClr>
              </a:gs>
              <a:gs pos="16000">
                <a:srgbClr val="000000">
                  <a:alpha val="0"/>
                </a:srgbClr>
              </a:gs>
              <a:gs pos="99000">
                <a:srgbClr val="000000">
                  <a:alpha val="87058"/>
                </a:srgbClr>
              </a:gs>
              <a:gs pos="100000">
                <a:srgbClr val="000000">
                  <a:alpha val="87058"/>
                </a:srgbClr>
              </a:gs>
            </a:gsLst>
            <a:lin ang="11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38" name="Google Shape;938;p27"/>
          <p:cNvSpPr/>
          <p:nvPr/>
        </p:nvSpPr>
        <p:spPr>
          <a:xfrm>
            <a:off x="3825434" y="986"/>
            <a:ext cx="4303422" cy="1575461"/>
          </a:xfrm>
          <a:prstGeom prst="rect">
            <a:avLst/>
          </a:prstGeom>
          <a:gradFill>
            <a:gsLst>
              <a:gs pos="0">
                <a:srgbClr val="156082">
                  <a:alpha val="16862"/>
                </a:srgbClr>
              </a:gs>
              <a:gs pos="74000">
                <a:srgbClr val="0A3041">
                  <a:alpha val="0"/>
                </a:srgbClr>
              </a:gs>
              <a:gs pos="100000">
                <a:srgbClr val="0A3041">
                  <a:alpha val="0"/>
                </a:srgbClr>
              </a:gs>
            </a:gsLst>
            <a:lin ang="14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39" name="Google Shape;939;p27"/>
          <p:cNvSpPr txBox="1"/>
          <p:nvPr>
            <p:ph type="title"/>
          </p:nvPr>
        </p:nvSpPr>
        <p:spPr>
          <a:xfrm>
            <a:off x="699714" y="353160"/>
            <a:ext cx="7091300" cy="89858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100"/>
              <a:buFont typeface="Play"/>
              <a:buNone/>
            </a:pPr>
            <a:r>
              <a:rPr lang="en" sz="3100">
                <a:solidFill>
                  <a:srgbClr val="FFFFFF"/>
                </a:solidFill>
              </a:rPr>
              <a:t>Tube Dataset - Numeric features distribution</a:t>
            </a:r>
            <a:endParaRPr/>
          </a:p>
        </p:txBody>
      </p:sp>
      <p:pic>
        <p:nvPicPr>
          <p:cNvPr id="940" name="Google Shape;940;p27"/>
          <p:cNvPicPr preferRelativeResize="0"/>
          <p:nvPr/>
        </p:nvPicPr>
        <p:blipFill rotWithShape="1">
          <a:blip r:embed="rId3">
            <a:alphaModFix/>
          </a:blip>
          <a:srcRect b="0" l="0" r="0" t="0"/>
          <a:stretch/>
        </p:blipFill>
        <p:spPr>
          <a:xfrm>
            <a:off x="699714" y="1686866"/>
            <a:ext cx="10391350" cy="4616413"/>
          </a:xfrm>
          <a:prstGeom prst="rect">
            <a:avLst/>
          </a:prstGeom>
          <a:noFill/>
          <a:ln>
            <a:noFill/>
          </a:ln>
        </p:spPr>
      </p:pic>
      <p:sp>
        <p:nvSpPr>
          <p:cNvPr id="941" name="Google Shape;941;p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pic>
        <p:nvPicPr>
          <p:cNvPr id="942" name="Google Shape;942;p27" title="Screenshot 2026-06-14 at 6.55.02 PM.png"/>
          <p:cNvPicPr preferRelativeResize="0"/>
          <p:nvPr/>
        </p:nvPicPr>
        <p:blipFill>
          <a:blip r:embed="rId4">
            <a:alphaModFix/>
          </a:blip>
          <a:stretch>
            <a:fillRect/>
          </a:stretch>
        </p:blipFill>
        <p:spPr>
          <a:xfrm>
            <a:off x="8817765" y="0"/>
            <a:ext cx="3374234" cy="1576450"/>
          </a:xfrm>
          <a:prstGeom prst="rect">
            <a:avLst/>
          </a:prstGeom>
          <a:noFill/>
          <a:ln>
            <a:noFill/>
          </a:ln>
        </p:spPr>
      </p:pic>
      <p:sp>
        <p:nvSpPr>
          <p:cNvPr id="943" name="Google Shape;943;p27"/>
          <p:cNvSpPr txBox="1"/>
          <p:nvPr/>
        </p:nvSpPr>
        <p:spPr>
          <a:xfrm>
            <a:off x="9264806" y="63850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7" name="Shape 947"/>
        <p:cNvGrpSpPr/>
        <p:nvPr/>
      </p:nvGrpSpPr>
      <p:grpSpPr>
        <a:xfrm>
          <a:off x="0" y="0"/>
          <a:ext cx="0" cy="0"/>
          <a:chOff x="0" y="0"/>
          <a:chExt cx="0" cy="0"/>
        </a:xfrm>
      </p:grpSpPr>
      <p:sp>
        <p:nvSpPr>
          <p:cNvPr id="948" name="Google Shape;948;p2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49" name="Google Shape;949;p28"/>
          <p:cNvSpPr/>
          <p:nvPr/>
        </p:nvSpPr>
        <p:spPr>
          <a:xfrm flipH="1" rot="10800000">
            <a:off x="2" y="0"/>
            <a:ext cx="12191998" cy="1575955"/>
          </a:xfrm>
          <a:prstGeom prst="rect">
            <a:avLst/>
          </a:prstGeom>
          <a:gradFill>
            <a:gsLst>
              <a:gs pos="0">
                <a:srgbClr val="000000">
                  <a:alpha val="96078"/>
                </a:srgbClr>
              </a:gs>
              <a:gs pos="100000">
                <a:srgbClr val="0F4861"/>
              </a:gs>
            </a:gsLst>
            <a:lin ang="6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50" name="Google Shape;950;p28"/>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51" name="Google Shape;951;p28"/>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52" name="Google Shape;952;p28"/>
          <p:cNvSpPr txBox="1"/>
          <p:nvPr>
            <p:ph type="title"/>
          </p:nvPr>
        </p:nvSpPr>
        <p:spPr>
          <a:xfrm>
            <a:off x="699713" y="248038"/>
            <a:ext cx="7063721" cy="1159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700"/>
              <a:buFont typeface="Play"/>
              <a:buNone/>
            </a:pPr>
            <a:r>
              <a:rPr lang="en" sz="3700">
                <a:solidFill>
                  <a:srgbClr val="FFFFFF"/>
                </a:solidFill>
                <a:latin typeface="Play"/>
                <a:ea typeface="Play"/>
                <a:cs typeface="Play"/>
                <a:sym typeface="Play"/>
              </a:rPr>
              <a:t>Bill of Material Dataset - Number of columns and rows</a:t>
            </a:r>
            <a:endParaRPr/>
          </a:p>
        </p:txBody>
      </p:sp>
      <p:pic>
        <p:nvPicPr>
          <p:cNvPr id="953" name="Google Shape;953;p28"/>
          <p:cNvPicPr preferRelativeResize="0"/>
          <p:nvPr/>
        </p:nvPicPr>
        <p:blipFill rotWithShape="1">
          <a:blip r:embed="rId3">
            <a:alphaModFix/>
          </a:blip>
          <a:srcRect b="0" l="0" r="0" t="0"/>
          <a:stretch/>
        </p:blipFill>
        <p:spPr>
          <a:xfrm>
            <a:off x="432225" y="2195893"/>
            <a:ext cx="11327549" cy="3992959"/>
          </a:xfrm>
          <a:prstGeom prst="rect">
            <a:avLst/>
          </a:prstGeom>
          <a:noFill/>
          <a:ln>
            <a:noFill/>
          </a:ln>
        </p:spPr>
      </p:pic>
      <p:sp>
        <p:nvSpPr>
          <p:cNvPr id="954" name="Google Shape;954;p2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955" name="Google Shape;955;p28"/>
          <p:cNvSpPr txBox="1"/>
          <p:nvPr/>
        </p:nvSpPr>
        <p:spPr>
          <a:xfrm>
            <a:off x="9264806" y="635635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59" name="Shape 959"/>
        <p:cNvGrpSpPr/>
        <p:nvPr/>
      </p:nvGrpSpPr>
      <p:grpSpPr>
        <a:xfrm>
          <a:off x="0" y="0"/>
          <a:ext cx="0" cy="0"/>
          <a:chOff x="0" y="0"/>
          <a:chExt cx="0" cy="0"/>
        </a:xfrm>
      </p:grpSpPr>
      <p:sp>
        <p:nvSpPr>
          <p:cNvPr id="960" name="Google Shape;960;p2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961" name="Google Shape;961;p29"/>
          <p:cNvSpPr/>
          <p:nvPr/>
        </p:nvSpPr>
        <p:spPr>
          <a:xfrm flipH="1">
            <a:off x="2" y="492"/>
            <a:ext cx="12191998" cy="1575955"/>
          </a:xfrm>
          <a:prstGeom prst="rect">
            <a:avLst/>
          </a:prstGeom>
          <a:gradFill>
            <a:gsLst>
              <a:gs pos="0">
                <a:srgbClr val="0A3041"/>
              </a:gs>
              <a:gs pos="100000">
                <a:srgbClr val="0F4861"/>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62" name="Google Shape;962;p29"/>
          <p:cNvSpPr/>
          <p:nvPr/>
        </p:nvSpPr>
        <p:spPr>
          <a:xfrm flipH="1" rot="10800000">
            <a:off x="8128857" y="35"/>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63" name="Google Shape;963;p29"/>
          <p:cNvSpPr/>
          <p:nvPr/>
        </p:nvSpPr>
        <p:spPr>
          <a:xfrm rot="5400000">
            <a:off x="5307778" y="-5307777"/>
            <a:ext cx="1576446" cy="12192001"/>
          </a:xfrm>
          <a:prstGeom prst="rect">
            <a:avLst/>
          </a:prstGeom>
          <a:gradFill>
            <a:gsLst>
              <a:gs pos="0">
                <a:srgbClr val="000000">
                  <a:alpha val="0"/>
                </a:srgbClr>
              </a:gs>
              <a:gs pos="16000">
                <a:srgbClr val="000000">
                  <a:alpha val="0"/>
                </a:srgbClr>
              </a:gs>
              <a:gs pos="99000">
                <a:srgbClr val="000000">
                  <a:alpha val="87058"/>
                </a:srgbClr>
              </a:gs>
              <a:gs pos="100000">
                <a:srgbClr val="000000">
                  <a:alpha val="87058"/>
                </a:srgbClr>
              </a:gs>
            </a:gsLst>
            <a:lin ang="11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64" name="Google Shape;964;p29"/>
          <p:cNvSpPr/>
          <p:nvPr/>
        </p:nvSpPr>
        <p:spPr>
          <a:xfrm>
            <a:off x="3825434" y="986"/>
            <a:ext cx="4303422" cy="1575461"/>
          </a:xfrm>
          <a:prstGeom prst="rect">
            <a:avLst/>
          </a:prstGeom>
          <a:gradFill>
            <a:gsLst>
              <a:gs pos="0">
                <a:srgbClr val="156082">
                  <a:alpha val="16862"/>
                </a:srgbClr>
              </a:gs>
              <a:gs pos="74000">
                <a:srgbClr val="0A3041">
                  <a:alpha val="0"/>
                </a:srgbClr>
              </a:gs>
              <a:gs pos="100000">
                <a:srgbClr val="0A3041">
                  <a:alpha val="0"/>
                </a:srgbClr>
              </a:gs>
            </a:gsLst>
            <a:lin ang="14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65" name="Google Shape;965;p29"/>
          <p:cNvSpPr txBox="1"/>
          <p:nvPr>
            <p:ph type="title"/>
          </p:nvPr>
        </p:nvSpPr>
        <p:spPr>
          <a:xfrm>
            <a:off x="699714" y="353160"/>
            <a:ext cx="7091300" cy="89858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2800"/>
              <a:buFont typeface="Play"/>
              <a:buNone/>
            </a:pPr>
            <a:r>
              <a:rPr lang="en" sz="2800">
                <a:solidFill>
                  <a:srgbClr val="FFFFFF"/>
                </a:solidFill>
              </a:rPr>
              <a:t>Bill of Material Dataset - Key statistics and data types </a:t>
            </a:r>
            <a:endParaRPr/>
          </a:p>
        </p:txBody>
      </p:sp>
      <p:pic>
        <p:nvPicPr>
          <p:cNvPr id="966" name="Google Shape;966;p29"/>
          <p:cNvPicPr preferRelativeResize="0"/>
          <p:nvPr/>
        </p:nvPicPr>
        <p:blipFill rotWithShape="1">
          <a:blip r:embed="rId3">
            <a:alphaModFix/>
          </a:blip>
          <a:srcRect b="0" l="0" r="0" t="0"/>
          <a:stretch/>
        </p:blipFill>
        <p:spPr>
          <a:xfrm>
            <a:off x="258779" y="2215703"/>
            <a:ext cx="7133310" cy="2791726"/>
          </a:xfrm>
          <a:prstGeom prst="rect">
            <a:avLst/>
          </a:prstGeom>
          <a:noFill/>
          <a:ln>
            <a:noFill/>
          </a:ln>
        </p:spPr>
      </p:pic>
      <p:pic>
        <p:nvPicPr>
          <p:cNvPr id="967" name="Google Shape;967;p29"/>
          <p:cNvPicPr preferRelativeResize="0"/>
          <p:nvPr/>
        </p:nvPicPr>
        <p:blipFill rotWithShape="1">
          <a:blip r:embed="rId4">
            <a:alphaModFix/>
          </a:blip>
          <a:srcRect b="0" l="0" r="0" t="0"/>
          <a:stretch/>
        </p:blipFill>
        <p:spPr>
          <a:xfrm>
            <a:off x="7628014" y="1785211"/>
            <a:ext cx="3867483" cy="4452884"/>
          </a:xfrm>
          <a:prstGeom prst="rect">
            <a:avLst/>
          </a:prstGeom>
          <a:noFill/>
          <a:ln>
            <a:noFill/>
          </a:ln>
        </p:spPr>
      </p:pic>
      <p:sp>
        <p:nvSpPr>
          <p:cNvPr id="968" name="Google Shape;968;p2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969" name="Google Shape;969;p29"/>
          <p:cNvSpPr txBox="1"/>
          <p:nvPr/>
        </p:nvSpPr>
        <p:spPr>
          <a:xfrm>
            <a:off x="9264806" y="63850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3" name="Shape 973"/>
        <p:cNvGrpSpPr/>
        <p:nvPr/>
      </p:nvGrpSpPr>
      <p:grpSpPr>
        <a:xfrm>
          <a:off x="0" y="0"/>
          <a:ext cx="0" cy="0"/>
          <a:chOff x="0" y="0"/>
          <a:chExt cx="0" cy="0"/>
        </a:xfrm>
      </p:grpSpPr>
      <p:sp>
        <p:nvSpPr>
          <p:cNvPr id="974" name="Google Shape;974;p3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75" name="Google Shape;975;p30"/>
          <p:cNvSpPr/>
          <p:nvPr/>
        </p:nvSpPr>
        <p:spPr>
          <a:xfrm flipH="1" rot="10800000">
            <a:off x="2" y="0"/>
            <a:ext cx="12191998" cy="1575955"/>
          </a:xfrm>
          <a:prstGeom prst="rect">
            <a:avLst/>
          </a:prstGeom>
          <a:gradFill>
            <a:gsLst>
              <a:gs pos="0">
                <a:srgbClr val="000000">
                  <a:alpha val="96078"/>
                </a:srgbClr>
              </a:gs>
              <a:gs pos="100000">
                <a:srgbClr val="0F4861"/>
              </a:gs>
            </a:gsLst>
            <a:lin ang="6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76" name="Google Shape;976;p30"/>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77" name="Google Shape;977;p30"/>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78" name="Google Shape;978;p30"/>
          <p:cNvSpPr txBox="1"/>
          <p:nvPr>
            <p:ph type="title"/>
          </p:nvPr>
        </p:nvSpPr>
        <p:spPr>
          <a:xfrm>
            <a:off x="699713" y="248038"/>
            <a:ext cx="7063721" cy="1159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700"/>
              <a:buFont typeface="Play"/>
              <a:buNone/>
            </a:pPr>
            <a:r>
              <a:rPr lang="en" sz="3700">
                <a:solidFill>
                  <a:srgbClr val="FFFFFF"/>
                </a:solidFill>
                <a:latin typeface="Play"/>
                <a:ea typeface="Play"/>
                <a:cs typeface="Play"/>
                <a:sym typeface="Play"/>
              </a:rPr>
              <a:t>Bill of Material Dataset - Key statistics and data types </a:t>
            </a:r>
            <a:endParaRPr/>
          </a:p>
        </p:txBody>
      </p:sp>
      <p:pic>
        <p:nvPicPr>
          <p:cNvPr id="979" name="Google Shape;979;p30"/>
          <p:cNvPicPr preferRelativeResize="0"/>
          <p:nvPr/>
        </p:nvPicPr>
        <p:blipFill rotWithShape="1">
          <a:blip r:embed="rId3">
            <a:alphaModFix/>
          </a:blip>
          <a:srcRect b="0" l="0" r="0" t="0"/>
          <a:stretch/>
        </p:blipFill>
        <p:spPr>
          <a:xfrm>
            <a:off x="-3" y="1575939"/>
            <a:ext cx="7416801" cy="4672584"/>
          </a:xfrm>
          <a:prstGeom prst="rect">
            <a:avLst/>
          </a:prstGeom>
          <a:noFill/>
          <a:ln>
            <a:noFill/>
          </a:ln>
        </p:spPr>
      </p:pic>
      <p:sp>
        <p:nvSpPr>
          <p:cNvPr id="980" name="Google Shape;980;p3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pic>
        <p:nvPicPr>
          <p:cNvPr id="981" name="Google Shape;981;p30" title="Screenshot 2026-06-14 at 6.56.23 PM.png"/>
          <p:cNvPicPr preferRelativeResize="0"/>
          <p:nvPr/>
        </p:nvPicPr>
        <p:blipFill>
          <a:blip r:embed="rId4">
            <a:alphaModFix/>
          </a:blip>
          <a:stretch>
            <a:fillRect/>
          </a:stretch>
        </p:blipFill>
        <p:spPr>
          <a:xfrm>
            <a:off x="5605234" y="2866237"/>
            <a:ext cx="6586766" cy="2549988"/>
          </a:xfrm>
          <a:prstGeom prst="rect">
            <a:avLst/>
          </a:prstGeom>
          <a:noFill/>
          <a:ln>
            <a:noFill/>
          </a:ln>
        </p:spPr>
      </p:pic>
      <p:sp>
        <p:nvSpPr>
          <p:cNvPr id="982" name="Google Shape;982;p30"/>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6" name="Shape 986"/>
        <p:cNvGrpSpPr/>
        <p:nvPr/>
      </p:nvGrpSpPr>
      <p:grpSpPr>
        <a:xfrm>
          <a:off x="0" y="0"/>
          <a:ext cx="0" cy="0"/>
          <a:chOff x="0" y="0"/>
          <a:chExt cx="0" cy="0"/>
        </a:xfrm>
      </p:grpSpPr>
      <p:sp>
        <p:nvSpPr>
          <p:cNvPr id="987" name="Google Shape;987;p3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88" name="Google Shape;988;p31"/>
          <p:cNvSpPr/>
          <p:nvPr/>
        </p:nvSpPr>
        <p:spPr>
          <a:xfrm flipH="1" rot="10800000">
            <a:off x="2" y="0"/>
            <a:ext cx="12191998" cy="1575955"/>
          </a:xfrm>
          <a:prstGeom prst="rect">
            <a:avLst/>
          </a:prstGeom>
          <a:gradFill>
            <a:gsLst>
              <a:gs pos="0">
                <a:srgbClr val="000000">
                  <a:alpha val="96078"/>
                </a:srgbClr>
              </a:gs>
              <a:gs pos="100000">
                <a:srgbClr val="0F4861"/>
              </a:gs>
            </a:gsLst>
            <a:lin ang="6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89" name="Google Shape;989;p31"/>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0" name="Google Shape;990;p31"/>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1" name="Google Shape;991;p31"/>
          <p:cNvSpPr txBox="1"/>
          <p:nvPr>
            <p:ph type="title"/>
          </p:nvPr>
        </p:nvSpPr>
        <p:spPr>
          <a:xfrm>
            <a:off x="699713" y="248038"/>
            <a:ext cx="7063721" cy="1159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700"/>
              <a:buFont typeface="Play"/>
              <a:buNone/>
            </a:pPr>
            <a:r>
              <a:rPr lang="en" sz="3700">
                <a:solidFill>
                  <a:srgbClr val="FFFFFF"/>
                </a:solidFill>
                <a:latin typeface="Play"/>
                <a:ea typeface="Play"/>
                <a:cs typeface="Play"/>
                <a:sym typeface="Play"/>
              </a:rPr>
              <a:t>Specification Dataset - Number of columns and rows</a:t>
            </a:r>
            <a:endParaRPr/>
          </a:p>
        </p:txBody>
      </p:sp>
      <p:pic>
        <p:nvPicPr>
          <p:cNvPr id="992" name="Google Shape;992;p31"/>
          <p:cNvPicPr preferRelativeResize="0"/>
          <p:nvPr/>
        </p:nvPicPr>
        <p:blipFill rotWithShape="1">
          <a:blip r:embed="rId3">
            <a:alphaModFix/>
          </a:blip>
          <a:srcRect b="0" l="0" r="0" t="0"/>
          <a:stretch/>
        </p:blipFill>
        <p:spPr>
          <a:xfrm>
            <a:off x="432225" y="2236829"/>
            <a:ext cx="11327549" cy="3911087"/>
          </a:xfrm>
          <a:prstGeom prst="rect">
            <a:avLst/>
          </a:prstGeom>
          <a:noFill/>
          <a:ln>
            <a:noFill/>
          </a:ln>
        </p:spPr>
      </p:pic>
      <p:sp>
        <p:nvSpPr>
          <p:cNvPr id="993" name="Google Shape;993;p3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994" name="Google Shape;994;p31"/>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8" name="Shape 998"/>
        <p:cNvGrpSpPr/>
        <p:nvPr/>
      </p:nvGrpSpPr>
      <p:grpSpPr>
        <a:xfrm>
          <a:off x="0" y="0"/>
          <a:ext cx="0" cy="0"/>
          <a:chOff x="0" y="0"/>
          <a:chExt cx="0" cy="0"/>
        </a:xfrm>
      </p:grpSpPr>
      <p:sp>
        <p:nvSpPr>
          <p:cNvPr id="999" name="Google Shape;999;p32"/>
          <p:cNvSpPr/>
          <p:nvPr/>
        </p:nvSpPr>
        <p:spPr>
          <a:xfrm>
            <a:off x="0" y="30399"/>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00" name="Google Shape;1000;p32"/>
          <p:cNvSpPr/>
          <p:nvPr/>
        </p:nvSpPr>
        <p:spPr>
          <a:xfrm flipH="1" rot="10800000">
            <a:off x="2" y="0"/>
            <a:ext cx="12191998" cy="1575955"/>
          </a:xfrm>
          <a:prstGeom prst="rect">
            <a:avLst/>
          </a:prstGeom>
          <a:gradFill>
            <a:gsLst>
              <a:gs pos="0">
                <a:srgbClr val="000000">
                  <a:alpha val="96078"/>
                </a:srgbClr>
              </a:gs>
              <a:gs pos="100000">
                <a:srgbClr val="0F4861"/>
              </a:gs>
            </a:gsLst>
            <a:lin ang="6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01" name="Google Shape;1001;p32"/>
          <p:cNvSpPr/>
          <p:nvPr/>
        </p:nvSpPr>
        <p:spPr>
          <a:xfrm rot="-5400000">
            <a:off x="5305994" y="-5310547"/>
            <a:ext cx="1580014" cy="12192002"/>
          </a:xfrm>
          <a:prstGeom prst="rect">
            <a:avLst/>
          </a:prstGeom>
          <a:gradFill>
            <a:gsLst>
              <a:gs pos="0">
                <a:srgbClr val="156082">
                  <a:alpha val="0"/>
                </a:srgbClr>
              </a:gs>
              <a:gs pos="19000">
                <a:srgbClr val="156082">
                  <a:alpha val="0"/>
                </a:srgbClr>
              </a:gs>
              <a:gs pos="99000">
                <a:srgbClr val="000000">
                  <a:alpha val="74117"/>
                </a:srgbClr>
              </a:gs>
              <a:gs pos="100000">
                <a:srgbClr val="000000">
                  <a:alpha val="74117"/>
                </a:srgbClr>
              </a:gs>
            </a:gsLst>
            <a:lin ang="11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02" name="Google Shape;1002;p32"/>
          <p:cNvSpPr/>
          <p:nvPr/>
        </p:nvSpPr>
        <p:spPr>
          <a:xfrm>
            <a:off x="3825434" y="0"/>
            <a:ext cx="4303422" cy="1575461"/>
          </a:xfrm>
          <a:prstGeom prst="rect">
            <a:avLst/>
          </a:prstGeom>
          <a:gradFill>
            <a:gsLst>
              <a:gs pos="0">
                <a:srgbClr val="156082">
                  <a:alpha val="72156"/>
                </a:srgbClr>
              </a:gs>
              <a:gs pos="74000">
                <a:srgbClr val="0A3041">
                  <a:alpha val="0"/>
                </a:srgbClr>
              </a:gs>
              <a:gs pos="100000">
                <a:srgbClr val="0A3041">
                  <a:alpha val="0"/>
                </a:srgbClr>
              </a:gs>
            </a:gsLst>
            <a:lin ang="14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03" name="Google Shape;1003;p32"/>
          <p:cNvSpPr txBox="1"/>
          <p:nvPr>
            <p:ph type="title"/>
          </p:nvPr>
        </p:nvSpPr>
        <p:spPr>
          <a:xfrm>
            <a:off x="699715" y="288404"/>
            <a:ext cx="7170656" cy="97744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100"/>
              <a:buFont typeface="Play"/>
              <a:buNone/>
            </a:pPr>
            <a:r>
              <a:rPr lang="en" sz="3100">
                <a:solidFill>
                  <a:srgbClr val="FFFFFF"/>
                </a:solidFill>
              </a:rPr>
              <a:t>Specification Dataset - Key statistics and data types </a:t>
            </a:r>
            <a:endParaRPr/>
          </a:p>
        </p:txBody>
      </p:sp>
      <p:sp>
        <p:nvSpPr>
          <p:cNvPr id="1004" name="Google Shape;1004;p32"/>
          <p:cNvSpPr txBox="1"/>
          <p:nvPr/>
        </p:nvSpPr>
        <p:spPr>
          <a:xfrm>
            <a:off x="8536577" y="199287"/>
            <a:ext cx="3226526" cy="1155677"/>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lang="en" sz="1900">
                <a:solidFill>
                  <a:srgbClr val="FFFFFF"/>
                </a:solidFill>
                <a:latin typeface="Arial"/>
                <a:ea typeface="Arial"/>
                <a:cs typeface="Arial"/>
                <a:sym typeface="Arial"/>
              </a:rPr>
              <a:t>Limitation: no look up table to explain us specifications entries which are in form of an ID</a:t>
            </a:r>
            <a:endParaRPr/>
          </a:p>
        </p:txBody>
      </p:sp>
      <p:pic>
        <p:nvPicPr>
          <p:cNvPr id="1005" name="Google Shape;1005;p32"/>
          <p:cNvPicPr preferRelativeResize="0"/>
          <p:nvPr/>
        </p:nvPicPr>
        <p:blipFill rotWithShape="1">
          <a:blip r:embed="rId3">
            <a:alphaModFix/>
          </a:blip>
          <a:srcRect b="0" l="0" r="0" t="0"/>
          <a:stretch/>
        </p:blipFill>
        <p:spPr>
          <a:xfrm>
            <a:off x="2768014" y="2808449"/>
            <a:ext cx="2563416" cy="3526972"/>
          </a:xfrm>
          <a:prstGeom prst="rect">
            <a:avLst/>
          </a:prstGeom>
          <a:noFill/>
          <a:ln>
            <a:noFill/>
          </a:ln>
        </p:spPr>
      </p:pic>
      <p:pic>
        <p:nvPicPr>
          <p:cNvPr id="1006" name="Google Shape;1006;p32"/>
          <p:cNvPicPr preferRelativeResize="0"/>
          <p:nvPr/>
        </p:nvPicPr>
        <p:blipFill rotWithShape="1">
          <a:blip r:embed="rId4">
            <a:alphaModFix/>
          </a:blip>
          <a:srcRect b="0" l="0" r="0" t="0"/>
          <a:stretch/>
        </p:blipFill>
        <p:spPr>
          <a:xfrm>
            <a:off x="6964837" y="2728500"/>
            <a:ext cx="3238707" cy="3247753"/>
          </a:xfrm>
          <a:prstGeom prst="rect">
            <a:avLst/>
          </a:prstGeom>
          <a:noFill/>
          <a:ln>
            <a:noFill/>
          </a:ln>
        </p:spPr>
      </p:pic>
      <p:pic>
        <p:nvPicPr>
          <p:cNvPr id="1007" name="Google Shape;1007;p32"/>
          <p:cNvPicPr preferRelativeResize="0"/>
          <p:nvPr/>
        </p:nvPicPr>
        <p:blipFill rotWithShape="1">
          <a:blip r:embed="rId5">
            <a:alphaModFix/>
          </a:blip>
          <a:srcRect b="0" l="0" r="0" t="0"/>
          <a:stretch/>
        </p:blipFill>
        <p:spPr>
          <a:xfrm>
            <a:off x="1432226" y="1762106"/>
            <a:ext cx="8771317" cy="1732333"/>
          </a:xfrm>
          <a:prstGeom prst="rect">
            <a:avLst/>
          </a:prstGeom>
          <a:noFill/>
          <a:ln>
            <a:noFill/>
          </a:ln>
        </p:spPr>
      </p:pic>
      <p:sp>
        <p:nvSpPr>
          <p:cNvPr id="1008" name="Google Shape;1008;p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009" name="Google Shape;1009;p32"/>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3" name="Shape 1013"/>
        <p:cNvGrpSpPr/>
        <p:nvPr/>
      </p:nvGrpSpPr>
      <p:grpSpPr>
        <a:xfrm>
          <a:off x="0" y="0"/>
          <a:ext cx="0" cy="0"/>
          <a:chOff x="0" y="0"/>
          <a:chExt cx="0" cy="0"/>
        </a:xfrm>
      </p:grpSpPr>
      <p:sp>
        <p:nvSpPr>
          <p:cNvPr id="1014" name="Google Shape;1014;p33"/>
          <p:cNvSpPr/>
          <p:nvPr/>
        </p:nvSpPr>
        <p:spPr>
          <a:xfrm>
            <a:off x="0" y="0"/>
            <a:ext cx="121920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015" name="Google Shape;1015;p33"/>
          <p:cNvGrpSpPr/>
          <p:nvPr/>
        </p:nvGrpSpPr>
        <p:grpSpPr>
          <a:xfrm>
            <a:off x="0" y="3296011"/>
            <a:ext cx="12192000" cy="3561989"/>
            <a:chOff x="0" y="3296011"/>
            <a:chExt cx="12192000" cy="3561989"/>
          </a:xfrm>
        </p:grpSpPr>
        <p:grpSp>
          <p:nvGrpSpPr>
            <p:cNvPr id="1016" name="Google Shape;1016;p33"/>
            <p:cNvGrpSpPr/>
            <p:nvPr/>
          </p:nvGrpSpPr>
          <p:grpSpPr>
            <a:xfrm>
              <a:off x="0" y="3681702"/>
              <a:ext cx="12192000" cy="3176298"/>
              <a:chOff x="0" y="3681702"/>
              <a:chExt cx="12192000" cy="3176298"/>
            </a:xfrm>
          </p:grpSpPr>
          <p:sp>
            <p:nvSpPr>
              <p:cNvPr id="1017" name="Google Shape;1017;p33"/>
              <p:cNvSpPr/>
              <p:nvPr/>
            </p:nvSpPr>
            <p:spPr>
              <a:xfrm>
                <a:off x="0" y="3681702"/>
                <a:ext cx="12192000" cy="3176298"/>
              </a:xfrm>
              <a:custGeom>
                <a:rect b="b" l="l" r="r" t="t"/>
                <a:pathLst>
                  <a:path extrusionOk="0" h="3176298" w="12192000">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18" name="Google Shape;1018;p33"/>
              <p:cNvSpPr/>
              <p:nvPr/>
            </p:nvSpPr>
            <p:spPr>
              <a:xfrm>
                <a:off x="0" y="3681702"/>
                <a:ext cx="12192000" cy="3176298"/>
              </a:xfrm>
              <a:custGeom>
                <a:rect b="b" l="l" r="r" t="t"/>
                <a:pathLst>
                  <a:path extrusionOk="0" h="3176298" w="12192000">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lt1">
                  <a:alpha val="14117"/>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019" name="Google Shape;1019;p33"/>
            <p:cNvGrpSpPr/>
            <p:nvPr/>
          </p:nvGrpSpPr>
          <p:grpSpPr>
            <a:xfrm>
              <a:off x="544" y="3296011"/>
              <a:ext cx="12191456" cy="2849975"/>
              <a:chOff x="544" y="3296011"/>
              <a:chExt cx="12191456" cy="2849975"/>
            </a:xfrm>
          </p:grpSpPr>
          <p:sp>
            <p:nvSpPr>
              <p:cNvPr id="1020" name="Google Shape;1020;p33"/>
              <p:cNvSpPr/>
              <p:nvPr/>
            </p:nvSpPr>
            <p:spPr>
              <a:xfrm>
                <a:off x="544" y="3296011"/>
                <a:ext cx="12191456" cy="2849975"/>
              </a:xfrm>
              <a:custGeom>
                <a:rect b="b" l="l" r="r" t="t"/>
                <a:pathLst>
                  <a:path extrusionOk="0" h="1424940" w="6095524">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21" name="Google Shape;1021;p33"/>
              <p:cNvSpPr/>
              <p:nvPr/>
            </p:nvSpPr>
            <p:spPr>
              <a:xfrm>
                <a:off x="544" y="3296011"/>
                <a:ext cx="12191456" cy="2849975"/>
              </a:xfrm>
              <a:custGeom>
                <a:rect b="b" l="l" r="r" t="t"/>
                <a:pathLst>
                  <a:path extrusionOk="0" h="1424940" w="6095524">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rotWithShape="1">
                <a:blip r:embed="rId3">
                  <a:alphaModFix amt="57000"/>
                </a:blip>
                <a:tile algn="tl" flip="none" tx="0" sx="100000" ty="0" sy="10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sp>
        <p:nvSpPr>
          <p:cNvPr id="1022" name="Google Shape;1022;p33"/>
          <p:cNvSpPr txBox="1"/>
          <p:nvPr>
            <p:ph type="title"/>
          </p:nvPr>
        </p:nvSpPr>
        <p:spPr>
          <a:xfrm>
            <a:off x="838199" y="1120676"/>
            <a:ext cx="7021513" cy="230832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7200"/>
              <a:buFont typeface="Play"/>
              <a:buNone/>
            </a:pPr>
            <a:r>
              <a:rPr lang="en" sz="7200">
                <a:solidFill>
                  <a:schemeClr val="lt1"/>
                </a:solidFill>
                <a:latin typeface="Play"/>
                <a:ea typeface="Play"/>
                <a:cs typeface="Play"/>
                <a:sym typeface="Play"/>
              </a:rPr>
              <a:t>Verify Data Quality</a:t>
            </a:r>
            <a:endParaRPr/>
          </a:p>
        </p:txBody>
      </p:sp>
      <p:sp>
        <p:nvSpPr>
          <p:cNvPr id="1023" name="Google Shape;1023;p33"/>
          <p:cNvSpPr txBox="1"/>
          <p:nvPr>
            <p:ph idx="12" type="sldNum"/>
          </p:nvPr>
        </p:nvSpPr>
        <p:spPr>
          <a:xfrm>
            <a:off x="11296611" y="6227756"/>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7" name="Shape 1027"/>
        <p:cNvGrpSpPr/>
        <p:nvPr/>
      </p:nvGrpSpPr>
      <p:grpSpPr>
        <a:xfrm>
          <a:off x="0" y="0"/>
          <a:ext cx="0" cy="0"/>
          <a:chOff x="0" y="0"/>
          <a:chExt cx="0" cy="0"/>
        </a:xfrm>
      </p:grpSpPr>
      <p:sp>
        <p:nvSpPr>
          <p:cNvPr id="1028" name="Google Shape;1028;p3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29" name="Google Shape;1029;p34"/>
          <p:cNvSpPr/>
          <p:nvPr/>
        </p:nvSpPr>
        <p:spPr>
          <a:xfrm flipH="1">
            <a:off x="2" y="0"/>
            <a:ext cx="12191998" cy="1575955"/>
          </a:xfrm>
          <a:prstGeom prst="rect">
            <a:avLst/>
          </a:prstGeom>
          <a:gradFill>
            <a:gsLst>
              <a:gs pos="0">
                <a:srgbClr val="000000">
                  <a:alpha val="96078"/>
                </a:srgbClr>
              </a:gs>
              <a:gs pos="100000">
                <a:srgbClr val="0F4861"/>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30" name="Google Shape;1030;p34"/>
          <p:cNvSpPr/>
          <p:nvPr/>
        </p:nvSpPr>
        <p:spPr>
          <a:xfrm flipH="1" rot="10800000">
            <a:off x="8128857" y="0"/>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31" name="Google Shape;1031;p34"/>
          <p:cNvSpPr/>
          <p:nvPr/>
        </p:nvSpPr>
        <p:spPr>
          <a:xfrm rot="5400000">
            <a:off x="5307777" y="-5307776"/>
            <a:ext cx="1576446" cy="12192002"/>
          </a:xfrm>
          <a:prstGeom prst="rect">
            <a:avLst/>
          </a:prstGeom>
          <a:gradFill>
            <a:gsLst>
              <a:gs pos="0">
                <a:srgbClr val="156082">
                  <a:alpha val="0"/>
                </a:srgbClr>
              </a:gs>
              <a:gs pos="23000">
                <a:srgbClr val="156082">
                  <a:alpha val="0"/>
                </a:srgbClr>
              </a:gs>
              <a:gs pos="99000">
                <a:srgbClr val="000000">
                  <a:alpha val="74117"/>
                </a:srgbClr>
              </a:gs>
              <a:gs pos="100000">
                <a:srgbClr val="000000">
                  <a:alpha val="74117"/>
                </a:srgbClr>
              </a:gs>
            </a:gsLst>
            <a:lin ang="203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32" name="Google Shape;1032;p34"/>
          <p:cNvSpPr/>
          <p:nvPr/>
        </p:nvSpPr>
        <p:spPr>
          <a:xfrm>
            <a:off x="3825434" y="0"/>
            <a:ext cx="4303422" cy="1575461"/>
          </a:xfrm>
          <a:prstGeom prst="rect">
            <a:avLst/>
          </a:prstGeom>
          <a:gradFill>
            <a:gsLst>
              <a:gs pos="0">
                <a:srgbClr val="156082">
                  <a:alpha val="16862"/>
                </a:srgbClr>
              </a:gs>
              <a:gs pos="74000">
                <a:srgbClr val="0A3041">
                  <a:alpha val="0"/>
                </a:srgbClr>
              </a:gs>
              <a:gs pos="100000">
                <a:srgbClr val="0A3041">
                  <a:alpha val="0"/>
                </a:srgbClr>
              </a:gs>
            </a:gsLst>
            <a:lin ang="14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33" name="Google Shape;1033;p34"/>
          <p:cNvSpPr txBox="1"/>
          <p:nvPr>
            <p:ph type="title"/>
          </p:nvPr>
        </p:nvSpPr>
        <p:spPr>
          <a:xfrm>
            <a:off x="699714" y="321728"/>
            <a:ext cx="6999883" cy="96795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Play"/>
              <a:buNone/>
            </a:pPr>
            <a:r>
              <a:rPr lang="en" sz="4000">
                <a:solidFill>
                  <a:srgbClr val="FFFFFF"/>
                </a:solidFill>
              </a:rPr>
              <a:t>Missing values and duplicates</a:t>
            </a:r>
            <a:endParaRPr/>
          </a:p>
        </p:txBody>
      </p:sp>
      <p:pic>
        <p:nvPicPr>
          <p:cNvPr id="1034" name="Google Shape;1034;p34"/>
          <p:cNvPicPr preferRelativeResize="0"/>
          <p:nvPr/>
        </p:nvPicPr>
        <p:blipFill rotWithShape="1">
          <a:blip r:embed="rId3">
            <a:alphaModFix/>
          </a:blip>
          <a:srcRect b="0" l="0" r="0" t="0"/>
          <a:stretch/>
        </p:blipFill>
        <p:spPr>
          <a:xfrm>
            <a:off x="412622" y="1850082"/>
            <a:ext cx="1865853" cy="4263477"/>
          </a:xfrm>
          <a:prstGeom prst="rect">
            <a:avLst/>
          </a:prstGeom>
          <a:noFill/>
          <a:ln>
            <a:noFill/>
          </a:ln>
        </p:spPr>
      </p:pic>
      <p:pic>
        <p:nvPicPr>
          <p:cNvPr id="1035" name="Google Shape;1035;p34"/>
          <p:cNvPicPr preferRelativeResize="0"/>
          <p:nvPr/>
        </p:nvPicPr>
        <p:blipFill rotWithShape="1">
          <a:blip r:embed="rId4">
            <a:alphaModFix/>
          </a:blip>
          <a:srcRect b="0" l="0" r="0" t="0"/>
          <a:stretch/>
        </p:blipFill>
        <p:spPr>
          <a:xfrm>
            <a:off x="2944259" y="1970315"/>
            <a:ext cx="2510792" cy="4045887"/>
          </a:xfrm>
          <a:prstGeom prst="rect">
            <a:avLst/>
          </a:prstGeom>
          <a:noFill/>
          <a:ln>
            <a:noFill/>
          </a:ln>
        </p:spPr>
      </p:pic>
      <p:pic>
        <p:nvPicPr>
          <p:cNvPr id="1036" name="Google Shape;1036;p34"/>
          <p:cNvPicPr preferRelativeResize="0"/>
          <p:nvPr/>
        </p:nvPicPr>
        <p:blipFill rotWithShape="1">
          <a:blip r:embed="rId5">
            <a:alphaModFix/>
          </a:blip>
          <a:srcRect b="0" l="0" r="0" t="0"/>
          <a:stretch/>
        </p:blipFill>
        <p:spPr>
          <a:xfrm>
            <a:off x="5758795" y="2101052"/>
            <a:ext cx="2743200" cy="3728720"/>
          </a:xfrm>
          <a:prstGeom prst="rect">
            <a:avLst/>
          </a:prstGeom>
          <a:noFill/>
          <a:ln>
            <a:noFill/>
          </a:ln>
        </p:spPr>
      </p:pic>
      <p:pic>
        <p:nvPicPr>
          <p:cNvPr id="1037" name="Google Shape;1037;p34"/>
          <p:cNvPicPr preferRelativeResize="0"/>
          <p:nvPr/>
        </p:nvPicPr>
        <p:blipFill rotWithShape="1">
          <a:blip r:embed="rId6">
            <a:alphaModFix/>
          </a:blip>
          <a:srcRect b="0" l="0" r="0" t="0"/>
          <a:stretch/>
        </p:blipFill>
        <p:spPr>
          <a:xfrm>
            <a:off x="8784365" y="1850082"/>
            <a:ext cx="2781688" cy="4706007"/>
          </a:xfrm>
          <a:prstGeom prst="rect">
            <a:avLst/>
          </a:prstGeom>
          <a:noFill/>
          <a:ln>
            <a:noFill/>
          </a:ln>
        </p:spPr>
      </p:pic>
      <p:sp>
        <p:nvSpPr>
          <p:cNvPr id="1038" name="Google Shape;1038;p34"/>
          <p:cNvSpPr txBox="1"/>
          <p:nvPr/>
        </p:nvSpPr>
        <p:spPr>
          <a:xfrm>
            <a:off x="1501720" y="6396575"/>
            <a:ext cx="945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
        <p:nvSpPr>
          <p:cNvPr id="1039" name="Google Shape;1039;p34"/>
          <p:cNvSpPr txBox="1"/>
          <p:nvPr>
            <p:ph idx="12" type="sldNum"/>
          </p:nvPr>
        </p:nvSpPr>
        <p:spPr>
          <a:xfrm>
            <a:off x="11296611" y="6237889"/>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3" name="Shape 1043"/>
        <p:cNvGrpSpPr/>
        <p:nvPr/>
      </p:nvGrpSpPr>
      <p:grpSpPr>
        <a:xfrm>
          <a:off x="0" y="0"/>
          <a:ext cx="0" cy="0"/>
          <a:chOff x="0" y="0"/>
          <a:chExt cx="0" cy="0"/>
        </a:xfrm>
      </p:grpSpPr>
      <p:sp>
        <p:nvSpPr>
          <p:cNvPr id="1044" name="Google Shape;1044;p3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1045" name="Google Shape;1045;p35"/>
          <p:cNvSpPr/>
          <p:nvPr/>
        </p:nvSpPr>
        <p:spPr>
          <a:xfrm flipH="1">
            <a:off x="2" y="492"/>
            <a:ext cx="12191998" cy="1575955"/>
          </a:xfrm>
          <a:prstGeom prst="rect">
            <a:avLst/>
          </a:prstGeom>
          <a:gradFill>
            <a:gsLst>
              <a:gs pos="0">
                <a:srgbClr val="0A3041"/>
              </a:gs>
              <a:gs pos="100000">
                <a:srgbClr val="0F4861"/>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46" name="Google Shape;1046;p35"/>
          <p:cNvSpPr/>
          <p:nvPr/>
        </p:nvSpPr>
        <p:spPr>
          <a:xfrm flipH="1" rot="10800000">
            <a:off x="8128857" y="35"/>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47" name="Google Shape;1047;p35"/>
          <p:cNvSpPr/>
          <p:nvPr/>
        </p:nvSpPr>
        <p:spPr>
          <a:xfrm rot="5400000">
            <a:off x="5307778" y="-5307777"/>
            <a:ext cx="1576446" cy="12192001"/>
          </a:xfrm>
          <a:prstGeom prst="rect">
            <a:avLst/>
          </a:prstGeom>
          <a:gradFill>
            <a:gsLst>
              <a:gs pos="0">
                <a:srgbClr val="000000">
                  <a:alpha val="0"/>
                </a:srgbClr>
              </a:gs>
              <a:gs pos="16000">
                <a:srgbClr val="000000">
                  <a:alpha val="0"/>
                </a:srgbClr>
              </a:gs>
              <a:gs pos="99000">
                <a:srgbClr val="000000">
                  <a:alpha val="87058"/>
                </a:srgbClr>
              </a:gs>
              <a:gs pos="100000">
                <a:srgbClr val="000000">
                  <a:alpha val="87058"/>
                </a:srgbClr>
              </a:gs>
            </a:gsLst>
            <a:lin ang="11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48" name="Google Shape;1048;p35"/>
          <p:cNvSpPr/>
          <p:nvPr/>
        </p:nvSpPr>
        <p:spPr>
          <a:xfrm>
            <a:off x="3825434" y="986"/>
            <a:ext cx="4303422" cy="1575461"/>
          </a:xfrm>
          <a:prstGeom prst="rect">
            <a:avLst/>
          </a:prstGeom>
          <a:gradFill>
            <a:gsLst>
              <a:gs pos="0">
                <a:srgbClr val="156082">
                  <a:alpha val="16862"/>
                </a:srgbClr>
              </a:gs>
              <a:gs pos="74000">
                <a:srgbClr val="0A3041">
                  <a:alpha val="0"/>
                </a:srgbClr>
              </a:gs>
              <a:gs pos="100000">
                <a:srgbClr val="0A3041">
                  <a:alpha val="0"/>
                </a:srgbClr>
              </a:gs>
            </a:gsLst>
            <a:lin ang="14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49" name="Google Shape;1049;p35"/>
          <p:cNvSpPr txBox="1"/>
          <p:nvPr>
            <p:ph type="title"/>
          </p:nvPr>
        </p:nvSpPr>
        <p:spPr>
          <a:xfrm>
            <a:off x="699714" y="353160"/>
            <a:ext cx="7091300" cy="89858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Play"/>
              <a:buNone/>
            </a:pPr>
            <a:r>
              <a:rPr lang="en" sz="4000">
                <a:solidFill>
                  <a:srgbClr val="FFFFFF"/>
                </a:solidFill>
              </a:rPr>
              <a:t>Additional quality checks</a:t>
            </a:r>
            <a:endParaRPr/>
          </a:p>
        </p:txBody>
      </p:sp>
      <p:pic>
        <p:nvPicPr>
          <p:cNvPr id="1050" name="Google Shape;1050;p35"/>
          <p:cNvPicPr preferRelativeResize="0"/>
          <p:nvPr/>
        </p:nvPicPr>
        <p:blipFill rotWithShape="1">
          <a:blip r:embed="rId3">
            <a:alphaModFix/>
          </a:blip>
          <a:srcRect b="0" l="0" r="0" t="0"/>
          <a:stretch/>
        </p:blipFill>
        <p:spPr>
          <a:xfrm>
            <a:off x="178720" y="2074437"/>
            <a:ext cx="5750936" cy="3353906"/>
          </a:xfrm>
          <a:prstGeom prst="rect">
            <a:avLst/>
          </a:prstGeom>
          <a:noFill/>
          <a:ln>
            <a:noFill/>
          </a:ln>
        </p:spPr>
      </p:pic>
      <p:pic>
        <p:nvPicPr>
          <p:cNvPr id="1051" name="Google Shape;1051;p35"/>
          <p:cNvPicPr preferRelativeResize="0"/>
          <p:nvPr/>
        </p:nvPicPr>
        <p:blipFill rotWithShape="1">
          <a:blip r:embed="rId4">
            <a:alphaModFix/>
          </a:blip>
          <a:srcRect b="0" l="0" r="0" t="0"/>
          <a:stretch/>
        </p:blipFill>
        <p:spPr>
          <a:xfrm>
            <a:off x="6203415" y="1963178"/>
            <a:ext cx="5613231" cy="3353905"/>
          </a:xfrm>
          <a:prstGeom prst="rect">
            <a:avLst/>
          </a:prstGeom>
          <a:noFill/>
          <a:ln>
            <a:noFill/>
          </a:ln>
        </p:spPr>
      </p:pic>
      <p:sp>
        <p:nvSpPr>
          <p:cNvPr id="1052" name="Google Shape;1052;p3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053" name="Google Shape;1053;p35"/>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57" name="Shape 1057"/>
        <p:cNvGrpSpPr/>
        <p:nvPr/>
      </p:nvGrpSpPr>
      <p:grpSpPr>
        <a:xfrm>
          <a:off x="0" y="0"/>
          <a:ext cx="0" cy="0"/>
          <a:chOff x="0" y="0"/>
          <a:chExt cx="0" cy="0"/>
        </a:xfrm>
      </p:grpSpPr>
      <p:sp>
        <p:nvSpPr>
          <p:cNvPr id="1058" name="Google Shape;1058;p36"/>
          <p:cNvSpPr/>
          <p:nvPr/>
        </p:nvSpPr>
        <p:spPr>
          <a:xfrm>
            <a:off x="0" y="0"/>
            <a:ext cx="121920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059" name="Google Shape;1059;p36"/>
          <p:cNvGrpSpPr/>
          <p:nvPr/>
        </p:nvGrpSpPr>
        <p:grpSpPr>
          <a:xfrm>
            <a:off x="0" y="3296011"/>
            <a:ext cx="12192000" cy="3561989"/>
            <a:chOff x="0" y="3296011"/>
            <a:chExt cx="12192000" cy="3561989"/>
          </a:xfrm>
        </p:grpSpPr>
        <p:grpSp>
          <p:nvGrpSpPr>
            <p:cNvPr id="1060" name="Google Shape;1060;p36"/>
            <p:cNvGrpSpPr/>
            <p:nvPr/>
          </p:nvGrpSpPr>
          <p:grpSpPr>
            <a:xfrm>
              <a:off x="0" y="3681702"/>
              <a:ext cx="12192000" cy="3176298"/>
              <a:chOff x="0" y="3681702"/>
              <a:chExt cx="12192000" cy="3176298"/>
            </a:xfrm>
          </p:grpSpPr>
          <p:sp>
            <p:nvSpPr>
              <p:cNvPr id="1061" name="Google Shape;1061;p36"/>
              <p:cNvSpPr/>
              <p:nvPr/>
            </p:nvSpPr>
            <p:spPr>
              <a:xfrm>
                <a:off x="0" y="3681702"/>
                <a:ext cx="12192000" cy="3176298"/>
              </a:xfrm>
              <a:custGeom>
                <a:rect b="b" l="l" r="r" t="t"/>
                <a:pathLst>
                  <a:path extrusionOk="0" h="3176298" w="12192000">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62" name="Google Shape;1062;p36"/>
              <p:cNvSpPr/>
              <p:nvPr/>
            </p:nvSpPr>
            <p:spPr>
              <a:xfrm>
                <a:off x="0" y="3681702"/>
                <a:ext cx="12192000" cy="3176298"/>
              </a:xfrm>
              <a:custGeom>
                <a:rect b="b" l="l" r="r" t="t"/>
                <a:pathLst>
                  <a:path extrusionOk="0" h="3176298" w="12192000">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lt1">
                  <a:alpha val="14117"/>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063" name="Google Shape;1063;p36"/>
            <p:cNvGrpSpPr/>
            <p:nvPr/>
          </p:nvGrpSpPr>
          <p:grpSpPr>
            <a:xfrm>
              <a:off x="544" y="3296011"/>
              <a:ext cx="12191456" cy="2849975"/>
              <a:chOff x="544" y="3296011"/>
              <a:chExt cx="12191456" cy="2849975"/>
            </a:xfrm>
          </p:grpSpPr>
          <p:sp>
            <p:nvSpPr>
              <p:cNvPr id="1064" name="Google Shape;1064;p36"/>
              <p:cNvSpPr/>
              <p:nvPr/>
            </p:nvSpPr>
            <p:spPr>
              <a:xfrm>
                <a:off x="544" y="3296011"/>
                <a:ext cx="12191456" cy="2849975"/>
              </a:xfrm>
              <a:custGeom>
                <a:rect b="b" l="l" r="r" t="t"/>
                <a:pathLst>
                  <a:path extrusionOk="0" h="1424940" w="6095524">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65" name="Google Shape;1065;p36"/>
              <p:cNvSpPr/>
              <p:nvPr/>
            </p:nvSpPr>
            <p:spPr>
              <a:xfrm>
                <a:off x="544" y="3296011"/>
                <a:ext cx="12191456" cy="2849975"/>
              </a:xfrm>
              <a:custGeom>
                <a:rect b="b" l="l" r="r" t="t"/>
                <a:pathLst>
                  <a:path extrusionOk="0" h="1424940" w="6095524">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rotWithShape="1">
                <a:blip r:embed="rId3">
                  <a:alphaModFix amt="57000"/>
                </a:blip>
                <a:tile algn="tl" flip="none" tx="0" sx="100000" ty="0" sy="10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sp>
        <p:nvSpPr>
          <p:cNvPr id="1066" name="Google Shape;1066;p36"/>
          <p:cNvSpPr txBox="1"/>
          <p:nvPr>
            <p:ph type="title"/>
          </p:nvPr>
        </p:nvSpPr>
        <p:spPr>
          <a:xfrm>
            <a:off x="838199" y="1120676"/>
            <a:ext cx="7021513" cy="230832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7200"/>
              <a:buFont typeface="Play"/>
              <a:buNone/>
            </a:pPr>
            <a:r>
              <a:rPr lang="en" sz="7200">
                <a:solidFill>
                  <a:schemeClr val="lt1"/>
                </a:solidFill>
                <a:latin typeface="Play"/>
                <a:ea typeface="Play"/>
                <a:cs typeface="Play"/>
                <a:sym typeface="Play"/>
              </a:rPr>
              <a:t>Feature Engineering </a:t>
            </a:r>
            <a:endParaRPr/>
          </a:p>
        </p:txBody>
      </p:sp>
      <p:sp>
        <p:nvSpPr>
          <p:cNvPr id="1067" name="Google Shape;1067;p3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1" name="Shape 1071"/>
        <p:cNvGrpSpPr/>
        <p:nvPr/>
      </p:nvGrpSpPr>
      <p:grpSpPr>
        <a:xfrm>
          <a:off x="0" y="0"/>
          <a:ext cx="0" cy="0"/>
          <a:chOff x="0" y="0"/>
          <a:chExt cx="0" cy="0"/>
        </a:xfrm>
      </p:grpSpPr>
      <p:sp>
        <p:nvSpPr>
          <p:cNvPr id="1072" name="Google Shape;1072;p3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1073" name="Google Shape;1073;p37"/>
          <p:cNvSpPr/>
          <p:nvPr/>
        </p:nvSpPr>
        <p:spPr>
          <a:xfrm flipH="1">
            <a:off x="2" y="492"/>
            <a:ext cx="12191998" cy="1575955"/>
          </a:xfrm>
          <a:prstGeom prst="rect">
            <a:avLst/>
          </a:prstGeom>
          <a:gradFill>
            <a:gsLst>
              <a:gs pos="0">
                <a:srgbClr val="0A3041"/>
              </a:gs>
              <a:gs pos="100000">
                <a:srgbClr val="0F4861"/>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74" name="Google Shape;1074;p37"/>
          <p:cNvSpPr/>
          <p:nvPr/>
        </p:nvSpPr>
        <p:spPr>
          <a:xfrm flipH="1" rot="10800000">
            <a:off x="8128857" y="35"/>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75" name="Google Shape;1075;p37"/>
          <p:cNvSpPr/>
          <p:nvPr/>
        </p:nvSpPr>
        <p:spPr>
          <a:xfrm rot="5400000">
            <a:off x="5307778" y="-5307777"/>
            <a:ext cx="1576446" cy="12192001"/>
          </a:xfrm>
          <a:prstGeom prst="rect">
            <a:avLst/>
          </a:prstGeom>
          <a:gradFill>
            <a:gsLst>
              <a:gs pos="0">
                <a:srgbClr val="000000">
                  <a:alpha val="0"/>
                </a:srgbClr>
              </a:gs>
              <a:gs pos="16000">
                <a:srgbClr val="000000">
                  <a:alpha val="0"/>
                </a:srgbClr>
              </a:gs>
              <a:gs pos="99000">
                <a:srgbClr val="000000">
                  <a:alpha val="87058"/>
                </a:srgbClr>
              </a:gs>
              <a:gs pos="100000">
                <a:srgbClr val="000000">
                  <a:alpha val="87058"/>
                </a:srgbClr>
              </a:gs>
            </a:gsLst>
            <a:lin ang="11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76" name="Google Shape;1076;p37"/>
          <p:cNvSpPr/>
          <p:nvPr/>
        </p:nvSpPr>
        <p:spPr>
          <a:xfrm>
            <a:off x="3825434" y="986"/>
            <a:ext cx="4303422" cy="1575461"/>
          </a:xfrm>
          <a:prstGeom prst="rect">
            <a:avLst/>
          </a:prstGeom>
          <a:gradFill>
            <a:gsLst>
              <a:gs pos="0">
                <a:srgbClr val="156082">
                  <a:alpha val="16862"/>
                </a:srgbClr>
              </a:gs>
              <a:gs pos="74000">
                <a:srgbClr val="0A3041">
                  <a:alpha val="0"/>
                </a:srgbClr>
              </a:gs>
              <a:gs pos="100000">
                <a:srgbClr val="0A3041">
                  <a:alpha val="0"/>
                </a:srgbClr>
              </a:gs>
            </a:gsLst>
            <a:lin ang="14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77" name="Google Shape;1077;p37"/>
          <p:cNvSpPr txBox="1"/>
          <p:nvPr>
            <p:ph type="title"/>
          </p:nvPr>
        </p:nvSpPr>
        <p:spPr>
          <a:xfrm>
            <a:off x="699712" y="425339"/>
            <a:ext cx="9795487" cy="88985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FF"/>
              </a:buClr>
              <a:buSzPts val="2800"/>
              <a:buFont typeface="Play"/>
              <a:buNone/>
            </a:pPr>
            <a:r>
              <a:rPr lang="en" sz="2800">
                <a:solidFill>
                  <a:srgbClr val="FFFFFF"/>
                </a:solidFill>
              </a:rPr>
              <a:t>1) Merging Relational Datasets: Combined multiple datasets using       tube_assembly_id as the primary key to create a unified dataset</a:t>
            </a:r>
            <a:br>
              <a:rPr lang="en" sz="2000">
                <a:solidFill>
                  <a:srgbClr val="FFFFFF"/>
                </a:solidFill>
              </a:rPr>
            </a:br>
            <a:endParaRPr sz="2000">
              <a:solidFill>
                <a:srgbClr val="FFFFFF"/>
              </a:solidFill>
            </a:endParaRPr>
          </a:p>
        </p:txBody>
      </p:sp>
      <p:sp>
        <p:nvSpPr>
          <p:cNvPr id="1078" name="Google Shape;1078;p37"/>
          <p:cNvSpPr txBox="1"/>
          <p:nvPr/>
        </p:nvSpPr>
        <p:spPr>
          <a:xfrm>
            <a:off x="496979" y="2017748"/>
            <a:ext cx="4692532" cy="83045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lang="en" sz="1900">
                <a:solidFill>
                  <a:schemeClr val="dk1"/>
                </a:solidFill>
                <a:latin typeface="Arial"/>
                <a:ea typeface="Arial"/>
                <a:cs typeface="Arial"/>
                <a:sym typeface="Arial"/>
              </a:rPr>
              <a:t>NewTrain = pd.merge(train, tube, on ='tube_assembly_id')</a:t>
            </a:r>
            <a:endParaRPr/>
          </a:p>
        </p:txBody>
      </p:sp>
      <p:pic>
        <p:nvPicPr>
          <p:cNvPr id="1079" name="Google Shape;1079;p37"/>
          <p:cNvPicPr preferRelativeResize="0"/>
          <p:nvPr/>
        </p:nvPicPr>
        <p:blipFill rotWithShape="1">
          <a:blip r:embed="rId3">
            <a:alphaModFix/>
          </a:blip>
          <a:srcRect b="0" l="0" r="0" t="0"/>
          <a:stretch/>
        </p:blipFill>
        <p:spPr>
          <a:xfrm>
            <a:off x="715748" y="3215544"/>
            <a:ext cx="5131088" cy="1929400"/>
          </a:xfrm>
          <a:prstGeom prst="rect">
            <a:avLst/>
          </a:prstGeom>
          <a:noFill/>
          <a:ln>
            <a:noFill/>
          </a:ln>
        </p:spPr>
      </p:pic>
      <p:pic>
        <p:nvPicPr>
          <p:cNvPr id="1080" name="Google Shape;1080;p37"/>
          <p:cNvPicPr preferRelativeResize="0"/>
          <p:nvPr/>
        </p:nvPicPr>
        <p:blipFill rotWithShape="1">
          <a:blip r:embed="rId4">
            <a:alphaModFix/>
          </a:blip>
          <a:srcRect b="0" l="0" r="0" t="0"/>
          <a:stretch/>
        </p:blipFill>
        <p:spPr>
          <a:xfrm>
            <a:off x="6344434" y="1967483"/>
            <a:ext cx="4526468" cy="3997831"/>
          </a:xfrm>
          <a:prstGeom prst="rect">
            <a:avLst/>
          </a:prstGeom>
          <a:noFill/>
          <a:ln>
            <a:noFill/>
          </a:ln>
        </p:spPr>
      </p:pic>
      <p:sp>
        <p:nvSpPr>
          <p:cNvPr id="1081" name="Google Shape;1081;p3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082" name="Google Shape;1082;p37"/>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86" name="Shape 1086"/>
        <p:cNvGrpSpPr/>
        <p:nvPr/>
      </p:nvGrpSpPr>
      <p:grpSpPr>
        <a:xfrm>
          <a:off x="0" y="0"/>
          <a:ext cx="0" cy="0"/>
          <a:chOff x="0" y="0"/>
          <a:chExt cx="0" cy="0"/>
        </a:xfrm>
      </p:grpSpPr>
      <p:sp>
        <p:nvSpPr>
          <p:cNvPr id="1087" name="Google Shape;1087;p38"/>
          <p:cNvSpPr/>
          <p:nvPr/>
        </p:nvSpPr>
        <p:spPr>
          <a:xfrm>
            <a:off x="-10133"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1088" name="Google Shape;1088;p38"/>
          <p:cNvSpPr/>
          <p:nvPr/>
        </p:nvSpPr>
        <p:spPr>
          <a:xfrm flipH="1">
            <a:off x="2" y="492"/>
            <a:ext cx="12191998" cy="1575955"/>
          </a:xfrm>
          <a:prstGeom prst="rect">
            <a:avLst/>
          </a:prstGeom>
          <a:gradFill>
            <a:gsLst>
              <a:gs pos="0">
                <a:srgbClr val="0A3041"/>
              </a:gs>
              <a:gs pos="100000">
                <a:srgbClr val="0F4861"/>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89" name="Google Shape;1089;p38"/>
          <p:cNvSpPr/>
          <p:nvPr/>
        </p:nvSpPr>
        <p:spPr>
          <a:xfrm flipH="1" rot="10800000">
            <a:off x="8128857" y="35"/>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90" name="Google Shape;1090;p38"/>
          <p:cNvSpPr/>
          <p:nvPr/>
        </p:nvSpPr>
        <p:spPr>
          <a:xfrm rot="5400000">
            <a:off x="5307778" y="-5307777"/>
            <a:ext cx="1576446" cy="12192001"/>
          </a:xfrm>
          <a:prstGeom prst="rect">
            <a:avLst/>
          </a:prstGeom>
          <a:gradFill>
            <a:gsLst>
              <a:gs pos="0">
                <a:srgbClr val="000000">
                  <a:alpha val="0"/>
                </a:srgbClr>
              </a:gs>
              <a:gs pos="16000">
                <a:srgbClr val="000000">
                  <a:alpha val="0"/>
                </a:srgbClr>
              </a:gs>
              <a:gs pos="99000">
                <a:srgbClr val="000000">
                  <a:alpha val="87058"/>
                </a:srgbClr>
              </a:gs>
              <a:gs pos="100000">
                <a:srgbClr val="000000">
                  <a:alpha val="87058"/>
                </a:srgbClr>
              </a:gs>
            </a:gsLst>
            <a:lin ang="11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91" name="Google Shape;1091;p38"/>
          <p:cNvSpPr/>
          <p:nvPr/>
        </p:nvSpPr>
        <p:spPr>
          <a:xfrm>
            <a:off x="3825434" y="986"/>
            <a:ext cx="4303422" cy="1575461"/>
          </a:xfrm>
          <a:prstGeom prst="rect">
            <a:avLst/>
          </a:prstGeom>
          <a:gradFill>
            <a:gsLst>
              <a:gs pos="0">
                <a:srgbClr val="156082">
                  <a:alpha val="16862"/>
                </a:srgbClr>
              </a:gs>
              <a:gs pos="74000">
                <a:srgbClr val="0A3041">
                  <a:alpha val="0"/>
                </a:srgbClr>
              </a:gs>
              <a:gs pos="100000">
                <a:srgbClr val="0A3041">
                  <a:alpha val="0"/>
                </a:srgbClr>
              </a:gs>
            </a:gsLst>
            <a:lin ang="14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92" name="Google Shape;1092;p38"/>
          <p:cNvSpPr txBox="1"/>
          <p:nvPr>
            <p:ph type="title"/>
          </p:nvPr>
        </p:nvSpPr>
        <p:spPr>
          <a:xfrm>
            <a:off x="699713" y="353160"/>
            <a:ext cx="11245543" cy="89858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2800"/>
              <a:buFont typeface="Play"/>
              <a:buNone/>
            </a:pPr>
            <a:r>
              <a:rPr lang="en" sz="2800">
                <a:solidFill>
                  <a:srgbClr val="FFFFFF"/>
                </a:solidFill>
              </a:rPr>
              <a:t>Correlation between cost and numeric features after merging tube and train data sets</a:t>
            </a:r>
            <a:endParaRPr/>
          </a:p>
        </p:txBody>
      </p:sp>
      <p:pic>
        <p:nvPicPr>
          <p:cNvPr id="1093" name="Google Shape;1093;p38" title="Screenshot 2026-06-14 at 6.58.04 PM.png"/>
          <p:cNvPicPr preferRelativeResize="0"/>
          <p:nvPr/>
        </p:nvPicPr>
        <p:blipFill>
          <a:blip r:embed="rId3">
            <a:alphaModFix/>
          </a:blip>
          <a:stretch>
            <a:fillRect/>
          </a:stretch>
        </p:blipFill>
        <p:spPr>
          <a:xfrm>
            <a:off x="1380225" y="1667150"/>
            <a:ext cx="9884518" cy="4598501"/>
          </a:xfrm>
          <a:prstGeom prst="rect">
            <a:avLst/>
          </a:prstGeom>
          <a:noFill/>
          <a:ln>
            <a:noFill/>
          </a:ln>
        </p:spPr>
      </p:pic>
      <p:sp>
        <p:nvSpPr>
          <p:cNvPr id="1094" name="Google Shape;1094;p3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a:t>‹#›</a:t>
            </a:fld>
            <a:endParaRPr/>
          </a:p>
        </p:txBody>
      </p:sp>
      <p:sp>
        <p:nvSpPr>
          <p:cNvPr id="1095" name="Google Shape;1095;p38"/>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99" name="Shape 1099"/>
        <p:cNvGrpSpPr/>
        <p:nvPr/>
      </p:nvGrpSpPr>
      <p:grpSpPr>
        <a:xfrm>
          <a:off x="0" y="0"/>
          <a:ext cx="0" cy="0"/>
          <a:chOff x="0" y="0"/>
          <a:chExt cx="0" cy="0"/>
        </a:xfrm>
      </p:grpSpPr>
      <p:sp>
        <p:nvSpPr>
          <p:cNvPr id="1100" name="Google Shape;1100;g3ebd0e70725_0_1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1101" name="Google Shape;1101;g3ebd0e70725_0_16"/>
          <p:cNvSpPr/>
          <p:nvPr/>
        </p:nvSpPr>
        <p:spPr>
          <a:xfrm flipH="1">
            <a:off x="0" y="492"/>
            <a:ext cx="12192000" cy="1575900"/>
          </a:xfrm>
          <a:prstGeom prst="rect">
            <a:avLst/>
          </a:prstGeom>
          <a:gradFill>
            <a:gsLst>
              <a:gs pos="0">
                <a:srgbClr val="0A3041"/>
              </a:gs>
              <a:gs pos="100000">
                <a:srgbClr val="0F4861"/>
              </a:gs>
            </a:gsLst>
            <a:lin ang="840013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02" name="Google Shape;1102;g3ebd0e70725_0_16"/>
          <p:cNvSpPr/>
          <p:nvPr/>
        </p:nvSpPr>
        <p:spPr>
          <a:xfrm flipH="1" rot="10800000">
            <a:off x="8128857" y="-53"/>
            <a:ext cx="4063200" cy="1576500"/>
          </a:xfrm>
          <a:prstGeom prst="rect">
            <a:avLst/>
          </a:prstGeom>
          <a:gradFill>
            <a:gsLst>
              <a:gs pos="0">
                <a:srgbClr val="0A3041">
                  <a:alpha val="67843"/>
                </a:srgbClr>
              </a:gs>
              <a:gs pos="19000">
                <a:srgbClr val="0A3041">
                  <a:alpha val="67843"/>
                </a:srgbClr>
              </a:gs>
              <a:gs pos="100000">
                <a:srgbClr val="156082">
                  <a:alpha val="78823"/>
                </a:srgbClr>
              </a:gs>
            </a:gsLst>
            <a:lin ang="1920016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03" name="Google Shape;1103;g3ebd0e70725_0_16"/>
          <p:cNvSpPr/>
          <p:nvPr/>
        </p:nvSpPr>
        <p:spPr>
          <a:xfrm rot="5400000">
            <a:off x="5307752" y="-5307749"/>
            <a:ext cx="1576500" cy="12192000"/>
          </a:xfrm>
          <a:prstGeom prst="rect">
            <a:avLst/>
          </a:prstGeom>
          <a:gradFill>
            <a:gsLst>
              <a:gs pos="0">
                <a:srgbClr val="000000">
                  <a:alpha val="0"/>
                </a:srgbClr>
              </a:gs>
              <a:gs pos="16000">
                <a:srgbClr val="000000">
                  <a:alpha val="0"/>
                </a:srgbClr>
              </a:gs>
              <a:gs pos="99000">
                <a:srgbClr val="000000">
                  <a:alpha val="87058"/>
                </a:srgbClr>
              </a:gs>
              <a:gs pos="100000">
                <a:srgbClr val="000000">
                  <a:alpha val="87058"/>
                </a:srgbClr>
              </a:gs>
            </a:gsLst>
            <a:lin ang="113999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04" name="Google Shape;1104;g3ebd0e70725_0_16"/>
          <p:cNvSpPr/>
          <p:nvPr/>
        </p:nvSpPr>
        <p:spPr>
          <a:xfrm>
            <a:off x="3825434" y="986"/>
            <a:ext cx="4303500" cy="1575600"/>
          </a:xfrm>
          <a:prstGeom prst="rect">
            <a:avLst/>
          </a:prstGeom>
          <a:gradFill>
            <a:gsLst>
              <a:gs pos="0">
                <a:srgbClr val="156082">
                  <a:alpha val="16862"/>
                </a:srgbClr>
              </a:gs>
              <a:gs pos="74000">
                <a:srgbClr val="0A3041">
                  <a:alpha val="0"/>
                </a:srgbClr>
              </a:gs>
              <a:gs pos="100000">
                <a:srgbClr val="0A3041">
                  <a:alpha val="0"/>
                </a:srgbClr>
              </a:gs>
            </a:gsLst>
            <a:lin ang="14400033"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05" name="Google Shape;1105;g3ebd0e70725_0_16"/>
          <p:cNvSpPr txBox="1"/>
          <p:nvPr>
            <p:ph type="title"/>
          </p:nvPr>
        </p:nvSpPr>
        <p:spPr>
          <a:xfrm>
            <a:off x="699713" y="353160"/>
            <a:ext cx="11245500" cy="898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2800"/>
              <a:buFont typeface="Play"/>
              <a:buNone/>
            </a:pPr>
            <a:r>
              <a:rPr lang="en" sz="2800">
                <a:solidFill>
                  <a:srgbClr val="FFFFFF"/>
                </a:solidFill>
              </a:rPr>
              <a:t>Correlation between cost and numeric features after merging tube and train data sets</a:t>
            </a:r>
            <a:endParaRPr/>
          </a:p>
        </p:txBody>
      </p:sp>
      <p:pic>
        <p:nvPicPr>
          <p:cNvPr id="1106" name="Google Shape;1106;g3ebd0e70725_0_16"/>
          <p:cNvPicPr preferRelativeResize="0"/>
          <p:nvPr/>
        </p:nvPicPr>
        <p:blipFill rotWithShape="1">
          <a:blip r:embed="rId3">
            <a:alphaModFix/>
          </a:blip>
          <a:srcRect b="0" l="0" r="0" t="0"/>
          <a:stretch/>
        </p:blipFill>
        <p:spPr>
          <a:xfrm>
            <a:off x="390018" y="1603915"/>
            <a:ext cx="7143167" cy="4964501"/>
          </a:xfrm>
          <a:prstGeom prst="rect">
            <a:avLst/>
          </a:prstGeom>
          <a:noFill/>
          <a:ln>
            <a:noFill/>
          </a:ln>
        </p:spPr>
      </p:pic>
      <p:pic>
        <p:nvPicPr>
          <p:cNvPr id="1107" name="Google Shape;1107;g3ebd0e70725_0_16"/>
          <p:cNvPicPr preferRelativeResize="0"/>
          <p:nvPr/>
        </p:nvPicPr>
        <p:blipFill rotWithShape="1">
          <a:blip r:embed="rId4">
            <a:alphaModFix/>
          </a:blip>
          <a:srcRect b="0" l="0" r="0" t="0"/>
          <a:stretch/>
        </p:blipFill>
        <p:spPr>
          <a:xfrm>
            <a:off x="8128856" y="1816768"/>
            <a:ext cx="3580956" cy="3007084"/>
          </a:xfrm>
          <a:prstGeom prst="rect">
            <a:avLst/>
          </a:prstGeom>
          <a:noFill/>
          <a:ln>
            <a:noFill/>
          </a:ln>
        </p:spPr>
      </p:pic>
      <p:sp>
        <p:nvSpPr>
          <p:cNvPr id="1108" name="Google Shape;1108;g3ebd0e70725_0_16"/>
          <p:cNvSpPr txBox="1"/>
          <p:nvPr/>
        </p:nvSpPr>
        <p:spPr>
          <a:xfrm>
            <a:off x="7667015" y="5293957"/>
            <a:ext cx="3740100" cy="147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Arial"/>
                <a:ea typeface="Arial"/>
                <a:cs typeface="Arial"/>
                <a:sym typeface="Arial"/>
              </a:rPr>
              <a:t>This highlights the importance of the calculation of additional features such as total weight and total quantity based on available data.</a:t>
            </a:r>
            <a:endParaRPr sz="1800">
              <a:solidFill>
                <a:schemeClr val="dk1"/>
              </a:solidFill>
              <a:latin typeface="Arial"/>
              <a:ea typeface="Arial"/>
              <a:cs typeface="Arial"/>
              <a:sym typeface="Arial"/>
            </a:endParaRPr>
          </a:p>
        </p:txBody>
      </p:sp>
      <p:sp>
        <p:nvSpPr>
          <p:cNvPr id="1109" name="Google Shape;1109;g3ebd0e70725_0_16"/>
          <p:cNvSpPr txBox="1"/>
          <p:nvPr/>
        </p:nvSpPr>
        <p:spPr>
          <a:xfrm>
            <a:off x="188606" y="6568422"/>
            <a:ext cx="29739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300">
                <a:solidFill>
                  <a:schemeClr val="dk1"/>
                </a:solidFill>
              </a:rPr>
              <a:t>Group</a:t>
            </a:r>
            <a:endParaRPr sz="1300">
              <a:solidFill>
                <a:schemeClr val="dk1"/>
              </a:solidFill>
              <a:latin typeface="Arial"/>
              <a:ea typeface="Arial"/>
              <a:cs typeface="Arial"/>
              <a:sym typeface="Arial"/>
            </a:endParaRPr>
          </a:p>
        </p:txBody>
      </p:sp>
      <p:sp>
        <p:nvSpPr>
          <p:cNvPr id="1110" name="Google Shape;1110;g3ebd0e70725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4" name="Shape 1114"/>
        <p:cNvGrpSpPr/>
        <p:nvPr/>
      </p:nvGrpSpPr>
      <p:grpSpPr>
        <a:xfrm>
          <a:off x="0" y="0"/>
          <a:ext cx="0" cy="0"/>
          <a:chOff x="0" y="0"/>
          <a:chExt cx="0" cy="0"/>
        </a:xfrm>
      </p:grpSpPr>
      <p:pic>
        <p:nvPicPr>
          <p:cNvPr id="1115" name="Google Shape;1115;p39"/>
          <p:cNvPicPr preferRelativeResize="0"/>
          <p:nvPr/>
        </p:nvPicPr>
        <p:blipFill rotWithShape="1">
          <a:blip r:embed="rId3">
            <a:alphaModFix/>
          </a:blip>
          <a:srcRect b="0" l="0" r="0" t="0"/>
          <a:stretch/>
        </p:blipFill>
        <p:spPr>
          <a:xfrm>
            <a:off x="3498956" y="1758300"/>
            <a:ext cx="3539407" cy="3341399"/>
          </a:xfrm>
          <a:prstGeom prst="rect">
            <a:avLst/>
          </a:prstGeom>
          <a:noFill/>
          <a:ln>
            <a:noFill/>
          </a:ln>
        </p:spPr>
      </p:pic>
      <p:pic>
        <p:nvPicPr>
          <p:cNvPr id="1116" name="Google Shape;1116;p39"/>
          <p:cNvPicPr preferRelativeResize="0"/>
          <p:nvPr/>
        </p:nvPicPr>
        <p:blipFill rotWithShape="1">
          <a:blip r:embed="rId4">
            <a:alphaModFix/>
          </a:blip>
          <a:srcRect b="0" l="0" r="0" t="0"/>
          <a:stretch/>
        </p:blipFill>
        <p:spPr>
          <a:xfrm>
            <a:off x="328942" y="1632103"/>
            <a:ext cx="1410892" cy="4105855"/>
          </a:xfrm>
          <a:prstGeom prst="rect">
            <a:avLst/>
          </a:prstGeom>
          <a:noFill/>
          <a:ln>
            <a:noFill/>
          </a:ln>
        </p:spPr>
      </p:pic>
      <p:sp>
        <p:nvSpPr>
          <p:cNvPr id="1117" name="Google Shape;1117;p39"/>
          <p:cNvSpPr/>
          <p:nvPr/>
        </p:nvSpPr>
        <p:spPr>
          <a:xfrm>
            <a:off x="2130191" y="3186684"/>
            <a:ext cx="978408" cy="484632"/>
          </a:xfrm>
          <a:prstGeom prst="rightArrow">
            <a:avLst>
              <a:gd fmla="val 50000" name="adj1"/>
              <a:gd fmla="val 50000" name="adj2"/>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18" name="Google Shape;1118;p39"/>
          <p:cNvSpPr txBox="1"/>
          <p:nvPr>
            <p:ph type="title"/>
          </p:nvPr>
        </p:nvSpPr>
        <p:spPr>
          <a:xfrm>
            <a:off x="0" y="0"/>
            <a:ext cx="12192000" cy="1478189"/>
          </a:xfrm>
          <a:prstGeom prst="rect">
            <a:avLst/>
          </a:prstGeom>
          <a:solidFill>
            <a:schemeClr val="dk2"/>
          </a:solid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Play"/>
              <a:buNone/>
            </a:pPr>
            <a:br>
              <a:rPr lang="en" sz="2800">
                <a:solidFill>
                  <a:schemeClr val="lt1"/>
                </a:solidFill>
              </a:rPr>
            </a:br>
            <a:br>
              <a:rPr lang="en" sz="2800">
                <a:solidFill>
                  <a:schemeClr val="lt1"/>
                </a:solidFill>
              </a:rPr>
            </a:br>
            <a:r>
              <a:rPr lang="en" sz="2800">
                <a:solidFill>
                  <a:schemeClr val="lt1"/>
                </a:solidFill>
              </a:rPr>
              <a:t>2) Date Feature Extraction: Created new columns by splitting quote_date into day, month, and year for better time-based analysis</a:t>
            </a:r>
            <a:br>
              <a:rPr lang="en" sz="2800">
                <a:solidFill>
                  <a:schemeClr val="lt1"/>
                </a:solidFill>
              </a:rPr>
            </a:br>
            <a:br>
              <a:rPr lang="en" sz="2800">
                <a:solidFill>
                  <a:schemeClr val="lt1"/>
                </a:solidFill>
              </a:rPr>
            </a:br>
            <a:endParaRPr sz="2800">
              <a:solidFill>
                <a:schemeClr val="lt1"/>
              </a:solidFill>
            </a:endParaRPr>
          </a:p>
        </p:txBody>
      </p:sp>
      <p:sp>
        <p:nvSpPr>
          <p:cNvPr id="1119" name="Google Shape;1119;p39"/>
          <p:cNvSpPr txBox="1"/>
          <p:nvPr/>
        </p:nvSpPr>
        <p:spPr>
          <a:xfrm>
            <a:off x="7492999" y="2892753"/>
            <a:ext cx="4553858" cy="147732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Captures seasonal &amp; monthly patterns</a:t>
            </a:r>
            <a:endParaRPr/>
          </a:p>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Improves machine learning model performance</a:t>
            </a:r>
            <a:endParaRPr/>
          </a:p>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Better feature interaction</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120" name="Google Shape;1120;p3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121" name="Google Shape;1121;p39"/>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40"/>
          <p:cNvSpPr txBox="1"/>
          <p:nvPr>
            <p:ph type="title"/>
          </p:nvPr>
        </p:nvSpPr>
        <p:spPr>
          <a:xfrm>
            <a:off x="0" y="0"/>
            <a:ext cx="12192000" cy="1478189"/>
          </a:xfrm>
          <a:prstGeom prst="rect">
            <a:avLst/>
          </a:prstGeom>
          <a:solidFill>
            <a:schemeClr val="dk2"/>
          </a:solid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Play"/>
              <a:buNone/>
            </a:pPr>
            <a:br>
              <a:rPr lang="en" sz="2800">
                <a:solidFill>
                  <a:schemeClr val="lt1"/>
                </a:solidFill>
              </a:rPr>
            </a:br>
            <a:br>
              <a:rPr lang="en" sz="2800">
                <a:solidFill>
                  <a:schemeClr val="lt1"/>
                </a:solidFill>
              </a:rPr>
            </a:br>
            <a:br>
              <a:rPr lang="en" sz="2800">
                <a:solidFill>
                  <a:schemeClr val="lt1"/>
                </a:solidFill>
              </a:rPr>
            </a:br>
            <a:r>
              <a:rPr lang="en" sz="2800">
                <a:solidFill>
                  <a:schemeClr val="lt1"/>
                </a:solidFill>
              </a:rPr>
              <a:t>3) Categorical Encoding: Converted categorical/text variables into numerical format to make them suitable for machine learning models</a:t>
            </a:r>
            <a:br>
              <a:rPr lang="en" sz="2800">
                <a:solidFill>
                  <a:schemeClr val="lt1"/>
                </a:solidFill>
              </a:rPr>
            </a:br>
            <a:br>
              <a:rPr lang="en" sz="2800">
                <a:solidFill>
                  <a:schemeClr val="lt1"/>
                </a:solidFill>
              </a:rPr>
            </a:br>
            <a:br>
              <a:rPr lang="en" sz="2800">
                <a:solidFill>
                  <a:schemeClr val="lt1"/>
                </a:solidFill>
              </a:rPr>
            </a:br>
            <a:endParaRPr sz="2800">
              <a:solidFill>
                <a:schemeClr val="lt1"/>
              </a:solidFill>
            </a:endParaRPr>
          </a:p>
        </p:txBody>
      </p:sp>
      <p:pic>
        <p:nvPicPr>
          <p:cNvPr id="1127" name="Google Shape;1127;p40"/>
          <p:cNvPicPr preferRelativeResize="0"/>
          <p:nvPr/>
        </p:nvPicPr>
        <p:blipFill rotWithShape="1">
          <a:blip r:embed="rId3">
            <a:alphaModFix/>
          </a:blip>
          <a:srcRect b="0" l="0" r="0" t="0"/>
          <a:stretch/>
        </p:blipFill>
        <p:spPr>
          <a:xfrm>
            <a:off x="673630" y="2357288"/>
            <a:ext cx="981212" cy="2457793"/>
          </a:xfrm>
          <a:prstGeom prst="rect">
            <a:avLst/>
          </a:prstGeom>
          <a:noFill/>
          <a:ln>
            <a:noFill/>
          </a:ln>
        </p:spPr>
      </p:pic>
      <p:pic>
        <p:nvPicPr>
          <p:cNvPr id="1128" name="Google Shape;1128;p40"/>
          <p:cNvPicPr preferRelativeResize="0"/>
          <p:nvPr/>
        </p:nvPicPr>
        <p:blipFill rotWithShape="1">
          <a:blip r:embed="rId4">
            <a:alphaModFix/>
          </a:blip>
          <a:srcRect b="0" l="0" r="0" t="0"/>
          <a:stretch/>
        </p:blipFill>
        <p:spPr>
          <a:xfrm>
            <a:off x="1881969" y="1652204"/>
            <a:ext cx="2667372" cy="4363059"/>
          </a:xfrm>
          <a:prstGeom prst="rect">
            <a:avLst/>
          </a:prstGeom>
          <a:noFill/>
          <a:ln>
            <a:noFill/>
          </a:ln>
        </p:spPr>
      </p:pic>
      <p:pic>
        <p:nvPicPr>
          <p:cNvPr id="1129" name="Google Shape;1129;p40"/>
          <p:cNvPicPr preferRelativeResize="0"/>
          <p:nvPr/>
        </p:nvPicPr>
        <p:blipFill rotWithShape="1">
          <a:blip r:embed="rId5">
            <a:alphaModFix/>
          </a:blip>
          <a:srcRect b="0" l="0" r="0" t="0"/>
          <a:stretch/>
        </p:blipFill>
        <p:spPr>
          <a:xfrm>
            <a:off x="6280396" y="2042919"/>
            <a:ext cx="1362265" cy="2772162"/>
          </a:xfrm>
          <a:prstGeom prst="rect">
            <a:avLst/>
          </a:prstGeom>
          <a:noFill/>
          <a:ln>
            <a:noFill/>
          </a:ln>
        </p:spPr>
      </p:pic>
      <p:pic>
        <p:nvPicPr>
          <p:cNvPr id="1130" name="Google Shape;1130;p40"/>
          <p:cNvPicPr preferRelativeResize="0"/>
          <p:nvPr/>
        </p:nvPicPr>
        <p:blipFill rotWithShape="1">
          <a:blip r:embed="rId6">
            <a:alphaModFix/>
          </a:blip>
          <a:srcRect b="0" l="0" r="0" t="0"/>
          <a:stretch/>
        </p:blipFill>
        <p:spPr>
          <a:xfrm>
            <a:off x="7884334" y="2284380"/>
            <a:ext cx="4106543" cy="2289239"/>
          </a:xfrm>
          <a:prstGeom prst="rect">
            <a:avLst/>
          </a:prstGeom>
          <a:noFill/>
          <a:ln>
            <a:noFill/>
          </a:ln>
        </p:spPr>
      </p:pic>
      <p:sp>
        <p:nvSpPr>
          <p:cNvPr id="1131" name="Google Shape;1131;p40"/>
          <p:cNvSpPr/>
          <p:nvPr/>
        </p:nvSpPr>
        <p:spPr>
          <a:xfrm>
            <a:off x="4841823" y="3177915"/>
            <a:ext cx="978408" cy="484632"/>
          </a:xfrm>
          <a:prstGeom prst="rightArrow">
            <a:avLst>
              <a:gd fmla="val 50000" name="adj1"/>
              <a:gd fmla="val 50000" name="adj2"/>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32" name="Google Shape;1132;p4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133" name="Google Shape;1133;p40"/>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41"/>
          <p:cNvSpPr txBox="1"/>
          <p:nvPr>
            <p:ph type="title"/>
          </p:nvPr>
        </p:nvSpPr>
        <p:spPr>
          <a:xfrm>
            <a:off x="0" y="0"/>
            <a:ext cx="12192000" cy="2263515"/>
          </a:xfrm>
          <a:prstGeom prst="rect">
            <a:avLst/>
          </a:prstGeom>
          <a:solidFill>
            <a:schemeClr val="dk2"/>
          </a:solid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Play"/>
              <a:buNone/>
            </a:pPr>
            <a:br>
              <a:rPr lang="en" sz="2800">
                <a:solidFill>
                  <a:schemeClr val="lt1"/>
                </a:solidFill>
              </a:rPr>
            </a:br>
            <a:br>
              <a:rPr lang="en" sz="2800">
                <a:solidFill>
                  <a:schemeClr val="lt1"/>
                </a:solidFill>
              </a:rPr>
            </a:br>
            <a:br>
              <a:rPr lang="en" sz="2800">
                <a:solidFill>
                  <a:schemeClr val="lt1"/>
                </a:solidFill>
              </a:rPr>
            </a:br>
            <a:r>
              <a:rPr lang="en" sz="2800">
                <a:solidFill>
                  <a:schemeClr val="lt1"/>
                </a:solidFill>
              </a:rPr>
              <a:t>4) End Forming Features: Used lookup table (tube_end_form) to extract forming information from end_a and end_x columns. Created new relevant forming features and removed missing values.</a:t>
            </a:r>
            <a:br>
              <a:rPr lang="en" sz="2800">
                <a:solidFill>
                  <a:schemeClr val="lt1"/>
                </a:solidFill>
              </a:rPr>
            </a:br>
            <a:br>
              <a:rPr lang="en" sz="2800">
                <a:solidFill>
                  <a:schemeClr val="lt1"/>
                </a:solidFill>
              </a:rPr>
            </a:br>
            <a:br>
              <a:rPr lang="en" sz="2800">
                <a:solidFill>
                  <a:schemeClr val="lt1"/>
                </a:solidFill>
              </a:rPr>
            </a:br>
            <a:br>
              <a:rPr lang="en" sz="2800">
                <a:solidFill>
                  <a:schemeClr val="lt1"/>
                </a:solidFill>
              </a:rPr>
            </a:br>
            <a:br>
              <a:rPr lang="en" sz="2800">
                <a:solidFill>
                  <a:schemeClr val="lt1"/>
                </a:solidFill>
              </a:rPr>
            </a:br>
            <a:endParaRPr sz="2800">
              <a:solidFill>
                <a:schemeClr val="lt1"/>
              </a:solidFill>
            </a:endParaRPr>
          </a:p>
        </p:txBody>
      </p:sp>
      <p:pic>
        <p:nvPicPr>
          <p:cNvPr id="1139" name="Google Shape;1139;p41"/>
          <p:cNvPicPr preferRelativeResize="0"/>
          <p:nvPr/>
        </p:nvPicPr>
        <p:blipFill rotWithShape="1">
          <a:blip r:embed="rId3">
            <a:alphaModFix/>
          </a:blip>
          <a:srcRect b="0" l="0" r="0" t="0"/>
          <a:stretch/>
        </p:blipFill>
        <p:spPr>
          <a:xfrm>
            <a:off x="3830441" y="2965594"/>
            <a:ext cx="1686160" cy="2248214"/>
          </a:xfrm>
          <a:prstGeom prst="rect">
            <a:avLst/>
          </a:prstGeom>
          <a:noFill/>
          <a:ln>
            <a:noFill/>
          </a:ln>
        </p:spPr>
      </p:pic>
      <p:pic>
        <p:nvPicPr>
          <p:cNvPr id="1140" name="Google Shape;1140;p41"/>
          <p:cNvPicPr preferRelativeResize="0"/>
          <p:nvPr/>
        </p:nvPicPr>
        <p:blipFill rotWithShape="1">
          <a:blip r:embed="rId4">
            <a:alphaModFix/>
          </a:blip>
          <a:srcRect b="0" l="0" r="0" t="0"/>
          <a:stretch/>
        </p:blipFill>
        <p:spPr>
          <a:xfrm>
            <a:off x="1387408" y="2808410"/>
            <a:ext cx="943107" cy="2562583"/>
          </a:xfrm>
          <a:prstGeom prst="rect">
            <a:avLst/>
          </a:prstGeom>
          <a:noFill/>
          <a:ln>
            <a:noFill/>
          </a:ln>
        </p:spPr>
      </p:pic>
      <p:sp>
        <p:nvSpPr>
          <p:cNvPr id="1141" name="Google Shape;1141;p41"/>
          <p:cNvSpPr/>
          <p:nvPr/>
        </p:nvSpPr>
        <p:spPr>
          <a:xfrm>
            <a:off x="2623278" y="3789686"/>
            <a:ext cx="914400" cy="914400"/>
          </a:xfrm>
          <a:prstGeom prst="plus">
            <a:avLst>
              <a:gd fmla="val 25000" name="adj"/>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42" name="Google Shape;1142;p41"/>
          <p:cNvSpPr/>
          <p:nvPr/>
        </p:nvSpPr>
        <p:spPr>
          <a:xfrm>
            <a:off x="6370820" y="3972393"/>
            <a:ext cx="978408" cy="484632"/>
          </a:xfrm>
          <a:prstGeom prst="rightArrow">
            <a:avLst>
              <a:gd fmla="val 50000" name="adj1"/>
              <a:gd fmla="val 50000" name="adj2"/>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43" name="Google Shape;1143;p41"/>
          <p:cNvPicPr preferRelativeResize="0"/>
          <p:nvPr/>
        </p:nvPicPr>
        <p:blipFill rotWithShape="1">
          <a:blip r:embed="rId5">
            <a:alphaModFix/>
          </a:blip>
          <a:srcRect b="0" l="0" r="0" t="0"/>
          <a:stretch/>
        </p:blipFill>
        <p:spPr>
          <a:xfrm>
            <a:off x="7683152" y="2555962"/>
            <a:ext cx="2372056" cy="3067478"/>
          </a:xfrm>
          <a:prstGeom prst="rect">
            <a:avLst/>
          </a:prstGeom>
          <a:noFill/>
          <a:ln>
            <a:noFill/>
          </a:ln>
        </p:spPr>
      </p:pic>
      <p:sp>
        <p:nvSpPr>
          <p:cNvPr id="1144" name="Google Shape;1144;p4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145" name="Google Shape;1145;p41"/>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42"/>
          <p:cNvSpPr txBox="1"/>
          <p:nvPr>
            <p:ph type="title"/>
          </p:nvPr>
        </p:nvSpPr>
        <p:spPr>
          <a:xfrm>
            <a:off x="0" y="0"/>
            <a:ext cx="12192000" cy="1478189"/>
          </a:xfrm>
          <a:prstGeom prst="rect">
            <a:avLst/>
          </a:prstGeom>
          <a:solidFill>
            <a:schemeClr val="dk2"/>
          </a:solid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Play"/>
              <a:buNone/>
            </a:pPr>
            <a:br>
              <a:rPr lang="en" sz="2800">
                <a:solidFill>
                  <a:schemeClr val="lt1"/>
                </a:solidFill>
              </a:rPr>
            </a:br>
            <a:br>
              <a:rPr lang="en" sz="2800">
                <a:solidFill>
                  <a:schemeClr val="lt1"/>
                </a:solidFill>
              </a:rPr>
            </a:br>
            <a:br>
              <a:rPr lang="en" sz="2800">
                <a:solidFill>
                  <a:schemeClr val="lt1"/>
                </a:solidFill>
              </a:rPr>
            </a:br>
            <a:r>
              <a:rPr lang="en" sz="2800">
                <a:solidFill>
                  <a:schemeClr val="lt1"/>
                </a:solidFill>
              </a:rPr>
              <a:t>5) Bill of Materials (BOM) Aggregation</a:t>
            </a:r>
            <a:br>
              <a:rPr lang="en" sz="2800">
                <a:solidFill>
                  <a:schemeClr val="lt1"/>
                </a:solidFill>
              </a:rPr>
            </a:br>
            <a:br>
              <a:rPr lang="en" sz="2800">
                <a:solidFill>
                  <a:schemeClr val="lt1"/>
                </a:solidFill>
              </a:rPr>
            </a:br>
            <a:br>
              <a:rPr lang="en" sz="2800">
                <a:solidFill>
                  <a:schemeClr val="lt1"/>
                </a:solidFill>
              </a:rPr>
            </a:br>
            <a:br>
              <a:rPr lang="en" sz="2800">
                <a:solidFill>
                  <a:schemeClr val="lt1"/>
                </a:solidFill>
              </a:rPr>
            </a:br>
            <a:endParaRPr sz="2800">
              <a:solidFill>
                <a:schemeClr val="lt1"/>
              </a:solidFill>
            </a:endParaRPr>
          </a:p>
        </p:txBody>
      </p:sp>
      <p:pic>
        <p:nvPicPr>
          <p:cNvPr id="1151" name="Google Shape;1151;p42"/>
          <p:cNvPicPr preferRelativeResize="0"/>
          <p:nvPr/>
        </p:nvPicPr>
        <p:blipFill rotWithShape="1">
          <a:blip r:embed="rId3">
            <a:alphaModFix/>
          </a:blip>
          <a:srcRect b="0" l="0" r="0" t="0"/>
          <a:stretch/>
        </p:blipFill>
        <p:spPr>
          <a:xfrm>
            <a:off x="659500" y="1578429"/>
            <a:ext cx="5051752" cy="4255617"/>
          </a:xfrm>
          <a:prstGeom prst="rect">
            <a:avLst/>
          </a:prstGeom>
          <a:noFill/>
          <a:ln>
            <a:noFill/>
          </a:ln>
        </p:spPr>
      </p:pic>
      <p:pic>
        <p:nvPicPr>
          <p:cNvPr id="1152" name="Google Shape;1152;p42"/>
          <p:cNvPicPr preferRelativeResize="0"/>
          <p:nvPr/>
        </p:nvPicPr>
        <p:blipFill rotWithShape="1">
          <a:blip r:embed="rId4">
            <a:alphaModFix/>
          </a:blip>
          <a:srcRect b="0" l="0" r="0" t="0"/>
          <a:stretch/>
        </p:blipFill>
        <p:spPr>
          <a:xfrm>
            <a:off x="6096000" y="2109251"/>
            <a:ext cx="3505689" cy="3724795"/>
          </a:xfrm>
          <a:prstGeom prst="rect">
            <a:avLst/>
          </a:prstGeom>
          <a:noFill/>
          <a:ln>
            <a:noFill/>
          </a:ln>
        </p:spPr>
      </p:pic>
      <p:sp>
        <p:nvSpPr>
          <p:cNvPr id="1153" name="Google Shape;1153;p4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154" name="Google Shape;1154;p42"/>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sp>
        <p:nvSpPr>
          <p:cNvPr id="1159" name="Google Shape;1159;p43"/>
          <p:cNvSpPr txBox="1"/>
          <p:nvPr>
            <p:ph type="title"/>
          </p:nvPr>
        </p:nvSpPr>
        <p:spPr>
          <a:xfrm>
            <a:off x="0" y="1"/>
            <a:ext cx="12192000" cy="92939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Play"/>
              <a:buNone/>
            </a:pPr>
            <a:br>
              <a:rPr lang="en" sz="2800">
                <a:solidFill>
                  <a:schemeClr val="lt1"/>
                </a:solidFill>
              </a:rPr>
            </a:br>
            <a:br>
              <a:rPr lang="en" sz="2800">
                <a:solidFill>
                  <a:schemeClr val="lt1"/>
                </a:solidFill>
              </a:rPr>
            </a:br>
            <a:br>
              <a:rPr lang="en" sz="2800">
                <a:solidFill>
                  <a:schemeClr val="lt1"/>
                </a:solidFill>
              </a:rPr>
            </a:br>
            <a:br>
              <a:rPr lang="en" sz="2800">
                <a:solidFill>
                  <a:schemeClr val="lt1"/>
                </a:solidFill>
              </a:rPr>
            </a:br>
            <a:r>
              <a:rPr lang="en" sz="2800">
                <a:solidFill>
                  <a:schemeClr val="lt1"/>
                </a:solidFill>
              </a:rPr>
              <a:t>6) Data Cleaning</a:t>
            </a:r>
            <a:br>
              <a:rPr lang="en" sz="2800">
                <a:solidFill>
                  <a:schemeClr val="lt1"/>
                </a:solidFill>
              </a:rPr>
            </a:br>
            <a:br>
              <a:rPr lang="en" sz="2800">
                <a:solidFill>
                  <a:schemeClr val="lt1"/>
                </a:solidFill>
              </a:rPr>
            </a:br>
            <a:br>
              <a:rPr lang="en" sz="2800">
                <a:solidFill>
                  <a:schemeClr val="lt1"/>
                </a:solidFill>
              </a:rPr>
            </a:br>
            <a:br>
              <a:rPr lang="en" sz="2800">
                <a:solidFill>
                  <a:schemeClr val="lt1"/>
                </a:solidFill>
              </a:rPr>
            </a:br>
            <a:endParaRPr sz="2800">
              <a:solidFill>
                <a:schemeClr val="lt1"/>
              </a:solidFill>
            </a:endParaRPr>
          </a:p>
        </p:txBody>
      </p:sp>
      <p:pic>
        <p:nvPicPr>
          <p:cNvPr id="1160" name="Google Shape;1160;p43"/>
          <p:cNvPicPr preferRelativeResize="0"/>
          <p:nvPr/>
        </p:nvPicPr>
        <p:blipFill rotWithShape="1">
          <a:blip r:embed="rId3">
            <a:alphaModFix/>
          </a:blip>
          <a:srcRect b="0" l="0" r="0" t="0"/>
          <a:stretch/>
        </p:blipFill>
        <p:spPr>
          <a:xfrm>
            <a:off x="742005" y="1136321"/>
            <a:ext cx="2343477" cy="4887007"/>
          </a:xfrm>
          <a:prstGeom prst="rect">
            <a:avLst/>
          </a:prstGeom>
          <a:noFill/>
          <a:ln>
            <a:noFill/>
          </a:ln>
        </p:spPr>
      </p:pic>
      <p:sp>
        <p:nvSpPr>
          <p:cNvPr id="1161" name="Google Shape;1161;p43"/>
          <p:cNvSpPr/>
          <p:nvPr/>
        </p:nvSpPr>
        <p:spPr>
          <a:xfrm>
            <a:off x="3035040" y="3220888"/>
            <a:ext cx="978408" cy="484632"/>
          </a:xfrm>
          <a:prstGeom prst="rightArrow">
            <a:avLst>
              <a:gd fmla="val 50000" name="adj1"/>
              <a:gd fmla="val 50000" name="adj2"/>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62" name="Google Shape;1162;p43"/>
          <p:cNvSpPr txBox="1"/>
          <p:nvPr/>
        </p:nvSpPr>
        <p:spPr>
          <a:xfrm>
            <a:off x="4186304" y="2586041"/>
            <a:ext cx="3282845" cy="1754326"/>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Replacing missing values in forming with 0 </a:t>
            </a:r>
            <a:endParaRPr/>
          </a:p>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Remove date as it is now extracted to new features</a:t>
            </a:r>
            <a:endParaRPr/>
          </a:p>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Material ID, not much useful information</a:t>
            </a:r>
            <a:endParaRPr sz="1800">
              <a:solidFill>
                <a:schemeClr val="dk1"/>
              </a:solidFill>
              <a:latin typeface="Arial"/>
              <a:ea typeface="Arial"/>
              <a:cs typeface="Arial"/>
              <a:sym typeface="Arial"/>
            </a:endParaRPr>
          </a:p>
        </p:txBody>
      </p:sp>
      <p:pic>
        <p:nvPicPr>
          <p:cNvPr id="1163" name="Google Shape;1163;p43"/>
          <p:cNvPicPr preferRelativeResize="0"/>
          <p:nvPr/>
        </p:nvPicPr>
        <p:blipFill rotWithShape="1">
          <a:blip r:embed="rId4">
            <a:alphaModFix/>
          </a:blip>
          <a:srcRect b="0" l="0" r="0" t="0"/>
          <a:stretch/>
        </p:blipFill>
        <p:spPr>
          <a:xfrm>
            <a:off x="7423168" y="1310859"/>
            <a:ext cx="3467584" cy="3820058"/>
          </a:xfrm>
          <a:prstGeom prst="rect">
            <a:avLst/>
          </a:prstGeom>
          <a:noFill/>
          <a:ln>
            <a:noFill/>
          </a:ln>
        </p:spPr>
      </p:pic>
      <p:sp>
        <p:nvSpPr>
          <p:cNvPr id="1164" name="Google Shape;1164;p4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165" name="Google Shape;1165;p43"/>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44"/>
          <p:cNvSpPr txBox="1"/>
          <p:nvPr>
            <p:ph type="title"/>
          </p:nvPr>
        </p:nvSpPr>
        <p:spPr>
          <a:xfrm>
            <a:off x="0" y="0"/>
            <a:ext cx="12192000" cy="1478189"/>
          </a:xfrm>
          <a:prstGeom prst="rect">
            <a:avLst/>
          </a:prstGeom>
          <a:solidFill>
            <a:schemeClr val="dk2"/>
          </a:solid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Play"/>
              <a:buNone/>
            </a:pPr>
            <a:br>
              <a:rPr lang="en" sz="2800">
                <a:solidFill>
                  <a:schemeClr val="lt1"/>
                </a:solidFill>
              </a:rPr>
            </a:br>
            <a:br>
              <a:rPr lang="en" sz="2800">
                <a:solidFill>
                  <a:schemeClr val="lt1"/>
                </a:solidFill>
              </a:rPr>
            </a:br>
            <a:br>
              <a:rPr lang="en" sz="2800">
                <a:solidFill>
                  <a:schemeClr val="lt1"/>
                </a:solidFill>
              </a:rPr>
            </a:br>
            <a:r>
              <a:rPr lang="en" sz="2800">
                <a:solidFill>
                  <a:schemeClr val="lt1"/>
                </a:solidFill>
              </a:rPr>
              <a:t>6) Bill of Materials (BOM) Aggregation with Component type to import weight feature for each component</a:t>
            </a:r>
            <a:br>
              <a:rPr lang="en" sz="2800">
                <a:solidFill>
                  <a:schemeClr val="lt1"/>
                </a:solidFill>
              </a:rPr>
            </a:br>
            <a:br>
              <a:rPr lang="en" sz="2800">
                <a:solidFill>
                  <a:schemeClr val="lt1"/>
                </a:solidFill>
              </a:rPr>
            </a:br>
            <a:br>
              <a:rPr lang="en" sz="2800">
                <a:solidFill>
                  <a:schemeClr val="lt1"/>
                </a:solidFill>
              </a:rPr>
            </a:br>
            <a:br>
              <a:rPr lang="en" sz="2800">
                <a:solidFill>
                  <a:schemeClr val="lt1"/>
                </a:solidFill>
              </a:rPr>
            </a:br>
            <a:endParaRPr sz="2800">
              <a:solidFill>
                <a:schemeClr val="lt1"/>
              </a:solidFill>
            </a:endParaRPr>
          </a:p>
        </p:txBody>
      </p:sp>
      <p:sp>
        <p:nvSpPr>
          <p:cNvPr id="1171" name="Google Shape;1171;p44"/>
          <p:cNvSpPr txBox="1"/>
          <p:nvPr/>
        </p:nvSpPr>
        <p:spPr>
          <a:xfrm>
            <a:off x="328942" y="1843950"/>
            <a:ext cx="5457261" cy="34778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rgbClr val="0C0C0C"/>
              </a:buClr>
              <a:buSzPts val="2000"/>
              <a:buFont typeface="Arial"/>
              <a:buNone/>
            </a:pPr>
            <a:r>
              <a:rPr b="0" i="0" lang="en" sz="2000">
                <a:solidFill>
                  <a:srgbClr val="0C0C0C"/>
                </a:solidFill>
                <a:latin typeface="Arial"/>
                <a:ea typeface="Arial"/>
                <a:cs typeface="Arial"/>
                <a:sym typeface="Arial"/>
              </a:rPr>
              <a:t>There are a total of 11 comp_[name] files, which contains the details for each component including weight.</a:t>
            </a:r>
            <a:endParaRPr/>
          </a:p>
          <a:p>
            <a:pPr indent="0" lvl="0" marL="0" marR="0" rtl="0" algn="just">
              <a:spcBef>
                <a:spcPts val="0"/>
              </a:spcBef>
              <a:spcAft>
                <a:spcPts val="0"/>
              </a:spcAft>
              <a:buClr>
                <a:srgbClr val="0C0C0C"/>
              </a:buClr>
              <a:buSzPts val="2000"/>
              <a:buFont typeface="Arial"/>
              <a:buNone/>
            </a:pPr>
            <a:r>
              <a:rPr b="0" i="0" lang="en" sz="2000">
                <a:solidFill>
                  <a:srgbClr val="0C0C0C"/>
                </a:solidFill>
                <a:latin typeface="Arial"/>
                <a:ea typeface="Arial"/>
                <a:cs typeface="Arial"/>
                <a:sym typeface="Arial"/>
              </a:rPr>
              <a:t>In general, the heavier a tube is, the more expensive it can be. In addition, the more quantity required, the more expensive a tube can be.</a:t>
            </a:r>
            <a:endParaRPr/>
          </a:p>
          <a:p>
            <a:pPr indent="0" lvl="0" marL="0" marR="0" rtl="0" algn="just">
              <a:spcBef>
                <a:spcPts val="0"/>
              </a:spcBef>
              <a:spcAft>
                <a:spcPts val="0"/>
              </a:spcAft>
              <a:buClr>
                <a:srgbClr val="0C0C0C"/>
              </a:buClr>
              <a:buSzPts val="2000"/>
              <a:buFont typeface="Arial"/>
              <a:buNone/>
            </a:pPr>
            <a:r>
              <a:rPr b="0" i="0" lang="en" sz="2000">
                <a:solidFill>
                  <a:srgbClr val="0C0C0C"/>
                </a:solidFill>
                <a:latin typeface="Arial"/>
                <a:ea typeface="Arial"/>
                <a:cs typeface="Arial"/>
                <a:sym typeface="Arial"/>
              </a:rPr>
              <a:t>Thus, we'll try to extract the total quantity and total weight features for each tube.</a:t>
            </a:r>
            <a:endParaRPr/>
          </a:p>
          <a:p>
            <a:pPr indent="0" lvl="0" marL="0" marR="0" rtl="0" algn="just">
              <a:spcBef>
                <a:spcPts val="0"/>
              </a:spcBef>
              <a:spcAft>
                <a:spcPts val="0"/>
              </a:spcAft>
              <a:buClr>
                <a:schemeClr val="dk1"/>
              </a:buClr>
              <a:buSzPts val="2000"/>
              <a:buFont typeface="Times New Roman"/>
              <a:buNone/>
            </a:pPr>
            <a:br>
              <a:rPr lang="en" sz="2000">
                <a:solidFill>
                  <a:schemeClr val="dk1"/>
                </a:solidFill>
                <a:latin typeface="Times New Roman"/>
                <a:ea typeface="Times New Roman"/>
                <a:cs typeface="Times New Roman"/>
                <a:sym typeface="Times New Roman"/>
              </a:rPr>
            </a:br>
            <a:endParaRPr sz="2000">
              <a:solidFill>
                <a:schemeClr val="dk1"/>
              </a:solidFill>
              <a:latin typeface="Times New Roman"/>
              <a:ea typeface="Times New Roman"/>
              <a:cs typeface="Times New Roman"/>
              <a:sym typeface="Times New Roman"/>
            </a:endParaRPr>
          </a:p>
        </p:txBody>
      </p:sp>
      <p:pic>
        <p:nvPicPr>
          <p:cNvPr id="1172" name="Google Shape;1172;p44"/>
          <p:cNvPicPr preferRelativeResize="0"/>
          <p:nvPr/>
        </p:nvPicPr>
        <p:blipFill rotWithShape="1">
          <a:blip r:embed="rId3">
            <a:alphaModFix/>
          </a:blip>
          <a:srcRect b="0" l="0" r="0" t="0"/>
          <a:stretch/>
        </p:blipFill>
        <p:spPr>
          <a:xfrm>
            <a:off x="6235700" y="1995571"/>
            <a:ext cx="1876687" cy="3286584"/>
          </a:xfrm>
          <a:prstGeom prst="rect">
            <a:avLst/>
          </a:prstGeom>
          <a:noFill/>
          <a:ln>
            <a:noFill/>
          </a:ln>
        </p:spPr>
      </p:pic>
      <p:sp>
        <p:nvSpPr>
          <p:cNvPr id="1173" name="Google Shape;1173;p4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174" name="Google Shape;1174;p44"/>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45"/>
          <p:cNvSpPr txBox="1"/>
          <p:nvPr>
            <p:ph type="title"/>
          </p:nvPr>
        </p:nvSpPr>
        <p:spPr>
          <a:xfrm>
            <a:off x="0" y="0"/>
            <a:ext cx="12192000" cy="1478189"/>
          </a:xfrm>
          <a:prstGeom prst="rect">
            <a:avLst/>
          </a:prstGeom>
          <a:solidFill>
            <a:schemeClr val="dk2"/>
          </a:solid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Play"/>
              <a:buNone/>
            </a:pPr>
            <a:br>
              <a:rPr lang="en" sz="2800">
                <a:solidFill>
                  <a:schemeClr val="lt1"/>
                </a:solidFill>
              </a:rPr>
            </a:br>
            <a:br>
              <a:rPr lang="en" sz="2800">
                <a:solidFill>
                  <a:schemeClr val="lt1"/>
                </a:solidFill>
              </a:rPr>
            </a:br>
            <a:br>
              <a:rPr lang="en" sz="2800">
                <a:solidFill>
                  <a:schemeClr val="lt1"/>
                </a:solidFill>
              </a:rPr>
            </a:br>
            <a:r>
              <a:rPr lang="en" sz="2800">
                <a:solidFill>
                  <a:schemeClr val="lt1"/>
                </a:solidFill>
              </a:rPr>
              <a:t>6) Bill of Materials (BOM) Aggregation with Component type to import weight feature for each component</a:t>
            </a:r>
            <a:br>
              <a:rPr lang="en" sz="2800">
                <a:solidFill>
                  <a:schemeClr val="lt1"/>
                </a:solidFill>
              </a:rPr>
            </a:br>
            <a:br>
              <a:rPr lang="en" sz="2800">
                <a:solidFill>
                  <a:schemeClr val="lt1"/>
                </a:solidFill>
              </a:rPr>
            </a:br>
            <a:br>
              <a:rPr lang="en" sz="2800">
                <a:solidFill>
                  <a:schemeClr val="lt1"/>
                </a:solidFill>
              </a:rPr>
            </a:br>
            <a:br>
              <a:rPr lang="en" sz="2800">
                <a:solidFill>
                  <a:schemeClr val="lt1"/>
                </a:solidFill>
              </a:rPr>
            </a:br>
            <a:endParaRPr sz="2800">
              <a:solidFill>
                <a:schemeClr val="lt1"/>
              </a:solidFill>
            </a:endParaRPr>
          </a:p>
        </p:txBody>
      </p:sp>
      <p:pic>
        <p:nvPicPr>
          <p:cNvPr id="1180" name="Google Shape;1180;p45"/>
          <p:cNvPicPr preferRelativeResize="0"/>
          <p:nvPr/>
        </p:nvPicPr>
        <p:blipFill rotWithShape="1">
          <a:blip r:embed="rId3">
            <a:alphaModFix/>
          </a:blip>
          <a:srcRect b="0" l="0" r="0" t="0"/>
          <a:stretch/>
        </p:blipFill>
        <p:spPr>
          <a:xfrm>
            <a:off x="201268" y="1834641"/>
            <a:ext cx="6782747" cy="2019582"/>
          </a:xfrm>
          <a:prstGeom prst="rect">
            <a:avLst/>
          </a:prstGeom>
          <a:noFill/>
          <a:ln>
            <a:noFill/>
          </a:ln>
        </p:spPr>
      </p:pic>
      <p:sp>
        <p:nvSpPr>
          <p:cNvPr id="1181" name="Google Shape;1181;p45"/>
          <p:cNvSpPr/>
          <p:nvPr/>
        </p:nvSpPr>
        <p:spPr>
          <a:xfrm>
            <a:off x="7317451" y="2328219"/>
            <a:ext cx="914400" cy="914400"/>
          </a:xfrm>
          <a:prstGeom prst="plus">
            <a:avLst>
              <a:gd fmla="val 25000" name="adj"/>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82" name="Google Shape;1182;p45"/>
          <p:cNvPicPr preferRelativeResize="0"/>
          <p:nvPr/>
        </p:nvPicPr>
        <p:blipFill rotWithShape="1">
          <a:blip r:embed="rId4">
            <a:alphaModFix/>
          </a:blip>
          <a:srcRect b="0" l="0" r="0" t="0"/>
          <a:stretch/>
        </p:blipFill>
        <p:spPr>
          <a:xfrm>
            <a:off x="10714223" y="1517513"/>
            <a:ext cx="1371791" cy="1333686"/>
          </a:xfrm>
          <a:prstGeom prst="rect">
            <a:avLst/>
          </a:prstGeom>
          <a:noFill/>
          <a:ln>
            <a:noFill/>
          </a:ln>
        </p:spPr>
      </p:pic>
      <p:pic>
        <p:nvPicPr>
          <p:cNvPr id="1183" name="Google Shape;1183;p45"/>
          <p:cNvPicPr preferRelativeResize="0"/>
          <p:nvPr/>
        </p:nvPicPr>
        <p:blipFill rotWithShape="1">
          <a:blip r:embed="rId5">
            <a:alphaModFix/>
          </a:blip>
          <a:srcRect b="0" l="0" r="0" t="0"/>
          <a:stretch/>
        </p:blipFill>
        <p:spPr>
          <a:xfrm>
            <a:off x="8446957" y="1660408"/>
            <a:ext cx="2267266" cy="1190791"/>
          </a:xfrm>
          <a:prstGeom prst="rect">
            <a:avLst/>
          </a:prstGeom>
          <a:noFill/>
          <a:ln>
            <a:noFill/>
          </a:ln>
        </p:spPr>
      </p:pic>
      <p:sp>
        <p:nvSpPr>
          <p:cNvPr id="1184" name="Google Shape;1184;p45"/>
          <p:cNvSpPr txBox="1"/>
          <p:nvPr/>
        </p:nvSpPr>
        <p:spPr>
          <a:xfrm>
            <a:off x="8231851" y="3105834"/>
            <a:ext cx="3758881"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Arial"/>
                <a:ea typeface="Arial"/>
                <a:cs typeface="Arial"/>
                <a:sym typeface="Arial"/>
              </a:rPr>
              <a:t>(this table is 3 col of com_boss) we have 10 other comp as listed in last slide</a:t>
            </a:r>
            <a:endParaRPr sz="1800">
              <a:solidFill>
                <a:schemeClr val="dk1"/>
              </a:solidFill>
              <a:latin typeface="Arial"/>
              <a:ea typeface="Arial"/>
              <a:cs typeface="Arial"/>
              <a:sym typeface="Arial"/>
            </a:endParaRPr>
          </a:p>
        </p:txBody>
      </p:sp>
      <p:sp>
        <p:nvSpPr>
          <p:cNvPr id="1185" name="Google Shape;1185;p45"/>
          <p:cNvSpPr/>
          <p:nvPr/>
        </p:nvSpPr>
        <p:spPr>
          <a:xfrm>
            <a:off x="87856" y="4507719"/>
            <a:ext cx="914400" cy="914400"/>
          </a:xfrm>
          <a:prstGeom prst="mathEqual">
            <a:avLst>
              <a:gd fmla="val 23520" name="adj1"/>
              <a:gd fmla="val 11760" name="adj2"/>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pic>
        <p:nvPicPr>
          <p:cNvPr id="1186" name="Google Shape;1186;p45"/>
          <p:cNvPicPr preferRelativeResize="0"/>
          <p:nvPr/>
        </p:nvPicPr>
        <p:blipFill rotWithShape="1">
          <a:blip r:embed="rId6">
            <a:alphaModFix/>
          </a:blip>
          <a:srcRect b="0" l="0" r="0" t="0"/>
          <a:stretch/>
        </p:blipFill>
        <p:spPr>
          <a:xfrm>
            <a:off x="1002238" y="4059918"/>
            <a:ext cx="4972744" cy="1810003"/>
          </a:xfrm>
          <a:prstGeom prst="rect">
            <a:avLst/>
          </a:prstGeom>
          <a:noFill/>
          <a:ln>
            <a:noFill/>
          </a:ln>
        </p:spPr>
      </p:pic>
      <p:sp>
        <p:nvSpPr>
          <p:cNvPr id="1187" name="Google Shape;1187;p4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pic>
        <p:nvPicPr>
          <p:cNvPr id="1188" name="Google Shape;1188;p45" title="Screenshot 2026-06-22 at 09.39.52.png"/>
          <p:cNvPicPr preferRelativeResize="0"/>
          <p:nvPr/>
        </p:nvPicPr>
        <p:blipFill>
          <a:blip r:embed="rId7">
            <a:alphaModFix/>
          </a:blip>
          <a:stretch>
            <a:fillRect/>
          </a:stretch>
        </p:blipFill>
        <p:spPr>
          <a:xfrm>
            <a:off x="6311725" y="4272728"/>
            <a:ext cx="5774301" cy="1654646"/>
          </a:xfrm>
          <a:prstGeom prst="rect">
            <a:avLst/>
          </a:prstGeom>
          <a:noFill/>
          <a:ln>
            <a:noFill/>
          </a:ln>
        </p:spPr>
      </p:pic>
      <p:sp>
        <p:nvSpPr>
          <p:cNvPr id="1189" name="Google Shape;1189;p45"/>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p46"/>
          <p:cNvSpPr txBox="1"/>
          <p:nvPr>
            <p:ph type="title"/>
          </p:nvPr>
        </p:nvSpPr>
        <p:spPr>
          <a:xfrm>
            <a:off x="0" y="0"/>
            <a:ext cx="12192000" cy="1478189"/>
          </a:xfrm>
          <a:prstGeom prst="rect">
            <a:avLst/>
          </a:prstGeom>
          <a:solidFill>
            <a:schemeClr val="dk2"/>
          </a:solid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600"/>
              <a:buFont typeface="Play"/>
              <a:buNone/>
            </a:pPr>
            <a:r>
              <a:rPr lang="en" sz="3600">
                <a:solidFill>
                  <a:schemeClr val="lt1"/>
                </a:solidFill>
              </a:rPr>
              <a:t>7) Determining total quantity and weight of tube from dataset bill of material</a:t>
            </a:r>
            <a:br>
              <a:rPr lang="en" sz="3600">
                <a:solidFill>
                  <a:schemeClr val="lt1"/>
                </a:solidFill>
              </a:rPr>
            </a:br>
            <a:endParaRPr sz="1100">
              <a:solidFill>
                <a:schemeClr val="lt1"/>
              </a:solidFill>
            </a:endParaRPr>
          </a:p>
        </p:txBody>
      </p:sp>
      <p:pic>
        <p:nvPicPr>
          <p:cNvPr id="1195" name="Google Shape;1195;p46"/>
          <p:cNvPicPr preferRelativeResize="0"/>
          <p:nvPr/>
        </p:nvPicPr>
        <p:blipFill rotWithShape="1">
          <a:blip r:embed="rId3">
            <a:alphaModFix/>
          </a:blip>
          <a:srcRect b="0" l="0" r="0" t="0"/>
          <a:stretch/>
        </p:blipFill>
        <p:spPr>
          <a:xfrm>
            <a:off x="498664" y="2688844"/>
            <a:ext cx="6865435" cy="2221499"/>
          </a:xfrm>
          <a:prstGeom prst="rect">
            <a:avLst/>
          </a:prstGeom>
          <a:noFill/>
          <a:ln>
            <a:noFill/>
          </a:ln>
        </p:spPr>
      </p:pic>
      <p:pic>
        <p:nvPicPr>
          <p:cNvPr id="1196" name="Google Shape;1196;p46"/>
          <p:cNvPicPr preferRelativeResize="0"/>
          <p:nvPr/>
        </p:nvPicPr>
        <p:blipFill rotWithShape="1">
          <a:blip r:embed="rId4">
            <a:alphaModFix/>
          </a:blip>
          <a:srcRect b="0" l="0" r="0" t="0"/>
          <a:stretch/>
        </p:blipFill>
        <p:spPr>
          <a:xfrm>
            <a:off x="8318607" y="1867913"/>
            <a:ext cx="2510585" cy="3317093"/>
          </a:xfrm>
          <a:prstGeom prst="rect">
            <a:avLst/>
          </a:prstGeom>
          <a:noFill/>
          <a:ln>
            <a:noFill/>
          </a:ln>
        </p:spPr>
      </p:pic>
      <p:sp>
        <p:nvSpPr>
          <p:cNvPr id="1197" name="Google Shape;1197;p4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198" name="Google Shape;1198;p46"/>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g3edf2b460e5_0_0"/>
          <p:cNvSpPr txBox="1"/>
          <p:nvPr>
            <p:ph type="title"/>
          </p:nvPr>
        </p:nvSpPr>
        <p:spPr>
          <a:xfrm>
            <a:off x="625875" y="187025"/>
            <a:ext cx="7720500" cy="900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a:t>Transforming</a:t>
            </a:r>
            <a:r>
              <a:rPr lang="en"/>
              <a:t> Cost</a:t>
            </a:r>
            <a:endParaRPr/>
          </a:p>
        </p:txBody>
      </p:sp>
      <p:sp>
        <p:nvSpPr>
          <p:cNvPr id="1205" name="Google Shape;1205;g3edf2b460e5_0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pic>
        <p:nvPicPr>
          <p:cNvPr id="1206" name="Google Shape;1206;g3edf2b460e5_0_0"/>
          <p:cNvPicPr preferRelativeResize="0"/>
          <p:nvPr/>
        </p:nvPicPr>
        <p:blipFill>
          <a:blip r:embed="rId3">
            <a:alphaModFix/>
          </a:blip>
          <a:stretch>
            <a:fillRect/>
          </a:stretch>
        </p:blipFill>
        <p:spPr>
          <a:xfrm>
            <a:off x="774050" y="1810038"/>
            <a:ext cx="8487075" cy="3583406"/>
          </a:xfrm>
          <a:prstGeom prst="rect">
            <a:avLst/>
          </a:prstGeom>
          <a:noFill/>
          <a:ln>
            <a:noFill/>
          </a:ln>
        </p:spPr>
      </p:pic>
      <p:sp>
        <p:nvSpPr>
          <p:cNvPr id="1207" name="Google Shape;1207;g3edf2b460e5_0_0"/>
          <p:cNvSpPr txBox="1"/>
          <p:nvPr/>
        </p:nvSpPr>
        <p:spPr>
          <a:xfrm>
            <a:off x="625881" y="5513550"/>
            <a:ext cx="9471600" cy="80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t>We applied a log transformation to the target cost variable to handle its right-skewed distribution.</a:t>
            </a:r>
            <a:endParaRPr/>
          </a:p>
          <a:p>
            <a:pPr indent="0" lvl="0" marL="0" rtl="0" algn="l">
              <a:lnSpc>
                <a:spcPct val="115000"/>
              </a:lnSpc>
              <a:spcBef>
                <a:spcPts val="1200"/>
              </a:spcBef>
              <a:spcAft>
                <a:spcPts val="1200"/>
              </a:spcAft>
              <a:buNone/>
            </a:pPr>
            <a:r>
              <a:rPr lang="en"/>
              <a:t>This improved model learning, reduced the influence of extreme values, and enhanced overall prediction accuracy.</a:t>
            </a:r>
            <a:endParaRPr/>
          </a:p>
        </p:txBody>
      </p:sp>
      <p:pic>
        <p:nvPicPr>
          <p:cNvPr id="1208" name="Google Shape;1208;g3edf2b460e5_0_0" title="Screenshot 2026-06-22 at 09.43.49.png"/>
          <p:cNvPicPr preferRelativeResize="0"/>
          <p:nvPr/>
        </p:nvPicPr>
        <p:blipFill>
          <a:blip r:embed="rId4">
            <a:alphaModFix/>
          </a:blip>
          <a:stretch>
            <a:fillRect/>
          </a:stretch>
        </p:blipFill>
        <p:spPr>
          <a:xfrm>
            <a:off x="8426725" y="0"/>
            <a:ext cx="3765275" cy="1689925"/>
          </a:xfrm>
          <a:prstGeom prst="rect">
            <a:avLst/>
          </a:prstGeom>
          <a:noFill/>
          <a:ln>
            <a:noFill/>
          </a:ln>
        </p:spPr>
      </p:pic>
      <p:sp>
        <p:nvSpPr>
          <p:cNvPr id="1209" name="Google Shape;1209;g3edf2b460e5_0_0"/>
          <p:cNvSpPr txBox="1"/>
          <p:nvPr/>
        </p:nvSpPr>
        <p:spPr>
          <a:xfrm>
            <a:off x="9261131" y="63850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47"/>
          <p:cNvSpPr txBox="1"/>
          <p:nvPr>
            <p:ph type="title"/>
          </p:nvPr>
        </p:nvSpPr>
        <p:spPr>
          <a:xfrm>
            <a:off x="0" y="0"/>
            <a:ext cx="12192000" cy="1478189"/>
          </a:xfrm>
          <a:prstGeom prst="rect">
            <a:avLst/>
          </a:prstGeom>
          <a:solidFill>
            <a:schemeClr val="dk2"/>
          </a:solid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600"/>
              <a:buFont typeface="Play"/>
              <a:buNone/>
            </a:pPr>
            <a:r>
              <a:rPr lang="en" sz="3600">
                <a:solidFill>
                  <a:schemeClr val="lt1"/>
                </a:solidFill>
              </a:rPr>
              <a:t> Final Clean, merged and dataset including added new columns/features</a:t>
            </a:r>
            <a:br>
              <a:rPr lang="en" sz="3600">
                <a:solidFill>
                  <a:schemeClr val="lt1"/>
                </a:solidFill>
              </a:rPr>
            </a:br>
            <a:endParaRPr sz="1100">
              <a:solidFill>
                <a:schemeClr val="lt1"/>
              </a:solidFill>
            </a:endParaRPr>
          </a:p>
        </p:txBody>
      </p:sp>
      <p:pic>
        <p:nvPicPr>
          <p:cNvPr id="1215" name="Google Shape;1215;p47"/>
          <p:cNvPicPr preferRelativeResize="0"/>
          <p:nvPr/>
        </p:nvPicPr>
        <p:blipFill rotWithShape="1">
          <a:blip r:embed="rId3">
            <a:alphaModFix/>
          </a:blip>
          <a:srcRect b="0" l="0" r="0" t="0"/>
          <a:stretch/>
        </p:blipFill>
        <p:spPr>
          <a:xfrm>
            <a:off x="506223" y="1754614"/>
            <a:ext cx="3648584" cy="3639058"/>
          </a:xfrm>
          <a:prstGeom prst="rect">
            <a:avLst/>
          </a:prstGeom>
          <a:noFill/>
          <a:ln>
            <a:noFill/>
          </a:ln>
        </p:spPr>
      </p:pic>
      <p:pic>
        <p:nvPicPr>
          <p:cNvPr id="1216" name="Google Shape;1216;p47"/>
          <p:cNvPicPr preferRelativeResize="0"/>
          <p:nvPr/>
        </p:nvPicPr>
        <p:blipFill rotWithShape="1">
          <a:blip r:embed="rId4">
            <a:alphaModFix/>
          </a:blip>
          <a:srcRect b="0" l="0" r="0" t="0"/>
          <a:stretch/>
        </p:blipFill>
        <p:spPr>
          <a:xfrm>
            <a:off x="4332089" y="1754614"/>
            <a:ext cx="3658111" cy="3639058"/>
          </a:xfrm>
          <a:prstGeom prst="rect">
            <a:avLst/>
          </a:prstGeom>
          <a:noFill/>
          <a:ln>
            <a:noFill/>
          </a:ln>
        </p:spPr>
      </p:pic>
      <p:sp>
        <p:nvSpPr>
          <p:cNvPr id="1217" name="Google Shape;1217;p4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pic>
        <p:nvPicPr>
          <p:cNvPr id="1218" name="Google Shape;1218;p47"/>
          <p:cNvPicPr preferRelativeResize="0"/>
          <p:nvPr/>
        </p:nvPicPr>
        <p:blipFill>
          <a:blip r:embed="rId5">
            <a:alphaModFix/>
          </a:blip>
          <a:stretch>
            <a:fillRect/>
          </a:stretch>
        </p:blipFill>
        <p:spPr>
          <a:xfrm>
            <a:off x="8167500" y="2602589"/>
            <a:ext cx="3552825" cy="1943100"/>
          </a:xfrm>
          <a:prstGeom prst="rect">
            <a:avLst/>
          </a:prstGeom>
          <a:noFill/>
          <a:ln>
            <a:noFill/>
          </a:ln>
        </p:spPr>
      </p:pic>
      <p:sp>
        <p:nvSpPr>
          <p:cNvPr id="1219" name="Google Shape;1219;p47"/>
          <p:cNvSpPr txBox="1"/>
          <p:nvPr/>
        </p:nvSpPr>
        <p:spPr>
          <a:xfrm>
            <a:off x="9264806" y="6190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23" name="Shape 1223"/>
        <p:cNvGrpSpPr/>
        <p:nvPr/>
      </p:nvGrpSpPr>
      <p:grpSpPr>
        <a:xfrm>
          <a:off x="0" y="0"/>
          <a:ext cx="0" cy="0"/>
          <a:chOff x="0" y="0"/>
          <a:chExt cx="0" cy="0"/>
        </a:xfrm>
      </p:grpSpPr>
      <p:sp>
        <p:nvSpPr>
          <p:cNvPr id="1224" name="Google Shape;1224;p4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25" name="Google Shape;1225;p48"/>
          <p:cNvSpPr/>
          <p:nvPr/>
        </p:nvSpPr>
        <p:spPr>
          <a:xfrm flipH="1" rot="10800000">
            <a:off x="2" y="0"/>
            <a:ext cx="12191998" cy="1575955"/>
          </a:xfrm>
          <a:prstGeom prst="rect">
            <a:avLst/>
          </a:prstGeom>
          <a:gradFill>
            <a:gsLst>
              <a:gs pos="0">
                <a:srgbClr val="000000">
                  <a:alpha val="96078"/>
                </a:srgbClr>
              </a:gs>
              <a:gs pos="100000">
                <a:srgbClr val="0F4861"/>
              </a:gs>
            </a:gsLst>
            <a:lin ang="6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26" name="Google Shape;1226;p48"/>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27" name="Google Shape;1227;p48"/>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28" name="Google Shape;1228;p48"/>
          <p:cNvSpPr txBox="1"/>
          <p:nvPr>
            <p:ph type="title"/>
          </p:nvPr>
        </p:nvSpPr>
        <p:spPr>
          <a:xfrm>
            <a:off x="5626263" y="207538"/>
            <a:ext cx="7063800" cy="1159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Play"/>
              <a:buNone/>
            </a:pPr>
            <a:r>
              <a:rPr lang="en" sz="4000">
                <a:solidFill>
                  <a:srgbClr val="FFFFFF"/>
                </a:solidFill>
              </a:rPr>
              <a:t>C</a:t>
            </a:r>
            <a:r>
              <a:rPr lang="en" sz="4000">
                <a:solidFill>
                  <a:srgbClr val="FFFFFF"/>
                </a:solidFill>
                <a:latin typeface="Play"/>
                <a:ea typeface="Play"/>
                <a:cs typeface="Play"/>
                <a:sym typeface="Play"/>
              </a:rPr>
              <a:t>orrelation matrix</a:t>
            </a:r>
            <a:endParaRPr/>
          </a:p>
        </p:txBody>
      </p:sp>
      <p:sp>
        <p:nvSpPr>
          <p:cNvPr id="1229" name="Google Shape;1229;p4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230" name="Google Shape;1230;p48"/>
          <p:cNvSpPr txBox="1"/>
          <p:nvPr/>
        </p:nvSpPr>
        <p:spPr>
          <a:xfrm>
            <a:off x="314466" y="6304250"/>
            <a:ext cx="211852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a:solidFill>
                  <a:schemeClr val="dk1"/>
                </a:solidFill>
              </a:rPr>
              <a:t>Group</a:t>
            </a:r>
            <a:endParaRPr sz="1400">
              <a:solidFill>
                <a:schemeClr val="dk1"/>
              </a:solidFill>
              <a:latin typeface="Arial"/>
              <a:ea typeface="Arial"/>
              <a:cs typeface="Arial"/>
              <a:sym typeface="Arial"/>
            </a:endParaRPr>
          </a:p>
        </p:txBody>
      </p:sp>
      <p:pic>
        <p:nvPicPr>
          <p:cNvPr id="1231" name="Google Shape;1231;p48" title="Screenshot 2026-06-14 at 6.59.07 PM.png"/>
          <p:cNvPicPr preferRelativeResize="0"/>
          <p:nvPr/>
        </p:nvPicPr>
        <p:blipFill>
          <a:blip r:embed="rId3">
            <a:alphaModFix/>
          </a:blip>
          <a:stretch>
            <a:fillRect/>
          </a:stretch>
        </p:blipFill>
        <p:spPr>
          <a:xfrm>
            <a:off x="0" y="0"/>
            <a:ext cx="5626275" cy="1693925"/>
          </a:xfrm>
          <a:prstGeom prst="rect">
            <a:avLst/>
          </a:prstGeom>
          <a:noFill/>
          <a:ln>
            <a:noFill/>
          </a:ln>
        </p:spPr>
      </p:pic>
      <p:pic>
        <p:nvPicPr>
          <p:cNvPr id="1232" name="Google Shape;1232;p48" title="download.png"/>
          <p:cNvPicPr preferRelativeResize="0"/>
          <p:nvPr/>
        </p:nvPicPr>
        <p:blipFill>
          <a:blip r:embed="rId4">
            <a:alphaModFix/>
          </a:blip>
          <a:stretch>
            <a:fillRect/>
          </a:stretch>
        </p:blipFill>
        <p:spPr>
          <a:xfrm>
            <a:off x="2927246" y="1693925"/>
            <a:ext cx="5511374" cy="49267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49"/>
          <p:cNvSpPr txBox="1"/>
          <p:nvPr>
            <p:ph idx="4294967295" type="title"/>
          </p:nvPr>
        </p:nvSpPr>
        <p:spPr>
          <a:xfrm>
            <a:off x="1684400" y="3013200"/>
            <a:ext cx="8823200" cy="8316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90000"/>
              </a:lnSpc>
              <a:spcBef>
                <a:spcPts val="0"/>
              </a:spcBef>
              <a:spcAft>
                <a:spcPts val="0"/>
              </a:spcAft>
              <a:buClr>
                <a:schemeClr val="dk1"/>
              </a:buClr>
              <a:buSzPct val="100000"/>
              <a:buFont typeface="Play"/>
              <a:buNone/>
            </a:pPr>
            <a:r>
              <a:rPr lang="en"/>
              <a:t>Machine Learning Algorithms (Overview)</a:t>
            </a:r>
            <a:endParaRPr/>
          </a:p>
        </p:txBody>
      </p:sp>
      <p:sp>
        <p:nvSpPr>
          <p:cNvPr id="1238" name="Google Shape;1238;p49"/>
          <p:cNvSpPr txBox="1"/>
          <p:nvPr>
            <p:ph idx="12" type="sldNum"/>
          </p:nvPr>
        </p:nvSpPr>
        <p:spPr>
          <a:xfrm>
            <a:off x="11296611" y="6217623"/>
            <a:ext cx="731600" cy="5248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50"/>
          <p:cNvSpPr txBox="1"/>
          <p:nvPr>
            <p:ph type="title"/>
          </p:nvPr>
        </p:nvSpPr>
        <p:spPr>
          <a:xfrm>
            <a:off x="430816" y="1079933"/>
            <a:ext cx="4942000" cy="3345200"/>
          </a:xfrm>
          <a:prstGeom prst="rect">
            <a:avLst/>
          </a:prstGeom>
          <a:noFill/>
          <a:ln>
            <a:noFill/>
          </a:ln>
        </p:spPr>
        <p:txBody>
          <a:bodyPr anchorCtr="0" anchor="t" bIns="121900" lIns="121900" spcFirstLastPara="1" rIns="121900" wrap="square" tIns="121900">
            <a:normAutofit/>
          </a:bodyPr>
          <a:lstStyle/>
          <a:p>
            <a:pPr indent="0" lvl="0" marL="0" rtl="0" algn="l">
              <a:lnSpc>
                <a:spcPct val="90000"/>
              </a:lnSpc>
              <a:spcBef>
                <a:spcPts val="0"/>
              </a:spcBef>
              <a:spcAft>
                <a:spcPts val="0"/>
              </a:spcAft>
              <a:buClr>
                <a:schemeClr val="lt1"/>
              </a:buClr>
              <a:buSzPts val="2800"/>
              <a:buFont typeface="Play"/>
              <a:buNone/>
            </a:pPr>
            <a:r>
              <a:rPr lang="en"/>
              <a:t>Linear Regression</a:t>
            </a:r>
            <a:endParaRPr/>
          </a:p>
          <a:p>
            <a:pPr indent="0" lvl="0" marL="1828754" rtl="0" algn="l">
              <a:lnSpc>
                <a:spcPct val="90000"/>
              </a:lnSpc>
              <a:spcBef>
                <a:spcPts val="0"/>
              </a:spcBef>
              <a:spcAft>
                <a:spcPts val="0"/>
              </a:spcAft>
              <a:buSzPts val="2800"/>
              <a:buFont typeface="Play"/>
              <a:buNone/>
            </a:pPr>
            <a:r>
              <a:rPr lang="en"/>
              <a:t> /</a:t>
            </a:r>
            <a:endParaRPr/>
          </a:p>
          <a:p>
            <a:pPr indent="0" lvl="0" marL="0" rtl="0" algn="l">
              <a:lnSpc>
                <a:spcPct val="90000"/>
              </a:lnSpc>
              <a:spcBef>
                <a:spcPts val="0"/>
              </a:spcBef>
              <a:spcAft>
                <a:spcPts val="0"/>
              </a:spcAft>
              <a:buClr>
                <a:schemeClr val="lt1"/>
              </a:buClr>
              <a:buSzPts val="2800"/>
              <a:buFont typeface="Play"/>
              <a:buNone/>
            </a:pPr>
            <a:r>
              <a:rPr lang="en"/>
              <a:t>KNN</a:t>
            </a:r>
            <a:endParaRPr/>
          </a:p>
        </p:txBody>
      </p:sp>
      <p:sp>
        <p:nvSpPr>
          <p:cNvPr id="1244" name="Google Shape;1244;p5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Roboto"/>
              <a:buNone/>
            </a:pPr>
            <a:fld id="{00000000-1234-1234-1234-123412341234}" type="slidenum">
              <a:rPr lang="en">
                <a:latin typeface="Roboto"/>
                <a:ea typeface="Roboto"/>
                <a:cs typeface="Roboto"/>
                <a:sym typeface="Roboto"/>
              </a:rPr>
              <a:t>‹#›</a:t>
            </a:fld>
            <a:endParaRPr>
              <a:latin typeface="Roboto"/>
              <a:ea typeface="Roboto"/>
              <a:cs typeface="Roboto"/>
              <a:sym typeface="Roboto"/>
            </a:endParaRPr>
          </a:p>
        </p:txBody>
      </p:sp>
      <p:sp>
        <p:nvSpPr>
          <p:cNvPr id="1245" name="Google Shape;1245;p50"/>
          <p:cNvSpPr txBox="1"/>
          <p:nvPr/>
        </p:nvSpPr>
        <p:spPr>
          <a:xfrm>
            <a:off x="6449033" y="1163967"/>
            <a:ext cx="5299200" cy="1153600"/>
          </a:xfrm>
          <a:prstGeom prst="rect">
            <a:avLst/>
          </a:prstGeom>
          <a:no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sz="1733">
                <a:solidFill>
                  <a:schemeClr val="dk2"/>
                </a:solidFill>
                <a:latin typeface="Roboto"/>
                <a:ea typeface="Roboto"/>
                <a:cs typeface="Roboto"/>
                <a:sym typeface="Roboto"/>
              </a:rPr>
              <a:t>    Used to predict price (continuous value)</a:t>
            </a:r>
            <a:endParaRPr sz="1733">
              <a:solidFill>
                <a:schemeClr val="dk2"/>
              </a:solidFill>
              <a:latin typeface="Roboto"/>
              <a:ea typeface="Roboto"/>
              <a:cs typeface="Roboto"/>
              <a:sym typeface="Roboto"/>
            </a:endParaRPr>
          </a:p>
          <a:p>
            <a:pPr indent="0" lvl="0" marL="0" marR="0" rtl="0" algn="l">
              <a:spcBef>
                <a:spcPts val="0"/>
              </a:spcBef>
              <a:spcAft>
                <a:spcPts val="0"/>
              </a:spcAft>
              <a:buNone/>
            </a:pPr>
            <a:r>
              <a:t/>
            </a:r>
            <a:endParaRPr sz="1733">
              <a:solidFill>
                <a:schemeClr val="dk2"/>
              </a:solidFill>
              <a:latin typeface="Roboto"/>
              <a:ea typeface="Roboto"/>
              <a:cs typeface="Roboto"/>
              <a:sym typeface="Roboto"/>
            </a:endParaRPr>
          </a:p>
          <a:p>
            <a:pPr indent="0" lvl="0" marL="0" marR="0" rtl="0" algn="l">
              <a:spcBef>
                <a:spcPts val="0"/>
              </a:spcBef>
              <a:spcAft>
                <a:spcPts val="0"/>
              </a:spcAft>
              <a:buNone/>
            </a:pPr>
            <a:r>
              <a:rPr lang="en" sz="1733">
                <a:solidFill>
                  <a:schemeClr val="dk2"/>
                </a:solidFill>
                <a:latin typeface="Roboto"/>
                <a:ea typeface="Roboto"/>
                <a:cs typeface="Roboto"/>
                <a:sym typeface="Roboto"/>
              </a:rPr>
              <a:t>         Finds relationship between features and cost</a:t>
            </a:r>
            <a:endParaRPr sz="1733">
              <a:solidFill>
                <a:schemeClr val="dk2"/>
              </a:solidFill>
              <a:latin typeface="Roboto"/>
              <a:ea typeface="Roboto"/>
              <a:cs typeface="Roboto"/>
              <a:sym typeface="Roboto"/>
            </a:endParaRPr>
          </a:p>
          <a:p>
            <a:pPr indent="0" lvl="0" marL="0" marR="0" rtl="0" algn="l">
              <a:spcBef>
                <a:spcPts val="0"/>
              </a:spcBef>
              <a:spcAft>
                <a:spcPts val="0"/>
              </a:spcAft>
              <a:buNone/>
            </a:pPr>
            <a:r>
              <a:t/>
            </a:r>
            <a:endParaRPr sz="1733">
              <a:solidFill>
                <a:schemeClr val="dk2"/>
              </a:solidFill>
              <a:latin typeface="Roboto"/>
              <a:ea typeface="Roboto"/>
              <a:cs typeface="Roboto"/>
              <a:sym typeface="Roboto"/>
            </a:endParaRPr>
          </a:p>
        </p:txBody>
      </p:sp>
      <p:sp>
        <p:nvSpPr>
          <p:cNvPr id="1246" name="Google Shape;1246;p50"/>
          <p:cNvSpPr txBox="1"/>
          <p:nvPr/>
        </p:nvSpPr>
        <p:spPr>
          <a:xfrm>
            <a:off x="6512033" y="4110600"/>
            <a:ext cx="5173200" cy="1709200"/>
          </a:xfrm>
          <a:prstGeom prst="rect">
            <a:avLst/>
          </a:prstGeom>
          <a:no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sz="1733">
                <a:solidFill>
                  <a:schemeClr val="dk2"/>
                </a:solidFill>
                <a:latin typeface="Roboto"/>
                <a:ea typeface="Roboto"/>
                <a:cs typeface="Roboto"/>
                <a:sym typeface="Roboto"/>
              </a:rPr>
              <a:t>      Splits data into multiple parts</a:t>
            </a:r>
            <a:endParaRPr sz="1733">
              <a:solidFill>
                <a:schemeClr val="dk2"/>
              </a:solidFill>
              <a:latin typeface="Roboto"/>
              <a:ea typeface="Roboto"/>
              <a:cs typeface="Roboto"/>
              <a:sym typeface="Roboto"/>
            </a:endParaRPr>
          </a:p>
          <a:p>
            <a:pPr indent="609585" lvl="0" marL="0" marR="0" rtl="0" algn="l">
              <a:spcBef>
                <a:spcPts val="0"/>
              </a:spcBef>
              <a:spcAft>
                <a:spcPts val="0"/>
              </a:spcAft>
              <a:buNone/>
            </a:pPr>
            <a:r>
              <a:t/>
            </a:r>
            <a:endParaRPr sz="1733">
              <a:solidFill>
                <a:schemeClr val="dk2"/>
              </a:solidFill>
              <a:latin typeface="Roboto"/>
              <a:ea typeface="Roboto"/>
              <a:cs typeface="Roboto"/>
              <a:sym typeface="Roboto"/>
            </a:endParaRPr>
          </a:p>
          <a:p>
            <a:pPr indent="609585" lvl="0" marL="0" marR="0" rtl="0" algn="l">
              <a:spcBef>
                <a:spcPts val="0"/>
              </a:spcBef>
              <a:spcAft>
                <a:spcPts val="0"/>
              </a:spcAft>
              <a:buNone/>
            </a:pPr>
            <a:r>
              <a:rPr lang="en" sz="1733">
                <a:solidFill>
                  <a:schemeClr val="dk2"/>
                </a:solidFill>
                <a:latin typeface="Roboto"/>
                <a:ea typeface="Roboto"/>
                <a:cs typeface="Roboto"/>
                <a:sym typeface="Roboto"/>
              </a:rPr>
              <a:t>Tests model several times</a:t>
            </a:r>
            <a:endParaRPr sz="1733">
              <a:solidFill>
                <a:schemeClr val="dk2"/>
              </a:solidFill>
              <a:latin typeface="Roboto"/>
              <a:ea typeface="Roboto"/>
              <a:cs typeface="Roboto"/>
              <a:sym typeface="Roboto"/>
            </a:endParaRPr>
          </a:p>
          <a:p>
            <a:pPr indent="609585" lvl="0" marL="0" marR="0" rtl="0" algn="l">
              <a:spcBef>
                <a:spcPts val="0"/>
              </a:spcBef>
              <a:spcAft>
                <a:spcPts val="0"/>
              </a:spcAft>
              <a:buNone/>
            </a:pPr>
            <a:r>
              <a:t/>
            </a:r>
            <a:endParaRPr sz="1733">
              <a:solidFill>
                <a:schemeClr val="dk2"/>
              </a:solidFill>
              <a:latin typeface="Roboto"/>
              <a:ea typeface="Roboto"/>
              <a:cs typeface="Roboto"/>
              <a:sym typeface="Roboto"/>
            </a:endParaRPr>
          </a:p>
          <a:p>
            <a:pPr indent="609585" lvl="0" marL="609585" marR="0" rtl="0" algn="l">
              <a:spcBef>
                <a:spcPts val="0"/>
              </a:spcBef>
              <a:spcAft>
                <a:spcPts val="0"/>
              </a:spcAft>
              <a:buNone/>
            </a:pPr>
            <a:r>
              <a:rPr lang="en" sz="1733">
                <a:solidFill>
                  <a:schemeClr val="dk2"/>
                </a:solidFill>
                <a:latin typeface="Roboto"/>
                <a:ea typeface="Roboto"/>
                <a:cs typeface="Roboto"/>
                <a:sym typeface="Roboto"/>
              </a:rPr>
              <a:t>Gives more reliable results</a:t>
            </a:r>
            <a:endParaRPr sz="1733">
              <a:solidFill>
                <a:schemeClr val="dk2"/>
              </a:solidFill>
              <a:latin typeface="Roboto"/>
              <a:ea typeface="Roboto"/>
              <a:cs typeface="Roboto"/>
              <a:sym typeface="Roboto"/>
            </a:endParaRPr>
          </a:p>
          <a:p>
            <a:pPr indent="0" lvl="0" marL="0" marR="0" rtl="0" algn="l">
              <a:spcBef>
                <a:spcPts val="0"/>
              </a:spcBef>
              <a:spcAft>
                <a:spcPts val="0"/>
              </a:spcAft>
              <a:buNone/>
            </a:pPr>
            <a:r>
              <a:t/>
            </a:r>
            <a:endParaRPr sz="1733">
              <a:solidFill>
                <a:schemeClr val="dk2"/>
              </a:solidFill>
              <a:latin typeface="Roboto"/>
              <a:ea typeface="Roboto"/>
              <a:cs typeface="Roboto"/>
              <a:sym typeface="Roboto"/>
            </a:endParaRPr>
          </a:p>
        </p:txBody>
      </p:sp>
      <p:sp>
        <p:nvSpPr>
          <p:cNvPr id="1247" name="Google Shape;1247;p50"/>
          <p:cNvSpPr/>
          <p:nvPr/>
        </p:nvSpPr>
        <p:spPr>
          <a:xfrm>
            <a:off x="6512033" y="4320333"/>
            <a:ext cx="440400" cy="1048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spcBef>
                <a:spcPts val="0"/>
              </a:spcBef>
              <a:spcAft>
                <a:spcPts val="0"/>
              </a:spcAft>
              <a:buNone/>
            </a:pPr>
            <a:r>
              <a:t/>
            </a:r>
            <a:endParaRPr sz="2400">
              <a:solidFill>
                <a:schemeClr val="lt1"/>
              </a:solidFill>
              <a:latin typeface="Roboto"/>
              <a:ea typeface="Roboto"/>
              <a:cs typeface="Roboto"/>
              <a:sym typeface="Roboto"/>
            </a:endParaRPr>
          </a:p>
        </p:txBody>
      </p:sp>
      <p:sp>
        <p:nvSpPr>
          <p:cNvPr id="1248" name="Google Shape;1248;p50"/>
          <p:cNvSpPr/>
          <p:nvPr/>
        </p:nvSpPr>
        <p:spPr>
          <a:xfrm>
            <a:off x="6830500" y="4849867"/>
            <a:ext cx="440400" cy="1048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spcBef>
                <a:spcPts val="0"/>
              </a:spcBef>
              <a:spcAft>
                <a:spcPts val="0"/>
              </a:spcAft>
              <a:buNone/>
            </a:pPr>
            <a:r>
              <a:t/>
            </a:r>
            <a:endParaRPr sz="2400">
              <a:solidFill>
                <a:schemeClr val="lt1"/>
              </a:solidFill>
              <a:latin typeface="Roboto"/>
              <a:ea typeface="Roboto"/>
              <a:cs typeface="Roboto"/>
              <a:sym typeface="Roboto"/>
            </a:endParaRPr>
          </a:p>
        </p:txBody>
      </p:sp>
      <p:sp>
        <p:nvSpPr>
          <p:cNvPr id="1249" name="Google Shape;1249;p50"/>
          <p:cNvSpPr/>
          <p:nvPr/>
        </p:nvSpPr>
        <p:spPr>
          <a:xfrm>
            <a:off x="7411233" y="5421400"/>
            <a:ext cx="440400" cy="604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spcBef>
                <a:spcPts val="0"/>
              </a:spcBef>
              <a:spcAft>
                <a:spcPts val="0"/>
              </a:spcAft>
              <a:buNone/>
            </a:pPr>
            <a:r>
              <a:t/>
            </a:r>
            <a:endParaRPr sz="2400">
              <a:solidFill>
                <a:schemeClr val="lt1"/>
              </a:solidFill>
              <a:latin typeface="Roboto"/>
              <a:ea typeface="Roboto"/>
              <a:cs typeface="Roboto"/>
              <a:sym typeface="Roboto"/>
            </a:endParaRPr>
          </a:p>
        </p:txBody>
      </p:sp>
      <p:sp>
        <p:nvSpPr>
          <p:cNvPr id="1250" name="Google Shape;1250;p50"/>
          <p:cNvSpPr/>
          <p:nvPr/>
        </p:nvSpPr>
        <p:spPr>
          <a:xfrm>
            <a:off x="6337633" y="1377667"/>
            <a:ext cx="440400" cy="1048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spcBef>
                <a:spcPts val="0"/>
              </a:spcBef>
              <a:spcAft>
                <a:spcPts val="0"/>
              </a:spcAft>
              <a:buNone/>
            </a:pPr>
            <a:r>
              <a:t/>
            </a:r>
            <a:endParaRPr sz="2400">
              <a:solidFill>
                <a:schemeClr val="lt1"/>
              </a:solidFill>
              <a:latin typeface="Roboto"/>
              <a:ea typeface="Roboto"/>
              <a:cs typeface="Roboto"/>
              <a:sym typeface="Roboto"/>
            </a:endParaRPr>
          </a:p>
        </p:txBody>
      </p:sp>
      <p:sp>
        <p:nvSpPr>
          <p:cNvPr id="1251" name="Google Shape;1251;p50"/>
          <p:cNvSpPr/>
          <p:nvPr/>
        </p:nvSpPr>
        <p:spPr>
          <a:xfrm>
            <a:off x="6574867" y="1905967"/>
            <a:ext cx="440400" cy="1048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spcBef>
                <a:spcPts val="0"/>
              </a:spcBef>
              <a:spcAft>
                <a:spcPts val="0"/>
              </a:spcAft>
              <a:buNone/>
            </a:pPr>
            <a:r>
              <a:t/>
            </a:r>
            <a:endParaRPr sz="2400">
              <a:solidFill>
                <a:schemeClr val="lt1"/>
              </a:solidFill>
              <a:latin typeface="Roboto"/>
              <a:ea typeface="Roboto"/>
              <a:cs typeface="Roboto"/>
              <a:sym typeface="Roboto"/>
            </a:endParaRPr>
          </a:p>
        </p:txBody>
      </p:sp>
      <p:cxnSp>
        <p:nvCxnSpPr>
          <p:cNvPr id="1252" name="Google Shape;1252;p50"/>
          <p:cNvCxnSpPr>
            <a:endCxn id="1248" idx="2"/>
          </p:cNvCxnSpPr>
          <p:nvPr/>
        </p:nvCxnSpPr>
        <p:spPr>
          <a:xfrm>
            <a:off x="4268100" y="2726267"/>
            <a:ext cx="2575500" cy="2228400"/>
          </a:xfrm>
          <a:prstGeom prst="curvedConnector4">
            <a:avLst>
              <a:gd fmla="val 49744" name="adj1"/>
              <a:gd fmla="val 114248" name="adj2"/>
            </a:avLst>
          </a:prstGeom>
          <a:noFill/>
          <a:ln cap="flat" cmpd="sng" w="9525">
            <a:solidFill>
              <a:schemeClr val="dk2"/>
            </a:solidFill>
            <a:prstDash val="solid"/>
            <a:round/>
            <a:headEnd len="sm" w="sm" type="none"/>
            <a:tailEnd len="sm" w="sm" type="none"/>
          </a:ln>
        </p:spPr>
      </p:cxnSp>
      <p:cxnSp>
        <p:nvCxnSpPr>
          <p:cNvPr id="1253" name="Google Shape;1253;p50"/>
          <p:cNvCxnSpPr>
            <a:endCxn id="1247" idx="2"/>
          </p:cNvCxnSpPr>
          <p:nvPr/>
        </p:nvCxnSpPr>
        <p:spPr>
          <a:xfrm>
            <a:off x="4257433" y="2758033"/>
            <a:ext cx="2267700" cy="1667100"/>
          </a:xfrm>
          <a:prstGeom prst="curvedConnector4">
            <a:avLst>
              <a:gd fmla="val 49713" name="adj1"/>
              <a:gd fmla="val 119045" name="adj2"/>
            </a:avLst>
          </a:prstGeom>
          <a:noFill/>
          <a:ln cap="flat" cmpd="sng" w="9525">
            <a:solidFill>
              <a:schemeClr val="dk2"/>
            </a:solidFill>
            <a:prstDash val="solid"/>
            <a:round/>
            <a:headEnd len="sm" w="sm" type="none"/>
            <a:tailEnd len="sm" w="sm" type="none"/>
          </a:ln>
        </p:spPr>
      </p:cxnSp>
      <p:cxnSp>
        <p:nvCxnSpPr>
          <p:cNvPr id="1254" name="Google Shape;1254;p50"/>
          <p:cNvCxnSpPr>
            <a:endCxn id="1249" idx="2"/>
          </p:cNvCxnSpPr>
          <p:nvPr/>
        </p:nvCxnSpPr>
        <p:spPr>
          <a:xfrm>
            <a:off x="4267883" y="2820500"/>
            <a:ext cx="3150900" cy="2661300"/>
          </a:xfrm>
          <a:prstGeom prst="curvedConnector4">
            <a:avLst>
              <a:gd fmla="val 49882" name="adj1"/>
              <a:gd fmla="val 111931" name="adj2"/>
            </a:avLst>
          </a:prstGeom>
          <a:noFill/>
          <a:ln cap="flat" cmpd="sng" w="9525">
            <a:solidFill>
              <a:schemeClr val="dk2"/>
            </a:solidFill>
            <a:prstDash val="solid"/>
            <a:round/>
            <a:headEnd len="sm" w="sm" type="none"/>
            <a:tailEnd len="sm" w="sm" type="none"/>
          </a:ln>
        </p:spPr>
      </p:cxnSp>
      <p:cxnSp>
        <p:nvCxnSpPr>
          <p:cNvPr id="1255" name="Google Shape;1255;p50"/>
          <p:cNvCxnSpPr>
            <a:endCxn id="1250" idx="2"/>
          </p:cNvCxnSpPr>
          <p:nvPr/>
        </p:nvCxnSpPr>
        <p:spPr>
          <a:xfrm flipH="1" rot="10800000">
            <a:off x="4645533" y="1482467"/>
            <a:ext cx="1705200" cy="58800"/>
          </a:xfrm>
          <a:prstGeom prst="curvedConnector2">
            <a:avLst/>
          </a:prstGeom>
          <a:noFill/>
          <a:ln cap="flat" cmpd="sng" w="9525">
            <a:solidFill>
              <a:schemeClr val="dk2"/>
            </a:solidFill>
            <a:prstDash val="solid"/>
            <a:round/>
            <a:headEnd len="sm" w="sm" type="none"/>
            <a:tailEnd len="sm" w="sm" type="none"/>
          </a:ln>
        </p:spPr>
      </p:cxnSp>
      <p:cxnSp>
        <p:nvCxnSpPr>
          <p:cNvPr id="1256" name="Google Shape;1256;p50"/>
          <p:cNvCxnSpPr>
            <a:endCxn id="1251" idx="2"/>
          </p:cNvCxnSpPr>
          <p:nvPr/>
        </p:nvCxnSpPr>
        <p:spPr>
          <a:xfrm>
            <a:off x="4645467" y="1614767"/>
            <a:ext cx="1942500" cy="396000"/>
          </a:xfrm>
          <a:prstGeom prst="curvedConnector4">
            <a:avLst>
              <a:gd fmla="val 49666" name="adj1"/>
              <a:gd fmla="val 180177" name="adj2"/>
            </a:avLst>
          </a:prstGeom>
          <a:noFill/>
          <a:ln cap="flat" cmpd="sng" w="9525">
            <a:solidFill>
              <a:schemeClr val="dk2"/>
            </a:solidFill>
            <a:prstDash val="solid"/>
            <a:round/>
            <a:headEnd len="sm" w="sm" type="none"/>
            <a:tailEnd len="sm" w="sm" type="none"/>
          </a:ln>
        </p:spPr>
      </p:cxnSp>
      <p:pic>
        <p:nvPicPr>
          <p:cNvPr id="1257" name="Google Shape;1257;p50"/>
          <p:cNvPicPr preferRelativeResize="0"/>
          <p:nvPr/>
        </p:nvPicPr>
        <p:blipFill rotWithShape="1">
          <a:blip r:embed="rId3">
            <a:alphaModFix/>
          </a:blip>
          <a:srcRect b="0" l="0" r="0" t="0"/>
          <a:stretch/>
        </p:blipFill>
        <p:spPr>
          <a:xfrm>
            <a:off x="8727467" y="2202601"/>
            <a:ext cx="2957759" cy="1949967"/>
          </a:xfrm>
          <a:prstGeom prst="rect">
            <a:avLst/>
          </a:prstGeom>
          <a:noFill/>
          <a:ln>
            <a:noFill/>
          </a:ln>
        </p:spPr>
      </p:pic>
      <p:sp>
        <p:nvSpPr>
          <p:cNvPr id="1258" name="Google Shape;1258;p50"/>
          <p:cNvSpPr txBox="1"/>
          <p:nvPr/>
        </p:nvSpPr>
        <p:spPr>
          <a:xfrm>
            <a:off x="2411833" y="5400400"/>
            <a:ext cx="3366000" cy="1206000"/>
          </a:xfrm>
          <a:prstGeom prst="rect">
            <a:avLst/>
          </a:prstGeom>
          <a:no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sz="2533" u="sng">
                <a:solidFill>
                  <a:schemeClr val="lt1"/>
                </a:solidFill>
                <a:latin typeface="Roboto"/>
                <a:ea typeface="Roboto"/>
                <a:cs typeface="Roboto"/>
                <a:sym typeface="Roboto"/>
              </a:rPr>
              <a:t>Why Used?</a:t>
            </a:r>
            <a:endParaRPr sz="2533" u="sng">
              <a:solidFill>
                <a:schemeClr val="lt1"/>
              </a:solidFill>
              <a:latin typeface="Roboto"/>
              <a:ea typeface="Roboto"/>
              <a:cs typeface="Roboto"/>
              <a:sym typeface="Roboto"/>
            </a:endParaRPr>
          </a:p>
          <a:p>
            <a:pPr indent="0" lvl="0" marL="0" marR="0" rtl="0" algn="l">
              <a:spcBef>
                <a:spcPts val="0"/>
              </a:spcBef>
              <a:spcAft>
                <a:spcPts val="0"/>
              </a:spcAft>
              <a:buNone/>
            </a:pPr>
            <a:r>
              <a:rPr lang="en" sz="1733">
                <a:solidFill>
                  <a:schemeClr val="lt1"/>
                </a:solidFill>
                <a:latin typeface="Roboto"/>
                <a:ea typeface="Roboto"/>
                <a:cs typeface="Roboto"/>
                <a:sym typeface="Roboto"/>
              </a:rPr>
              <a:t>Suitable for pricing prediction</a:t>
            </a:r>
            <a:endParaRPr sz="1733">
              <a:solidFill>
                <a:schemeClr val="lt1"/>
              </a:solidFill>
              <a:latin typeface="Roboto"/>
              <a:ea typeface="Roboto"/>
              <a:cs typeface="Roboto"/>
              <a:sym typeface="Roboto"/>
            </a:endParaRPr>
          </a:p>
          <a:p>
            <a:pPr indent="0" lvl="0" marL="0" marR="0" rtl="0" algn="l">
              <a:spcBef>
                <a:spcPts val="0"/>
              </a:spcBef>
              <a:spcAft>
                <a:spcPts val="0"/>
              </a:spcAft>
              <a:buNone/>
            </a:pPr>
            <a:r>
              <a:rPr lang="en" sz="1733">
                <a:solidFill>
                  <a:schemeClr val="lt1"/>
                </a:solidFill>
                <a:latin typeface="Roboto"/>
                <a:ea typeface="Roboto"/>
                <a:cs typeface="Roboto"/>
                <a:sym typeface="Roboto"/>
              </a:rPr>
              <a:t>Simple and easy to interpret</a:t>
            </a:r>
            <a:endParaRPr sz="1733">
              <a:solidFill>
                <a:schemeClr val="lt1"/>
              </a:solidFill>
              <a:latin typeface="Roboto"/>
              <a:ea typeface="Roboto"/>
              <a:cs typeface="Roboto"/>
              <a:sym typeface="Roboto"/>
            </a:endParaRPr>
          </a:p>
          <a:p>
            <a:pPr indent="0" lvl="0" marL="0" marR="0" rtl="0" algn="l">
              <a:spcBef>
                <a:spcPts val="0"/>
              </a:spcBef>
              <a:spcAft>
                <a:spcPts val="0"/>
              </a:spcAft>
              <a:buNone/>
            </a:pPr>
            <a:r>
              <a:t/>
            </a:r>
            <a:endParaRPr sz="1733">
              <a:solidFill>
                <a:schemeClr val="dk2"/>
              </a:solidFill>
              <a:latin typeface="Roboto"/>
              <a:ea typeface="Roboto"/>
              <a:cs typeface="Roboto"/>
              <a:sym typeface="Roboto"/>
            </a:endParaRPr>
          </a:p>
        </p:txBody>
      </p:sp>
      <p:sp>
        <p:nvSpPr>
          <p:cNvPr id="1259" name="Google Shape;1259;p50"/>
          <p:cNvSpPr txBox="1"/>
          <p:nvPr/>
        </p:nvSpPr>
        <p:spPr>
          <a:xfrm>
            <a:off x="9114546" y="6217623"/>
            <a:ext cx="2183600" cy="242400"/>
          </a:xfrm>
          <a:prstGeom prst="rect">
            <a:avLst/>
          </a:prstGeom>
          <a:noFill/>
          <a:ln>
            <a:noFill/>
          </a:ln>
        </p:spPr>
        <p:txBody>
          <a:bodyPr anchorCtr="0" anchor="t" bIns="121900" lIns="121900" spcFirstLastPara="1" rIns="121900" wrap="square" tIns="121900">
            <a:noAutofit/>
          </a:bodyPr>
          <a:lstStyle/>
          <a:p>
            <a:pPr indent="0" lvl="0" marL="0" marR="0" rtl="0" algn="l">
              <a:lnSpc>
                <a:spcPct val="70000"/>
              </a:lnSpc>
              <a:spcBef>
                <a:spcPts val="1333"/>
              </a:spcBef>
              <a:spcAft>
                <a:spcPts val="0"/>
              </a:spcAft>
              <a:buNone/>
            </a:pPr>
            <a:r>
              <a:rPr lang="en" sz="1400">
                <a:solidFill>
                  <a:schemeClr val="dk1"/>
                </a:solidFill>
                <a:latin typeface="Roboto"/>
                <a:ea typeface="Roboto"/>
                <a:cs typeface="Roboto"/>
                <a:sym typeface="Roboto"/>
              </a:rPr>
              <a:t>Chinelo Lydia Nweke</a:t>
            </a:r>
            <a:endParaRPr sz="1400">
              <a:solidFill>
                <a:schemeClr val="dk2"/>
              </a:solidFill>
              <a:latin typeface="Roboto"/>
              <a:ea typeface="Roboto"/>
              <a:cs typeface="Roboto"/>
              <a:sym typeface="Robot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51"/>
          <p:cNvSpPr txBox="1"/>
          <p:nvPr>
            <p:ph type="title"/>
          </p:nvPr>
        </p:nvSpPr>
        <p:spPr>
          <a:xfrm>
            <a:off x="415633" y="667900"/>
            <a:ext cx="4941900" cy="3345300"/>
          </a:xfrm>
          <a:prstGeom prst="rect">
            <a:avLst/>
          </a:prstGeom>
          <a:noFill/>
          <a:ln>
            <a:noFill/>
          </a:ln>
        </p:spPr>
        <p:txBody>
          <a:bodyPr anchorCtr="0" anchor="t" bIns="121900" lIns="121900" spcFirstLastPara="1" rIns="121900" wrap="square" tIns="121900">
            <a:normAutofit fontScale="90000"/>
          </a:bodyPr>
          <a:lstStyle/>
          <a:p>
            <a:pPr indent="-388620" lvl="0" marL="457200" rtl="0" algn="l">
              <a:lnSpc>
                <a:spcPct val="90000"/>
              </a:lnSpc>
              <a:spcBef>
                <a:spcPts val="0"/>
              </a:spcBef>
              <a:spcAft>
                <a:spcPts val="0"/>
              </a:spcAft>
              <a:buSzPct val="63636"/>
              <a:buChar char="-"/>
            </a:pPr>
            <a:r>
              <a:rPr lang="en"/>
              <a:t>Extreme Gradient Boosting (XGBoost)</a:t>
            </a:r>
            <a:endParaRPr/>
          </a:p>
          <a:p>
            <a:pPr indent="-388620" lvl="0" marL="457200" rtl="0" algn="l">
              <a:lnSpc>
                <a:spcPct val="90000"/>
              </a:lnSpc>
              <a:spcBef>
                <a:spcPts val="0"/>
              </a:spcBef>
              <a:spcAft>
                <a:spcPts val="0"/>
              </a:spcAft>
              <a:buSzPct val="63636"/>
              <a:buChar char="-"/>
            </a:pPr>
            <a:r>
              <a:rPr lang="en"/>
              <a:t>GradientBoostingRegressor</a:t>
            </a:r>
            <a:endParaRPr/>
          </a:p>
        </p:txBody>
      </p:sp>
      <p:sp>
        <p:nvSpPr>
          <p:cNvPr id="1265" name="Google Shape;1265;p51"/>
          <p:cNvSpPr txBox="1"/>
          <p:nvPr>
            <p:ph idx="1" type="body"/>
          </p:nvPr>
        </p:nvSpPr>
        <p:spPr>
          <a:xfrm>
            <a:off x="6192900" y="696600"/>
            <a:ext cx="5555200" cy="5464800"/>
          </a:xfrm>
          <a:prstGeom prst="rect">
            <a:avLst/>
          </a:prstGeom>
          <a:noFill/>
          <a:ln>
            <a:noFill/>
          </a:ln>
        </p:spPr>
        <p:txBody>
          <a:bodyPr anchorCtr="0" anchor="t" bIns="121900" lIns="121900" spcFirstLastPara="1" rIns="121900" wrap="square" tIns="121900">
            <a:normAutofit fontScale="85000" lnSpcReduction="10000"/>
          </a:bodyPr>
          <a:lstStyle/>
          <a:p>
            <a:pPr indent="0" lvl="0" marL="0" rtl="0" algn="l">
              <a:lnSpc>
                <a:spcPct val="90000"/>
              </a:lnSpc>
              <a:spcBef>
                <a:spcPts val="0"/>
              </a:spcBef>
              <a:spcAft>
                <a:spcPts val="0"/>
              </a:spcAft>
              <a:buClr>
                <a:schemeClr val="dk1"/>
              </a:buClr>
              <a:buSzPct val="54622"/>
              <a:buNone/>
            </a:pPr>
            <a:r>
              <a:rPr lang="en">
                <a:solidFill>
                  <a:schemeClr val="dk1"/>
                </a:solidFill>
              </a:rPr>
              <a:t>- XGBoost is a gradient boosting library that builds many decision trees sequentially to improve predictions.</a:t>
            </a:r>
            <a:endParaRPr>
              <a:solidFill>
                <a:schemeClr val="dk1"/>
              </a:solidFill>
            </a:endParaRPr>
          </a:p>
          <a:p>
            <a:pPr indent="0" lvl="0" marL="0" rtl="0" algn="l">
              <a:lnSpc>
                <a:spcPct val="90000"/>
              </a:lnSpc>
              <a:spcBef>
                <a:spcPts val="1600"/>
              </a:spcBef>
              <a:spcAft>
                <a:spcPts val="0"/>
              </a:spcAft>
              <a:buClr>
                <a:schemeClr val="dk1"/>
              </a:buClr>
              <a:buSzPct val="54622"/>
              <a:buNone/>
            </a:pPr>
            <a:r>
              <a:rPr lang="en">
                <a:solidFill>
                  <a:schemeClr val="dk1"/>
                </a:solidFill>
              </a:rPr>
              <a:t>- Plan: Use XGBoost to model the supplier quote price with strong predictive accuracy.</a:t>
            </a:r>
            <a:endParaRPr>
              <a:solidFill>
                <a:schemeClr val="dk1"/>
              </a:solidFill>
            </a:endParaRPr>
          </a:p>
          <a:p>
            <a:pPr indent="0" lvl="0" marL="0" rtl="0" algn="l">
              <a:lnSpc>
                <a:spcPct val="90000"/>
              </a:lnSpc>
              <a:spcBef>
                <a:spcPts val="1600"/>
              </a:spcBef>
              <a:spcAft>
                <a:spcPts val="0"/>
              </a:spcAft>
              <a:buClr>
                <a:schemeClr val="dk1"/>
              </a:buClr>
              <a:buSzPct val="54622"/>
              <a:buNone/>
            </a:pPr>
            <a:r>
              <a:rPr lang="en">
                <a:solidFill>
                  <a:schemeClr val="dk1"/>
                </a:solidFill>
              </a:rPr>
              <a:t>- Benefit from gradient boosted trees that handle nonlinear relationships and feature interactions.</a:t>
            </a:r>
            <a:endParaRPr>
              <a:solidFill>
                <a:schemeClr val="dk1"/>
              </a:solidFill>
            </a:endParaRPr>
          </a:p>
          <a:p>
            <a:pPr indent="0" lvl="0" marL="0" rtl="0" algn="l">
              <a:lnSpc>
                <a:spcPct val="90000"/>
              </a:lnSpc>
              <a:spcBef>
                <a:spcPts val="1600"/>
              </a:spcBef>
              <a:spcAft>
                <a:spcPts val="0"/>
              </a:spcAft>
              <a:buClr>
                <a:schemeClr val="dk1"/>
              </a:buClr>
              <a:buSzPct val="54622"/>
              <a:buNone/>
            </a:pPr>
            <a:r>
              <a:rPr lang="en">
                <a:solidFill>
                  <a:schemeClr val="dk1"/>
                </a:solidFill>
              </a:rPr>
              <a:t>- Apply it to the merged dataset with tube geometry, component counts, and pricing regime indicators.</a:t>
            </a:r>
            <a:endParaRPr>
              <a:solidFill>
                <a:schemeClr val="dk1"/>
              </a:solidFill>
            </a:endParaRPr>
          </a:p>
          <a:p>
            <a:pPr indent="0" lvl="0" marL="0" rtl="0" algn="l">
              <a:lnSpc>
                <a:spcPct val="90000"/>
              </a:lnSpc>
              <a:spcBef>
                <a:spcPts val="1600"/>
              </a:spcBef>
              <a:spcAft>
                <a:spcPts val="0"/>
              </a:spcAft>
              <a:buClr>
                <a:schemeClr val="dk1"/>
              </a:buClr>
              <a:buSzPct val="54622"/>
              <a:buNone/>
            </a:pPr>
            <a:r>
              <a:rPr lang="en">
                <a:solidFill>
                  <a:schemeClr val="dk1"/>
                </a:solidFill>
              </a:rPr>
              <a:t>- Leverage built-in regularization and tree-based feature importance for model stability and interpretability.</a:t>
            </a:r>
            <a:endParaRPr>
              <a:solidFill>
                <a:schemeClr val="dk1"/>
              </a:solidFill>
            </a:endParaRPr>
          </a:p>
          <a:p>
            <a:pPr indent="0" lvl="0" marL="0" rtl="0" algn="l">
              <a:lnSpc>
                <a:spcPct val="90000"/>
              </a:lnSpc>
              <a:spcBef>
                <a:spcPts val="1600"/>
              </a:spcBef>
              <a:spcAft>
                <a:spcPts val="1600"/>
              </a:spcAft>
              <a:buClr>
                <a:schemeClr val="dk1"/>
              </a:buClr>
              <a:buSzPct val="54622"/>
              <a:buNone/>
            </a:pPr>
            <a:r>
              <a:t/>
            </a:r>
            <a:endParaRPr/>
          </a:p>
        </p:txBody>
      </p:sp>
      <p:sp>
        <p:nvSpPr>
          <p:cNvPr id="1266" name="Google Shape;1266;p5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Roboto"/>
              <a:buNone/>
            </a:pPr>
            <a:fld id="{00000000-1234-1234-1234-123412341234}" type="slidenum">
              <a:rPr lang="en">
                <a:latin typeface="Roboto"/>
                <a:ea typeface="Roboto"/>
                <a:cs typeface="Roboto"/>
                <a:sym typeface="Roboto"/>
              </a:rPr>
              <a:t>‹#›</a:t>
            </a:fld>
            <a:endParaRPr>
              <a:latin typeface="Roboto"/>
              <a:ea typeface="Roboto"/>
              <a:cs typeface="Roboto"/>
              <a:sym typeface="Roboto"/>
            </a:endParaRPr>
          </a:p>
        </p:txBody>
      </p:sp>
      <p:sp>
        <p:nvSpPr>
          <p:cNvPr id="1267" name="Google Shape;1267;p51"/>
          <p:cNvSpPr txBox="1"/>
          <p:nvPr/>
        </p:nvSpPr>
        <p:spPr>
          <a:xfrm>
            <a:off x="9412200" y="6278633"/>
            <a:ext cx="1884400" cy="402800"/>
          </a:xfrm>
          <a:prstGeom prst="rect">
            <a:avLst/>
          </a:prstGeom>
          <a:no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sz="1400">
                <a:solidFill>
                  <a:schemeClr val="dk1"/>
                </a:solidFill>
                <a:latin typeface="Roboto"/>
                <a:ea typeface="Roboto"/>
                <a:cs typeface="Roboto"/>
                <a:sym typeface="Roboto"/>
              </a:rPr>
              <a:t>Takal Ebrahimkhel</a:t>
            </a:r>
            <a:endParaRPr sz="1400">
              <a:solidFill>
                <a:schemeClr val="dk1"/>
              </a:solidFill>
              <a:latin typeface="Roboto"/>
              <a:ea typeface="Roboto"/>
              <a:cs typeface="Roboto"/>
              <a:sym typeface="Robot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1" name="Shape 1271"/>
        <p:cNvGrpSpPr/>
        <p:nvPr/>
      </p:nvGrpSpPr>
      <p:grpSpPr>
        <a:xfrm>
          <a:off x="0" y="0"/>
          <a:ext cx="0" cy="0"/>
          <a:chOff x="0" y="0"/>
          <a:chExt cx="0" cy="0"/>
        </a:xfrm>
      </p:grpSpPr>
      <p:sp>
        <p:nvSpPr>
          <p:cNvPr id="1272" name="Google Shape;1272;p52"/>
          <p:cNvSpPr txBox="1"/>
          <p:nvPr>
            <p:ph type="title"/>
          </p:nvPr>
        </p:nvSpPr>
        <p:spPr>
          <a:xfrm>
            <a:off x="415625" y="667900"/>
            <a:ext cx="5106300" cy="3345300"/>
          </a:xfrm>
          <a:prstGeom prst="rect">
            <a:avLst/>
          </a:prstGeom>
          <a:noFill/>
          <a:ln>
            <a:noFill/>
          </a:ln>
        </p:spPr>
        <p:txBody>
          <a:bodyPr anchorCtr="0" anchor="t" bIns="121900" lIns="121900" spcFirstLastPara="1" rIns="121900" wrap="square" tIns="121900">
            <a:normAutofit/>
          </a:bodyPr>
          <a:lstStyle/>
          <a:p>
            <a:pPr indent="-406400" lvl="0" marL="457200" rtl="0" algn="l">
              <a:lnSpc>
                <a:spcPct val="90000"/>
              </a:lnSpc>
              <a:spcBef>
                <a:spcPts val="0"/>
              </a:spcBef>
              <a:spcAft>
                <a:spcPts val="0"/>
              </a:spcAft>
              <a:buSzPts val="2800"/>
              <a:buChar char="-"/>
            </a:pPr>
            <a:r>
              <a:rPr b="1" lang="en"/>
              <a:t>CatBoost </a:t>
            </a:r>
            <a:r>
              <a:rPr lang="en"/>
              <a:t>(Decision Tree)</a:t>
            </a:r>
            <a:endParaRPr/>
          </a:p>
          <a:p>
            <a:pPr indent="0" lvl="0" marL="457200" rtl="0" algn="l">
              <a:lnSpc>
                <a:spcPct val="90000"/>
              </a:lnSpc>
              <a:spcBef>
                <a:spcPts val="0"/>
              </a:spcBef>
              <a:spcAft>
                <a:spcPts val="0"/>
              </a:spcAft>
              <a:buNone/>
            </a:pPr>
            <a:r>
              <a:t/>
            </a:r>
            <a:endParaRPr/>
          </a:p>
          <a:p>
            <a:pPr indent="-406400" lvl="0" marL="457200" rtl="0" algn="l">
              <a:lnSpc>
                <a:spcPct val="90000"/>
              </a:lnSpc>
              <a:spcBef>
                <a:spcPts val="0"/>
              </a:spcBef>
              <a:spcAft>
                <a:spcPts val="0"/>
              </a:spcAft>
              <a:buSzPts val="2800"/>
              <a:buChar char="-"/>
            </a:pPr>
            <a:r>
              <a:rPr b="1" lang="en" sz="3300">
                <a:latin typeface="Arial"/>
                <a:ea typeface="Arial"/>
                <a:cs typeface="Arial"/>
                <a:sym typeface="Arial"/>
              </a:rPr>
              <a:t>HistGradientBoostingRegressor</a:t>
            </a:r>
            <a:r>
              <a:rPr lang="en" sz="2600">
                <a:latin typeface="Arial"/>
                <a:ea typeface="Arial"/>
                <a:cs typeface="Arial"/>
                <a:sym typeface="Arial"/>
              </a:rPr>
              <a:t> </a:t>
            </a:r>
            <a:endParaRPr sz="5900"/>
          </a:p>
        </p:txBody>
      </p:sp>
      <p:sp>
        <p:nvSpPr>
          <p:cNvPr id="1273" name="Google Shape;1273;p52"/>
          <p:cNvSpPr txBox="1"/>
          <p:nvPr>
            <p:ph idx="1" type="body"/>
          </p:nvPr>
        </p:nvSpPr>
        <p:spPr>
          <a:xfrm>
            <a:off x="6192900" y="503437"/>
            <a:ext cx="5835311" cy="5776443"/>
          </a:xfrm>
          <a:prstGeom prst="rect">
            <a:avLst/>
          </a:prstGeom>
          <a:noFill/>
          <a:ln>
            <a:noFill/>
          </a:ln>
        </p:spPr>
        <p:txBody>
          <a:bodyPr anchorCtr="0" anchor="t" bIns="121900" lIns="121900" spcFirstLastPara="1" rIns="121900" wrap="square" tIns="121900">
            <a:normAutofit fontScale="92500" lnSpcReduction="10000"/>
          </a:bodyPr>
          <a:lstStyle/>
          <a:p>
            <a:pPr indent="0" lvl="0" marL="194729" rtl="0" algn="l">
              <a:lnSpc>
                <a:spcPct val="120000"/>
              </a:lnSpc>
              <a:spcBef>
                <a:spcPts val="0"/>
              </a:spcBef>
              <a:spcAft>
                <a:spcPts val="0"/>
              </a:spcAft>
              <a:buClr>
                <a:schemeClr val="dk1"/>
              </a:buClr>
              <a:buSzPct val="87838"/>
              <a:buNone/>
            </a:pPr>
            <a:r>
              <a:rPr b="1" lang="en" sz="1600"/>
              <a:t>Features</a:t>
            </a:r>
            <a:endParaRPr/>
          </a:p>
          <a:p>
            <a:pPr indent="-332306" lvl="0" marL="609585" rtl="0" algn="l">
              <a:lnSpc>
                <a:spcPct val="120000"/>
              </a:lnSpc>
              <a:spcBef>
                <a:spcPts val="0"/>
              </a:spcBef>
              <a:spcAft>
                <a:spcPts val="0"/>
              </a:spcAft>
              <a:buClr>
                <a:schemeClr val="dk1"/>
              </a:buClr>
              <a:buSzPct val="87838"/>
              <a:buNone/>
            </a:pPr>
            <a:r>
              <a:t/>
            </a:r>
            <a:endParaRPr b="1" sz="1600"/>
          </a:p>
          <a:p>
            <a:pPr indent="-414856" lvl="0" marL="609585" rtl="0" algn="l">
              <a:lnSpc>
                <a:spcPct val="120000"/>
              </a:lnSpc>
              <a:spcBef>
                <a:spcPts val="0"/>
              </a:spcBef>
              <a:spcAft>
                <a:spcPts val="0"/>
              </a:spcAft>
              <a:buClr>
                <a:schemeClr val="dk1"/>
              </a:buClr>
              <a:buSzPct val="87838"/>
              <a:buChar char="●"/>
            </a:pPr>
            <a:r>
              <a:rPr b="1" lang="en" sz="1600"/>
              <a:t>Native categorical handling</a:t>
            </a:r>
            <a:r>
              <a:rPr lang="en" sz="1600"/>
              <a:t> works directly with categorical features (no manual encoding) </a:t>
            </a:r>
            <a:endParaRPr/>
          </a:p>
          <a:p>
            <a:pPr indent="-414856" lvl="0" marL="609585" rtl="0" algn="l">
              <a:lnSpc>
                <a:spcPct val="120000"/>
              </a:lnSpc>
              <a:spcBef>
                <a:spcPts val="0"/>
              </a:spcBef>
              <a:spcAft>
                <a:spcPts val="0"/>
              </a:spcAft>
              <a:buClr>
                <a:schemeClr val="dk1"/>
              </a:buClr>
              <a:buSzPct val="87838"/>
              <a:buChar char="●"/>
            </a:pPr>
            <a:r>
              <a:rPr b="1" lang="en" sz="1600"/>
              <a:t>Ordered boosting</a:t>
            </a:r>
            <a:r>
              <a:rPr lang="en" sz="1600"/>
              <a:t>: reduces overfitting and improves generalization </a:t>
            </a:r>
            <a:endParaRPr/>
          </a:p>
          <a:p>
            <a:pPr indent="-414856" lvl="0" marL="609585" rtl="0" algn="l">
              <a:lnSpc>
                <a:spcPct val="120000"/>
              </a:lnSpc>
              <a:spcBef>
                <a:spcPts val="0"/>
              </a:spcBef>
              <a:spcAft>
                <a:spcPts val="0"/>
              </a:spcAft>
              <a:buClr>
                <a:schemeClr val="dk1"/>
              </a:buClr>
              <a:buSzPct val="87838"/>
              <a:buChar char="●"/>
            </a:pPr>
            <a:r>
              <a:rPr b="1" lang="en" sz="1600"/>
              <a:t>Symmetric decision trees</a:t>
            </a:r>
            <a:r>
              <a:rPr lang="en" sz="1600"/>
              <a:t>: faster training and more stable predictions </a:t>
            </a:r>
            <a:endParaRPr/>
          </a:p>
          <a:p>
            <a:pPr indent="-414856" lvl="0" marL="609585" rtl="0" algn="l">
              <a:lnSpc>
                <a:spcPct val="120000"/>
              </a:lnSpc>
              <a:spcBef>
                <a:spcPts val="0"/>
              </a:spcBef>
              <a:spcAft>
                <a:spcPts val="0"/>
              </a:spcAft>
              <a:buClr>
                <a:schemeClr val="dk1"/>
              </a:buClr>
              <a:buSzPct val="87838"/>
              <a:buChar char="●"/>
            </a:pPr>
            <a:r>
              <a:rPr b="1" lang="en" sz="1600"/>
              <a:t>Minimal preprocessing</a:t>
            </a:r>
            <a:r>
              <a:rPr lang="en" sz="1600"/>
              <a:t>: handles missing values and mixed data types automatically </a:t>
            </a:r>
            <a:endParaRPr/>
          </a:p>
          <a:p>
            <a:pPr indent="-414856" lvl="0" marL="609585" rtl="0" algn="l">
              <a:lnSpc>
                <a:spcPct val="120000"/>
              </a:lnSpc>
              <a:spcBef>
                <a:spcPts val="0"/>
              </a:spcBef>
              <a:spcAft>
                <a:spcPts val="0"/>
              </a:spcAft>
              <a:buClr>
                <a:schemeClr val="dk1"/>
              </a:buClr>
              <a:buSzPct val="87838"/>
              <a:buChar char="●"/>
            </a:pPr>
            <a:r>
              <a:rPr b="1" lang="en" sz="1600"/>
              <a:t>High performance</a:t>
            </a:r>
            <a:r>
              <a:rPr lang="en" sz="1600"/>
              <a:t>: strong accuracy on tabular datasets with little tuning </a:t>
            </a:r>
            <a:endParaRPr/>
          </a:p>
          <a:p>
            <a:pPr indent="0" lvl="0" marL="194729" rtl="0" algn="l">
              <a:lnSpc>
                <a:spcPct val="120000"/>
              </a:lnSpc>
              <a:spcBef>
                <a:spcPts val="0"/>
              </a:spcBef>
              <a:spcAft>
                <a:spcPts val="0"/>
              </a:spcAft>
              <a:buClr>
                <a:schemeClr val="dk1"/>
              </a:buClr>
              <a:buSzPct val="87838"/>
              <a:buNone/>
            </a:pPr>
            <a:br>
              <a:rPr lang="en" sz="1600"/>
            </a:br>
            <a:endParaRPr sz="1600"/>
          </a:p>
          <a:p>
            <a:pPr indent="0" lvl="0" marL="194729" rtl="0" algn="l">
              <a:lnSpc>
                <a:spcPct val="120000"/>
              </a:lnSpc>
              <a:spcBef>
                <a:spcPts val="0"/>
              </a:spcBef>
              <a:spcAft>
                <a:spcPts val="0"/>
              </a:spcAft>
              <a:buClr>
                <a:schemeClr val="dk1"/>
              </a:buClr>
              <a:buSzPct val="87838"/>
              <a:buNone/>
            </a:pPr>
            <a:r>
              <a:rPr b="1" lang="en" sz="1600"/>
              <a:t> Applications</a:t>
            </a:r>
            <a:endParaRPr/>
          </a:p>
          <a:p>
            <a:pPr indent="0" lvl="0" marL="194729" rtl="0" algn="l">
              <a:lnSpc>
                <a:spcPct val="120000"/>
              </a:lnSpc>
              <a:spcBef>
                <a:spcPts val="0"/>
              </a:spcBef>
              <a:spcAft>
                <a:spcPts val="0"/>
              </a:spcAft>
              <a:buClr>
                <a:schemeClr val="dk1"/>
              </a:buClr>
              <a:buSzPct val="87838"/>
              <a:buNone/>
            </a:pPr>
            <a:r>
              <a:t/>
            </a:r>
            <a:endParaRPr b="1" sz="1600"/>
          </a:p>
          <a:p>
            <a:pPr indent="-414856" lvl="0" marL="609585" rtl="0" algn="l">
              <a:lnSpc>
                <a:spcPct val="120000"/>
              </a:lnSpc>
              <a:spcBef>
                <a:spcPts val="0"/>
              </a:spcBef>
              <a:spcAft>
                <a:spcPts val="0"/>
              </a:spcAft>
              <a:buClr>
                <a:schemeClr val="dk1"/>
              </a:buClr>
              <a:buSzPct val="87838"/>
              <a:buChar char="●"/>
            </a:pPr>
            <a:r>
              <a:rPr b="1" lang="en" sz="1600"/>
              <a:t>Structured/tabular data problems</a:t>
            </a:r>
            <a:r>
              <a:rPr lang="en" sz="1600"/>
              <a:t> ( </a:t>
            </a:r>
            <a:endParaRPr/>
          </a:p>
          <a:p>
            <a:pPr indent="-414856" lvl="0" marL="609585" rtl="0" algn="l">
              <a:lnSpc>
                <a:spcPct val="120000"/>
              </a:lnSpc>
              <a:spcBef>
                <a:spcPts val="0"/>
              </a:spcBef>
              <a:spcAft>
                <a:spcPts val="0"/>
              </a:spcAft>
              <a:buClr>
                <a:schemeClr val="dk1"/>
              </a:buClr>
              <a:buSzPct val="87838"/>
              <a:buChar char="●"/>
            </a:pPr>
            <a:r>
              <a:rPr b="1" lang="en" sz="1600"/>
              <a:t>Regression &amp; classification tasks</a:t>
            </a:r>
            <a:r>
              <a:rPr lang="en" sz="1600"/>
              <a:t> </a:t>
            </a:r>
            <a:endParaRPr/>
          </a:p>
          <a:p>
            <a:pPr indent="-414856" lvl="0" marL="609585" rtl="0" algn="l">
              <a:lnSpc>
                <a:spcPct val="120000"/>
              </a:lnSpc>
              <a:spcBef>
                <a:spcPts val="0"/>
              </a:spcBef>
              <a:spcAft>
                <a:spcPts val="0"/>
              </a:spcAft>
              <a:buClr>
                <a:schemeClr val="dk1"/>
              </a:buClr>
              <a:buSzPct val="87838"/>
              <a:buChar char="●"/>
            </a:pPr>
            <a:r>
              <a:rPr b="1" lang="en" sz="1600"/>
              <a:t>Industry use cases</a:t>
            </a:r>
            <a:r>
              <a:rPr lang="en" sz="1600"/>
              <a:t>: demand forecasting, risk modeling, recommendation systems </a:t>
            </a:r>
            <a:endParaRPr/>
          </a:p>
          <a:p>
            <a:pPr indent="-414856" lvl="0" marL="609585" rtl="0" algn="l">
              <a:lnSpc>
                <a:spcPct val="120000"/>
              </a:lnSpc>
              <a:spcBef>
                <a:spcPts val="0"/>
              </a:spcBef>
              <a:spcAft>
                <a:spcPts val="0"/>
              </a:spcAft>
              <a:buClr>
                <a:schemeClr val="dk1"/>
              </a:buClr>
              <a:buSzPct val="87838"/>
              <a:buChar char="●"/>
            </a:pPr>
            <a:r>
              <a:rPr b="1" lang="en" sz="1600"/>
              <a:t>Datasets with many categorical variables</a:t>
            </a:r>
            <a:r>
              <a:rPr lang="en" sz="1600"/>
              <a:t> where traditional models struggle</a:t>
            </a:r>
            <a:endParaRPr/>
          </a:p>
          <a:p>
            <a:pPr indent="0" lvl="0" marL="0" rtl="0" algn="l">
              <a:lnSpc>
                <a:spcPct val="120000"/>
              </a:lnSpc>
              <a:spcBef>
                <a:spcPts val="0"/>
              </a:spcBef>
              <a:spcAft>
                <a:spcPts val="1600"/>
              </a:spcAft>
              <a:buClr>
                <a:schemeClr val="dk1"/>
              </a:buClr>
              <a:buSzPct val="87838"/>
              <a:buNone/>
            </a:pPr>
            <a:r>
              <a:t/>
            </a:r>
            <a:endParaRPr sz="1600"/>
          </a:p>
        </p:txBody>
      </p:sp>
      <p:sp>
        <p:nvSpPr>
          <p:cNvPr id="1274" name="Google Shape;1274;p5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Roboto"/>
              <a:buNone/>
            </a:pPr>
            <a:fld id="{00000000-1234-1234-1234-123412341234}" type="slidenum">
              <a:rPr lang="en">
                <a:latin typeface="Roboto"/>
                <a:ea typeface="Roboto"/>
                <a:cs typeface="Roboto"/>
                <a:sym typeface="Roboto"/>
              </a:rPr>
              <a:t>‹#›</a:t>
            </a:fld>
            <a:endParaRPr>
              <a:latin typeface="Roboto"/>
              <a:ea typeface="Roboto"/>
              <a:cs typeface="Roboto"/>
              <a:sym typeface="Roboto"/>
            </a:endParaRPr>
          </a:p>
        </p:txBody>
      </p:sp>
      <p:sp>
        <p:nvSpPr>
          <p:cNvPr id="1275" name="Google Shape;1275;p52"/>
          <p:cNvSpPr txBox="1"/>
          <p:nvPr/>
        </p:nvSpPr>
        <p:spPr>
          <a:xfrm>
            <a:off x="9178081" y="6326134"/>
            <a:ext cx="211852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Mohammad Sharif Azimy</a:t>
            </a:r>
            <a:endParaRPr sz="1400">
              <a:solidFill>
                <a:schemeClr val="dk1"/>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9" name="Shape 1279"/>
        <p:cNvGrpSpPr/>
        <p:nvPr/>
      </p:nvGrpSpPr>
      <p:grpSpPr>
        <a:xfrm>
          <a:off x="0" y="0"/>
          <a:ext cx="0" cy="0"/>
          <a:chOff x="0" y="0"/>
          <a:chExt cx="0" cy="0"/>
        </a:xfrm>
      </p:grpSpPr>
      <p:sp>
        <p:nvSpPr>
          <p:cNvPr id="1280" name="Google Shape;1280;p53"/>
          <p:cNvSpPr txBox="1"/>
          <p:nvPr>
            <p:ph type="title"/>
          </p:nvPr>
        </p:nvSpPr>
        <p:spPr>
          <a:xfrm>
            <a:off x="415633" y="667900"/>
            <a:ext cx="4941900" cy="3345300"/>
          </a:xfrm>
          <a:prstGeom prst="rect">
            <a:avLst/>
          </a:prstGeom>
          <a:noFill/>
          <a:ln>
            <a:noFill/>
          </a:ln>
        </p:spPr>
        <p:txBody>
          <a:bodyPr anchorCtr="0" anchor="t" bIns="121900" lIns="121900" spcFirstLastPara="1" rIns="121900" wrap="square" tIns="121900">
            <a:normAutofit/>
          </a:bodyPr>
          <a:lstStyle/>
          <a:p>
            <a:pPr indent="0" lvl="0" marL="0" rtl="0" algn="l">
              <a:lnSpc>
                <a:spcPct val="90000"/>
              </a:lnSpc>
              <a:spcBef>
                <a:spcPts val="0"/>
              </a:spcBef>
              <a:spcAft>
                <a:spcPts val="0"/>
              </a:spcAft>
              <a:buSzPts val="2800"/>
              <a:buFont typeface="Arial"/>
              <a:buNone/>
            </a:pPr>
            <a:r>
              <a:rPr b="0" i="0" lang="en" sz="3200" u="none" strike="noStrike">
                <a:solidFill>
                  <a:schemeClr val="lt1"/>
                </a:solidFill>
                <a:latin typeface="Arial"/>
                <a:ea typeface="Arial"/>
                <a:cs typeface="Arial"/>
                <a:sym typeface="Arial"/>
              </a:rPr>
              <a:t>Random Forest</a:t>
            </a:r>
            <a:br>
              <a:rPr b="0" lang="en">
                <a:solidFill>
                  <a:schemeClr val="lt1"/>
                </a:solidFill>
              </a:rPr>
            </a:br>
            <a:br>
              <a:rPr lang="en">
                <a:solidFill>
                  <a:schemeClr val="lt1"/>
                </a:solidFill>
              </a:rPr>
            </a:br>
            <a:endParaRPr>
              <a:solidFill>
                <a:schemeClr val="lt1"/>
              </a:solidFill>
            </a:endParaRPr>
          </a:p>
        </p:txBody>
      </p:sp>
      <p:sp>
        <p:nvSpPr>
          <p:cNvPr id="1281" name="Google Shape;1281;p53"/>
          <p:cNvSpPr txBox="1"/>
          <p:nvPr>
            <p:ph idx="1" type="body"/>
          </p:nvPr>
        </p:nvSpPr>
        <p:spPr>
          <a:xfrm>
            <a:off x="6192900" y="503437"/>
            <a:ext cx="5835311" cy="5776443"/>
          </a:xfrm>
          <a:prstGeom prst="rect">
            <a:avLst/>
          </a:prstGeom>
          <a:noFill/>
          <a:ln>
            <a:noFill/>
          </a:ln>
        </p:spPr>
        <p:txBody>
          <a:bodyPr anchorCtr="0" anchor="t" bIns="121900" lIns="121900" spcFirstLastPara="1" rIns="121900" wrap="square" tIns="121900">
            <a:normAutofit/>
          </a:bodyPr>
          <a:lstStyle/>
          <a:p>
            <a:pPr indent="-414856" lvl="0" marL="609585" rtl="0" algn="l">
              <a:lnSpc>
                <a:spcPct val="90000"/>
              </a:lnSpc>
              <a:spcBef>
                <a:spcPts val="0"/>
              </a:spcBef>
              <a:spcAft>
                <a:spcPts val="0"/>
              </a:spcAft>
              <a:buClr>
                <a:srgbClr val="000000"/>
              </a:buClr>
              <a:buSzPts val="1300"/>
              <a:buChar char="●"/>
            </a:pPr>
            <a:r>
              <a:rPr b="1" i="0" lang="en" sz="1800" u="none" strike="noStrike">
                <a:solidFill>
                  <a:srgbClr val="000000"/>
                </a:solidFill>
                <a:latin typeface="Arial"/>
                <a:ea typeface="Arial"/>
                <a:cs typeface="Arial"/>
                <a:sym typeface="Arial"/>
              </a:rPr>
              <a:t>Bagging technique:</a:t>
            </a:r>
            <a:r>
              <a:rPr b="0" i="0" lang="en" sz="1800" u="none" strike="noStrike">
                <a:solidFill>
                  <a:srgbClr val="000000"/>
                </a:solidFill>
                <a:latin typeface="Arial"/>
                <a:ea typeface="Arial"/>
                <a:cs typeface="Arial"/>
                <a:sym typeface="Arial"/>
              </a:rPr>
              <a:t> Builds multiple decision trees independently using random subsets of data.</a:t>
            </a:r>
            <a:endParaRPr b="0" sz="1100"/>
          </a:p>
          <a:p>
            <a:pPr indent="-414856" lvl="0" marL="609585" rtl="0" algn="l">
              <a:lnSpc>
                <a:spcPct val="90000"/>
              </a:lnSpc>
              <a:spcBef>
                <a:spcPts val="0"/>
              </a:spcBef>
              <a:spcAft>
                <a:spcPts val="0"/>
              </a:spcAft>
              <a:buClr>
                <a:schemeClr val="dk1"/>
              </a:buClr>
              <a:buSzPts val="1300"/>
              <a:buChar char="●"/>
            </a:pPr>
            <a:br>
              <a:rPr b="0" lang="en" sz="1100"/>
            </a:br>
            <a:r>
              <a:rPr b="1" i="0" lang="en" sz="1800" u="none" strike="noStrike">
                <a:solidFill>
                  <a:srgbClr val="000000"/>
                </a:solidFill>
                <a:latin typeface="Arial"/>
                <a:ea typeface="Arial"/>
                <a:cs typeface="Arial"/>
                <a:sym typeface="Arial"/>
              </a:rPr>
              <a:t>Feature randomness:</a:t>
            </a:r>
            <a:r>
              <a:rPr b="0" i="0" lang="en" sz="1800" u="none" strike="noStrike">
                <a:solidFill>
                  <a:srgbClr val="000000"/>
                </a:solidFill>
                <a:latin typeface="Arial"/>
                <a:ea typeface="Arial"/>
                <a:cs typeface="Arial"/>
                <a:sym typeface="Arial"/>
              </a:rPr>
              <a:t> Selects a random subset of features for each split, reducing correlation between trees.</a:t>
            </a:r>
            <a:endParaRPr b="0" sz="1100"/>
          </a:p>
          <a:p>
            <a:pPr indent="-414856" lvl="0" marL="609585" rtl="0" algn="l">
              <a:lnSpc>
                <a:spcPct val="90000"/>
              </a:lnSpc>
              <a:spcBef>
                <a:spcPts val="0"/>
              </a:spcBef>
              <a:spcAft>
                <a:spcPts val="0"/>
              </a:spcAft>
              <a:buClr>
                <a:schemeClr val="dk1"/>
              </a:buClr>
              <a:buSzPts val="1300"/>
              <a:buChar char="●"/>
            </a:pPr>
            <a:br>
              <a:rPr b="0" lang="en" sz="1100"/>
            </a:br>
            <a:r>
              <a:rPr b="1" i="0" lang="en" sz="1800" u="none" strike="noStrike">
                <a:solidFill>
                  <a:srgbClr val="000000"/>
                </a:solidFill>
                <a:latin typeface="Arial"/>
                <a:ea typeface="Arial"/>
                <a:cs typeface="Arial"/>
                <a:sym typeface="Arial"/>
              </a:rPr>
              <a:t>Robustness:</a:t>
            </a:r>
            <a:r>
              <a:rPr b="0" i="0" lang="en" sz="1800" u="none" strike="noStrike">
                <a:solidFill>
                  <a:srgbClr val="000000"/>
                </a:solidFill>
                <a:latin typeface="Arial"/>
                <a:ea typeface="Arial"/>
                <a:cs typeface="Arial"/>
                <a:sym typeface="Arial"/>
              </a:rPr>
              <a:t> Highly resistant to overfitting and works well with high-dimensional data.</a:t>
            </a:r>
            <a:endParaRPr b="0" sz="1100"/>
          </a:p>
          <a:p>
            <a:pPr indent="-414856" lvl="0" marL="609585" rtl="0" algn="l">
              <a:lnSpc>
                <a:spcPct val="90000"/>
              </a:lnSpc>
              <a:spcBef>
                <a:spcPts val="0"/>
              </a:spcBef>
              <a:spcAft>
                <a:spcPts val="0"/>
              </a:spcAft>
              <a:buClr>
                <a:schemeClr val="dk1"/>
              </a:buClr>
              <a:buSzPts val="1300"/>
              <a:buChar char="●"/>
            </a:pPr>
            <a:br>
              <a:rPr b="0" lang="en" sz="1100"/>
            </a:br>
            <a:r>
              <a:rPr b="1" i="0" lang="en" sz="1800" u="none" strike="noStrike">
                <a:solidFill>
                  <a:srgbClr val="000000"/>
                </a:solidFill>
                <a:latin typeface="Arial"/>
                <a:ea typeface="Arial"/>
                <a:cs typeface="Arial"/>
                <a:sym typeface="Arial"/>
              </a:rPr>
              <a:t>Versatility:</a:t>
            </a:r>
            <a:r>
              <a:rPr b="0" i="0" lang="en" sz="1800" u="none" strike="noStrike">
                <a:solidFill>
                  <a:srgbClr val="000000"/>
                </a:solidFill>
                <a:latin typeface="Arial"/>
                <a:ea typeface="Arial"/>
                <a:cs typeface="Arial"/>
                <a:sym typeface="Arial"/>
              </a:rPr>
              <a:t> Handles both classification and regression tasks with minimal hyperparameter tuning.</a:t>
            </a:r>
            <a:endParaRPr b="0" sz="1100"/>
          </a:p>
          <a:p>
            <a:pPr indent="-414856" lvl="0" marL="609585" rtl="0" algn="l">
              <a:lnSpc>
                <a:spcPct val="90000"/>
              </a:lnSpc>
              <a:spcBef>
                <a:spcPts val="0"/>
              </a:spcBef>
              <a:spcAft>
                <a:spcPts val="0"/>
              </a:spcAft>
              <a:buClr>
                <a:schemeClr val="dk1"/>
              </a:buClr>
              <a:buSzPts val="1300"/>
              <a:buChar char="●"/>
            </a:pPr>
            <a:br>
              <a:rPr b="0" lang="en" sz="1100"/>
            </a:br>
            <a:r>
              <a:rPr b="1" i="0" lang="en" sz="1800" u="none" strike="noStrike">
                <a:solidFill>
                  <a:srgbClr val="000000"/>
                </a:solidFill>
                <a:latin typeface="Arial"/>
                <a:ea typeface="Arial"/>
                <a:cs typeface="Arial"/>
                <a:sym typeface="Arial"/>
              </a:rPr>
              <a:t>Interpretability:</a:t>
            </a:r>
            <a:r>
              <a:rPr b="0" i="0" lang="en" sz="1800" u="none" strike="noStrike">
                <a:solidFill>
                  <a:srgbClr val="000000"/>
                </a:solidFill>
                <a:latin typeface="Arial"/>
                <a:ea typeface="Arial"/>
                <a:cs typeface="Arial"/>
                <a:sym typeface="Arial"/>
              </a:rPr>
              <a:t> Provides clear feature importance scores to understand which variables drive predictions.</a:t>
            </a:r>
            <a:endParaRPr sz="1600"/>
          </a:p>
        </p:txBody>
      </p:sp>
      <p:sp>
        <p:nvSpPr>
          <p:cNvPr id="1282" name="Google Shape;1282;p5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Roboto"/>
              <a:buNone/>
            </a:pPr>
            <a:fld id="{00000000-1234-1234-1234-123412341234}" type="slidenum">
              <a:rPr lang="en">
                <a:latin typeface="Roboto"/>
                <a:ea typeface="Roboto"/>
                <a:cs typeface="Roboto"/>
                <a:sym typeface="Roboto"/>
              </a:rPr>
              <a:t>‹#›</a:t>
            </a:fld>
            <a:endParaRPr>
              <a:latin typeface="Roboto"/>
              <a:ea typeface="Roboto"/>
              <a:cs typeface="Roboto"/>
              <a:sym typeface="Roboto"/>
            </a:endParaRPr>
          </a:p>
        </p:txBody>
      </p:sp>
      <p:sp>
        <p:nvSpPr>
          <p:cNvPr id="1283" name="Google Shape;1283;p53"/>
          <p:cNvSpPr txBox="1"/>
          <p:nvPr/>
        </p:nvSpPr>
        <p:spPr>
          <a:xfrm>
            <a:off x="9178081" y="6326134"/>
            <a:ext cx="172476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Antonios Stefanakis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54"/>
          <p:cNvSpPr txBox="1"/>
          <p:nvPr>
            <p:ph type="title"/>
          </p:nvPr>
        </p:nvSpPr>
        <p:spPr>
          <a:xfrm>
            <a:off x="415633" y="667900"/>
            <a:ext cx="4941900" cy="33453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2800"/>
              <a:buFont typeface="Arial"/>
              <a:buNone/>
            </a:pPr>
            <a:r>
              <a:rPr b="0" i="0" lang="en" sz="3600" u="none" strike="noStrike">
                <a:solidFill>
                  <a:schemeClr val="lt1"/>
                </a:solidFill>
                <a:latin typeface="Arial"/>
                <a:ea typeface="Arial"/>
                <a:cs typeface="Arial"/>
                <a:sym typeface="Arial"/>
              </a:rPr>
              <a:t>Extra Trees</a:t>
            </a:r>
            <a:br>
              <a:rPr b="0" lang="en" sz="7200">
                <a:solidFill>
                  <a:schemeClr val="lt1"/>
                </a:solidFill>
              </a:rPr>
            </a:br>
            <a:br>
              <a:rPr lang="en" sz="7200">
                <a:solidFill>
                  <a:schemeClr val="lt1"/>
                </a:solidFill>
              </a:rPr>
            </a:br>
            <a:endParaRPr sz="7200">
              <a:solidFill>
                <a:schemeClr val="lt1"/>
              </a:solidFill>
            </a:endParaRPr>
          </a:p>
        </p:txBody>
      </p:sp>
      <p:sp>
        <p:nvSpPr>
          <p:cNvPr id="1289" name="Google Shape;1289;p54"/>
          <p:cNvSpPr txBox="1"/>
          <p:nvPr>
            <p:ph idx="1" type="body"/>
          </p:nvPr>
        </p:nvSpPr>
        <p:spPr>
          <a:xfrm>
            <a:off x="6192900" y="667900"/>
            <a:ext cx="5555100" cy="5464800"/>
          </a:xfrm>
          <a:prstGeom prst="rect">
            <a:avLst/>
          </a:prstGeom>
          <a:noFill/>
          <a:ln>
            <a:noFill/>
          </a:ln>
        </p:spPr>
        <p:txBody>
          <a:bodyPr anchorCtr="0" anchor="t" bIns="91425" lIns="91425" spcFirstLastPara="1" rIns="91425" wrap="square" tIns="91425">
            <a:normAutofit lnSpcReduction="10000"/>
          </a:bodyPr>
          <a:lstStyle/>
          <a:p>
            <a:pPr indent="-414856" lvl="0" marL="609585" rtl="0" algn="l">
              <a:lnSpc>
                <a:spcPct val="90000"/>
              </a:lnSpc>
              <a:spcBef>
                <a:spcPts val="1000"/>
              </a:spcBef>
              <a:spcAft>
                <a:spcPts val="0"/>
              </a:spcAft>
              <a:buClr>
                <a:srgbClr val="000000"/>
              </a:buClr>
              <a:buSzPts val="1300"/>
              <a:buChar char="●"/>
            </a:pPr>
            <a:r>
              <a:rPr b="1" i="0" lang="en" sz="1800" u="none" strike="noStrike">
                <a:solidFill>
                  <a:srgbClr val="000000"/>
                </a:solidFill>
                <a:latin typeface="Arial"/>
                <a:ea typeface="Arial"/>
                <a:cs typeface="Arial"/>
                <a:sym typeface="Arial"/>
              </a:rPr>
              <a:t>Extreme Randomization:</a:t>
            </a:r>
            <a:r>
              <a:rPr b="0" i="0" lang="en" sz="1800" u="none" strike="noStrike">
                <a:solidFill>
                  <a:srgbClr val="000000"/>
                </a:solidFill>
                <a:latin typeface="Arial"/>
                <a:ea typeface="Arial"/>
                <a:cs typeface="Arial"/>
                <a:sym typeface="Arial"/>
              </a:rPr>
              <a:t> Unlike Random Forest, it chooses split points completely at random for each feature.</a:t>
            </a:r>
            <a:endParaRPr b="0"/>
          </a:p>
          <a:p>
            <a:pPr indent="-414856" lvl="0" marL="609585" rtl="0" algn="l">
              <a:lnSpc>
                <a:spcPct val="90000"/>
              </a:lnSpc>
              <a:spcBef>
                <a:spcPts val="1000"/>
              </a:spcBef>
              <a:spcAft>
                <a:spcPts val="0"/>
              </a:spcAft>
              <a:buClr>
                <a:schemeClr val="dk1"/>
              </a:buClr>
              <a:buSzPts val="1300"/>
              <a:buChar char="●"/>
            </a:pPr>
            <a:br>
              <a:rPr b="0" lang="en"/>
            </a:br>
            <a:r>
              <a:rPr b="1" i="0" lang="en" sz="1800" u="none" strike="noStrike">
                <a:solidFill>
                  <a:srgbClr val="000000"/>
                </a:solidFill>
                <a:latin typeface="Arial"/>
                <a:ea typeface="Arial"/>
                <a:cs typeface="Arial"/>
                <a:sym typeface="Arial"/>
              </a:rPr>
              <a:t>High Efficiency:</a:t>
            </a:r>
            <a:r>
              <a:rPr b="0" i="0" lang="en" sz="1800" u="none" strike="noStrike">
                <a:solidFill>
                  <a:srgbClr val="000000"/>
                </a:solidFill>
                <a:latin typeface="Arial"/>
                <a:ea typeface="Arial"/>
                <a:cs typeface="Arial"/>
                <a:sym typeface="Arial"/>
              </a:rPr>
              <a:t> Faster training speed because it doesn't search for the optimal split threshold mathematically.</a:t>
            </a:r>
            <a:endParaRPr b="0"/>
          </a:p>
          <a:p>
            <a:pPr indent="-414856" lvl="0" marL="609585" rtl="0" algn="l">
              <a:lnSpc>
                <a:spcPct val="90000"/>
              </a:lnSpc>
              <a:spcBef>
                <a:spcPts val="1000"/>
              </a:spcBef>
              <a:spcAft>
                <a:spcPts val="0"/>
              </a:spcAft>
              <a:buClr>
                <a:schemeClr val="dk1"/>
              </a:buClr>
              <a:buSzPts val="1300"/>
              <a:buChar char="●"/>
            </a:pPr>
            <a:br>
              <a:rPr b="0" lang="en"/>
            </a:br>
            <a:r>
              <a:rPr b="1" i="0" lang="en" sz="1800" u="none" strike="noStrike">
                <a:solidFill>
                  <a:srgbClr val="000000"/>
                </a:solidFill>
                <a:latin typeface="Arial"/>
                <a:ea typeface="Arial"/>
                <a:cs typeface="Arial"/>
                <a:sym typeface="Arial"/>
              </a:rPr>
              <a:t>Variance Reduction:</a:t>
            </a:r>
            <a:r>
              <a:rPr b="0" i="0" lang="en" sz="1800" u="none" strike="noStrike">
                <a:solidFill>
                  <a:srgbClr val="000000"/>
                </a:solidFill>
                <a:latin typeface="Arial"/>
                <a:ea typeface="Arial"/>
                <a:cs typeface="Arial"/>
                <a:sym typeface="Arial"/>
              </a:rPr>
              <a:t> Provides even better generalization by further reducing the model's sensitivity to noise.</a:t>
            </a:r>
            <a:endParaRPr b="0"/>
          </a:p>
          <a:p>
            <a:pPr indent="-414856" lvl="0" marL="609585" rtl="0" algn="l">
              <a:lnSpc>
                <a:spcPct val="90000"/>
              </a:lnSpc>
              <a:spcBef>
                <a:spcPts val="1000"/>
              </a:spcBef>
              <a:spcAft>
                <a:spcPts val="0"/>
              </a:spcAft>
              <a:buClr>
                <a:schemeClr val="dk1"/>
              </a:buClr>
              <a:buSzPts val="1300"/>
              <a:buChar char="●"/>
            </a:pPr>
            <a:br>
              <a:rPr b="0" lang="en"/>
            </a:br>
            <a:r>
              <a:rPr b="1" i="0" lang="en" sz="1800" u="none" strike="noStrike">
                <a:solidFill>
                  <a:srgbClr val="000000"/>
                </a:solidFill>
                <a:latin typeface="Arial"/>
                <a:ea typeface="Arial"/>
                <a:cs typeface="Arial"/>
                <a:sym typeface="Arial"/>
              </a:rPr>
              <a:t>Use Cases:</a:t>
            </a:r>
            <a:r>
              <a:rPr b="0" i="0" lang="en" sz="1800" u="none" strike="noStrike">
                <a:solidFill>
                  <a:srgbClr val="000000"/>
                </a:solidFill>
                <a:latin typeface="Arial"/>
                <a:ea typeface="Arial"/>
                <a:cs typeface="Arial"/>
                <a:sym typeface="Arial"/>
              </a:rPr>
              <a:t> Ideal for very large datasets or scenarios where computational resources are limited.</a:t>
            </a:r>
            <a:endParaRPr b="0"/>
          </a:p>
          <a:p>
            <a:pPr indent="-414856" lvl="0" marL="609585" rtl="0" algn="l">
              <a:lnSpc>
                <a:spcPct val="90000"/>
              </a:lnSpc>
              <a:spcBef>
                <a:spcPts val="0"/>
              </a:spcBef>
              <a:spcAft>
                <a:spcPts val="0"/>
              </a:spcAft>
              <a:buClr>
                <a:schemeClr val="dk1"/>
              </a:buClr>
              <a:buSzPts val="1300"/>
              <a:buChar char="●"/>
            </a:pPr>
            <a:br>
              <a:rPr b="0" lang="en"/>
            </a:br>
            <a:r>
              <a:rPr b="1" i="0" lang="en" sz="1800" u="none" strike="noStrike">
                <a:solidFill>
                  <a:srgbClr val="000000"/>
                </a:solidFill>
                <a:latin typeface="Arial"/>
                <a:ea typeface="Arial"/>
                <a:cs typeface="Arial"/>
                <a:sym typeface="Arial"/>
              </a:rPr>
              <a:t>Performance:</a:t>
            </a:r>
            <a:r>
              <a:rPr b="0" i="0" lang="en" sz="1800" u="none" strike="noStrike">
                <a:solidFill>
                  <a:srgbClr val="000000"/>
                </a:solidFill>
                <a:latin typeface="Arial"/>
                <a:ea typeface="Arial"/>
                <a:cs typeface="Arial"/>
                <a:sym typeface="Arial"/>
              </a:rPr>
              <a:t> Often achieves similar or better accuracy than Random Forest while being computationally cheaper.</a:t>
            </a:r>
            <a:endParaRPr/>
          </a:p>
        </p:txBody>
      </p:sp>
      <p:sp>
        <p:nvSpPr>
          <p:cNvPr id="1290" name="Google Shape;1290;p54"/>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757575"/>
              </a:buClr>
              <a:buSzPts val="1200"/>
              <a:buFont typeface="Arial"/>
              <a:buNone/>
            </a:pPr>
            <a:fld id="{00000000-1234-1234-1234-123412341234}" type="slidenum">
              <a:rPr lang="en"/>
              <a:t>‹#›</a:t>
            </a:fld>
            <a:endParaRPr/>
          </a:p>
        </p:txBody>
      </p:sp>
      <p:sp>
        <p:nvSpPr>
          <p:cNvPr id="1291" name="Google Shape;1291;p54"/>
          <p:cNvSpPr txBox="1"/>
          <p:nvPr/>
        </p:nvSpPr>
        <p:spPr>
          <a:xfrm>
            <a:off x="9365117" y="6326134"/>
            <a:ext cx="172476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Antonios Stefanakis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95" name="Shape 1295"/>
        <p:cNvGrpSpPr/>
        <p:nvPr/>
      </p:nvGrpSpPr>
      <p:grpSpPr>
        <a:xfrm>
          <a:off x="0" y="0"/>
          <a:ext cx="0" cy="0"/>
          <a:chOff x="0" y="0"/>
          <a:chExt cx="0" cy="0"/>
        </a:xfrm>
      </p:grpSpPr>
      <p:sp>
        <p:nvSpPr>
          <p:cNvPr id="1296" name="Google Shape;1296;g3edf2b460e5_6_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97" name="Google Shape;1297;g3edf2b460e5_6_0"/>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98" name="Google Shape;1298;g3edf2b460e5_6_0"/>
          <p:cNvSpPr/>
          <p:nvPr/>
        </p:nvSpPr>
        <p:spPr>
          <a:xfrm flipH="1" rot="5400000">
            <a:off x="-1410084" y="1410082"/>
            <a:ext cx="6858000" cy="4037836"/>
          </a:xfrm>
          <a:prstGeom prst="rect">
            <a:avLst/>
          </a:prstGeom>
          <a:gradFill>
            <a:gsLst>
              <a:gs pos="0">
                <a:srgbClr val="000000"/>
              </a:gs>
              <a:gs pos="8000">
                <a:srgbClr val="000000"/>
              </a:gs>
              <a:gs pos="100000">
                <a:srgbClr val="0F4761"/>
              </a:gs>
            </a:gsLst>
            <a:lin ang="3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99" name="Google Shape;1299;g3edf2b460e5_6_0"/>
          <p:cNvSpPr/>
          <p:nvPr/>
        </p:nvSpPr>
        <p:spPr>
          <a:xfrm flipH="1" rot="5400000">
            <a:off x="-1410085" y="1420219"/>
            <a:ext cx="6857999" cy="403783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00" name="Google Shape;1300;g3edf2b460e5_6_0"/>
          <p:cNvSpPr/>
          <p:nvPr/>
        </p:nvSpPr>
        <p:spPr>
          <a:xfrm flipH="1" rot="5400000">
            <a:off x="767923" y="3588085"/>
            <a:ext cx="2501979" cy="4037841"/>
          </a:xfrm>
          <a:prstGeom prst="rect">
            <a:avLst/>
          </a:prstGeom>
          <a:gradFill>
            <a:gsLst>
              <a:gs pos="0">
                <a:srgbClr val="156082">
                  <a:alpha val="29019"/>
                </a:srgbClr>
              </a:gs>
              <a:gs pos="2000">
                <a:srgbClr val="156082">
                  <a:alpha val="29019"/>
                </a:srgbClr>
              </a:gs>
              <a:gs pos="100000">
                <a:srgbClr val="000000">
                  <a:alpha val="30196"/>
                </a:srgbClr>
              </a:gs>
            </a:gsLst>
            <a:lin ang="7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01" name="Google Shape;1301;g3edf2b460e5_6_0"/>
          <p:cNvSpPr/>
          <p:nvPr/>
        </p:nvSpPr>
        <p:spPr>
          <a:xfrm rot="-964587">
            <a:off x="-501737" y="969718"/>
            <a:ext cx="3900357" cy="4178958"/>
          </a:xfrm>
          <a:custGeom>
            <a:rect b="b" l="l" r="r" t="t"/>
            <a:pathLst>
              <a:path extrusionOk="0" h="4178958" w="3900357">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3137"/>
                </a:srgbClr>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02" name="Google Shape;1302;g3edf2b460e5_6_0"/>
          <p:cNvSpPr/>
          <p:nvPr/>
        </p:nvSpPr>
        <p:spPr>
          <a:xfrm flipH="1" rot="5400000">
            <a:off x="-1410093" y="1399943"/>
            <a:ext cx="6858003" cy="4037835"/>
          </a:xfrm>
          <a:prstGeom prst="rect">
            <a:avLst/>
          </a:prstGeom>
          <a:gradFill>
            <a:gsLst>
              <a:gs pos="0">
                <a:srgbClr val="000000">
                  <a:alpha val="0"/>
                </a:srgbClr>
              </a:gs>
              <a:gs pos="99000">
                <a:srgbClr val="43B0E1">
                  <a:alpha val="10980"/>
                </a:srgbClr>
              </a:gs>
              <a:gs pos="100000">
                <a:srgbClr val="43B0E1">
                  <a:alpha val="10980"/>
                </a:srgbClr>
              </a:gs>
            </a:gsLst>
            <a:lin ang="7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03" name="Google Shape;1303;g3edf2b460e5_6_0"/>
          <p:cNvSpPr txBox="1"/>
          <p:nvPr/>
        </p:nvSpPr>
        <p:spPr>
          <a:xfrm>
            <a:off x="466722" y="586855"/>
            <a:ext cx="3201366" cy="3387497"/>
          </a:xfrm>
          <a:prstGeom prst="rect">
            <a:avLst/>
          </a:prstGeom>
          <a:noFill/>
          <a:ln>
            <a:noFill/>
          </a:ln>
        </p:spPr>
        <p:txBody>
          <a:bodyPr anchorCtr="0" anchor="b" bIns="45700" lIns="91425" spcFirstLastPara="1" rIns="91425" wrap="square" tIns="45700">
            <a:normAutofit fontScale="92500" lnSpcReduction="10000"/>
          </a:bodyPr>
          <a:lstStyle/>
          <a:p>
            <a:pPr indent="0" lvl="0" marL="0" marR="0" rtl="0" algn="r">
              <a:lnSpc>
                <a:spcPct val="90000"/>
              </a:lnSpc>
              <a:spcBef>
                <a:spcPts val="0"/>
              </a:spcBef>
              <a:spcAft>
                <a:spcPts val="0"/>
              </a:spcAft>
              <a:buNone/>
            </a:pPr>
            <a:r>
              <a:rPr b="0" i="0" lang="en" sz="4000" u="none" cap="none" strike="noStrike">
                <a:solidFill>
                  <a:schemeClr val="lt1"/>
                </a:solidFill>
                <a:latin typeface="Arial"/>
                <a:ea typeface="Arial"/>
                <a:cs typeface="Arial"/>
                <a:sym typeface="Arial"/>
              </a:rPr>
              <a:t>Machine Learning Algorithms</a:t>
            </a:r>
            <a:r>
              <a:rPr b="1" i="0" lang="en" sz="4000" u="none" cap="none" strike="noStrike">
                <a:solidFill>
                  <a:schemeClr val="lt1"/>
                </a:solidFill>
                <a:latin typeface="Play"/>
                <a:ea typeface="Play"/>
                <a:cs typeface="Play"/>
                <a:sym typeface="Play"/>
              </a:rPr>
              <a:t> -</a:t>
            </a:r>
            <a:r>
              <a:rPr b="1" i="0" lang="en" sz="4000" u="none" cap="none" strike="noStrike">
                <a:solidFill>
                  <a:srgbClr val="FFFFFF"/>
                </a:solidFill>
                <a:latin typeface="Play"/>
                <a:ea typeface="Play"/>
                <a:cs typeface="Play"/>
                <a:sym typeface="Play"/>
              </a:rPr>
              <a:t> Mohammad Sharif Azimy</a:t>
            </a:r>
            <a:endParaRPr b="1" i="0" sz="4000" u="none" cap="none" strike="noStrike">
              <a:solidFill>
                <a:srgbClr val="FFFFFF"/>
              </a:solidFill>
              <a:latin typeface="Play"/>
              <a:ea typeface="Play"/>
              <a:cs typeface="Play"/>
              <a:sym typeface="Play"/>
            </a:endParaRPr>
          </a:p>
          <a:p>
            <a:pPr indent="0" lvl="0" marL="0" marR="0" rtl="0" algn="r">
              <a:lnSpc>
                <a:spcPct val="90000"/>
              </a:lnSpc>
              <a:spcBef>
                <a:spcPts val="600"/>
              </a:spcBef>
              <a:spcAft>
                <a:spcPts val="0"/>
              </a:spcAft>
              <a:buNone/>
            </a:pPr>
            <a:br>
              <a:rPr b="1" i="0" lang="en" sz="4000" u="none" cap="none" strike="noStrike">
                <a:solidFill>
                  <a:srgbClr val="FFFFFF"/>
                </a:solidFill>
                <a:latin typeface="Play"/>
                <a:ea typeface="Play"/>
                <a:cs typeface="Play"/>
                <a:sym typeface="Play"/>
              </a:rPr>
            </a:br>
            <a:endParaRPr b="1" i="0" sz="4000" u="none" cap="none" strike="noStrike">
              <a:solidFill>
                <a:srgbClr val="FFFFFF"/>
              </a:solidFill>
              <a:latin typeface="Play"/>
              <a:ea typeface="Play"/>
              <a:cs typeface="Play"/>
              <a:sym typeface="Play"/>
            </a:endParaRPr>
          </a:p>
        </p:txBody>
      </p:sp>
      <p:sp>
        <p:nvSpPr>
          <p:cNvPr id="1304" name="Google Shape;1304;g3edf2b460e5_6_0"/>
          <p:cNvSpPr txBox="1"/>
          <p:nvPr/>
        </p:nvSpPr>
        <p:spPr>
          <a:xfrm>
            <a:off x="4367695" y="752362"/>
            <a:ext cx="7357583" cy="5948241"/>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None/>
            </a:pPr>
            <a:r>
              <a:rPr b="1" i="0" lang="en" sz="1800" u="none" cap="none" strike="noStrike">
                <a:solidFill>
                  <a:schemeClr val="dk1"/>
                </a:solidFill>
                <a:latin typeface="Arial"/>
                <a:ea typeface="Arial"/>
                <a:cs typeface="Arial"/>
                <a:sym typeface="Arial"/>
              </a:rPr>
              <a:t>CatBoost Regressor</a:t>
            </a:r>
            <a:r>
              <a:rPr b="0" i="0" lang="en" sz="1800" u="none" cap="none" strike="noStrike">
                <a:solidFill>
                  <a:schemeClr val="dk1"/>
                </a:solidFill>
                <a:latin typeface="Arial"/>
                <a:ea typeface="Arial"/>
                <a:cs typeface="Arial"/>
                <a:sym typeface="Arial"/>
              </a:rPr>
              <a:t> was selected as the primary model because:</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342900" lvl="0" marL="34290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Excellent at handling tabular data with mixed feature types</a:t>
            </a:r>
            <a:endParaRPr/>
          </a:p>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Built-in support for categorical features and missing values</a:t>
            </a:r>
            <a:endParaRPr/>
          </a:p>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Strong regularization to prevent overfitting on industrial datasets</a:t>
            </a:r>
            <a:endParaRPr/>
          </a:p>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Good performance on medium-sized structured data like tube assembly records</a:t>
            </a:r>
            <a:endParaRPr sz="1800">
              <a:solidFill>
                <a:schemeClr val="dk1"/>
              </a:solidFill>
              <a:latin typeface="Arial"/>
              <a:ea typeface="Arial"/>
              <a:cs typeface="Arial"/>
              <a:sym typeface="Arial"/>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b="1" lang="en" sz="1800">
                <a:solidFill>
                  <a:schemeClr val="dk1"/>
                </a:solidFill>
                <a:latin typeface="Arial"/>
                <a:ea typeface="Arial"/>
                <a:cs typeface="Arial"/>
                <a:sym typeface="Arial"/>
              </a:rPr>
              <a:t>HistGradientBoostingRegressor</a:t>
            </a:r>
            <a:r>
              <a:rPr lang="en" sz="1800">
                <a:solidFill>
                  <a:schemeClr val="dk1"/>
                </a:solidFill>
                <a:latin typeface="Arial"/>
                <a:ea typeface="Arial"/>
                <a:cs typeface="Arial"/>
                <a:sym typeface="Arial"/>
              </a:rPr>
              <a:t> was chosen as a strong secondary model because: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Highly efficient histogram-based splitting for fast training on tabular data</a:t>
            </a:r>
            <a:endParaRPr/>
          </a:p>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Native Scikit-learn implementation with good memory efficiency</a:t>
            </a:r>
            <a:endParaRPr/>
          </a:p>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Built-in support for missing values and automatic handling of numerical features</a:t>
            </a:r>
            <a:endParaRPr/>
          </a:p>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Suitable for datasets with physical measurements and business metrics</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05" name="Google Shape;1305;g3edf2b460e5_6_0"/>
          <p:cNvSpPr txBox="1"/>
          <p:nvPr>
            <p:ph idx="12" type="sldNum"/>
          </p:nvPr>
        </p:nvSpPr>
        <p:spPr>
          <a:xfrm>
            <a:off x="11704320" y="6455664"/>
            <a:ext cx="448056"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sz="1100">
                <a:solidFill>
                  <a:srgbClr val="7F7F7F"/>
                </a:solidFill>
              </a:rPr>
              <a:t>‹#›</a:t>
            </a:fld>
            <a:endParaRPr sz="1100">
              <a:solidFill>
                <a:srgbClr val="7F7F7F"/>
              </a:solidFill>
            </a:endParaRPr>
          </a:p>
        </p:txBody>
      </p:sp>
      <p:sp>
        <p:nvSpPr>
          <p:cNvPr id="1306" name="Google Shape;1306;g3edf2b460e5_6_0"/>
          <p:cNvSpPr txBox="1"/>
          <p:nvPr/>
        </p:nvSpPr>
        <p:spPr>
          <a:xfrm>
            <a:off x="4134810" y="157397"/>
            <a:ext cx="60935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1"/>
              </a:buClr>
              <a:buSzPts val="2400"/>
              <a:buFont typeface="Arial"/>
              <a:buNone/>
            </a:pPr>
            <a:r>
              <a:rPr lang="en" sz="2400">
                <a:solidFill>
                  <a:schemeClr val="accent1"/>
                </a:solidFill>
                <a:latin typeface="Arial"/>
                <a:ea typeface="Arial"/>
                <a:cs typeface="Arial"/>
                <a:sym typeface="Arial"/>
              </a:rPr>
              <a:t>1. Model Selection</a:t>
            </a:r>
            <a:endParaRPr/>
          </a:p>
        </p:txBody>
      </p:sp>
      <p:sp>
        <p:nvSpPr>
          <p:cNvPr id="1307" name="Google Shape;1307;g3edf2b460e5_6_0"/>
          <p:cNvSpPr txBox="1"/>
          <p:nvPr/>
        </p:nvSpPr>
        <p:spPr>
          <a:xfrm>
            <a:off x="7894923" y="6367127"/>
            <a:ext cx="3769611" cy="343235"/>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None/>
            </a:pPr>
            <a:r>
              <a:rPr b="1" i="0" lang="en" sz="1800" u="none" strike="noStrike">
                <a:solidFill>
                  <a:schemeClr val="dk1"/>
                </a:solidFill>
                <a:latin typeface="Play"/>
                <a:ea typeface="Play"/>
                <a:cs typeface="Play"/>
                <a:sym typeface="Play"/>
              </a:rPr>
              <a:t>Task 7 - Mohammad Sharif Azimy</a:t>
            </a:r>
            <a:endParaRPr b="1" sz="1800">
              <a:solidFill>
                <a:schemeClr val="dk1"/>
              </a:solidFill>
              <a:latin typeface="Play"/>
              <a:ea typeface="Play"/>
              <a:cs typeface="Play"/>
              <a:sym typeface="Play"/>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1" name="Shape 1311"/>
        <p:cNvGrpSpPr/>
        <p:nvPr/>
      </p:nvGrpSpPr>
      <p:grpSpPr>
        <a:xfrm>
          <a:off x="0" y="0"/>
          <a:ext cx="0" cy="0"/>
          <a:chOff x="0" y="0"/>
          <a:chExt cx="0" cy="0"/>
        </a:xfrm>
      </p:grpSpPr>
      <p:sp>
        <p:nvSpPr>
          <p:cNvPr id="1312" name="Google Shape;1312;g3edf2b460e5_6_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313" name="Google Shape;1313;g3edf2b460e5_6_16"/>
          <p:cNvSpPr txBox="1"/>
          <p:nvPr/>
        </p:nvSpPr>
        <p:spPr>
          <a:xfrm>
            <a:off x="620160" y="319088"/>
            <a:ext cx="60935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1"/>
              </a:buClr>
              <a:buSzPts val="2400"/>
              <a:buFont typeface="Arial"/>
              <a:buNone/>
            </a:pPr>
            <a:r>
              <a:rPr lang="en" sz="2400">
                <a:solidFill>
                  <a:schemeClr val="accent1"/>
                </a:solidFill>
                <a:latin typeface="Arial"/>
                <a:ea typeface="Arial"/>
                <a:cs typeface="Arial"/>
                <a:sym typeface="Arial"/>
              </a:rPr>
              <a:t>2. System Architecture – End-to-End Pipeline</a:t>
            </a:r>
            <a:endParaRPr/>
          </a:p>
        </p:txBody>
      </p:sp>
      <p:sp>
        <p:nvSpPr>
          <p:cNvPr id="1314" name="Google Shape;1314;g3edf2b460e5_6_16"/>
          <p:cNvSpPr txBox="1"/>
          <p:nvPr/>
        </p:nvSpPr>
        <p:spPr>
          <a:xfrm>
            <a:off x="217773" y="6195677"/>
            <a:ext cx="3769611" cy="343235"/>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None/>
            </a:pPr>
            <a:r>
              <a:rPr b="1" i="0" lang="en" sz="1800" u="none" strike="noStrike">
                <a:solidFill>
                  <a:schemeClr val="dk1"/>
                </a:solidFill>
                <a:latin typeface="Play"/>
                <a:ea typeface="Play"/>
                <a:cs typeface="Play"/>
                <a:sym typeface="Play"/>
              </a:rPr>
              <a:t>Task 7 - Mohammad Sharif Azimy</a:t>
            </a:r>
            <a:endParaRPr b="1" sz="1800">
              <a:solidFill>
                <a:schemeClr val="dk1"/>
              </a:solidFill>
              <a:latin typeface="Play"/>
              <a:ea typeface="Play"/>
              <a:cs typeface="Play"/>
              <a:sym typeface="Play"/>
            </a:endParaRPr>
          </a:p>
        </p:txBody>
      </p:sp>
      <p:grpSp>
        <p:nvGrpSpPr>
          <p:cNvPr id="1315" name="Google Shape;1315;g3edf2b460e5_6_16"/>
          <p:cNvGrpSpPr/>
          <p:nvPr/>
        </p:nvGrpSpPr>
        <p:grpSpPr>
          <a:xfrm>
            <a:off x="217772" y="1725924"/>
            <a:ext cx="11451712" cy="3549069"/>
            <a:chOff x="0" y="443633"/>
            <a:chExt cx="11451712" cy="3549069"/>
          </a:xfrm>
        </p:grpSpPr>
        <p:sp>
          <p:nvSpPr>
            <p:cNvPr id="1316" name="Google Shape;1316;g3edf2b460e5_6_16"/>
            <p:cNvSpPr/>
            <p:nvPr/>
          </p:nvSpPr>
          <p:spPr>
            <a:xfrm>
              <a:off x="0" y="2195986"/>
              <a:ext cx="11405906" cy="44363"/>
            </a:xfrm>
            <a:prstGeom prst="rect">
              <a:avLst/>
            </a:prstGeom>
            <a:gradFill>
              <a:gsLst>
                <a:gs pos="0">
                  <a:srgbClr val="869AAB"/>
                </a:gs>
                <a:gs pos="100000">
                  <a:srgbClr val="869AAB"/>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g3edf2b460e5_6_16"/>
            <p:cNvSpPr/>
            <p:nvPr/>
          </p:nvSpPr>
          <p:spPr>
            <a:xfrm>
              <a:off x="11185532" y="2040715"/>
              <a:ext cx="266180" cy="354906"/>
            </a:xfrm>
            <a:prstGeom prst="chevron">
              <a:avLst>
                <a:gd fmla="val 75000" name="adj"/>
              </a:avLst>
            </a:prstGeom>
            <a:gradFill>
              <a:gsLst>
                <a:gs pos="0">
                  <a:srgbClr val="869AAB"/>
                </a:gs>
                <a:gs pos="100000">
                  <a:srgbClr val="869AAB"/>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g3edf2b460e5_6_16"/>
            <p:cNvSpPr/>
            <p:nvPr/>
          </p:nvSpPr>
          <p:spPr>
            <a:xfrm>
              <a:off x="528164" y="1011484"/>
              <a:ext cx="1763016" cy="102923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g3edf2b460e5_6_16"/>
            <p:cNvSpPr/>
            <p:nvPr/>
          </p:nvSpPr>
          <p:spPr>
            <a:xfrm>
              <a:off x="528164" y="479124"/>
              <a:ext cx="1763016" cy="53236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g3edf2b460e5_6_16"/>
            <p:cNvSpPr txBox="1"/>
            <p:nvPr/>
          </p:nvSpPr>
          <p:spPr>
            <a:xfrm>
              <a:off x="528164" y="479124"/>
              <a:ext cx="1763016" cy="53236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600"/>
                <a:buFont typeface="Arial"/>
                <a:buNone/>
              </a:pPr>
              <a:r>
                <a:t/>
              </a:r>
              <a:endParaRPr sz="1600">
                <a:solidFill>
                  <a:schemeClr val="dk2"/>
                </a:solidFill>
                <a:latin typeface="Arial"/>
                <a:ea typeface="Arial"/>
                <a:cs typeface="Arial"/>
                <a:sym typeface="Arial"/>
              </a:endParaRPr>
            </a:p>
            <a:p>
              <a:pPr indent="0" lvl="0" marL="0" marR="0" rtl="0" algn="l">
                <a:lnSpc>
                  <a:spcPct val="90000"/>
                </a:lnSpc>
                <a:spcBef>
                  <a:spcPts val="560"/>
                </a:spcBef>
                <a:spcAft>
                  <a:spcPts val="0"/>
                </a:spcAft>
                <a:buClr>
                  <a:schemeClr val="dk2"/>
                </a:buClr>
                <a:buSzPts val="1600"/>
                <a:buFont typeface="Arial"/>
                <a:buNone/>
              </a:pPr>
              <a:r>
                <a:rPr b="1" lang="en" sz="1600">
                  <a:solidFill>
                    <a:schemeClr val="dk2"/>
                  </a:solidFill>
                  <a:latin typeface="Arial"/>
                  <a:ea typeface="Arial"/>
                  <a:cs typeface="Arial"/>
                  <a:sym typeface="Arial"/>
                </a:rPr>
                <a:t>Input Data\Multiple CSV Files</a:t>
              </a:r>
              <a:endParaRPr/>
            </a:p>
          </p:txBody>
        </p:sp>
        <p:sp>
          <p:nvSpPr>
            <p:cNvPr id="1321" name="Google Shape;1321;g3edf2b460e5_6_16"/>
            <p:cNvSpPr/>
            <p:nvPr/>
          </p:nvSpPr>
          <p:spPr>
            <a:xfrm>
              <a:off x="248319" y="443633"/>
              <a:ext cx="32922" cy="1774534"/>
            </a:xfrm>
            <a:prstGeom prst="rect">
              <a:avLst/>
            </a:prstGeom>
            <a:solidFill>
              <a:srgbClr val="1153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g3edf2b460e5_6_16"/>
            <p:cNvSpPr/>
            <p:nvPr/>
          </p:nvSpPr>
          <p:spPr>
            <a:xfrm>
              <a:off x="1673056" y="3123181"/>
              <a:ext cx="1763016" cy="83403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g3edf2b460e5_6_16"/>
            <p:cNvSpPr/>
            <p:nvPr/>
          </p:nvSpPr>
          <p:spPr>
            <a:xfrm>
              <a:off x="1673056" y="2573075"/>
              <a:ext cx="1763016" cy="55010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g3edf2b460e5_6_16"/>
            <p:cNvSpPr txBox="1"/>
            <p:nvPr/>
          </p:nvSpPr>
          <p:spPr>
            <a:xfrm>
              <a:off x="1673056" y="2573075"/>
              <a:ext cx="1763016" cy="550105"/>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2"/>
                </a:buClr>
                <a:buSzPts val="1600"/>
                <a:buFont typeface="Arial"/>
                <a:buNone/>
              </a:pPr>
              <a:r>
                <a:rPr b="1" lang="en" sz="1600">
                  <a:solidFill>
                    <a:schemeClr val="dk2"/>
                  </a:solidFill>
                  <a:latin typeface="Arial"/>
                  <a:ea typeface="Arial"/>
                  <a:cs typeface="Arial"/>
                  <a:sym typeface="Arial"/>
                </a:rPr>
                <a:t>Preprocessing\</a:t>
              </a:r>
              <a:endParaRPr sz="1600">
                <a:solidFill>
                  <a:schemeClr val="dk2"/>
                </a:solidFill>
                <a:latin typeface="Arial"/>
                <a:ea typeface="Arial"/>
                <a:cs typeface="Arial"/>
                <a:sym typeface="Arial"/>
              </a:endParaRPr>
            </a:p>
            <a:p>
              <a:pPr indent="0" lvl="0" marL="0" marR="0" rtl="0" algn="l">
                <a:lnSpc>
                  <a:spcPct val="90000"/>
                </a:lnSpc>
                <a:spcBef>
                  <a:spcPts val="560"/>
                </a:spcBef>
                <a:spcAft>
                  <a:spcPts val="0"/>
                </a:spcAft>
                <a:buClr>
                  <a:schemeClr val="dk2"/>
                </a:buClr>
                <a:buSzPts val="1600"/>
                <a:buFont typeface="Arial"/>
                <a:buNone/>
              </a:pPr>
              <a:r>
                <a:rPr b="1" lang="en" sz="1600">
                  <a:solidFill>
                    <a:schemeClr val="dk2"/>
                  </a:solidFill>
                  <a:latin typeface="Arial"/>
                  <a:ea typeface="Arial"/>
                  <a:cs typeface="Arial"/>
                  <a:sym typeface="Arial"/>
                </a:rPr>
                <a:t>Cleaning + Merging</a:t>
              </a:r>
              <a:endParaRPr/>
            </a:p>
          </p:txBody>
        </p:sp>
        <p:sp>
          <p:nvSpPr>
            <p:cNvPr id="1325" name="Google Shape;1325;g3edf2b460e5_6_16"/>
            <p:cNvSpPr/>
            <p:nvPr/>
          </p:nvSpPr>
          <p:spPr>
            <a:xfrm>
              <a:off x="1393211" y="2218168"/>
              <a:ext cx="32922" cy="1774534"/>
            </a:xfrm>
            <a:prstGeom prst="rect">
              <a:avLst/>
            </a:prstGeom>
            <a:solidFill>
              <a:srgbClr val="1153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g3edf2b460e5_6_16"/>
            <p:cNvSpPr/>
            <p:nvPr/>
          </p:nvSpPr>
          <p:spPr>
            <a:xfrm>
              <a:off x="179181" y="2132568"/>
              <a:ext cx="171199" cy="171199"/>
            </a:xfrm>
            <a:prstGeom prst="ellipse">
              <a:avLst/>
            </a:prstGeom>
            <a:solidFill>
              <a:srgbClr val="155D8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g3edf2b460e5_6_16"/>
            <p:cNvSpPr/>
            <p:nvPr/>
          </p:nvSpPr>
          <p:spPr>
            <a:xfrm>
              <a:off x="1324073" y="2132568"/>
              <a:ext cx="171199" cy="171199"/>
            </a:xfrm>
            <a:prstGeom prst="ellipse">
              <a:avLst/>
            </a:prstGeom>
            <a:solidFill>
              <a:srgbClr val="155D8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g3edf2b460e5_6_16"/>
            <p:cNvSpPr/>
            <p:nvPr/>
          </p:nvSpPr>
          <p:spPr>
            <a:xfrm>
              <a:off x="2817948" y="1011484"/>
              <a:ext cx="1763016" cy="102923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g3edf2b460e5_6_16"/>
            <p:cNvSpPr/>
            <p:nvPr/>
          </p:nvSpPr>
          <p:spPr>
            <a:xfrm>
              <a:off x="2817948" y="479124"/>
              <a:ext cx="1763016" cy="53236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g3edf2b460e5_6_16"/>
            <p:cNvSpPr txBox="1"/>
            <p:nvPr/>
          </p:nvSpPr>
          <p:spPr>
            <a:xfrm>
              <a:off x="2817948" y="479124"/>
              <a:ext cx="1763016" cy="53236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600"/>
                <a:buFont typeface="Arial"/>
                <a:buNone/>
              </a:pPr>
              <a:r>
                <a:t/>
              </a:r>
              <a:endParaRPr sz="1600">
                <a:solidFill>
                  <a:schemeClr val="dk2"/>
                </a:solidFill>
                <a:latin typeface="Arial"/>
                <a:ea typeface="Arial"/>
                <a:cs typeface="Arial"/>
                <a:sym typeface="Arial"/>
              </a:endParaRPr>
            </a:p>
            <a:p>
              <a:pPr indent="0" lvl="0" marL="0" marR="0" rtl="0" algn="l">
                <a:lnSpc>
                  <a:spcPct val="90000"/>
                </a:lnSpc>
                <a:spcBef>
                  <a:spcPts val="560"/>
                </a:spcBef>
                <a:spcAft>
                  <a:spcPts val="0"/>
                </a:spcAft>
                <a:buClr>
                  <a:schemeClr val="dk1"/>
                </a:buClr>
                <a:buSzPts val="1600"/>
                <a:buFont typeface="Arial"/>
                <a:buNone/>
              </a:pPr>
              <a:r>
                <a:t/>
              </a:r>
              <a:endParaRPr sz="1600">
                <a:solidFill>
                  <a:schemeClr val="dk2"/>
                </a:solidFill>
                <a:latin typeface="Arial"/>
                <a:ea typeface="Arial"/>
                <a:cs typeface="Arial"/>
                <a:sym typeface="Arial"/>
              </a:endParaRPr>
            </a:p>
            <a:p>
              <a:pPr indent="0" lvl="0" marL="0" marR="0" rtl="0" algn="l">
                <a:lnSpc>
                  <a:spcPct val="90000"/>
                </a:lnSpc>
                <a:spcBef>
                  <a:spcPts val="560"/>
                </a:spcBef>
                <a:spcAft>
                  <a:spcPts val="0"/>
                </a:spcAft>
                <a:buClr>
                  <a:schemeClr val="dk2"/>
                </a:buClr>
                <a:buSzPts val="1600"/>
                <a:buFont typeface="Arial"/>
                <a:buNone/>
              </a:pPr>
              <a:r>
                <a:rPr b="1" lang="en" sz="1600">
                  <a:solidFill>
                    <a:schemeClr val="dk2"/>
                  </a:solidFill>
                  <a:latin typeface="Arial"/>
                  <a:ea typeface="Arial"/>
                  <a:cs typeface="Arial"/>
                  <a:sym typeface="Arial"/>
                </a:rPr>
                <a:t>Feature Engineering\Total_weight, diameter, length, wall\</a:t>
              </a:r>
              <a:endParaRPr sz="1600">
                <a:solidFill>
                  <a:schemeClr val="dk2"/>
                </a:solidFill>
                <a:latin typeface="Arial"/>
                <a:ea typeface="Arial"/>
                <a:cs typeface="Arial"/>
                <a:sym typeface="Arial"/>
              </a:endParaRPr>
            </a:p>
            <a:p>
              <a:pPr indent="0" lvl="0" marL="0" marR="0" rtl="0" algn="l">
                <a:lnSpc>
                  <a:spcPct val="90000"/>
                </a:lnSpc>
                <a:spcBef>
                  <a:spcPts val="560"/>
                </a:spcBef>
                <a:spcAft>
                  <a:spcPts val="0"/>
                </a:spcAft>
                <a:buClr>
                  <a:schemeClr val="dk2"/>
                </a:buClr>
                <a:buSzPts val="1600"/>
                <a:buFont typeface="Arial"/>
                <a:buNone/>
              </a:pPr>
              <a:r>
                <a:rPr b="1" lang="en" sz="1600">
                  <a:solidFill>
                    <a:schemeClr val="dk2"/>
                  </a:solidFill>
                  <a:latin typeface="Arial"/>
                  <a:ea typeface="Arial"/>
                  <a:cs typeface="Arial"/>
                  <a:sym typeface="Arial"/>
                </a:rPr>
                <a:t>Remove Redundant Features </a:t>
              </a:r>
              <a:endParaRPr sz="1600">
                <a:solidFill>
                  <a:schemeClr val="dk2"/>
                </a:solidFill>
                <a:latin typeface="Arial"/>
                <a:ea typeface="Arial"/>
                <a:cs typeface="Arial"/>
                <a:sym typeface="Arial"/>
              </a:endParaRPr>
            </a:p>
          </p:txBody>
        </p:sp>
        <p:sp>
          <p:nvSpPr>
            <p:cNvPr id="1331" name="Google Shape;1331;g3edf2b460e5_6_16"/>
            <p:cNvSpPr/>
            <p:nvPr/>
          </p:nvSpPr>
          <p:spPr>
            <a:xfrm>
              <a:off x="2538103" y="443633"/>
              <a:ext cx="32922" cy="1774534"/>
            </a:xfrm>
            <a:prstGeom prst="rect">
              <a:avLst/>
            </a:prstGeom>
            <a:solidFill>
              <a:srgbClr val="1153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g3edf2b460e5_6_16"/>
            <p:cNvSpPr/>
            <p:nvPr/>
          </p:nvSpPr>
          <p:spPr>
            <a:xfrm>
              <a:off x="3962839" y="3123181"/>
              <a:ext cx="1763016" cy="83403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g3edf2b460e5_6_16"/>
            <p:cNvSpPr/>
            <p:nvPr/>
          </p:nvSpPr>
          <p:spPr>
            <a:xfrm>
              <a:off x="3962839" y="2573075"/>
              <a:ext cx="1763016" cy="55010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g3edf2b460e5_6_16"/>
            <p:cNvSpPr txBox="1"/>
            <p:nvPr/>
          </p:nvSpPr>
          <p:spPr>
            <a:xfrm>
              <a:off x="3962839" y="2573075"/>
              <a:ext cx="1763016" cy="550105"/>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2"/>
                </a:buClr>
                <a:buSzPts val="1600"/>
                <a:buFont typeface="Arial"/>
                <a:buNone/>
              </a:pPr>
              <a:r>
                <a:rPr b="1" lang="en" sz="1600">
                  <a:solidFill>
                    <a:schemeClr val="dk2"/>
                  </a:solidFill>
                  <a:latin typeface="Arial"/>
                  <a:ea typeface="Arial"/>
                  <a:cs typeface="Arial"/>
                  <a:sym typeface="Arial"/>
                </a:rPr>
                <a:t>Target Transformation\</a:t>
              </a:r>
              <a:endParaRPr sz="1600">
                <a:solidFill>
                  <a:schemeClr val="dk2"/>
                </a:solidFill>
                <a:latin typeface="Arial"/>
                <a:ea typeface="Arial"/>
                <a:cs typeface="Arial"/>
                <a:sym typeface="Arial"/>
              </a:endParaRPr>
            </a:p>
            <a:p>
              <a:pPr indent="0" lvl="0" marL="0" marR="0" rtl="0" algn="l">
                <a:lnSpc>
                  <a:spcPct val="90000"/>
                </a:lnSpc>
                <a:spcBef>
                  <a:spcPts val="560"/>
                </a:spcBef>
                <a:spcAft>
                  <a:spcPts val="0"/>
                </a:spcAft>
                <a:buClr>
                  <a:schemeClr val="dk2"/>
                </a:buClr>
                <a:buSzPts val="1600"/>
                <a:buFont typeface="Arial"/>
                <a:buNone/>
              </a:pPr>
              <a:r>
                <a:rPr b="1" lang="en" sz="1600">
                  <a:solidFill>
                    <a:schemeClr val="dk2"/>
                  </a:solidFill>
                  <a:latin typeface="Arial"/>
                  <a:ea typeface="Arial"/>
                  <a:cs typeface="Arial"/>
                  <a:sym typeface="Arial"/>
                </a:rPr>
                <a:t>cost → cost_transformed ^(1/20)</a:t>
              </a:r>
              <a:endParaRPr/>
            </a:p>
          </p:txBody>
        </p:sp>
        <p:sp>
          <p:nvSpPr>
            <p:cNvPr id="1335" name="Google Shape;1335;g3edf2b460e5_6_16"/>
            <p:cNvSpPr/>
            <p:nvPr/>
          </p:nvSpPr>
          <p:spPr>
            <a:xfrm>
              <a:off x="3682995" y="2218168"/>
              <a:ext cx="32922" cy="1774534"/>
            </a:xfrm>
            <a:prstGeom prst="rect">
              <a:avLst/>
            </a:prstGeom>
            <a:solidFill>
              <a:srgbClr val="1153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g3edf2b460e5_6_16"/>
            <p:cNvSpPr/>
            <p:nvPr/>
          </p:nvSpPr>
          <p:spPr>
            <a:xfrm>
              <a:off x="2468965" y="2132568"/>
              <a:ext cx="171199" cy="171199"/>
            </a:xfrm>
            <a:prstGeom prst="ellipse">
              <a:avLst/>
            </a:prstGeom>
            <a:solidFill>
              <a:srgbClr val="155D8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g3edf2b460e5_6_16"/>
            <p:cNvSpPr/>
            <p:nvPr/>
          </p:nvSpPr>
          <p:spPr>
            <a:xfrm>
              <a:off x="3613856" y="2132568"/>
              <a:ext cx="171199" cy="171199"/>
            </a:xfrm>
            <a:prstGeom prst="ellipse">
              <a:avLst/>
            </a:prstGeom>
            <a:solidFill>
              <a:srgbClr val="155D8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g3edf2b460e5_6_16"/>
            <p:cNvSpPr/>
            <p:nvPr/>
          </p:nvSpPr>
          <p:spPr>
            <a:xfrm>
              <a:off x="5107731" y="1011484"/>
              <a:ext cx="1763016" cy="102923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g3edf2b460e5_6_16"/>
            <p:cNvSpPr/>
            <p:nvPr/>
          </p:nvSpPr>
          <p:spPr>
            <a:xfrm>
              <a:off x="5107731" y="479124"/>
              <a:ext cx="1763016" cy="53236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g3edf2b460e5_6_16"/>
            <p:cNvSpPr txBox="1"/>
            <p:nvPr/>
          </p:nvSpPr>
          <p:spPr>
            <a:xfrm>
              <a:off x="5107731" y="479124"/>
              <a:ext cx="1763016" cy="53236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2"/>
                </a:buClr>
                <a:buSzPts val="1600"/>
                <a:buFont typeface="Arial"/>
                <a:buNone/>
              </a:pPr>
              <a:r>
                <a:rPr b="1" lang="en" sz="1600">
                  <a:solidFill>
                    <a:schemeClr val="dk2"/>
                  </a:solidFill>
                  <a:latin typeface="Arial"/>
                  <a:ea typeface="Arial"/>
                  <a:cs typeface="Arial"/>
                  <a:sym typeface="Arial"/>
                </a:rPr>
                <a:t>Feature Selection\ f_regression + Permutation Importance</a:t>
              </a:r>
              <a:endParaRPr/>
            </a:p>
          </p:txBody>
        </p:sp>
        <p:sp>
          <p:nvSpPr>
            <p:cNvPr id="1341" name="Google Shape;1341;g3edf2b460e5_6_16"/>
            <p:cNvSpPr/>
            <p:nvPr/>
          </p:nvSpPr>
          <p:spPr>
            <a:xfrm>
              <a:off x="4827886" y="443633"/>
              <a:ext cx="32922" cy="1774534"/>
            </a:xfrm>
            <a:prstGeom prst="rect">
              <a:avLst/>
            </a:prstGeom>
            <a:solidFill>
              <a:srgbClr val="1153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g3edf2b460e5_6_16"/>
            <p:cNvSpPr/>
            <p:nvPr/>
          </p:nvSpPr>
          <p:spPr>
            <a:xfrm>
              <a:off x="6252623" y="3123181"/>
              <a:ext cx="1763016" cy="83403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g3edf2b460e5_6_16"/>
            <p:cNvSpPr/>
            <p:nvPr/>
          </p:nvSpPr>
          <p:spPr>
            <a:xfrm>
              <a:off x="6252623" y="2573075"/>
              <a:ext cx="1763016" cy="55010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g3edf2b460e5_6_16"/>
            <p:cNvSpPr txBox="1"/>
            <p:nvPr/>
          </p:nvSpPr>
          <p:spPr>
            <a:xfrm>
              <a:off x="6252623" y="2573075"/>
              <a:ext cx="1763016" cy="550105"/>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2"/>
                </a:buClr>
                <a:buSzPts val="1600"/>
                <a:buFont typeface="Arial"/>
                <a:buNone/>
              </a:pPr>
              <a:r>
                <a:rPr b="1" lang="en" sz="1600">
                  <a:solidFill>
                    <a:schemeClr val="dk2"/>
                  </a:solidFill>
                  <a:latin typeface="Arial"/>
                  <a:ea typeface="Arial"/>
                  <a:cs typeface="Arial"/>
                  <a:sym typeface="Arial"/>
                </a:rPr>
                <a:t>Model Training\</a:t>
              </a:r>
              <a:endParaRPr sz="1600">
                <a:solidFill>
                  <a:schemeClr val="dk2"/>
                </a:solidFill>
                <a:latin typeface="Arial"/>
                <a:ea typeface="Arial"/>
                <a:cs typeface="Arial"/>
                <a:sym typeface="Arial"/>
              </a:endParaRPr>
            </a:p>
            <a:p>
              <a:pPr indent="0" lvl="0" marL="0" marR="0" rtl="0" algn="l">
                <a:lnSpc>
                  <a:spcPct val="90000"/>
                </a:lnSpc>
                <a:spcBef>
                  <a:spcPts val="560"/>
                </a:spcBef>
                <a:spcAft>
                  <a:spcPts val="0"/>
                </a:spcAft>
                <a:buClr>
                  <a:schemeClr val="dk2"/>
                </a:buClr>
                <a:buSzPts val="1600"/>
                <a:buFont typeface="Arial"/>
                <a:buNone/>
              </a:pPr>
              <a:r>
                <a:rPr b="1" lang="en" sz="1600">
                  <a:solidFill>
                    <a:schemeClr val="dk2"/>
                  </a:solidFill>
                  <a:latin typeface="Arial"/>
                  <a:ea typeface="Arial"/>
                  <a:cs typeface="Arial"/>
                  <a:sym typeface="Arial"/>
                </a:rPr>
                <a:t>CatBoost + HistGradientBoosting</a:t>
              </a:r>
              <a:endParaRPr sz="1600">
                <a:solidFill>
                  <a:schemeClr val="dk2"/>
                </a:solidFill>
                <a:latin typeface="Arial"/>
                <a:ea typeface="Arial"/>
                <a:cs typeface="Arial"/>
                <a:sym typeface="Arial"/>
              </a:endParaRPr>
            </a:p>
          </p:txBody>
        </p:sp>
        <p:sp>
          <p:nvSpPr>
            <p:cNvPr id="1345" name="Google Shape;1345;g3edf2b460e5_6_16"/>
            <p:cNvSpPr/>
            <p:nvPr/>
          </p:nvSpPr>
          <p:spPr>
            <a:xfrm>
              <a:off x="5972778" y="2218168"/>
              <a:ext cx="32922" cy="1774534"/>
            </a:xfrm>
            <a:prstGeom prst="rect">
              <a:avLst/>
            </a:prstGeom>
            <a:solidFill>
              <a:srgbClr val="1153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g3edf2b460e5_6_16"/>
            <p:cNvSpPr/>
            <p:nvPr/>
          </p:nvSpPr>
          <p:spPr>
            <a:xfrm>
              <a:off x="4758748" y="2132568"/>
              <a:ext cx="171199" cy="171199"/>
            </a:xfrm>
            <a:prstGeom prst="ellipse">
              <a:avLst/>
            </a:prstGeom>
            <a:solidFill>
              <a:srgbClr val="155D8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g3edf2b460e5_6_16"/>
            <p:cNvSpPr/>
            <p:nvPr/>
          </p:nvSpPr>
          <p:spPr>
            <a:xfrm>
              <a:off x="5903640" y="2132568"/>
              <a:ext cx="171199" cy="171199"/>
            </a:xfrm>
            <a:prstGeom prst="ellipse">
              <a:avLst/>
            </a:prstGeom>
            <a:solidFill>
              <a:srgbClr val="155D8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g3edf2b460e5_6_16"/>
            <p:cNvSpPr/>
            <p:nvPr/>
          </p:nvSpPr>
          <p:spPr>
            <a:xfrm>
              <a:off x="7397515" y="1011484"/>
              <a:ext cx="1763016" cy="102923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g3edf2b460e5_6_16"/>
            <p:cNvSpPr/>
            <p:nvPr/>
          </p:nvSpPr>
          <p:spPr>
            <a:xfrm>
              <a:off x="7397515" y="479124"/>
              <a:ext cx="1763016" cy="53236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g3edf2b460e5_6_16"/>
            <p:cNvSpPr txBox="1"/>
            <p:nvPr/>
          </p:nvSpPr>
          <p:spPr>
            <a:xfrm>
              <a:off x="7397515" y="479124"/>
              <a:ext cx="1763016" cy="53236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600"/>
                <a:buFont typeface="Arial"/>
                <a:buNone/>
              </a:pPr>
              <a:r>
                <a:t/>
              </a:r>
              <a:endParaRPr sz="1600">
                <a:solidFill>
                  <a:schemeClr val="dk2"/>
                </a:solidFill>
                <a:latin typeface="Arial"/>
                <a:ea typeface="Arial"/>
                <a:cs typeface="Arial"/>
                <a:sym typeface="Arial"/>
              </a:endParaRPr>
            </a:p>
            <a:p>
              <a:pPr indent="0" lvl="0" marL="0" marR="0" rtl="0" algn="l">
                <a:lnSpc>
                  <a:spcPct val="90000"/>
                </a:lnSpc>
                <a:spcBef>
                  <a:spcPts val="560"/>
                </a:spcBef>
                <a:spcAft>
                  <a:spcPts val="0"/>
                </a:spcAft>
                <a:buClr>
                  <a:schemeClr val="dk2"/>
                </a:buClr>
                <a:buSzPts val="1600"/>
                <a:buFont typeface="Arial"/>
                <a:buNone/>
              </a:pPr>
              <a:r>
                <a:rPr b="1" lang="en" sz="1600">
                  <a:solidFill>
                    <a:schemeClr val="dk2"/>
                  </a:solidFill>
                  <a:latin typeface="Arial"/>
                  <a:ea typeface="Arial"/>
                  <a:cs typeface="Arial"/>
                  <a:sym typeface="Arial"/>
                </a:rPr>
                <a:t>Evaluation\</a:t>
              </a:r>
              <a:endParaRPr sz="1600">
                <a:solidFill>
                  <a:schemeClr val="dk2"/>
                </a:solidFill>
                <a:latin typeface="Arial"/>
                <a:ea typeface="Arial"/>
                <a:cs typeface="Arial"/>
                <a:sym typeface="Arial"/>
              </a:endParaRPr>
            </a:p>
            <a:p>
              <a:pPr indent="0" lvl="0" marL="0" marR="0" rtl="0" algn="l">
                <a:lnSpc>
                  <a:spcPct val="90000"/>
                </a:lnSpc>
                <a:spcBef>
                  <a:spcPts val="560"/>
                </a:spcBef>
                <a:spcAft>
                  <a:spcPts val="0"/>
                </a:spcAft>
                <a:buClr>
                  <a:schemeClr val="dk2"/>
                </a:buClr>
                <a:buSzPts val="1600"/>
                <a:buFont typeface="Arial"/>
                <a:buNone/>
              </a:pPr>
              <a:r>
                <a:rPr b="1" lang="en" sz="1600">
                  <a:solidFill>
                    <a:schemeClr val="dk2"/>
                  </a:solidFill>
                  <a:latin typeface="Arial"/>
                  <a:ea typeface="Arial"/>
                  <a:cs typeface="Arial"/>
                  <a:sym typeface="Arial"/>
                </a:rPr>
                <a:t>Train/Val/Test Split\</a:t>
              </a:r>
              <a:endParaRPr sz="1600">
                <a:solidFill>
                  <a:schemeClr val="dk2"/>
                </a:solidFill>
                <a:latin typeface="Arial"/>
                <a:ea typeface="Arial"/>
                <a:cs typeface="Arial"/>
                <a:sym typeface="Arial"/>
              </a:endParaRPr>
            </a:p>
            <a:p>
              <a:pPr indent="0" lvl="0" marL="0" marR="0" rtl="0" algn="l">
                <a:lnSpc>
                  <a:spcPct val="90000"/>
                </a:lnSpc>
                <a:spcBef>
                  <a:spcPts val="560"/>
                </a:spcBef>
                <a:spcAft>
                  <a:spcPts val="0"/>
                </a:spcAft>
                <a:buClr>
                  <a:schemeClr val="dk2"/>
                </a:buClr>
                <a:buSzPts val="1600"/>
                <a:buFont typeface="Arial"/>
                <a:buNone/>
              </a:pPr>
              <a:r>
                <a:rPr b="1" lang="en" sz="1600">
                  <a:solidFill>
                    <a:schemeClr val="dk2"/>
                  </a:solidFill>
                  <a:latin typeface="Arial"/>
                  <a:ea typeface="Arial"/>
                  <a:cs typeface="Arial"/>
                  <a:sym typeface="Arial"/>
                </a:rPr>
                <a:t>5-Fold CV\</a:t>
              </a:r>
              <a:endParaRPr sz="1600">
                <a:solidFill>
                  <a:schemeClr val="dk2"/>
                </a:solidFill>
                <a:latin typeface="Arial"/>
                <a:ea typeface="Arial"/>
                <a:cs typeface="Arial"/>
                <a:sym typeface="Arial"/>
              </a:endParaRPr>
            </a:p>
            <a:p>
              <a:pPr indent="0" lvl="0" marL="0" marR="0" rtl="0" algn="l">
                <a:lnSpc>
                  <a:spcPct val="90000"/>
                </a:lnSpc>
                <a:spcBef>
                  <a:spcPts val="560"/>
                </a:spcBef>
                <a:spcAft>
                  <a:spcPts val="0"/>
                </a:spcAft>
                <a:buClr>
                  <a:schemeClr val="dk2"/>
                </a:buClr>
                <a:buSzPts val="1600"/>
                <a:buFont typeface="Arial"/>
                <a:buNone/>
              </a:pPr>
              <a:r>
                <a:rPr b="1" lang="en" sz="1600">
                  <a:solidFill>
                    <a:schemeClr val="dk2"/>
                  </a:solidFill>
                  <a:latin typeface="Arial"/>
                  <a:ea typeface="Arial"/>
                  <a:cs typeface="Arial"/>
                  <a:sym typeface="Arial"/>
                </a:rPr>
                <a:t>Early Stopping</a:t>
              </a:r>
              <a:endParaRPr/>
            </a:p>
          </p:txBody>
        </p:sp>
        <p:sp>
          <p:nvSpPr>
            <p:cNvPr id="1351" name="Google Shape;1351;g3edf2b460e5_6_16"/>
            <p:cNvSpPr/>
            <p:nvPr/>
          </p:nvSpPr>
          <p:spPr>
            <a:xfrm>
              <a:off x="7117670" y="443633"/>
              <a:ext cx="32922" cy="1774534"/>
            </a:xfrm>
            <a:prstGeom prst="rect">
              <a:avLst/>
            </a:prstGeom>
            <a:solidFill>
              <a:srgbClr val="1153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g3edf2b460e5_6_16"/>
            <p:cNvSpPr/>
            <p:nvPr/>
          </p:nvSpPr>
          <p:spPr>
            <a:xfrm>
              <a:off x="8542406" y="3123181"/>
              <a:ext cx="1763016" cy="83403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g3edf2b460e5_6_16"/>
            <p:cNvSpPr/>
            <p:nvPr/>
          </p:nvSpPr>
          <p:spPr>
            <a:xfrm>
              <a:off x="8542406" y="2573075"/>
              <a:ext cx="1763016" cy="55010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g3edf2b460e5_6_16"/>
            <p:cNvSpPr txBox="1"/>
            <p:nvPr/>
          </p:nvSpPr>
          <p:spPr>
            <a:xfrm>
              <a:off x="8542406" y="2573075"/>
              <a:ext cx="1763016" cy="550105"/>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2"/>
                </a:buClr>
                <a:buSzPts val="1600"/>
                <a:buFont typeface="Arial"/>
                <a:buNone/>
              </a:pPr>
              <a:r>
                <a:rPr b="1" lang="en" sz="1600">
                  <a:solidFill>
                    <a:schemeClr val="dk2"/>
                  </a:solidFill>
                  <a:latin typeface="Arial"/>
                  <a:ea typeface="Arial"/>
                  <a:cs typeface="Arial"/>
                  <a:sym typeface="Arial"/>
                </a:rPr>
                <a:t>Interpretation\</a:t>
              </a:r>
              <a:endParaRPr sz="1600">
                <a:solidFill>
                  <a:schemeClr val="dk2"/>
                </a:solidFill>
                <a:latin typeface="Arial"/>
                <a:ea typeface="Arial"/>
                <a:cs typeface="Arial"/>
                <a:sym typeface="Arial"/>
              </a:endParaRPr>
            </a:p>
            <a:p>
              <a:pPr indent="0" lvl="0" marL="0" marR="0" rtl="0" algn="l">
                <a:lnSpc>
                  <a:spcPct val="90000"/>
                </a:lnSpc>
                <a:spcBef>
                  <a:spcPts val="560"/>
                </a:spcBef>
                <a:spcAft>
                  <a:spcPts val="0"/>
                </a:spcAft>
                <a:buClr>
                  <a:schemeClr val="dk2"/>
                </a:buClr>
                <a:buSzPts val="1600"/>
                <a:buFont typeface="Arial"/>
                <a:buNone/>
              </a:pPr>
              <a:r>
                <a:rPr b="1" lang="en" sz="1600">
                  <a:solidFill>
                    <a:schemeClr val="dk2"/>
                  </a:solidFill>
                  <a:latin typeface="Arial"/>
                  <a:ea typeface="Arial"/>
                  <a:cs typeface="Arial"/>
                  <a:sym typeface="Arial"/>
                </a:rPr>
                <a:t>SHAP Analysis</a:t>
              </a:r>
              <a:endParaRPr/>
            </a:p>
          </p:txBody>
        </p:sp>
        <p:sp>
          <p:nvSpPr>
            <p:cNvPr id="1355" name="Google Shape;1355;g3edf2b460e5_6_16"/>
            <p:cNvSpPr/>
            <p:nvPr/>
          </p:nvSpPr>
          <p:spPr>
            <a:xfrm>
              <a:off x="8262561" y="2218168"/>
              <a:ext cx="32922" cy="1774534"/>
            </a:xfrm>
            <a:prstGeom prst="rect">
              <a:avLst/>
            </a:prstGeom>
            <a:solidFill>
              <a:srgbClr val="1153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g3edf2b460e5_6_16"/>
            <p:cNvSpPr/>
            <p:nvPr/>
          </p:nvSpPr>
          <p:spPr>
            <a:xfrm>
              <a:off x="7048532" y="2132568"/>
              <a:ext cx="171199" cy="171199"/>
            </a:xfrm>
            <a:prstGeom prst="ellipse">
              <a:avLst/>
            </a:prstGeom>
            <a:solidFill>
              <a:srgbClr val="155D8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g3edf2b460e5_6_16"/>
            <p:cNvSpPr/>
            <p:nvPr/>
          </p:nvSpPr>
          <p:spPr>
            <a:xfrm>
              <a:off x="8193423" y="2132568"/>
              <a:ext cx="171199" cy="171199"/>
            </a:xfrm>
            <a:prstGeom prst="ellipse">
              <a:avLst/>
            </a:prstGeom>
            <a:solidFill>
              <a:srgbClr val="155D8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g3edf2b460e5_6_16"/>
            <p:cNvSpPr/>
            <p:nvPr/>
          </p:nvSpPr>
          <p:spPr>
            <a:xfrm>
              <a:off x="9687298" y="1011484"/>
              <a:ext cx="1763016" cy="102923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g3edf2b460e5_6_16"/>
            <p:cNvSpPr/>
            <p:nvPr/>
          </p:nvSpPr>
          <p:spPr>
            <a:xfrm>
              <a:off x="9687298" y="479124"/>
              <a:ext cx="1763016" cy="53236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g3edf2b460e5_6_16"/>
            <p:cNvSpPr txBox="1"/>
            <p:nvPr/>
          </p:nvSpPr>
          <p:spPr>
            <a:xfrm>
              <a:off x="9687298" y="479124"/>
              <a:ext cx="1763016" cy="53236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600"/>
                <a:buFont typeface="Arial"/>
                <a:buNone/>
              </a:pPr>
              <a:r>
                <a:t/>
              </a:r>
              <a:endParaRPr sz="1600">
                <a:solidFill>
                  <a:schemeClr val="dk2"/>
                </a:solidFill>
                <a:latin typeface="Arial"/>
                <a:ea typeface="Arial"/>
                <a:cs typeface="Arial"/>
                <a:sym typeface="Arial"/>
              </a:endParaRPr>
            </a:p>
            <a:p>
              <a:pPr indent="0" lvl="0" marL="0" marR="0" rtl="0" algn="l">
                <a:lnSpc>
                  <a:spcPct val="90000"/>
                </a:lnSpc>
                <a:spcBef>
                  <a:spcPts val="560"/>
                </a:spcBef>
                <a:spcAft>
                  <a:spcPts val="0"/>
                </a:spcAft>
                <a:buClr>
                  <a:schemeClr val="dk1"/>
                </a:buClr>
                <a:buSzPts val="1600"/>
                <a:buFont typeface="Arial"/>
                <a:buNone/>
              </a:pPr>
              <a:r>
                <a:t/>
              </a:r>
              <a:endParaRPr sz="1600">
                <a:solidFill>
                  <a:schemeClr val="dk2"/>
                </a:solidFill>
                <a:latin typeface="Arial"/>
                <a:ea typeface="Arial"/>
                <a:cs typeface="Arial"/>
                <a:sym typeface="Arial"/>
              </a:endParaRPr>
            </a:p>
            <a:p>
              <a:pPr indent="0" lvl="0" marL="0" marR="0" rtl="0" algn="l">
                <a:lnSpc>
                  <a:spcPct val="90000"/>
                </a:lnSpc>
                <a:spcBef>
                  <a:spcPts val="560"/>
                </a:spcBef>
                <a:spcAft>
                  <a:spcPts val="0"/>
                </a:spcAft>
                <a:buClr>
                  <a:schemeClr val="dk2"/>
                </a:buClr>
                <a:buSzPts val="1600"/>
                <a:buFont typeface="Arial"/>
                <a:buNone/>
              </a:pPr>
              <a:r>
                <a:rPr b="1" lang="en" sz="1600">
                  <a:solidFill>
                    <a:schemeClr val="dk2"/>
                  </a:solidFill>
                  <a:latin typeface="Arial"/>
                  <a:ea typeface="Arial"/>
                  <a:cs typeface="Arial"/>
                  <a:sym typeface="Arial"/>
                </a:rPr>
                <a:t>Final Output\</a:t>
              </a:r>
              <a:endParaRPr sz="1600">
                <a:solidFill>
                  <a:schemeClr val="dk2"/>
                </a:solidFill>
                <a:latin typeface="Arial"/>
                <a:ea typeface="Arial"/>
                <a:cs typeface="Arial"/>
                <a:sym typeface="Arial"/>
              </a:endParaRPr>
            </a:p>
            <a:p>
              <a:pPr indent="0" lvl="0" marL="0" marR="0" rtl="0" algn="l">
                <a:lnSpc>
                  <a:spcPct val="90000"/>
                </a:lnSpc>
                <a:spcBef>
                  <a:spcPts val="560"/>
                </a:spcBef>
                <a:spcAft>
                  <a:spcPts val="0"/>
                </a:spcAft>
                <a:buClr>
                  <a:schemeClr val="dk2"/>
                </a:buClr>
                <a:buSzPts val="1600"/>
                <a:buFont typeface="Arial"/>
                <a:buNone/>
              </a:pPr>
              <a:r>
                <a:rPr b="1" lang="en" sz="1600">
                  <a:solidFill>
                    <a:schemeClr val="dk2"/>
                  </a:solidFill>
                  <a:latin typeface="Arial"/>
                  <a:ea typeface="Arial"/>
                  <a:cs typeface="Arial"/>
                  <a:sym typeface="Arial"/>
                </a:rPr>
                <a:t>Cost Predictions\</a:t>
              </a:r>
              <a:endParaRPr sz="1600">
                <a:solidFill>
                  <a:schemeClr val="dk2"/>
                </a:solidFill>
                <a:latin typeface="Arial"/>
                <a:ea typeface="Arial"/>
                <a:cs typeface="Arial"/>
                <a:sym typeface="Arial"/>
              </a:endParaRPr>
            </a:p>
            <a:p>
              <a:pPr indent="0" lvl="0" marL="0" marR="0" rtl="0" algn="l">
                <a:lnSpc>
                  <a:spcPct val="90000"/>
                </a:lnSpc>
                <a:spcBef>
                  <a:spcPts val="560"/>
                </a:spcBef>
                <a:spcAft>
                  <a:spcPts val="0"/>
                </a:spcAft>
                <a:buClr>
                  <a:schemeClr val="dk2"/>
                </a:buClr>
                <a:buSzPts val="1600"/>
                <a:buFont typeface="Arial"/>
                <a:buNone/>
              </a:pPr>
              <a:r>
                <a:rPr b="1" lang="en" sz="1600">
                  <a:solidFill>
                    <a:schemeClr val="dk2"/>
                  </a:solidFill>
                  <a:latin typeface="Arial"/>
                  <a:ea typeface="Arial"/>
                  <a:cs typeface="Arial"/>
                  <a:sym typeface="Arial"/>
                </a:rPr>
                <a:t>Performance Metrics MAPE </a:t>
              </a:r>
              <a:endParaRPr/>
            </a:p>
          </p:txBody>
        </p:sp>
        <p:sp>
          <p:nvSpPr>
            <p:cNvPr id="1361" name="Google Shape;1361;g3edf2b460e5_6_16"/>
            <p:cNvSpPr/>
            <p:nvPr/>
          </p:nvSpPr>
          <p:spPr>
            <a:xfrm>
              <a:off x="9407453" y="443633"/>
              <a:ext cx="32922" cy="1774534"/>
            </a:xfrm>
            <a:prstGeom prst="rect">
              <a:avLst/>
            </a:prstGeom>
            <a:solidFill>
              <a:srgbClr val="1153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g3edf2b460e5_6_16"/>
            <p:cNvSpPr/>
            <p:nvPr/>
          </p:nvSpPr>
          <p:spPr>
            <a:xfrm>
              <a:off x="9338315" y="2132568"/>
              <a:ext cx="171199" cy="171199"/>
            </a:xfrm>
            <a:prstGeom prst="ellipse">
              <a:avLst/>
            </a:prstGeom>
            <a:solidFill>
              <a:srgbClr val="155D8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6" name="Shape 1366"/>
        <p:cNvGrpSpPr/>
        <p:nvPr/>
      </p:nvGrpSpPr>
      <p:grpSpPr>
        <a:xfrm>
          <a:off x="0" y="0"/>
          <a:ext cx="0" cy="0"/>
          <a:chOff x="0" y="0"/>
          <a:chExt cx="0" cy="0"/>
        </a:xfrm>
      </p:grpSpPr>
      <p:sp>
        <p:nvSpPr>
          <p:cNvPr id="1367" name="Google Shape;1367;g3edf2b460e5_6_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grpSp>
        <p:nvGrpSpPr>
          <p:cNvPr id="1368" name="Google Shape;1368;g3edf2b460e5_6_70"/>
          <p:cNvGrpSpPr/>
          <p:nvPr/>
        </p:nvGrpSpPr>
        <p:grpSpPr>
          <a:xfrm>
            <a:off x="433940" y="907552"/>
            <a:ext cx="10286645" cy="5042895"/>
            <a:chOff x="0" y="615"/>
            <a:chExt cx="10286645" cy="5042895"/>
          </a:xfrm>
        </p:grpSpPr>
        <p:sp>
          <p:nvSpPr>
            <p:cNvPr id="1369" name="Google Shape;1369;g3edf2b460e5_6_70"/>
            <p:cNvSpPr/>
            <p:nvPr/>
          </p:nvSpPr>
          <p:spPr>
            <a:xfrm>
              <a:off x="0" y="615"/>
              <a:ext cx="10286645" cy="1440827"/>
            </a:xfrm>
            <a:prstGeom prst="roundRect">
              <a:avLst>
                <a:gd fmla="val 10000" name="adj"/>
              </a:avLst>
            </a:prstGeom>
            <a:solidFill>
              <a:srgbClr val="CAD1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g3edf2b460e5_6_70"/>
            <p:cNvSpPr/>
            <p:nvPr/>
          </p:nvSpPr>
          <p:spPr>
            <a:xfrm>
              <a:off x="435850" y="324801"/>
              <a:ext cx="792454" cy="792454"/>
            </a:xfrm>
            <a:prstGeom prst="rect">
              <a:avLst/>
            </a:prstGeom>
            <a:no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g3edf2b460e5_6_70"/>
            <p:cNvSpPr/>
            <p:nvPr/>
          </p:nvSpPr>
          <p:spPr>
            <a:xfrm>
              <a:off x="1664155" y="615"/>
              <a:ext cx="8622489" cy="144082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g3edf2b460e5_6_70"/>
            <p:cNvSpPr txBox="1"/>
            <p:nvPr/>
          </p:nvSpPr>
          <p:spPr>
            <a:xfrm>
              <a:off x="1664155" y="615"/>
              <a:ext cx="8622489" cy="1440827"/>
            </a:xfrm>
            <a:prstGeom prst="rect">
              <a:avLst/>
            </a:prstGeom>
            <a:noFill/>
            <a:ln>
              <a:noFill/>
            </a:ln>
          </p:spPr>
          <p:txBody>
            <a:bodyPr anchorCtr="0" anchor="ctr" bIns="152475" lIns="152475" spcFirstLastPara="1" rIns="152475" wrap="square" tIns="152475">
              <a:noAutofit/>
            </a:bodyPr>
            <a:lstStyle/>
            <a:p>
              <a:pPr indent="0" lvl="0" marL="0" marR="0" rtl="0" algn="l">
                <a:lnSpc>
                  <a:spcPct val="100000"/>
                </a:lnSpc>
                <a:spcBef>
                  <a:spcPts val="0"/>
                </a:spcBef>
                <a:spcAft>
                  <a:spcPts val="0"/>
                </a:spcAft>
                <a:buClr>
                  <a:schemeClr val="dk1"/>
                </a:buClr>
                <a:buSzPts val="2400"/>
                <a:buFont typeface="Arial"/>
                <a:buNone/>
              </a:pPr>
              <a:r>
                <a:rPr b="1" lang="en" sz="2400">
                  <a:solidFill>
                    <a:schemeClr val="dk1"/>
                  </a:solidFill>
                  <a:latin typeface="Arial"/>
                  <a:ea typeface="Arial"/>
                  <a:cs typeface="Arial"/>
                  <a:sym typeface="Arial"/>
                </a:rPr>
                <a:t>MAPE (Mean Absolute Percentage Error)</a:t>
              </a:r>
              <a:r>
                <a:rPr lang="en" sz="2400">
                  <a:solidFill>
                    <a:schemeClr val="dk1"/>
                  </a:solidFill>
                  <a:latin typeface="Arial"/>
                  <a:ea typeface="Arial"/>
                  <a:cs typeface="Arial"/>
                  <a:sym typeface="Arial"/>
                </a:rPr>
                <a:t> Average percentage error between actual and predicted cost. </a:t>
              </a:r>
              <a:r>
                <a:rPr b="1" lang="en" sz="2400">
                  <a:solidFill>
                    <a:schemeClr val="dk1"/>
                  </a:solidFill>
                  <a:latin typeface="Arial"/>
                  <a:ea typeface="Arial"/>
                  <a:cs typeface="Arial"/>
                  <a:sym typeface="Arial"/>
                </a:rPr>
                <a:t>Most important business metric</a:t>
              </a:r>
              <a:r>
                <a:rPr lang="en" sz="2400">
                  <a:solidFill>
                    <a:schemeClr val="dk1"/>
                  </a:solidFill>
                  <a:latin typeface="Arial"/>
                  <a:ea typeface="Arial"/>
                  <a:cs typeface="Arial"/>
                  <a:sym typeface="Arial"/>
                </a:rPr>
                <a:t> </a:t>
              </a:r>
              <a:endParaRPr/>
            </a:p>
          </p:txBody>
        </p:sp>
        <p:sp>
          <p:nvSpPr>
            <p:cNvPr id="1373" name="Google Shape;1373;g3edf2b460e5_6_70"/>
            <p:cNvSpPr/>
            <p:nvPr/>
          </p:nvSpPr>
          <p:spPr>
            <a:xfrm>
              <a:off x="0" y="1801649"/>
              <a:ext cx="10286645" cy="1440827"/>
            </a:xfrm>
            <a:prstGeom prst="roundRect">
              <a:avLst>
                <a:gd fmla="val 10000" name="adj"/>
              </a:avLst>
            </a:prstGeom>
            <a:solidFill>
              <a:srgbClr val="CAD1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g3edf2b460e5_6_70"/>
            <p:cNvSpPr/>
            <p:nvPr/>
          </p:nvSpPr>
          <p:spPr>
            <a:xfrm>
              <a:off x="435850" y="2125835"/>
              <a:ext cx="792454" cy="792454"/>
            </a:xfrm>
            <a:prstGeom prst="rect">
              <a:avLst/>
            </a:prstGeom>
            <a:no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g3edf2b460e5_6_70"/>
            <p:cNvSpPr/>
            <p:nvPr/>
          </p:nvSpPr>
          <p:spPr>
            <a:xfrm>
              <a:off x="1664155" y="1801649"/>
              <a:ext cx="8622489" cy="144082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g3edf2b460e5_6_70"/>
            <p:cNvSpPr txBox="1"/>
            <p:nvPr/>
          </p:nvSpPr>
          <p:spPr>
            <a:xfrm>
              <a:off x="1664155" y="1801649"/>
              <a:ext cx="8622489" cy="1440827"/>
            </a:xfrm>
            <a:prstGeom prst="rect">
              <a:avLst/>
            </a:prstGeom>
            <a:noFill/>
            <a:ln>
              <a:noFill/>
            </a:ln>
          </p:spPr>
          <p:txBody>
            <a:bodyPr anchorCtr="0" anchor="ctr" bIns="152475" lIns="152475" spcFirstLastPara="1" rIns="152475" wrap="square" tIns="152475">
              <a:noAutofit/>
            </a:bodyPr>
            <a:lstStyle/>
            <a:p>
              <a:pPr indent="0" lvl="0" marL="0" marR="0" rtl="0" algn="l">
                <a:lnSpc>
                  <a:spcPct val="100000"/>
                </a:lnSpc>
                <a:spcBef>
                  <a:spcPts val="0"/>
                </a:spcBef>
                <a:spcAft>
                  <a:spcPts val="0"/>
                </a:spcAft>
                <a:buClr>
                  <a:schemeClr val="dk1"/>
                </a:buClr>
                <a:buSzPts val="2400"/>
                <a:buFont typeface="Arial"/>
                <a:buNone/>
              </a:pPr>
              <a:r>
                <a:rPr b="1" lang="en" sz="2400">
                  <a:solidFill>
                    <a:schemeClr val="dk1"/>
                  </a:solidFill>
                  <a:latin typeface="Arial"/>
                  <a:ea typeface="Arial"/>
                  <a:cs typeface="Arial"/>
                  <a:sym typeface="Arial"/>
                </a:rPr>
                <a:t>MAE (Mean Absolute Error)</a:t>
              </a:r>
              <a:r>
                <a:rPr lang="en" sz="2400">
                  <a:solidFill>
                    <a:schemeClr val="dk1"/>
                  </a:solidFill>
                  <a:latin typeface="Arial"/>
                  <a:ea typeface="Arial"/>
                  <a:cs typeface="Arial"/>
                  <a:sym typeface="Arial"/>
                </a:rPr>
                <a:t> Average absolute unit error(for example USD), Shows typical deviation </a:t>
              </a:r>
              <a:endParaRPr/>
            </a:p>
          </p:txBody>
        </p:sp>
        <p:sp>
          <p:nvSpPr>
            <p:cNvPr id="1377" name="Google Shape;1377;g3edf2b460e5_6_70"/>
            <p:cNvSpPr/>
            <p:nvPr/>
          </p:nvSpPr>
          <p:spPr>
            <a:xfrm>
              <a:off x="0" y="3602683"/>
              <a:ext cx="10286645" cy="1440827"/>
            </a:xfrm>
            <a:prstGeom prst="roundRect">
              <a:avLst>
                <a:gd fmla="val 10000" name="adj"/>
              </a:avLst>
            </a:prstGeom>
            <a:solidFill>
              <a:srgbClr val="CAD1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g3edf2b460e5_6_70"/>
            <p:cNvSpPr/>
            <p:nvPr/>
          </p:nvSpPr>
          <p:spPr>
            <a:xfrm>
              <a:off x="435850" y="3926869"/>
              <a:ext cx="792454" cy="792454"/>
            </a:xfrm>
            <a:prstGeom prst="rect">
              <a:avLst/>
            </a:prstGeom>
            <a:no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g3edf2b460e5_6_70"/>
            <p:cNvSpPr/>
            <p:nvPr/>
          </p:nvSpPr>
          <p:spPr>
            <a:xfrm>
              <a:off x="1664155" y="3602683"/>
              <a:ext cx="8622489" cy="144082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g3edf2b460e5_6_70"/>
            <p:cNvSpPr txBox="1"/>
            <p:nvPr/>
          </p:nvSpPr>
          <p:spPr>
            <a:xfrm>
              <a:off x="1664155" y="3602683"/>
              <a:ext cx="8622489" cy="1440827"/>
            </a:xfrm>
            <a:prstGeom prst="rect">
              <a:avLst/>
            </a:prstGeom>
            <a:noFill/>
            <a:ln>
              <a:noFill/>
            </a:ln>
          </p:spPr>
          <p:txBody>
            <a:bodyPr anchorCtr="0" anchor="ctr" bIns="152475" lIns="152475" spcFirstLastPara="1" rIns="152475" wrap="square" tIns="152475">
              <a:noAutofit/>
            </a:bodyPr>
            <a:lstStyle/>
            <a:p>
              <a:pPr indent="0" lvl="0" marL="0" marR="0" rtl="0" algn="l">
                <a:lnSpc>
                  <a:spcPct val="100000"/>
                </a:lnSpc>
                <a:spcBef>
                  <a:spcPts val="0"/>
                </a:spcBef>
                <a:spcAft>
                  <a:spcPts val="0"/>
                </a:spcAft>
                <a:buClr>
                  <a:schemeClr val="dk1"/>
                </a:buClr>
                <a:buSzPts val="2400"/>
                <a:buFont typeface="Arial"/>
                <a:buNone/>
              </a:pPr>
              <a:r>
                <a:rPr b="1" lang="en" sz="2400">
                  <a:solidFill>
                    <a:schemeClr val="dk1"/>
                  </a:solidFill>
                  <a:latin typeface="Arial"/>
                  <a:ea typeface="Arial"/>
                  <a:cs typeface="Arial"/>
                  <a:sym typeface="Arial"/>
                </a:rPr>
                <a:t>RMSE (Root Mean Square Error) </a:t>
              </a:r>
              <a:r>
                <a:rPr lang="en" sz="2400">
                  <a:solidFill>
                    <a:schemeClr val="dk1"/>
                  </a:solidFill>
                  <a:latin typeface="Arial"/>
                  <a:ea typeface="Arial"/>
                  <a:cs typeface="Arial"/>
                  <a:sym typeface="Arial"/>
                </a:rPr>
                <a:t>Measures average error while penalizing large mistakes more. → Sensitive to big prediction errors  </a:t>
              </a:r>
              <a:endParaRPr/>
            </a:p>
          </p:txBody>
        </p:sp>
      </p:grpSp>
      <p:sp>
        <p:nvSpPr>
          <p:cNvPr id="1381" name="Google Shape;1381;g3edf2b460e5_6_70"/>
          <p:cNvSpPr txBox="1"/>
          <p:nvPr/>
        </p:nvSpPr>
        <p:spPr>
          <a:xfrm>
            <a:off x="433940" y="6314126"/>
            <a:ext cx="6093500" cy="34323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1" i="0" lang="en" sz="1800" u="none" strike="noStrike">
                <a:solidFill>
                  <a:schemeClr val="dk1"/>
                </a:solidFill>
                <a:latin typeface="Play"/>
                <a:ea typeface="Play"/>
                <a:cs typeface="Play"/>
                <a:sym typeface="Play"/>
              </a:rPr>
              <a:t>Task 7 - Mohammad Sharif Azimy</a:t>
            </a:r>
            <a:endParaRPr b="1" sz="1800">
              <a:solidFill>
                <a:schemeClr val="dk1"/>
              </a:solidFill>
              <a:latin typeface="Play"/>
              <a:ea typeface="Play"/>
              <a:cs typeface="Play"/>
              <a:sym typeface="Play"/>
            </a:endParaRPr>
          </a:p>
        </p:txBody>
      </p:sp>
      <p:sp>
        <p:nvSpPr>
          <p:cNvPr id="1382" name="Google Shape;1382;g3edf2b460e5_6_70"/>
          <p:cNvSpPr txBox="1"/>
          <p:nvPr/>
        </p:nvSpPr>
        <p:spPr>
          <a:xfrm>
            <a:off x="620160" y="319088"/>
            <a:ext cx="60935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1"/>
              </a:buClr>
              <a:buSzPts val="2400"/>
              <a:buFont typeface="Arial"/>
              <a:buNone/>
            </a:pPr>
            <a:r>
              <a:rPr lang="en" sz="2400">
                <a:solidFill>
                  <a:schemeClr val="accent1"/>
                </a:solidFill>
                <a:latin typeface="Arial"/>
                <a:ea typeface="Arial"/>
                <a:cs typeface="Arial"/>
                <a:sym typeface="Arial"/>
              </a:rPr>
              <a:t>3. Metrics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86" name="Shape 1386"/>
        <p:cNvGrpSpPr/>
        <p:nvPr/>
      </p:nvGrpSpPr>
      <p:grpSpPr>
        <a:xfrm>
          <a:off x="0" y="0"/>
          <a:ext cx="0" cy="0"/>
          <a:chOff x="0" y="0"/>
          <a:chExt cx="0" cy="0"/>
        </a:xfrm>
      </p:grpSpPr>
      <p:sp>
        <p:nvSpPr>
          <p:cNvPr id="1387" name="Google Shape;1387;g3edf2b460e5_6_8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88" name="Google Shape;1388;g3edf2b460e5_6_89"/>
          <p:cNvSpPr/>
          <p:nvPr/>
        </p:nvSpPr>
        <p:spPr>
          <a:xfrm flipH="1" rot="-2700000">
            <a:off x="-376156" y="-253670"/>
            <a:ext cx="1827638" cy="1376989"/>
          </a:xfrm>
          <a:custGeom>
            <a:rect b="b" l="l" r="r" t="t"/>
            <a:pathLst>
              <a:path extrusionOk="0" h="1376989" w="1827638">
                <a:moveTo>
                  <a:pt x="0" y="987379"/>
                </a:moveTo>
                <a:lnTo>
                  <a:pt x="987379" y="0"/>
                </a:lnTo>
                <a:lnTo>
                  <a:pt x="1827638" y="840260"/>
                </a:lnTo>
                <a:lnTo>
                  <a:pt x="1827638" y="1376989"/>
                </a:lnTo>
                <a:lnTo>
                  <a:pt x="0" y="1376989"/>
                </a:lnTo>
                <a:close/>
              </a:path>
            </a:pathLst>
          </a:custGeom>
          <a:solidFill>
            <a:schemeClr val="accent1">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89" name="Google Shape;1389;g3edf2b460e5_6_89"/>
          <p:cNvSpPr/>
          <p:nvPr/>
        </p:nvSpPr>
        <p:spPr>
          <a:xfrm flipH="1" rot="-2700000">
            <a:off x="891641" y="422146"/>
            <a:ext cx="645368" cy="645368"/>
          </a:xfrm>
          <a:prstGeom prst="rect">
            <a:avLst/>
          </a:prstGeom>
          <a:solidFill>
            <a:schemeClr val="accent1">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90" name="Google Shape;1390;g3edf2b460e5_6_89"/>
          <p:cNvSpPr/>
          <p:nvPr/>
        </p:nvSpPr>
        <p:spPr>
          <a:xfrm flipH="1" rot="-2700000">
            <a:off x="10043482" y="655140"/>
            <a:ext cx="687472" cy="687472"/>
          </a:xfrm>
          <a:prstGeom prst="rect">
            <a:avLst/>
          </a:prstGeom>
          <a:solidFill>
            <a:schemeClr val="accent4">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91" name="Google Shape;1391;g3edf2b460e5_6_89"/>
          <p:cNvSpPr/>
          <p:nvPr/>
        </p:nvSpPr>
        <p:spPr>
          <a:xfrm flipH="1" rot="10800000">
            <a:off x="9356643" y="0"/>
            <a:ext cx="2835357" cy="1480837"/>
          </a:xfrm>
          <a:custGeom>
            <a:rect b="b" l="l" r="r" t="t"/>
            <a:pathLst>
              <a:path extrusionOk="0" h="1480837" w="2835357">
                <a:moveTo>
                  <a:pt x="2835357" y="1480837"/>
                </a:moveTo>
                <a:lnTo>
                  <a:pt x="0" y="1480837"/>
                </a:lnTo>
                <a:lnTo>
                  <a:pt x="1552727" y="0"/>
                </a:lnTo>
                <a:lnTo>
                  <a:pt x="2835357" y="1223245"/>
                </a:lnTo>
                <a:close/>
              </a:path>
            </a:pathLst>
          </a:custGeom>
          <a:solidFill>
            <a:schemeClr val="accent4">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92" name="Google Shape;1392;g3edf2b460e5_6_89"/>
          <p:cNvSpPr txBox="1"/>
          <p:nvPr>
            <p:ph idx="12" type="sldNum"/>
          </p:nvPr>
        </p:nvSpPr>
        <p:spPr>
          <a:xfrm>
            <a:off x="8805333"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solidFill>
                  <a:srgbClr val="888888"/>
                </a:solidFill>
              </a:rPr>
              <a:t>‹#›</a:t>
            </a:fld>
            <a:endParaRPr>
              <a:solidFill>
                <a:srgbClr val="888888"/>
              </a:solidFill>
            </a:endParaRPr>
          </a:p>
        </p:txBody>
      </p:sp>
      <p:sp>
        <p:nvSpPr>
          <p:cNvPr id="1393" name="Google Shape;1393;g3edf2b460e5_6_89"/>
          <p:cNvSpPr/>
          <p:nvPr/>
        </p:nvSpPr>
        <p:spPr>
          <a:xfrm flipH="1">
            <a:off x="7976344" y="6115501"/>
            <a:ext cx="1494513" cy="742499"/>
          </a:xfrm>
          <a:prstGeom prst="triangle">
            <a:avLst>
              <a:gd fmla="val 50000" name="adj"/>
            </a:avLst>
          </a:prstGeom>
          <a:solidFill>
            <a:schemeClr val="accent1">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94" name="Google Shape;1394;g3edf2b460e5_6_89"/>
          <p:cNvSpPr/>
          <p:nvPr/>
        </p:nvSpPr>
        <p:spPr>
          <a:xfrm flipH="1">
            <a:off x="7604080" y="6453143"/>
            <a:ext cx="814903" cy="404857"/>
          </a:xfrm>
          <a:prstGeom prst="triangle">
            <a:avLst>
              <a:gd fmla="val 50000" name="adj"/>
            </a:avLst>
          </a:prstGeom>
          <a:solidFill>
            <a:schemeClr val="accent1">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95" name="Google Shape;1395;g3edf2b460e5_6_89"/>
          <p:cNvSpPr txBox="1"/>
          <p:nvPr/>
        </p:nvSpPr>
        <p:spPr>
          <a:xfrm>
            <a:off x="1973704" y="136867"/>
            <a:ext cx="6093500" cy="343235"/>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None/>
            </a:pPr>
            <a:r>
              <a:rPr b="1" i="0" lang="en" sz="1800" u="none" strike="noStrike">
                <a:solidFill>
                  <a:schemeClr val="dk1"/>
                </a:solidFill>
                <a:latin typeface="Play"/>
                <a:ea typeface="Play"/>
                <a:cs typeface="Play"/>
                <a:sym typeface="Play"/>
              </a:rPr>
              <a:t>Task 7 - Mohammad Sharif Azimy</a:t>
            </a:r>
            <a:endParaRPr b="1" sz="1800">
              <a:solidFill>
                <a:schemeClr val="dk1"/>
              </a:solidFill>
              <a:latin typeface="Play"/>
              <a:ea typeface="Play"/>
              <a:cs typeface="Play"/>
              <a:sym typeface="Play"/>
            </a:endParaRPr>
          </a:p>
        </p:txBody>
      </p:sp>
      <p:graphicFrame>
        <p:nvGraphicFramePr>
          <p:cNvPr id="1396" name="Google Shape;1396;g3edf2b460e5_6_89"/>
          <p:cNvGraphicFramePr/>
          <p:nvPr/>
        </p:nvGraphicFramePr>
        <p:xfrm>
          <a:off x="1190080" y="1802234"/>
          <a:ext cx="3000000" cy="3000000"/>
        </p:xfrm>
        <a:graphic>
          <a:graphicData uri="http://schemas.openxmlformats.org/drawingml/2006/table">
            <a:tbl>
              <a:tblPr>
                <a:noFill/>
                <a:tableStyleId>{42FAE7AA-D153-4C55-879D-9C651F9EDE64}</a:tableStyleId>
              </a:tblPr>
              <a:tblGrid>
                <a:gridCol w="4905925"/>
                <a:gridCol w="4905925"/>
              </a:tblGrid>
              <a:tr h="341275">
                <a:tc>
                  <a:txBody>
                    <a:bodyPr/>
                    <a:lstStyle/>
                    <a:p>
                      <a:pPr indent="0" lvl="0" marL="0" marR="0" rtl="0" algn="l">
                        <a:spcBef>
                          <a:spcPts val="0"/>
                        </a:spcBef>
                        <a:spcAft>
                          <a:spcPts val="0"/>
                        </a:spcAft>
                        <a:buClr>
                          <a:schemeClr val="dk1"/>
                        </a:buClr>
                        <a:buSzPts val="1700"/>
                        <a:buFont typeface="Arial"/>
                        <a:buNone/>
                      </a:pPr>
                      <a:r>
                        <a:rPr lang="en" sz="1700" u="none" cap="none" strike="noStrike"/>
                        <a:t>Aspect</a:t>
                      </a:r>
                      <a:endParaRPr/>
                    </a:p>
                  </a:txBody>
                  <a:tcPr marT="42650" marB="42650" marR="85325" marL="85325" anchor="ctr"/>
                </a:tc>
                <a:tc>
                  <a:txBody>
                    <a:bodyPr/>
                    <a:lstStyle/>
                    <a:p>
                      <a:pPr indent="0" lvl="0" marL="0" marR="0" rtl="0" algn="l">
                        <a:spcBef>
                          <a:spcPts val="0"/>
                        </a:spcBef>
                        <a:spcAft>
                          <a:spcPts val="0"/>
                        </a:spcAft>
                        <a:buClr>
                          <a:schemeClr val="dk1"/>
                        </a:buClr>
                        <a:buSzPts val="1700"/>
                        <a:buFont typeface="Arial"/>
                        <a:buNone/>
                      </a:pPr>
                      <a:r>
                        <a:rPr lang="en" sz="1700" u="none" cap="none" strike="noStrike"/>
                        <a:t>Details</a:t>
                      </a:r>
                      <a:endParaRPr/>
                    </a:p>
                  </a:txBody>
                  <a:tcPr marT="42650" marB="42650" marR="85325" marL="85325" anchor="ctr"/>
                </a:tc>
              </a:tr>
              <a:tr h="853200">
                <a:tc>
                  <a:txBody>
                    <a:bodyPr/>
                    <a:lstStyle/>
                    <a:p>
                      <a:pPr indent="0" lvl="0" marL="0" marR="0" rtl="0" algn="l">
                        <a:spcBef>
                          <a:spcPts val="0"/>
                        </a:spcBef>
                        <a:spcAft>
                          <a:spcPts val="0"/>
                        </a:spcAft>
                        <a:buClr>
                          <a:schemeClr val="dk1"/>
                        </a:buClr>
                        <a:buSzPts val="1700"/>
                        <a:buFont typeface="Arial"/>
                        <a:buNone/>
                      </a:pPr>
                      <a:r>
                        <a:rPr b="1" lang="en" sz="1700" u="none" cap="none" strike="noStrike"/>
                        <a:t>Validation Strategy</a:t>
                      </a:r>
                      <a:endParaRPr sz="1700" u="none" cap="none" strike="noStrike"/>
                    </a:p>
                  </a:txBody>
                  <a:tcPr marT="42650" marB="42650" marR="85325" marL="85325" anchor="ctr"/>
                </a:tc>
                <a:tc>
                  <a:txBody>
                    <a:bodyPr/>
                    <a:lstStyle/>
                    <a:p>
                      <a:pPr indent="0" lvl="0" marL="0" marR="0" rtl="0" algn="l">
                        <a:spcBef>
                          <a:spcPts val="0"/>
                        </a:spcBef>
                        <a:spcAft>
                          <a:spcPts val="0"/>
                        </a:spcAft>
                        <a:buClr>
                          <a:schemeClr val="dk1"/>
                        </a:buClr>
                        <a:buSzPts val="1700"/>
                        <a:buFont typeface="Arial"/>
                        <a:buNone/>
                      </a:pPr>
                      <a:r>
                        <a:rPr lang="en" sz="1700" u="none" cap="none" strike="noStrike"/>
                        <a:t>Train / Validation / Test Split (70% / 15% / 15%) + 5-Fold Cross Validation + Early Stopping on Validation Set</a:t>
                      </a:r>
                      <a:endParaRPr/>
                    </a:p>
                  </a:txBody>
                  <a:tcPr marT="42650" marB="42650" marR="85325" marL="85325" anchor="ctr"/>
                </a:tc>
              </a:tr>
              <a:tr h="853200">
                <a:tc>
                  <a:txBody>
                    <a:bodyPr/>
                    <a:lstStyle/>
                    <a:p>
                      <a:pPr indent="0" lvl="0" marL="0" marR="0" rtl="0" algn="l">
                        <a:spcBef>
                          <a:spcPts val="0"/>
                        </a:spcBef>
                        <a:spcAft>
                          <a:spcPts val="0"/>
                        </a:spcAft>
                        <a:buClr>
                          <a:schemeClr val="dk1"/>
                        </a:buClr>
                        <a:buSzPts val="1700"/>
                        <a:buFont typeface="Arial"/>
                        <a:buNone/>
                      </a:pPr>
                      <a:r>
                        <a:rPr b="1" lang="en" sz="1700" u="none" cap="none" strike="noStrike"/>
                        <a:t>Models Compared</a:t>
                      </a:r>
                      <a:endParaRPr sz="1700" u="none" cap="none" strike="noStrike"/>
                    </a:p>
                  </a:txBody>
                  <a:tcPr marT="42650" marB="42650" marR="85325" marL="85325" anchor="ctr"/>
                </a:tc>
                <a:tc>
                  <a:txBody>
                    <a:bodyPr/>
                    <a:lstStyle/>
                    <a:p>
                      <a:pPr indent="0" lvl="0" marL="0" marR="0" rtl="0" algn="l">
                        <a:spcBef>
                          <a:spcPts val="0"/>
                        </a:spcBef>
                        <a:spcAft>
                          <a:spcPts val="0"/>
                        </a:spcAft>
                        <a:buClr>
                          <a:schemeClr val="dk1"/>
                        </a:buClr>
                        <a:buSzPts val="1700"/>
                        <a:buFont typeface="Arial"/>
                        <a:buNone/>
                      </a:pPr>
                      <a:r>
                        <a:rPr lang="en" sz="1700" u="none" cap="none" strike="noStrike"/>
                        <a:t>- CatBoost Regressor (Primary Model) - HistGradientBoostingRegressor (Strong Alternative) - Random Forest (Baseline)</a:t>
                      </a:r>
                      <a:endParaRPr/>
                    </a:p>
                  </a:txBody>
                  <a:tcPr marT="42650" marB="42650" marR="85325" marL="85325" anchor="ctr"/>
                </a:tc>
              </a:tr>
              <a:tr h="597250">
                <a:tc>
                  <a:txBody>
                    <a:bodyPr/>
                    <a:lstStyle/>
                    <a:p>
                      <a:pPr indent="0" lvl="0" marL="0" marR="0" rtl="0" algn="l">
                        <a:spcBef>
                          <a:spcPts val="0"/>
                        </a:spcBef>
                        <a:spcAft>
                          <a:spcPts val="0"/>
                        </a:spcAft>
                        <a:buClr>
                          <a:schemeClr val="dk1"/>
                        </a:buClr>
                        <a:buSzPts val="1700"/>
                        <a:buFont typeface="Arial"/>
                        <a:buNone/>
                      </a:pPr>
                      <a:r>
                        <a:rPr b="1" lang="en" sz="1700" u="none" cap="none" strike="noStrike"/>
                        <a:t>Hyperparameter Tuning</a:t>
                      </a:r>
                      <a:endParaRPr sz="1700" u="none" cap="none" strike="noStrike"/>
                    </a:p>
                  </a:txBody>
                  <a:tcPr marT="42650" marB="42650" marR="85325" marL="85325" anchor="ctr"/>
                </a:tc>
                <a:tc>
                  <a:txBody>
                    <a:bodyPr/>
                    <a:lstStyle/>
                    <a:p>
                      <a:pPr indent="0" lvl="0" marL="0" marR="0" rtl="0" algn="l">
                        <a:spcBef>
                          <a:spcPts val="0"/>
                        </a:spcBef>
                        <a:spcAft>
                          <a:spcPts val="0"/>
                        </a:spcAft>
                        <a:buClr>
                          <a:schemeClr val="dk1"/>
                        </a:buClr>
                        <a:buSzPts val="1700"/>
                        <a:buFont typeface="Arial"/>
                        <a:buNone/>
                      </a:pPr>
                      <a:r>
                        <a:rPr lang="en" sz="1700" u="none" cap="none" strike="noStrike"/>
                        <a:t>Manual tuning + Early Stopping Key parameters: iterations, learning rate, depth, subsample</a:t>
                      </a:r>
                      <a:endParaRPr/>
                    </a:p>
                  </a:txBody>
                  <a:tcPr marT="42650" marB="42650" marR="85325" marL="85325" anchor="ctr"/>
                </a:tc>
              </a:tr>
              <a:tr h="853200">
                <a:tc>
                  <a:txBody>
                    <a:bodyPr/>
                    <a:lstStyle/>
                    <a:p>
                      <a:pPr indent="0" lvl="0" marL="0" marR="0" rtl="0" algn="l">
                        <a:spcBef>
                          <a:spcPts val="0"/>
                        </a:spcBef>
                        <a:spcAft>
                          <a:spcPts val="0"/>
                        </a:spcAft>
                        <a:buClr>
                          <a:schemeClr val="dk1"/>
                        </a:buClr>
                        <a:buSzPts val="1700"/>
                        <a:buFont typeface="Arial"/>
                        <a:buNone/>
                      </a:pPr>
                      <a:r>
                        <a:rPr b="1" lang="en" sz="1700" u="none" cap="none" strike="noStrike"/>
                        <a:t>Final Selection Criteria</a:t>
                      </a:r>
                      <a:endParaRPr sz="1700" u="none" cap="none" strike="noStrike"/>
                    </a:p>
                  </a:txBody>
                  <a:tcPr marT="42650" marB="42650" marR="85325" marL="85325" anchor="ctr"/>
                </a:tc>
                <a:tc>
                  <a:txBody>
                    <a:bodyPr/>
                    <a:lstStyle/>
                    <a:p>
                      <a:pPr indent="0" lvl="0" marL="0" marR="0" rtl="0" algn="l">
                        <a:spcBef>
                          <a:spcPts val="0"/>
                        </a:spcBef>
                        <a:spcAft>
                          <a:spcPts val="0"/>
                        </a:spcAft>
                        <a:buClr>
                          <a:schemeClr val="dk1"/>
                        </a:buClr>
                        <a:buSzPts val="1700"/>
                        <a:buFont typeface="Arial"/>
                        <a:buNone/>
                      </a:pPr>
                      <a:r>
                        <a:rPr lang="en" sz="1700" u="none" cap="none" strike="noStrike"/>
                        <a:t>- Best MAPE on Cross-Validation - Logical SHAP explanations - Model stability &amp; generalization - Training speed</a:t>
                      </a:r>
                      <a:endParaRPr/>
                    </a:p>
                  </a:txBody>
                  <a:tcPr marT="42650" marB="42650" marR="85325" marL="85325" anchor="ctr"/>
                </a:tc>
              </a:tr>
              <a:tr h="853200">
                <a:tc>
                  <a:txBody>
                    <a:bodyPr/>
                    <a:lstStyle/>
                    <a:p>
                      <a:pPr indent="0" lvl="0" marL="0" marR="0" rtl="0" algn="l">
                        <a:spcBef>
                          <a:spcPts val="0"/>
                        </a:spcBef>
                        <a:spcAft>
                          <a:spcPts val="0"/>
                        </a:spcAft>
                        <a:buClr>
                          <a:schemeClr val="dk1"/>
                        </a:buClr>
                        <a:buSzPts val="1700"/>
                        <a:buFont typeface="Arial"/>
                        <a:buNone/>
                      </a:pPr>
                      <a:r>
                        <a:rPr b="1" lang="en" sz="1700" u="none" cap="none" strike="noStrike"/>
                        <a:t>Final Chosen Solution</a:t>
                      </a:r>
                      <a:endParaRPr sz="1700" u="none" cap="none" strike="noStrike"/>
                    </a:p>
                  </a:txBody>
                  <a:tcPr marT="42650" marB="42650" marR="85325" marL="85325" anchor="ctr"/>
                </a:tc>
                <a:tc>
                  <a:txBody>
                    <a:bodyPr/>
                    <a:lstStyle/>
                    <a:p>
                      <a:pPr indent="0" lvl="0" marL="0" marR="0" rtl="0" algn="l">
                        <a:spcBef>
                          <a:spcPts val="0"/>
                        </a:spcBef>
                        <a:spcAft>
                          <a:spcPts val="0"/>
                        </a:spcAft>
                        <a:buClr>
                          <a:schemeClr val="dk1"/>
                        </a:buClr>
                        <a:buSzPts val="1700"/>
                        <a:buFont typeface="Arial"/>
                        <a:buNone/>
                      </a:pPr>
                      <a:r>
                        <a:rPr b="1" lang="en" sz="1700" u="none" cap="none" strike="noStrike"/>
                        <a:t>CatBoost</a:t>
                      </a:r>
                      <a:r>
                        <a:rPr lang="en" sz="1700" u="none" cap="none" strike="noStrike"/>
                        <a:t> as the primary model, with </a:t>
                      </a:r>
                      <a:r>
                        <a:rPr b="1" lang="en" sz="1700" u="none" cap="none" strike="noStrike"/>
                        <a:t>HistGradientBoostingRegressor</a:t>
                      </a:r>
                      <a:r>
                        <a:rPr lang="en" sz="1700" u="none" cap="none" strike="noStrike"/>
                        <a:t> as a strong secondary option</a:t>
                      </a:r>
                      <a:endParaRPr/>
                    </a:p>
                  </a:txBody>
                  <a:tcPr marT="42650" marB="42650" marR="85325" marL="85325" anchor="ctr"/>
                </a:tc>
              </a:tr>
            </a:tbl>
          </a:graphicData>
        </a:graphic>
      </p:graphicFrame>
      <p:sp>
        <p:nvSpPr>
          <p:cNvPr id="1397" name="Google Shape;1397;g3edf2b460e5_6_89"/>
          <p:cNvSpPr txBox="1"/>
          <p:nvPr/>
        </p:nvSpPr>
        <p:spPr>
          <a:xfrm>
            <a:off x="1190080" y="1162452"/>
            <a:ext cx="60935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1"/>
              </a:buClr>
              <a:buSzPts val="2400"/>
              <a:buFont typeface="Arial"/>
              <a:buNone/>
            </a:pPr>
            <a:r>
              <a:rPr lang="en" sz="2400">
                <a:solidFill>
                  <a:schemeClr val="accent1"/>
                </a:solidFill>
                <a:latin typeface="Arial"/>
                <a:ea typeface="Arial"/>
                <a:cs typeface="Arial"/>
                <a:sym typeface="Arial"/>
              </a:rPr>
              <a:t>3. Experimental Plan</a:t>
            </a:r>
            <a:endParaRPr/>
          </a:p>
        </p:txBody>
      </p:sp>
      <p:sp>
        <p:nvSpPr>
          <p:cNvPr id="1398" name="Google Shape;1398;g3edf2b460e5_6_89"/>
          <p:cNvSpPr txBox="1"/>
          <p:nvPr/>
        </p:nvSpPr>
        <p:spPr>
          <a:xfrm>
            <a:off x="232287" y="6326303"/>
            <a:ext cx="3769611" cy="343235"/>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None/>
            </a:pPr>
            <a:r>
              <a:rPr b="1" i="0" lang="en" sz="1800" u="none" strike="noStrike">
                <a:solidFill>
                  <a:schemeClr val="dk1"/>
                </a:solidFill>
                <a:latin typeface="Play"/>
                <a:ea typeface="Play"/>
                <a:cs typeface="Play"/>
                <a:sym typeface="Play"/>
              </a:rPr>
              <a:t>Task 7 - Mohammad Sharif Azimy</a:t>
            </a:r>
            <a:endParaRPr b="1" sz="1800">
              <a:solidFill>
                <a:schemeClr val="dk1"/>
              </a:solidFill>
              <a:latin typeface="Play"/>
              <a:ea typeface="Play"/>
              <a:cs typeface="Play"/>
              <a:sym typeface="Play"/>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02" name="Shape 1402"/>
        <p:cNvGrpSpPr/>
        <p:nvPr/>
      </p:nvGrpSpPr>
      <p:grpSpPr>
        <a:xfrm>
          <a:off x="0" y="0"/>
          <a:ext cx="0" cy="0"/>
          <a:chOff x="0" y="0"/>
          <a:chExt cx="0" cy="0"/>
        </a:xfrm>
      </p:grpSpPr>
      <p:sp>
        <p:nvSpPr>
          <p:cNvPr id="1403" name="Google Shape;1403;g3edf2b460e5_6_10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04" name="Google Shape;1404;g3edf2b460e5_6_104"/>
          <p:cNvSpPr txBox="1"/>
          <p:nvPr>
            <p:ph type="title"/>
          </p:nvPr>
        </p:nvSpPr>
        <p:spPr>
          <a:xfrm>
            <a:off x="386079" y="368496"/>
            <a:ext cx="5684520" cy="1604204"/>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1400"/>
              <a:buFont typeface="Play"/>
              <a:buNone/>
            </a:pPr>
            <a:r>
              <a:rPr lang="en" sz="1400">
                <a:solidFill>
                  <a:schemeClr val="dk1"/>
                </a:solidFill>
                <a:latin typeface="Play"/>
                <a:ea typeface="Play"/>
                <a:cs typeface="Play"/>
                <a:sym typeface="Play"/>
              </a:rPr>
              <a:t>Features Selection Method</a:t>
            </a:r>
            <a:br>
              <a:rPr lang="en" sz="1400">
                <a:solidFill>
                  <a:schemeClr val="dk1"/>
                </a:solidFill>
                <a:latin typeface="Play"/>
                <a:ea typeface="Play"/>
                <a:cs typeface="Play"/>
                <a:sym typeface="Play"/>
              </a:rPr>
            </a:br>
            <a:br>
              <a:rPr lang="en" sz="1400">
                <a:solidFill>
                  <a:schemeClr val="dk1"/>
                </a:solidFill>
                <a:latin typeface="Play"/>
                <a:ea typeface="Play"/>
                <a:cs typeface="Play"/>
                <a:sym typeface="Play"/>
              </a:rPr>
            </a:br>
            <a:r>
              <a:rPr lang="en" sz="1400"/>
              <a:t>1) </a:t>
            </a:r>
            <a:r>
              <a:rPr lang="en" sz="1400">
                <a:solidFill>
                  <a:schemeClr val="dk1"/>
                </a:solidFill>
                <a:latin typeface="Play"/>
                <a:ea typeface="Play"/>
                <a:cs typeface="Play"/>
                <a:sym typeface="Play"/>
              </a:rPr>
              <a:t> </a:t>
            </a:r>
            <a:r>
              <a:rPr b="1" lang="en" sz="1400">
                <a:solidFill>
                  <a:schemeClr val="dk1"/>
                </a:solidFill>
                <a:latin typeface="Play"/>
                <a:ea typeface="Play"/>
                <a:cs typeface="Play"/>
                <a:sym typeface="Play"/>
              </a:rPr>
              <a:t>f-regression: Measures linear correlation with the target    (cost_transformed)</a:t>
            </a:r>
            <a:br>
              <a:rPr b="1" lang="en" sz="1400">
                <a:solidFill>
                  <a:schemeClr val="dk1"/>
                </a:solidFill>
                <a:latin typeface="Play"/>
                <a:ea typeface="Play"/>
                <a:cs typeface="Play"/>
                <a:sym typeface="Play"/>
              </a:rPr>
            </a:br>
            <a:br>
              <a:rPr b="1" lang="en" sz="1400">
                <a:solidFill>
                  <a:schemeClr val="dk1"/>
                </a:solidFill>
                <a:latin typeface="Play"/>
                <a:ea typeface="Play"/>
                <a:cs typeface="Play"/>
                <a:sym typeface="Play"/>
              </a:rPr>
            </a:br>
            <a:r>
              <a:rPr b="1" lang="en" sz="1400"/>
              <a:t>2)</a:t>
            </a:r>
            <a:r>
              <a:rPr b="1" lang="en" sz="1400">
                <a:solidFill>
                  <a:schemeClr val="dk1"/>
                </a:solidFill>
                <a:latin typeface="Play"/>
                <a:ea typeface="Play"/>
                <a:cs typeface="Play"/>
                <a:sym typeface="Play"/>
              </a:rPr>
              <a:t> Permutation Importance: Measures non-linear effects and interactions)</a:t>
            </a:r>
            <a:br>
              <a:rPr b="1" lang="en" sz="1400">
                <a:solidFill>
                  <a:schemeClr val="dk1"/>
                </a:solidFill>
                <a:latin typeface="Play"/>
                <a:ea typeface="Play"/>
                <a:cs typeface="Play"/>
                <a:sym typeface="Play"/>
              </a:rPr>
            </a:br>
            <a:endParaRPr sz="1400">
              <a:solidFill>
                <a:schemeClr val="dk1"/>
              </a:solidFill>
              <a:latin typeface="Play"/>
              <a:ea typeface="Play"/>
              <a:cs typeface="Play"/>
              <a:sym typeface="Play"/>
            </a:endParaRPr>
          </a:p>
        </p:txBody>
      </p:sp>
      <p:sp>
        <p:nvSpPr>
          <p:cNvPr id="1405" name="Google Shape;1405;g3edf2b460e5_6_104"/>
          <p:cNvSpPr/>
          <p:nvPr/>
        </p:nvSpPr>
        <p:spPr>
          <a:xfrm rot="5400000">
            <a:off x="649223" y="387939"/>
            <a:ext cx="73152" cy="5486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406" name="Google Shape;1406;g3edf2b460e5_6_104"/>
          <p:cNvSpPr/>
          <p:nvPr/>
        </p:nvSpPr>
        <p:spPr>
          <a:xfrm>
            <a:off x="411480" y="2285541"/>
            <a:ext cx="438912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407" name="Google Shape;1407;g3edf2b460e5_6_104"/>
          <p:cNvSpPr txBox="1"/>
          <p:nvPr/>
        </p:nvSpPr>
        <p:spPr>
          <a:xfrm>
            <a:off x="386079" y="2341195"/>
            <a:ext cx="6145349" cy="3492868"/>
          </a:xfrm>
          <a:prstGeom prst="rect">
            <a:avLst/>
          </a:prstGeom>
          <a:noFill/>
          <a:ln>
            <a:noFill/>
          </a:ln>
        </p:spPr>
        <p:txBody>
          <a:bodyPr anchorCtr="0" anchor="t" bIns="45700" lIns="91425" spcFirstLastPara="1" rIns="91425" wrap="square" tIns="45700">
            <a:noAutofit/>
          </a:bodyPr>
          <a:lstStyle/>
          <a:p>
            <a:pPr indent="88900" lvl="0" marL="0" marR="0" rtl="0" algn="l">
              <a:lnSpc>
                <a:spcPct val="90000"/>
              </a:lnSpc>
              <a:spcBef>
                <a:spcPts val="0"/>
              </a:spcBef>
              <a:spcAft>
                <a:spcPts val="0"/>
              </a:spcAft>
              <a:buClr>
                <a:schemeClr val="dk1"/>
              </a:buClr>
              <a:buSzPts val="1400"/>
              <a:buFont typeface="Arial"/>
              <a:buNone/>
            </a:pPr>
            <a:r>
              <a:t/>
            </a:r>
            <a:endParaRPr b="1" sz="1400">
              <a:solidFill>
                <a:schemeClr val="dk1"/>
              </a:solidFill>
              <a:latin typeface="Arial"/>
              <a:ea typeface="Arial"/>
              <a:cs typeface="Arial"/>
              <a:sym typeface="Arial"/>
            </a:endParaRPr>
          </a:p>
          <a:p>
            <a:pPr indent="0" lvl="0" marL="0" marR="0" rtl="0" algn="l">
              <a:lnSpc>
                <a:spcPct val="90000"/>
              </a:lnSpc>
              <a:spcBef>
                <a:spcPts val="600"/>
              </a:spcBef>
              <a:spcAft>
                <a:spcPts val="0"/>
              </a:spcAft>
              <a:buNone/>
            </a:pPr>
            <a:r>
              <a:rPr b="1" lang="en" sz="1400">
                <a:solidFill>
                  <a:schemeClr val="dk1"/>
                </a:solidFill>
                <a:latin typeface="Arial"/>
                <a:ea typeface="Arial"/>
                <a:cs typeface="Arial"/>
                <a:sym typeface="Arial"/>
              </a:rPr>
              <a:t>Key Selected Features </a:t>
            </a:r>
            <a:endParaRPr/>
          </a:p>
          <a:p>
            <a:pPr indent="-171450" lvl="0" marL="171450" marR="0" rtl="0" algn="l">
              <a:lnSpc>
                <a:spcPct val="90000"/>
              </a:lnSpc>
              <a:spcBef>
                <a:spcPts val="600"/>
              </a:spcBef>
              <a:spcAft>
                <a:spcPts val="0"/>
              </a:spcAft>
              <a:buClr>
                <a:schemeClr val="dk1"/>
              </a:buClr>
              <a:buSzPts val="1400"/>
              <a:buFont typeface="Arial"/>
              <a:buChar char="•"/>
            </a:pPr>
            <a:r>
              <a:rPr b="1" lang="en" sz="1400">
                <a:solidFill>
                  <a:schemeClr val="dk1"/>
                </a:solidFill>
                <a:latin typeface="Arial"/>
                <a:ea typeface="Arial"/>
                <a:cs typeface="Arial"/>
                <a:sym typeface="Arial"/>
              </a:rPr>
              <a:t>diameter: Strongest linear predictor (bigger tubes cost more)</a:t>
            </a:r>
            <a:endParaRPr/>
          </a:p>
          <a:p>
            <a:pPr indent="-171450" lvl="0" marL="171450" marR="0" rtl="0" algn="l">
              <a:lnSpc>
                <a:spcPct val="90000"/>
              </a:lnSpc>
              <a:spcBef>
                <a:spcPts val="600"/>
              </a:spcBef>
              <a:spcAft>
                <a:spcPts val="0"/>
              </a:spcAft>
              <a:buClr>
                <a:schemeClr val="dk1"/>
              </a:buClr>
              <a:buSzPts val="1400"/>
              <a:buFont typeface="Arial"/>
              <a:buChar char="•"/>
            </a:pPr>
            <a:r>
              <a:rPr b="1" lang="en" sz="1400">
                <a:solidFill>
                  <a:schemeClr val="dk1"/>
                </a:solidFill>
                <a:latin typeface="Arial"/>
                <a:ea typeface="Arial"/>
                <a:cs typeface="Arial"/>
                <a:sym typeface="Arial"/>
              </a:rPr>
              <a:t>min_order_quantity : Strong negative correlation (higher   quantity → lower unit cost due to economies of scale)</a:t>
            </a:r>
            <a:endParaRPr/>
          </a:p>
          <a:p>
            <a:pPr indent="-171450" lvl="0" marL="171450" marR="0" rtl="0" algn="l">
              <a:lnSpc>
                <a:spcPct val="90000"/>
              </a:lnSpc>
              <a:spcBef>
                <a:spcPts val="600"/>
              </a:spcBef>
              <a:spcAft>
                <a:spcPts val="0"/>
              </a:spcAft>
              <a:buClr>
                <a:schemeClr val="dk1"/>
              </a:buClr>
              <a:buSzPts val="1400"/>
              <a:buFont typeface="Arial"/>
              <a:buChar char="•"/>
            </a:pPr>
            <a:r>
              <a:rPr b="1" lang="en" sz="1400">
                <a:solidFill>
                  <a:schemeClr val="dk1"/>
                </a:solidFill>
                <a:latin typeface="Arial"/>
                <a:ea typeface="Arial"/>
                <a:cs typeface="Arial"/>
                <a:sym typeface="Arial"/>
              </a:rPr>
              <a:t>Total_weight: High importance in both methods (physical weight strongly affects material cost)</a:t>
            </a:r>
            <a:endParaRPr/>
          </a:p>
          <a:p>
            <a:pPr indent="-171450" lvl="0" marL="171450" marR="0" rtl="0" algn="l">
              <a:lnSpc>
                <a:spcPct val="90000"/>
              </a:lnSpc>
              <a:spcBef>
                <a:spcPts val="600"/>
              </a:spcBef>
              <a:spcAft>
                <a:spcPts val="0"/>
              </a:spcAft>
              <a:buClr>
                <a:schemeClr val="dk1"/>
              </a:buClr>
              <a:buSzPts val="1400"/>
              <a:buFont typeface="Arial"/>
              <a:buChar char="•"/>
            </a:pPr>
            <a:r>
              <a:rPr b="1" lang="en" sz="1400">
                <a:solidFill>
                  <a:schemeClr val="dk1"/>
                </a:solidFill>
                <a:latin typeface="Arial"/>
                <a:ea typeface="Arial"/>
                <a:cs typeface="Arial"/>
                <a:sym typeface="Arial"/>
              </a:rPr>
              <a:t>wall Thickness is a significant material cost driver</a:t>
            </a:r>
            <a:endParaRPr/>
          </a:p>
          <a:p>
            <a:pPr indent="-171450" lvl="0" marL="171450" marR="0" rtl="0" algn="l">
              <a:lnSpc>
                <a:spcPct val="90000"/>
              </a:lnSpc>
              <a:spcBef>
                <a:spcPts val="600"/>
              </a:spcBef>
              <a:spcAft>
                <a:spcPts val="0"/>
              </a:spcAft>
              <a:buClr>
                <a:schemeClr val="dk1"/>
              </a:buClr>
              <a:buSzPts val="1400"/>
              <a:buFont typeface="Arial"/>
              <a:buChar char="•"/>
            </a:pPr>
            <a:r>
              <a:rPr b="1" lang="en" sz="1400">
                <a:solidFill>
                  <a:schemeClr val="dk1"/>
                </a:solidFill>
                <a:latin typeface="Arial"/>
                <a:ea typeface="Arial"/>
                <a:cs typeface="Arial"/>
                <a:sym typeface="Arial"/>
              </a:rPr>
              <a:t>length : Important physical dimension</a:t>
            </a:r>
            <a:endParaRPr/>
          </a:p>
          <a:p>
            <a:pPr indent="-82550" lvl="0" marL="171450" marR="0" rtl="0" algn="l">
              <a:lnSpc>
                <a:spcPct val="90000"/>
              </a:lnSpc>
              <a:spcBef>
                <a:spcPts val="600"/>
              </a:spcBef>
              <a:spcAft>
                <a:spcPts val="0"/>
              </a:spcAft>
              <a:buClr>
                <a:schemeClr val="dk1"/>
              </a:buClr>
              <a:buSzPts val="1400"/>
              <a:buFont typeface="Arial"/>
              <a:buNone/>
            </a:pPr>
            <a:r>
              <a:t/>
            </a:r>
            <a:endParaRPr b="1" sz="1400">
              <a:solidFill>
                <a:schemeClr val="dk1"/>
              </a:solidFill>
              <a:latin typeface="Arial"/>
              <a:ea typeface="Arial"/>
              <a:cs typeface="Arial"/>
              <a:sym typeface="Arial"/>
            </a:endParaRPr>
          </a:p>
          <a:p>
            <a:pPr indent="-171450" lvl="0" marL="171450" marR="0" rtl="0" algn="l">
              <a:lnSpc>
                <a:spcPct val="90000"/>
              </a:lnSpc>
              <a:spcBef>
                <a:spcPts val="600"/>
              </a:spcBef>
              <a:spcAft>
                <a:spcPts val="0"/>
              </a:spcAft>
              <a:buClr>
                <a:schemeClr val="dk1"/>
              </a:buClr>
              <a:buSzPts val="1400"/>
              <a:buFont typeface="Noto Sans Symbols"/>
              <a:buChar char="❖"/>
            </a:pPr>
            <a:r>
              <a:rPr b="1" lang="en" sz="1400">
                <a:solidFill>
                  <a:schemeClr val="dk1"/>
                </a:solidFill>
                <a:latin typeface="Arial"/>
                <a:ea typeface="Arial"/>
                <a:cs typeface="Arial"/>
                <a:sym typeface="Arial"/>
              </a:rPr>
              <a:t>Redundant features ignored (e.g., component_id, quantity), these were excluded because they are already incorporated in Total_weight</a:t>
            </a:r>
            <a:endParaRPr b="1" sz="1400">
              <a:solidFill>
                <a:schemeClr val="dk1"/>
              </a:solidFill>
              <a:latin typeface="Arial"/>
              <a:ea typeface="Arial"/>
              <a:cs typeface="Arial"/>
              <a:sym typeface="Arial"/>
            </a:endParaRPr>
          </a:p>
          <a:p>
            <a:pPr indent="88900" lvl="0" marL="0" marR="0" rtl="0" algn="l">
              <a:lnSpc>
                <a:spcPct val="90000"/>
              </a:lnSpc>
              <a:spcBef>
                <a:spcPts val="600"/>
              </a:spcBef>
              <a:spcAft>
                <a:spcPts val="0"/>
              </a:spcAft>
              <a:buClr>
                <a:schemeClr val="dk1"/>
              </a:buClr>
              <a:buSzPts val="1400"/>
              <a:buFont typeface="Noto Sans Symbols"/>
              <a:buNone/>
            </a:pPr>
            <a:r>
              <a:t/>
            </a:r>
            <a:endParaRPr b="1" sz="1400">
              <a:solidFill>
                <a:schemeClr val="dk1"/>
              </a:solidFill>
              <a:latin typeface="Arial"/>
              <a:ea typeface="Arial"/>
              <a:cs typeface="Arial"/>
              <a:sym typeface="Arial"/>
            </a:endParaRPr>
          </a:p>
          <a:p>
            <a:pPr indent="-171450" lvl="0" marL="171450" marR="0" rtl="0" algn="l">
              <a:lnSpc>
                <a:spcPct val="90000"/>
              </a:lnSpc>
              <a:spcBef>
                <a:spcPts val="600"/>
              </a:spcBef>
              <a:spcAft>
                <a:spcPts val="0"/>
              </a:spcAft>
              <a:buClr>
                <a:schemeClr val="dk1"/>
              </a:buClr>
              <a:buSzPts val="1400"/>
              <a:buFont typeface="Noto Sans Symbols"/>
              <a:buChar char="❖"/>
            </a:pPr>
            <a:r>
              <a:rPr b="1" lang="en" sz="1400">
                <a:solidFill>
                  <a:schemeClr val="dk1"/>
                </a:solidFill>
                <a:latin typeface="Arial"/>
                <a:ea typeface="Arial"/>
                <a:cs typeface="Arial"/>
                <a:sym typeface="Arial"/>
              </a:rPr>
              <a:t>Final Selected Features : Total_weight, min_order_quantity, diameter, annual_usage, bracket_pricing, length, wall</a:t>
            </a:r>
            <a:endParaRPr/>
          </a:p>
        </p:txBody>
      </p:sp>
      <p:pic>
        <p:nvPicPr>
          <p:cNvPr id="1408" name="Google Shape;1408;g3edf2b460e5_6_104"/>
          <p:cNvPicPr preferRelativeResize="0"/>
          <p:nvPr/>
        </p:nvPicPr>
        <p:blipFill rotWithShape="1">
          <a:blip r:embed="rId3">
            <a:alphaModFix/>
          </a:blip>
          <a:srcRect b="0" l="0" r="18551" t="0"/>
          <a:stretch/>
        </p:blipFill>
        <p:spPr>
          <a:xfrm>
            <a:off x="6789360" y="411033"/>
            <a:ext cx="4014879" cy="2467897"/>
          </a:xfrm>
          <a:prstGeom prst="rect">
            <a:avLst/>
          </a:prstGeom>
          <a:noFill/>
          <a:ln>
            <a:noFill/>
          </a:ln>
        </p:spPr>
      </p:pic>
      <p:sp>
        <p:nvSpPr>
          <p:cNvPr id="1409" name="Google Shape;1409;g3edf2b460e5_6_104"/>
          <p:cNvSpPr txBox="1"/>
          <p:nvPr>
            <p:ph idx="12" type="sldNum"/>
          </p:nvPr>
        </p:nvSpPr>
        <p:spPr>
          <a:xfrm>
            <a:off x="9037321"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solidFill>
                  <a:srgbClr val="7F7F7F"/>
                </a:solidFill>
              </a:rPr>
              <a:t>‹#›</a:t>
            </a:fld>
            <a:endParaRPr>
              <a:solidFill>
                <a:srgbClr val="7F7F7F"/>
              </a:solidFill>
            </a:endParaRPr>
          </a:p>
        </p:txBody>
      </p:sp>
      <p:pic>
        <p:nvPicPr>
          <p:cNvPr id="1410" name="Google Shape;1410;g3edf2b460e5_6_104"/>
          <p:cNvPicPr preferRelativeResize="0"/>
          <p:nvPr/>
        </p:nvPicPr>
        <p:blipFill rotWithShape="1">
          <a:blip r:embed="rId4">
            <a:alphaModFix/>
          </a:blip>
          <a:srcRect b="0" l="0" r="0" t="0"/>
          <a:stretch/>
        </p:blipFill>
        <p:spPr>
          <a:xfrm>
            <a:off x="6818387" y="3047828"/>
            <a:ext cx="4014879" cy="3652473"/>
          </a:xfrm>
          <a:prstGeom prst="rect">
            <a:avLst/>
          </a:prstGeom>
          <a:noFill/>
          <a:ln>
            <a:noFill/>
          </a:ln>
        </p:spPr>
      </p:pic>
      <p:sp>
        <p:nvSpPr>
          <p:cNvPr id="1411" name="Google Shape;1411;g3edf2b460e5_6_104"/>
          <p:cNvSpPr txBox="1"/>
          <p:nvPr/>
        </p:nvSpPr>
        <p:spPr>
          <a:xfrm>
            <a:off x="592617" y="6363103"/>
            <a:ext cx="5024415" cy="863731"/>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None/>
            </a:pPr>
            <a:r>
              <a:rPr b="1" i="0" lang="en" sz="2200" u="none" strike="noStrike">
                <a:solidFill>
                  <a:schemeClr val="dk1"/>
                </a:solidFill>
                <a:latin typeface="Play"/>
                <a:ea typeface="Play"/>
                <a:cs typeface="Play"/>
                <a:sym typeface="Play"/>
              </a:rPr>
              <a:t>Task-8  Mohammad Sharif Azimy</a:t>
            </a:r>
            <a:endParaRPr b="1" sz="2200">
              <a:solidFill>
                <a:schemeClr val="dk1"/>
              </a:solidFill>
              <a:latin typeface="Play"/>
              <a:ea typeface="Play"/>
              <a:cs typeface="Play"/>
              <a:sym typeface="Play"/>
            </a:endParaRPr>
          </a:p>
          <a:p>
            <a:pPr indent="0" lvl="0" marL="0" marR="0" rtl="0" algn="l">
              <a:lnSpc>
                <a:spcPct val="90000"/>
              </a:lnSpc>
              <a:spcBef>
                <a:spcPts val="600"/>
              </a:spcBef>
              <a:spcAft>
                <a:spcPts val="0"/>
              </a:spcAft>
              <a:buNone/>
            </a:pPr>
            <a:br>
              <a:rPr b="1" lang="en" sz="2200">
                <a:solidFill>
                  <a:schemeClr val="dk1"/>
                </a:solidFill>
                <a:latin typeface="Play"/>
                <a:ea typeface="Play"/>
                <a:cs typeface="Play"/>
                <a:sym typeface="Play"/>
              </a:rPr>
            </a:br>
            <a:endParaRPr b="1" sz="2200">
              <a:solidFill>
                <a:schemeClr val="dk1"/>
              </a:solidFill>
              <a:latin typeface="Play"/>
              <a:ea typeface="Play"/>
              <a:cs typeface="Play"/>
              <a:sym typeface="Play"/>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5" name="Shape 1415"/>
        <p:cNvGrpSpPr/>
        <p:nvPr/>
      </p:nvGrpSpPr>
      <p:grpSpPr>
        <a:xfrm>
          <a:off x="0" y="0"/>
          <a:ext cx="0" cy="0"/>
          <a:chOff x="0" y="0"/>
          <a:chExt cx="0" cy="0"/>
        </a:xfrm>
      </p:grpSpPr>
      <p:sp>
        <p:nvSpPr>
          <p:cNvPr id="1416" name="Google Shape;1416;g3edf2b460e5_6_1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417" name="Google Shape;1417;g3edf2b460e5_6_116"/>
          <p:cNvSpPr txBox="1"/>
          <p:nvPr/>
        </p:nvSpPr>
        <p:spPr>
          <a:xfrm>
            <a:off x="427231" y="546395"/>
            <a:ext cx="60935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2800">
                <a:solidFill>
                  <a:schemeClr val="dk1"/>
                </a:solidFill>
                <a:latin typeface="Inter"/>
                <a:ea typeface="Inter"/>
                <a:cs typeface="Inter"/>
                <a:sym typeface="Inter"/>
              </a:rPr>
              <a:t>CatBoost </a:t>
            </a:r>
            <a:r>
              <a:rPr lang="en" sz="2800">
                <a:solidFill>
                  <a:schemeClr val="dk1"/>
                </a:solidFill>
                <a:latin typeface="Inter"/>
                <a:ea typeface="Inter"/>
                <a:cs typeface="Inter"/>
                <a:sym typeface="Inter"/>
              </a:rPr>
              <a:t>design and implementation</a:t>
            </a:r>
            <a:endParaRPr sz="2800">
              <a:solidFill>
                <a:schemeClr val="dk1"/>
              </a:solidFill>
              <a:latin typeface="Arial"/>
              <a:ea typeface="Arial"/>
              <a:cs typeface="Arial"/>
              <a:sym typeface="Arial"/>
            </a:endParaRPr>
          </a:p>
        </p:txBody>
      </p:sp>
      <p:sp>
        <p:nvSpPr>
          <p:cNvPr id="1418" name="Google Shape;1418;g3edf2b460e5_6_116"/>
          <p:cNvSpPr txBox="1"/>
          <p:nvPr/>
        </p:nvSpPr>
        <p:spPr>
          <a:xfrm>
            <a:off x="244270" y="6289609"/>
            <a:ext cx="5024415" cy="863731"/>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None/>
            </a:pPr>
            <a:r>
              <a:rPr b="1" i="0" lang="en" sz="2200" u="none" strike="noStrike">
                <a:solidFill>
                  <a:schemeClr val="dk1"/>
                </a:solidFill>
                <a:latin typeface="Play"/>
                <a:ea typeface="Play"/>
                <a:cs typeface="Play"/>
                <a:sym typeface="Play"/>
              </a:rPr>
              <a:t>Task-8  Mohammad Sharif Azimy</a:t>
            </a:r>
            <a:endParaRPr b="1" sz="2200">
              <a:solidFill>
                <a:schemeClr val="dk1"/>
              </a:solidFill>
              <a:latin typeface="Play"/>
              <a:ea typeface="Play"/>
              <a:cs typeface="Play"/>
              <a:sym typeface="Play"/>
            </a:endParaRPr>
          </a:p>
          <a:p>
            <a:pPr indent="0" lvl="0" marL="0" marR="0" rtl="0" algn="l">
              <a:lnSpc>
                <a:spcPct val="90000"/>
              </a:lnSpc>
              <a:spcBef>
                <a:spcPts val="600"/>
              </a:spcBef>
              <a:spcAft>
                <a:spcPts val="0"/>
              </a:spcAft>
              <a:buNone/>
            </a:pPr>
            <a:br>
              <a:rPr b="1" lang="en" sz="2200">
                <a:solidFill>
                  <a:schemeClr val="dk1"/>
                </a:solidFill>
                <a:latin typeface="Play"/>
                <a:ea typeface="Play"/>
                <a:cs typeface="Play"/>
                <a:sym typeface="Play"/>
              </a:rPr>
            </a:br>
            <a:endParaRPr b="1" sz="2200">
              <a:solidFill>
                <a:schemeClr val="dk1"/>
              </a:solidFill>
              <a:latin typeface="Play"/>
              <a:ea typeface="Play"/>
              <a:cs typeface="Play"/>
              <a:sym typeface="Play"/>
            </a:endParaRPr>
          </a:p>
        </p:txBody>
      </p:sp>
      <p:grpSp>
        <p:nvGrpSpPr>
          <p:cNvPr id="1419" name="Google Shape;1419;g3edf2b460e5_6_116"/>
          <p:cNvGrpSpPr/>
          <p:nvPr/>
        </p:nvGrpSpPr>
        <p:grpSpPr>
          <a:xfrm>
            <a:off x="778219" y="1478472"/>
            <a:ext cx="5394023" cy="2872712"/>
            <a:chOff x="350988" y="58924"/>
            <a:chExt cx="5394023" cy="2872712"/>
          </a:xfrm>
        </p:grpSpPr>
        <p:sp>
          <p:nvSpPr>
            <p:cNvPr id="1420" name="Google Shape;1420;g3edf2b460e5_6_116"/>
            <p:cNvSpPr/>
            <p:nvPr/>
          </p:nvSpPr>
          <p:spPr>
            <a:xfrm>
              <a:off x="793781" y="58924"/>
              <a:ext cx="724570" cy="724570"/>
            </a:xfrm>
            <a:prstGeom prst="rect">
              <a:avLst/>
            </a:prstGeom>
            <a:no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g3edf2b460e5_6_116"/>
            <p:cNvSpPr/>
            <p:nvPr/>
          </p:nvSpPr>
          <p:spPr>
            <a:xfrm>
              <a:off x="350988" y="1214556"/>
              <a:ext cx="1610156" cy="17170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g3edf2b460e5_6_116"/>
            <p:cNvSpPr txBox="1"/>
            <p:nvPr/>
          </p:nvSpPr>
          <p:spPr>
            <a:xfrm>
              <a:off x="350988" y="1214556"/>
              <a:ext cx="1610156" cy="17170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Arial"/>
                <a:buNone/>
              </a:pPr>
              <a:r>
                <a:rPr b="0" i="0" lang="en" sz="1100">
                  <a:solidFill>
                    <a:schemeClr val="dk1"/>
                  </a:solidFill>
                  <a:latin typeface="Arial"/>
                  <a:ea typeface="Arial"/>
                  <a:cs typeface="Arial"/>
                  <a:sym typeface="Arial"/>
                </a:rPr>
                <a:t>We split the data into three parts: Training Set (70%) — Used to train the model Validation Set (15%) — Used for hyperparameter tuning and early stopping to prevent overfitting Test Set (15%) — Kept completely unseen for final unbiased evaluation</a:t>
              </a:r>
              <a:endParaRPr sz="1100">
                <a:solidFill>
                  <a:schemeClr val="dk1"/>
                </a:solidFill>
                <a:latin typeface="Arial"/>
                <a:ea typeface="Arial"/>
                <a:cs typeface="Arial"/>
                <a:sym typeface="Arial"/>
              </a:endParaRPr>
            </a:p>
          </p:txBody>
        </p:sp>
        <p:sp>
          <p:nvSpPr>
            <p:cNvPr id="1423" name="Google Shape;1423;g3edf2b460e5_6_116"/>
            <p:cNvSpPr/>
            <p:nvPr/>
          </p:nvSpPr>
          <p:spPr>
            <a:xfrm>
              <a:off x="2685714" y="58924"/>
              <a:ext cx="724570" cy="724570"/>
            </a:xfrm>
            <a:prstGeom prst="rect">
              <a:avLst/>
            </a:prstGeom>
            <a:no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g3edf2b460e5_6_116"/>
            <p:cNvSpPr/>
            <p:nvPr/>
          </p:nvSpPr>
          <p:spPr>
            <a:xfrm>
              <a:off x="2242921" y="1214556"/>
              <a:ext cx="1610156" cy="17170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g3edf2b460e5_6_116"/>
            <p:cNvSpPr txBox="1"/>
            <p:nvPr/>
          </p:nvSpPr>
          <p:spPr>
            <a:xfrm>
              <a:off x="2242921" y="1214556"/>
              <a:ext cx="1610156" cy="17170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Arial"/>
                <a:buNone/>
              </a:pPr>
              <a:r>
                <a:rPr b="0" i="0" lang="en" sz="1100">
                  <a:solidFill>
                    <a:schemeClr val="dk1"/>
                  </a:solidFill>
                  <a:latin typeface="Arial"/>
                  <a:ea typeface="Arial"/>
                  <a:cs typeface="Arial"/>
                  <a:sym typeface="Arial"/>
                </a:rPr>
                <a:t>The model was trained with 1000 iterations, depth of 8, and early stopping based on validation performance. This approach ensures the model generalizes well to new data. </a:t>
              </a:r>
              <a:endParaRPr sz="1100">
                <a:solidFill>
                  <a:schemeClr val="dk1"/>
                </a:solidFill>
                <a:latin typeface="Arial"/>
                <a:ea typeface="Arial"/>
                <a:cs typeface="Arial"/>
                <a:sym typeface="Arial"/>
              </a:endParaRPr>
            </a:p>
          </p:txBody>
        </p:sp>
        <p:sp>
          <p:nvSpPr>
            <p:cNvPr id="1426" name="Google Shape;1426;g3edf2b460e5_6_116"/>
            <p:cNvSpPr/>
            <p:nvPr/>
          </p:nvSpPr>
          <p:spPr>
            <a:xfrm>
              <a:off x="4577648" y="58924"/>
              <a:ext cx="724570" cy="724570"/>
            </a:xfrm>
            <a:prstGeom prst="rect">
              <a:avLst/>
            </a:prstGeom>
            <a:no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g3edf2b460e5_6_116"/>
            <p:cNvSpPr/>
            <p:nvPr/>
          </p:nvSpPr>
          <p:spPr>
            <a:xfrm>
              <a:off x="4134855" y="1214556"/>
              <a:ext cx="1610156" cy="17170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g3edf2b460e5_6_116"/>
            <p:cNvSpPr txBox="1"/>
            <p:nvPr/>
          </p:nvSpPr>
          <p:spPr>
            <a:xfrm>
              <a:off x="4134855" y="1214556"/>
              <a:ext cx="1610156" cy="17170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Arial"/>
                <a:buNone/>
              </a:pPr>
              <a:r>
                <a:rPr b="0" i="0" lang="en" sz="1100">
                  <a:solidFill>
                    <a:schemeClr val="dk1"/>
                  </a:solidFill>
                  <a:latin typeface="Arial"/>
                  <a:ea typeface="Arial"/>
                  <a:cs typeface="Arial"/>
                  <a:sym typeface="Arial"/>
                </a:rPr>
                <a:t>The final performance on the test set was measured using RMSE, MAE, and MAPE, providing a comprehensive view of prediction accuracy. This systematic approach — from correlation analysis to careful validation — helped us build a reliable cost prediction model for the tube assemblies.</a:t>
              </a:r>
              <a:endParaRPr sz="1100">
                <a:solidFill>
                  <a:schemeClr val="dk1"/>
                </a:solidFill>
                <a:latin typeface="Arial"/>
                <a:ea typeface="Arial"/>
                <a:cs typeface="Arial"/>
                <a:sym typeface="Arial"/>
              </a:endParaRPr>
            </a:p>
          </p:txBody>
        </p:sp>
      </p:grpSp>
      <p:pic>
        <p:nvPicPr>
          <p:cNvPr id="1429" name="Google Shape;1429;g3edf2b460e5_6_116"/>
          <p:cNvPicPr preferRelativeResize="0"/>
          <p:nvPr/>
        </p:nvPicPr>
        <p:blipFill>
          <a:blip r:embed="rId3">
            <a:alphaModFix/>
          </a:blip>
          <a:stretch>
            <a:fillRect/>
          </a:stretch>
        </p:blipFill>
        <p:spPr>
          <a:xfrm>
            <a:off x="6079475" y="108225"/>
            <a:ext cx="3115900" cy="2113065"/>
          </a:xfrm>
          <a:prstGeom prst="rect">
            <a:avLst/>
          </a:prstGeom>
          <a:noFill/>
          <a:ln>
            <a:noFill/>
          </a:ln>
        </p:spPr>
      </p:pic>
      <p:pic>
        <p:nvPicPr>
          <p:cNvPr id="1430" name="Google Shape;1430;g3edf2b460e5_6_116"/>
          <p:cNvPicPr preferRelativeResize="0"/>
          <p:nvPr/>
        </p:nvPicPr>
        <p:blipFill>
          <a:blip r:embed="rId4">
            <a:alphaModFix/>
          </a:blip>
          <a:stretch>
            <a:fillRect/>
          </a:stretch>
        </p:blipFill>
        <p:spPr>
          <a:xfrm>
            <a:off x="9446020" y="108225"/>
            <a:ext cx="2422977" cy="2113075"/>
          </a:xfrm>
          <a:prstGeom prst="rect">
            <a:avLst/>
          </a:prstGeom>
          <a:noFill/>
          <a:ln>
            <a:noFill/>
          </a:ln>
        </p:spPr>
      </p:pic>
      <p:pic>
        <p:nvPicPr>
          <p:cNvPr id="1431" name="Google Shape;1431;g3edf2b460e5_6_116"/>
          <p:cNvPicPr preferRelativeResize="0"/>
          <p:nvPr/>
        </p:nvPicPr>
        <p:blipFill>
          <a:blip r:embed="rId5">
            <a:alphaModFix/>
          </a:blip>
          <a:stretch>
            <a:fillRect/>
          </a:stretch>
        </p:blipFill>
        <p:spPr>
          <a:xfrm>
            <a:off x="9413976" y="2230197"/>
            <a:ext cx="2654176" cy="1679650"/>
          </a:xfrm>
          <a:prstGeom prst="rect">
            <a:avLst/>
          </a:prstGeom>
          <a:noFill/>
          <a:ln>
            <a:noFill/>
          </a:ln>
        </p:spPr>
      </p:pic>
      <p:pic>
        <p:nvPicPr>
          <p:cNvPr id="1432" name="Google Shape;1432;g3edf2b460e5_6_116"/>
          <p:cNvPicPr preferRelativeResize="0"/>
          <p:nvPr/>
        </p:nvPicPr>
        <p:blipFill>
          <a:blip r:embed="rId6">
            <a:alphaModFix/>
          </a:blip>
          <a:stretch>
            <a:fillRect/>
          </a:stretch>
        </p:blipFill>
        <p:spPr>
          <a:xfrm>
            <a:off x="9394631" y="3835200"/>
            <a:ext cx="2743199" cy="1091727"/>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36" name="Shape 1436"/>
        <p:cNvGrpSpPr/>
        <p:nvPr/>
      </p:nvGrpSpPr>
      <p:grpSpPr>
        <a:xfrm>
          <a:off x="0" y="0"/>
          <a:ext cx="0" cy="0"/>
          <a:chOff x="0" y="0"/>
          <a:chExt cx="0" cy="0"/>
        </a:xfrm>
      </p:grpSpPr>
      <p:sp>
        <p:nvSpPr>
          <p:cNvPr id="1437" name="Google Shape;1437;g3edf2b460e5_6_13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38" name="Google Shape;1438;g3edf2b460e5_6_134"/>
          <p:cNvSpPr/>
          <p:nvPr/>
        </p:nvSpPr>
        <p:spPr>
          <a:xfrm>
            <a:off x="3807702" y="5509052"/>
            <a:ext cx="4572000" cy="18288"/>
          </a:xfrm>
          <a:custGeom>
            <a:rect b="b" l="l" r="r" t="t"/>
            <a:pathLst>
              <a:path extrusionOk="0" fill="none" h="18288" w="457200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extrusionOk="0" h="18288" w="457200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39" name="Google Shape;1439;g3edf2b460e5_6_1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solidFill>
                  <a:srgbClr val="888888"/>
                </a:solidFill>
              </a:rPr>
              <a:t>‹#›</a:t>
            </a:fld>
            <a:endParaRPr>
              <a:solidFill>
                <a:srgbClr val="888888"/>
              </a:solidFill>
            </a:endParaRPr>
          </a:p>
        </p:txBody>
      </p:sp>
      <p:sp>
        <p:nvSpPr>
          <p:cNvPr id="1440" name="Google Shape;1440;g3edf2b460e5_6_134"/>
          <p:cNvSpPr txBox="1"/>
          <p:nvPr/>
        </p:nvSpPr>
        <p:spPr>
          <a:xfrm>
            <a:off x="431799" y="6416951"/>
            <a:ext cx="3480385" cy="668204"/>
          </a:xfrm>
          <a:prstGeom prst="rect">
            <a:avLst/>
          </a:prstGeom>
          <a:noFill/>
          <a:ln>
            <a:noFill/>
          </a:ln>
        </p:spPr>
        <p:txBody>
          <a:bodyPr anchorCtr="0" anchor="ctr" bIns="45700" lIns="91425" spcFirstLastPara="1" rIns="91425" wrap="square" tIns="45700">
            <a:normAutofit fontScale="70000" lnSpcReduction="20000"/>
          </a:bodyPr>
          <a:lstStyle/>
          <a:p>
            <a:pPr indent="0" lvl="0" marL="0" marR="0" rtl="0" algn="l">
              <a:lnSpc>
                <a:spcPct val="90000"/>
              </a:lnSpc>
              <a:spcBef>
                <a:spcPts val="0"/>
              </a:spcBef>
              <a:spcAft>
                <a:spcPts val="0"/>
              </a:spcAft>
              <a:buNone/>
            </a:pPr>
            <a:r>
              <a:rPr b="1" i="0" lang="en" sz="2200" u="none" strike="noStrike">
                <a:solidFill>
                  <a:schemeClr val="dk1"/>
                </a:solidFill>
                <a:latin typeface="Play"/>
                <a:ea typeface="Play"/>
                <a:cs typeface="Play"/>
                <a:sym typeface="Play"/>
              </a:rPr>
              <a:t>Task-8  Mohammad Sharif Azimy</a:t>
            </a:r>
            <a:endParaRPr b="1" sz="2200">
              <a:solidFill>
                <a:schemeClr val="dk1"/>
              </a:solidFill>
              <a:latin typeface="Play"/>
              <a:ea typeface="Play"/>
              <a:cs typeface="Play"/>
              <a:sym typeface="Play"/>
            </a:endParaRPr>
          </a:p>
          <a:p>
            <a:pPr indent="0" lvl="0" marL="0" marR="0" rtl="0" algn="l">
              <a:lnSpc>
                <a:spcPct val="90000"/>
              </a:lnSpc>
              <a:spcBef>
                <a:spcPts val="600"/>
              </a:spcBef>
              <a:spcAft>
                <a:spcPts val="0"/>
              </a:spcAft>
              <a:buNone/>
            </a:pPr>
            <a:br>
              <a:rPr b="1" lang="en" sz="2200">
                <a:solidFill>
                  <a:schemeClr val="dk1"/>
                </a:solidFill>
                <a:latin typeface="Play"/>
                <a:ea typeface="Play"/>
                <a:cs typeface="Play"/>
                <a:sym typeface="Play"/>
              </a:rPr>
            </a:br>
            <a:endParaRPr b="1" sz="2200">
              <a:solidFill>
                <a:schemeClr val="dk1"/>
              </a:solidFill>
              <a:latin typeface="Play"/>
              <a:ea typeface="Play"/>
              <a:cs typeface="Play"/>
              <a:sym typeface="Play"/>
            </a:endParaRPr>
          </a:p>
        </p:txBody>
      </p:sp>
      <p:sp>
        <p:nvSpPr>
          <p:cNvPr id="1441" name="Google Shape;1441;g3edf2b460e5_6_134"/>
          <p:cNvSpPr txBox="1"/>
          <p:nvPr>
            <p:ph type="title"/>
          </p:nvPr>
        </p:nvSpPr>
        <p:spPr>
          <a:xfrm>
            <a:off x="838200" y="365126"/>
            <a:ext cx="7541502" cy="68418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Font typeface="Play"/>
              <a:buNone/>
            </a:pPr>
            <a:r>
              <a:rPr b="1" lang="en" sz="1800"/>
              <a:t>CatBoost Regressor Results (with Validation Set)</a:t>
            </a:r>
            <a:endParaRPr/>
          </a:p>
        </p:txBody>
      </p:sp>
      <p:pic>
        <p:nvPicPr>
          <p:cNvPr id="1442" name="Google Shape;1442;g3edf2b460e5_6_134"/>
          <p:cNvPicPr preferRelativeResize="0"/>
          <p:nvPr/>
        </p:nvPicPr>
        <p:blipFill rotWithShape="1">
          <a:blip r:embed="rId3">
            <a:alphaModFix/>
          </a:blip>
          <a:srcRect b="0" l="0" r="0" t="0"/>
          <a:stretch/>
        </p:blipFill>
        <p:spPr>
          <a:xfrm>
            <a:off x="3112723" y="4485072"/>
            <a:ext cx="6297339" cy="1709874"/>
          </a:xfrm>
          <a:prstGeom prst="rect">
            <a:avLst/>
          </a:prstGeom>
          <a:noFill/>
          <a:ln>
            <a:noFill/>
          </a:ln>
        </p:spPr>
      </p:pic>
      <p:grpSp>
        <p:nvGrpSpPr>
          <p:cNvPr id="1443" name="Google Shape;1443;g3edf2b460e5_6_134"/>
          <p:cNvGrpSpPr/>
          <p:nvPr/>
        </p:nvGrpSpPr>
        <p:grpSpPr>
          <a:xfrm>
            <a:off x="442892" y="1355249"/>
            <a:ext cx="11154217" cy="2873948"/>
            <a:chOff x="11093" y="825545"/>
            <a:chExt cx="11154217" cy="2873948"/>
          </a:xfrm>
        </p:grpSpPr>
        <p:sp>
          <p:nvSpPr>
            <p:cNvPr id="1444" name="Google Shape;1444;g3edf2b460e5_6_134"/>
            <p:cNvSpPr/>
            <p:nvPr/>
          </p:nvSpPr>
          <p:spPr>
            <a:xfrm>
              <a:off x="956366" y="1196883"/>
              <a:ext cx="756218" cy="71"/>
            </a:xfrm>
            <a:prstGeom prst="rect">
              <a:avLst/>
            </a:prstGeom>
            <a:solidFill>
              <a:srgbClr val="CAD1D8">
                <a:alpha val="90196"/>
              </a:srgbClr>
            </a:solidFill>
            <a:ln cap="flat" cmpd="sng" w="19050">
              <a:solidFill>
                <a:srgbClr val="CAD1D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g3edf2b460e5_6_134"/>
            <p:cNvSpPr/>
            <p:nvPr/>
          </p:nvSpPr>
          <p:spPr>
            <a:xfrm>
              <a:off x="1757957" y="1133335"/>
              <a:ext cx="86965" cy="163502"/>
            </a:xfrm>
            <a:prstGeom prst="chevron">
              <a:avLst>
                <a:gd fmla="val 90000" name="adj"/>
              </a:avLst>
            </a:prstGeom>
            <a:solidFill>
              <a:srgbClr val="CAD1D8">
                <a:alpha val="90196"/>
              </a:srgbClr>
            </a:solidFill>
            <a:ln cap="flat" cmpd="sng" w="19050">
              <a:solidFill>
                <a:srgbClr val="CAD1D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g3edf2b460e5_6_134"/>
            <p:cNvSpPr/>
            <p:nvPr/>
          </p:nvSpPr>
          <p:spPr>
            <a:xfrm>
              <a:off x="490464" y="825545"/>
              <a:ext cx="742748" cy="742748"/>
            </a:xfrm>
            <a:prstGeom prst="ellipse">
              <a:avLst/>
            </a:prstGeom>
            <a:solidFill>
              <a:srgbClr val="155D82"/>
            </a:solidFill>
            <a:ln cap="flat" cmpd="sng" w="19050">
              <a:solidFill>
                <a:srgbClr val="155D8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g3edf2b460e5_6_134"/>
            <p:cNvSpPr txBox="1"/>
            <p:nvPr/>
          </p:nvSpPr>
          <p:spPr>
            <a:xfrm>
              <a:off x="599237" y="934318"/>
              <a:ext cx="525202" cy="525202"/>
            </a:xfrm>
            <a:prstGeom prst="rect">
              <a:avLst/>
            </a:prstGeom>
            <a:noFill/>
            <a:ln>
              <a:noFill/>
            </a:ln>
          </p:spPr>
          <p:txBody>
            <a:bodyPr anchorCtr="0" anchor="ctr" bIns="28800" lIns="28800" spcFirstLastPara="1" rIns="28800" wrap="square" tIns="28800">
              <a:noAutofit/>
            </a:bodyPr>
            <a:lstStyle/>
            <a:p>
              <a:pPr indent="0" lvl="0" marL="0" marR="0" rtl="0" algn="ctr">
                <a:lnSpc>
                  <a:spcPct val="90000"/>
                </a:lnSpc>
                <a:spcBef>
                  <a:spcPts val="0"/>
                </a:spcBef>
                <a:spcAft>
                  <a:spcPts val="0"/>
                </a:spcAft>
                <a:buClr>
                  <a:schemeClr val="lt1"/>
                </a:buClr>
                <a:buSzPts val="3300"/>
                <a:buFont typeface="Arial"/>
                <a:buNone/>
              </a:pPr>
              <a:r>
                <a:rPr lang="en" sz="3300">
                  <a:solidFill>
                    <a:schemeClr val="lt1"/>
                  </a:solidFill>
                  <a:latin typeface="Arial"/>
                  <a:ea typeface="Arial"/>
                  <a:cs typeface="Arial"/>
                  <a:sym typeface="Arial"/>
                </a:rPr>
                <a:t>1</a:t>
              </a:r>
              <a:endParaRPr/>
            </a:p>
          </p:txBody>
        </p:sp>
        <p:sp>
          <p:nvSpPr>
            <p:cNvPr id="1448" name="Google Shape;1448;g3edf2b460e5_6_134"/>
            <p:cNvSpPr/>
            <p:nvPr/>
          </p:nvSpPr>
          <p:spPr>
            <a:xfrm>
              <a:off x="11093" y="1733893"/>
              <a:ext cx="1701490" cy="1965600"/>
            </a:xfrm>
            <a:prstGeom prst="upArrowCallout">
              <a:avLst>
                <a:gd fmla="val 50000" name="adj1"/>
                <a:gd fmla="val 20000" name="adj2"/>
                <a:gd fmla="val 20000" name="adj3"/>
                <a:gd fmla="val 100000" name="adj4"/>
              </a:avLst>
            </a:prstGeom>
            <a:solidFill>
              <a:srgbClr val="CAD1D8">
                <a:alpha val="90196"/>
              </a:srgbClr>
            </a:solidFill>
            <a:ln cap="flat" cmpd="sng" w="19050">
              <a:solidFill>
                <a:srgbClr val="CAD1D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g3edf2b460e5_6_134"/>
            <p:cNvSpPr txBox="1"/>
            <p:nvPr/>
          </p:nvSpPr>
          <p:spPr>
            <a:xfrm>
              <a:off x="11093" y="2074191"/>
              <a:ext cx="1701490" cy="1625302"/>
            </a:xfrm>
            <a:prstGeom prst="rect">
              <a:avLst/>
            </a:prstGeom>
            <a:noFill/>
            <a:ln>
              <a:noFill/>
            </a:ln>
          </p:spPr>
          <p:txBody>
            <a:bodyPr anchorCtr="0" anchor="t" bIns="165100" lIns="134200" spcFirstLastPara="1" rIns="134200" wrap="square" tIns="165100">
              <a:noAutofit/>
            </a:bodyPr>
            <a:lstStyle/>
            <a:p>
              <a:pPr indent="0" lvl="0" marL="0" marR="0" rtl="0" algn="l">
                <a:lnSpc>
                  <a:spcPct val="90000"/>
                </a:lnSpc>
                <a:spcBef>
                  <a:spcPts val="0"/>
                </a:spcBef>
                <a:spcAft>
                  <a:spcPts val="0"/>
                </a:spcAft>
                <a:buClr>
                  <a:schemeClr val="dk1"/>
                </a:buClr>
                <a:buSzPts val="1100"/>
                <a:buFont typeface="Arial"/>
                <a:buNone/>
              </a:pPr>
              <a:r>
                <a:rPr lang="en" sz="1100">
                  <a:solidFill>
                    <a:schemeClr val="dk1"/>
                  </a:solidFill>
                  <a:latin typeface="Arial"/>
                  <a:ea typeface="Arial"/>
                  <a:cs typeface="Arial"/>
                  <a:sym typeface="Arial"/>
                </a:rPr>
                <a:t>Trained using </a:t>
              </a:r>
              <a:r>
                <a:rPr b="1" lang="en" sz="1100">
                  <a:solidFill>
                    <a:schemeClr val="dk1"/>
                  </a:solidFill>
                  <a:latin typeface="Arial"/>
                  <a:ea typeface="Arial"/>
                  <a:cs typeface="Arial"/>
                  <a:sym typeface="Arial"/>
                </a:rPr>
                <a:t>Train / Validation / Test</a:t>
              </a:r>
              <a:r>
                <a:rPr lang="en" sz="1100">
                  <a:solidFill>
                    <a:schemeClr val="dk1"/>
                  </a:solidFill>
                  <a:latin typeface="Arial"/>
                  <a:ea typeface="Arial"/>
                  <a:cs typeface="Arial"/>
                  <a:sym typeface="Arial"/>
                </a:rPr>
                <a:t> split (70% / 15% / 15%)</a:t>
              </a:r>
              <a:endParaRPr sz="1100">
                <a:solidFill>
                  <a:schemeClr val="dk1"/>
                </a:solidFill>
                <a:latin typeface="Arial"/>
                <a:ea typeface="Arial"/>
                <a:cs typeface="Arial"/>
                <a:sym typeface="Arial"/>
              </a:endParaRPr>
            </a:p>
          </p:txBody>
        </p:sp>
        <p:sp>
          <p:nvSpPr>
            <p:cNvPr id="1450" name="Google Shape;1450;g3edf2b460e5_6_134"/>
            <p:cNvSpPr/>
            <p:nvPr/>
          </p:nvSpPr>
          <p:spPr>
            <a:xfrm>
              <a:off x="1901638" y="1196883"/>
              <a:ext cx="1701490" cy="72"/>
            </a:xfrm>
            <a:prstGeom prst="rect">
              <a:avLst/>
            </a:prstGeom>
            <a:solidFill>
              <a:srgbClr val="CAD1D8">
                <a:alpha val="90196"/>
              </a:srgbClr>
            </a:solidFill>
            <a:ln cap="flat" cmpd="sng" w="19050">
              <a:solidFill>
                <a:srgbClr val="CAD1D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g3edf2b460e5_6_134"/>
            <p:cNvSpPr/>
            <p:nvPr/>
          </p:nvSpPr>
          <p:spPr>
            <a:xfrm>
              <a:off x="3648502" y="1133335"/>
              <a:ext cx="86965" cy="163502"/>
            </a:xfrm>
            <a:prstGeom prst="chevron">
              <a:avLst>
                <a:gd fmla="val 90000" name="adj"/>
              </a:avLst>
            </a:prstGeom>
            <a:solidFill>
              <a:srgbClr val="CAD1D8">
                <a:alpha val="90196"/>
              </a:srgbClr>
            </a:solidFill>
            <a:ln cap="flat" cmpd="sng" w="19050">
              <a:solidFill>
                <a:srgbClr val="CAD1D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g3edf2b460e5_6_134"/>
            <p:cNvSpPr/>
            <p:nvPr/>
          </p:nvSpPr>
          <p:spPr>
            <a:xfrm>
              <a:off x="2381009" y="825545"/>
              <a:ext cx="742748" cy="742748"/>
            </a:xfrm>
            <a:prstGeom prst="ellipse">
              <a:avLst/>
            </a:prstGeom>
            <a:solidFill>
              <a:srgbClr val="155D82"/>
            </a:solidFill>
            <a:ln cap="flat" cmpd="sng" w="19050">
              <a:solidFill>
                <a:srgbClr val="155D8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g3edf2b460e5_6_134"/>
            <p:cNvSpPr txBox="1"/>
            <p:nvPr/>
          </p:nvSpPr>
          <p:spPr>
            <a:xfrm>
              <a:off x="2489782" y="934318"/>
              <a:ext cx="525202" cy="525202"/>
            </a:xfrm>
            <a:prstGeom prst="rect">
              <a:avLst/>
            </a:prstGeom>
            <a:noFill/>
            <a:ln>
              <a:noFill/>
            </a:ln>
          </p:spPr>
          <p:txBody>
            <a:bodyPr anchorCtr="0" anchor="ctr" bIns="28800" lIns="28800" spcFirstLastPara="1" rIns="28800" wrap="square" tIns="28800">
              <a:noAutofit/>
            </a:bodyPr>
            <a:lstStyle/>
            <a:p>
              <a:pPr indent="0" lvl="0" marL="0" marR="0" rtl="0" algn="ctr">
                <a:lnSpc>
                  <a:spcPct val="90000"/>
                </a:lnSpc>
                <a:spcBef>
                  <a:spcPts val="0"/>
                </a:spcBef>
                <a:spcAft>
                  <a:spcPts val="0"/>
                </a:spcAft>
                <a:buClr>
                  <a:schemeClr val="lt1"/>
                </a:buClr>
                <a:buSzPts val="3300"/>
                <a:buFont typeface="Arial"/>
                <a:buNone/>
              </a:pPr>
              <a:r>
                <a:rPr lang="en" sz="3300">
                  <a:solidFill>
                    <a:schemeClr val="lt1"/>
                  </a:solidFill>
                  <a:latin typeface="Arial"/>
                  <a:ea typeface="Arial"/>
                  <a:cs typeface="Arial"/>
                  <a:sym typeface="Arial"/>
                </a:rPr>
                <a:t>2</a:t>
              </a:r>
              <a:endParaRPr/>
            </a:p>
          </p:txBody>
        </p:sp>
        <p:sp>
          <p:nvSpPr>
            <p:cNvPr id="1454" name="Google Shape;1454;g3edf2b460e5_6_134"/>
            <p:cNvSpPr/>
            <p:nvPr/>
          </p:nvSpPr>
          <p:spPr>
            <a:xfrm>
              <a:off x="1901638" y="1733893"/>
              <a:ext cx="1701490" cy="1965600"/>
            </a:xfrm>
            <a:prstGeom prst="upArrowCallout">
              <a:avLst>
                <a:gd fmla="val 50000" name="adj1"/>
                <a:gd fmla="val 20000" name="adj2"/>
                <a:gd fmla="val 20000" name="adj3"/>
                <a:gd fmla="val 100000" name="adj4"/>
              </a:avLst>
            </a:prstGeom>
            <a:solidFill>
              <a:srgbClr val="CAD1D8">
                <a:alpha val="90196"/>
              </a:srgbClr>
            </a:solidFill>
            <a:ln cap="flat" cmpd="sng" w="19050">
              <a:solidFill>
                <a:srgbClr val="CAD1D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g3edf2b460e5_6_134"/>
            <p:cNvSpPr txBox="1"/>
            <p:nvPr/>
          </p:nvSpPr>
          <p:spPr>
            <a:xfrm>
              <a:off x="1901638" y="2074191"/>
              <a:ext cx="1701490" cy="1625302"/>
            </a:xfrm>
            <a:prstGeom prst="rect">
              <a:avLst/>
            </a:prstGeom>
            <a:noFill/>
            <a:ln>
              <a:noFill/>
            </a:ln>
          </p:spPr>
          <p:txBody>
            <a:bodyPr anchorCtr="0" anchor="t" bIns="165100" lIns="134200" spcFirstLastPara="1" rIns="134200" wrap="square" tIns="165100">
              <a:noAutofit/>
            </a:bodyPr>
            <a:lstStyle/>
            <a:p>
              <a:pPr indent="0" lvl="0" marL="0" marR="0" rtl="0" algn="l">
                <a:lnSpc>
                  <a:spcPct val="90000"/>
                </a:lnSpc>
                <a:spcBef>
                  <a:spcPts val="0"/>
                </a:spcBef>
                <a:spcAft>
                  <a:spcPts val="0"/>
                </a:spcAft>
                <a:buClr>
                  <a:schemeClr val="dk1"/>
                </a:buClr>
                <a:buSzPts val="1100"/>
                <a:buFont typeface="Arial"/>
                <a:buNone/>
              </a:pPr>
              <a:r>
                <a:rPr lang="en" sz="1100">
                  <a:solidFill>
                    <a:schemeClr val="dk1"/>
                  </a:solidFill>
                  <a:latin typeface="Arial"/>
                  <a:ea typeface="Arial"/>
                  <a:cs typeface="Arial"/>
                  <a:sym typeface="Arial"/>
                </a:rPr>
                <a:t>Used </a:t>
              </a:r>
              <a:r>
                <a:rPr b="1" lang="en" sz="1100">
                  <a:solidFill>
                    <a:schemeClr val="dk1"/>
                  </a:solidFill>
                  <a:latin typeface="Arial"/>
                  <a:ea typeface="Arial"/>
                  <a:cs typeface="Arial"/>
                  <a:sym typeface="Arial"/>
                </a:rPr>
                <a:t>early stopping</a:t>
              </a:r>
              <a:r>
                <a:rPr lang="en" sz="1100">
                  <a:solidFill>
                    <a:schemeClr val="dk1"/>
                  </a:solidFill>
                  <a:latin typeface="Arial"/>
                  <a:ea typeface="Arial"/>
                  <a:cs typeface="Arial"/>
                  <a:sym typeface="Arial"/>
                </a:rPr>
                <a:t> on validation set to prevent overfitting</a:t>
              </a:r>
              <a:endParaRPr sz="1100">
                <a:solidFill>
                  <a:schemeClr val="dk1"/>
                </a:solidFill>
                <a:latin typeface="Arial"/>
                <a:ea typeface="Arial"/>
                <a:cs typeface="Arial"/>
                <a:sym typeface="Arial"/>
              </a:endParaRPr>
            </a:p>
          </p:txBody>
        </p:sp>
        <p:sp>
          <p:nvSpPr>
            <p:cNvPr id="1456" name="Google Shape;1456;g3edf2b460e5_6_134"/>
            <p:cNvSpPr/>
            <p:nvPr/>
          </p:nvSpPr>
          <p:spPr>
            <a:xfrm>
              <a:off x="3792184" y="1196883"/>
              <a:ext cx="1701490" cy="72"/>
            </a:xfrm>
            <a:prstGeom prst="rect">
              <a:avLst/>
            </a:prstGeom>
            <a:solidFill>
              <a:srgbClr val="CAD1D8">
                <a:alpha val="90196"/>
              </a:srgbClr>
            </a:solidFill>
            <a:ln cap="flat" cmpd="sng" w="19050">
              <a:solidFill>
                <a:srgbClr val="CAD1D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g3edf2b460e5_6_134"/>
            <p:cNvSpPr/>
            <p:nvPr/>
          </p:nvSpPr>
          <p:spPr>
            <a:xfrm>
              <a:off x="5539048" y="1133335"/>
              <a:ext cx="86965" cy="163502"/>
            </a:xfrm>
            <a:prstGeom prst="chevron">
              <a:avLst>
                <a:gd fmla="val 90000" name="adj"/>
              </a:avLst>
            </a:prstGeom>
            <a:solidFill>
              <a:srgbClr val="CAD1D8">
                <a:alpha val="90196"/>
              </a:srgbClr>
            </a:solidFill>
            <a:ln cap="flat" cmpd="sng" w="19050">
              <a:solidFill>
                <a:srgbClr val="CAD1D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g3edf2b460e5_6_134"/>
            <p:cNvSpPr/>
            <p:nvPr/>
          </p:nvSpPr>
          <p:spPr>
            <a:xfrm>
              <a:off x="4271555" y="825545"/>
              <a:ext cx="742748" cy="742748"/>
            </a:xfrm>
            <a:prstGeom prst="ellipse">
              <a:avLst/>
            </a:prstGeom>
            <a:solidFill>
              <a:srgbClr val="155D82"/>
            </a:solidFill>
            <a:ln cap="flat" cmpd="sng" w="19050">
              <a:solidFill>
                <a:srgbClr val="155D8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g3edf2b460e5_6_134"/>
            <p:cNvSpPr txBox="1"/>
            <p:nvPr/>
          </p:nvSpPr>
          <p:spPr>
            <a:xfrm>
              <a:off x="4380328" y="934318"/>
              <a:ext cx="525202" cy="525202"/>
            </a:xfrm>
            <a:prstGeom prst="rect">
              <a:avLst/>
            </a:prstGeom>
            <a:noFill/>
            <a:ln>
              <a:noFill/>
            </a:ln>
          </p:spPr>
          <p:txBody>
            <a:bodyPr anchorCtr="0" anchor="ctr" bIns="28800" lIns="28800" spcFirstLastPara="1" rIns="28800" wrap="square" tIns="28800">
              <a:noAutofit/>
            </a:bodyPr>
            <a:lstStyle/>
            <a:p>
              <a:pPr indent="0" lvl="0" marL="0" marR="0" rtl="0" algn="ctr">
                <a:lnSpc>
                  <a:spcPct val="90000"/>
                </a:lnSpc>
                <a:spcBef>
                  <a:spcPts val="0"/>
                </a:spcBef>
                <a:spcAft>
                  <a:spcPts val="0"/>
                </a:spcAft>
                <a:buClr>
                  <a:schemeClr val="lt1"/>
                </a:buClr>
                <a:buSzPts val="3300"/>
                <a:buFont typeface="Arial"/>
                <a:buNone/>
              </a:pPr>
              <a:r>
                <a:rPr lang="en" sz="3300">
                  <a:solidFill>
                    <a:schemeClr val="lt1"/>
                  </a:solidFill>
                  <a:latin typeface="Arial"/>
                  <a:ea typeface="Arial"/>
                  <a:cs typeface="Arial"/>
                  <a:sym typeface="Arial"/>
                </a:rPr>
                <a:t>3</a:t>
              </a:r>
              <a:endParaRPr/>
            </a:p>
          </p:txBody>
        </p:sp>
        <p:sp>
          <p:nvSpPr>
            <p:cNvPr id="1460" name="Google Shape;1460;g3edf2b460e5_6_134"/>
            <p:cNvSpPr/>
            <p:nvPr/>
          </p:nvSpPr>
          <p:spPr>
            <a:xfrm>
              <a:off x="3792184" y="1733893"/>
              <a:ext cx="1701490" cy="1965600"/>
            </a:xfrm>
            <a:prstGeom prst="upArrowCallout">
              <a:avLst>
                <a:gd fmla="val 50000" name="adj1"/>
                <a:gd fmla="val 20000" name="adj2"/>
                <a:gd fmla="val 20000" name="adj3"/>
                <a:gd fmla="val 100000" name="adj4"/>
              </a:avLst>
            </a:prstGeom>
            <a:solidFill>
              <a:srgbClr val="CAD1D8">
                <a:alpha val="90196"/>
              </a:srgbClr>
            </a:solidFill>
            <a:ln cap="flat" cmpd="sng" w="19050">
              <a:solidFill>
                <a:srgbClr val="CAD1D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g3edf2b460e5_6_134"/>
            <p:cNvSpPr txBox="1"/>
            <p:nvPr/>
          </p:nvSpPr>
          <p:spPr>
            <a:xfrm>
              <a:off x="3792184" y="2074191"/>
              <a:ext cx="1701490" cy="1625302"/>
            </a:xfrm>
            <a:prstGeom prst="rect">
              <a:avLst/>
            </a:prstGeom>
            <a:noFill/>
            <a:ln>
              <a:noFill/>
            </a:ln>
          </p:spPr>
          <p:txBody>
            <a:bodyPr anchorCtr="0" anchor="t" bIns="165100" lIns="134200" spcFirstLastPara="1" rIns="134200" wrap="square" tIns="165100">
              <a:noAutofit/>
            </a:bodyPr>
            <a:lstStyle/>
            <a:p>
              <a:pPr indent="0" lvl="0" marL="0" marR="0" rtl="0" algn="l">
                <a:lnSpc>
                  <a:spcPct val="90000"/>
                </a:lnSpc>
                <a:spcBef>
                  <a:spcPts val="0"/>
                </a:spcBef>
                <a:spcAft>
                  <a:spcPts val="0"/>
                </a:spcAft>
                <a:buClr>
                  <a:schemeClr val="dk1"/>
                </a:buClr>
                <a:buSzPts val="1100"/>
                <a:buFont typeface="Arial"/>
                <a:buNone/>
              </a:pPr>
              <a:r>
                <a:rPr lang="en" sz="1100">
                  <a:solidFill>
                    <a:schemeClr val="dk1"/>
                  </a:solidFill>
                  <a:latin typeface="Arial"/>
                  <a:ea typeface="Arial"/>
                  <a:cs typeface="Arial"/>
                  <a:sym typeface="Arial"/>
                </a:rPr>
                <a:t>Best iteration reached at </a:t>
              </a:r>
              <a:r>
                <a:rPr b="1" lang="en" sz="1100">
                  <a:solidFill>
                    <a:schemeClr val="dk1"/>
                  </a:solidFill>
                  <a:latin typeface="Arial"/>
                  <a:ea typeface="Arial"/>
                  <a:cs typeface="Arial"/>
                  <a:sym typeface="Arial"/>
                </a:rPr>
                <a:t>999</a:t>
              </a:r>
              <a:endParaRPr sz="1100">
                <a:solidFill>
                  <a:schemeClr val="dk1"/>
                </a:solidFill>
                <a:latin typeface="Arial"/>
                <a:ea typeface="Arial"/>
                <a:cs typeface="Arial"/>
                <a:sym typeface="Arial"/>
              </a:endParaRPr>
            </a:p>
          </p:txBody>
        </p:sp>
        <p:sp>
          <p:nvSpPr>
            <p:cNvPr id="1462" name="Google Shape;1462;g3edf2b460e5_6_134"/>
            <p:cNvSpPr/>
            <p:nvPr/>
          </p:nvSpPr>
          <p:spPr>
            <a:xfrm>
              <a:off x="5682729" y="1196883"/>
              <a:ext cx="1701490" cy="72"/>
            </a:xfrm>
            <a:prstGeom prst="rect">
              <a:avLst/>
            </a:prstGeom>
            <a:solidFill>
              <a:srgbClr val="CAD1D8">
                <a:alpha val="90196"/>
              </a:srgbClr>
            </a:solidFill>
            <a:ln cap="flat" cmpd="sng" w="19050">
              <a:solidFill>
                <a:srgbClr val="CAD1D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g3edf2b460e5_6_134"/>
            <p:cNvSpPr/>
            <p:nvPr/>
          </p:nvSpPr>
          <p:spPr>
            <a:xfrm>
              <a:off x="7429593" y="1133335"/>
              <a:ext cx="86965" cy="163502"/>
            </a:xfrm>
            <a:prstGeom prst="chevron">
              <a:avLst>
                <a:gd fmla="val 90000" name="adj"/>
              </a:avLst>
            </a:prstGeom>
            <a:solidFill>
              <a:srgbClr val="CAD1D8">
                <a:alpha val="90196"/>
              </a:srgbClr>
            </a:solidFill>
            <a:ln cap="flat" cmpd="sng" w="19050">
              <a:solidFill>
                <a:srgbClr val="CAD1D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g3edf2b460e5_6_134"/>
            <p:cNvSpPr/>
            <p:nvPr/>
          </p:nvSpPr>
          <p:spPr>
            <a:xfrm>
              <a:off x="6162100" y="825545"/>
              <a:ext cx="742748" cy="742748"/>
            </a:xfrm>
            <a:prstGeom prst="ellipse">
              <a:avLst/>
            </a:prstGeom>
            <a:solidFill>
              <a:srgbClr val="155D82"/>
            </a:solidFill>
            <a:ln cap="flat" cmpd="sng" w="19050">
              <a:solidFill>
                <a:srgbClr val="155D8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g3edf2b460e5_6_134"/>
            <p:cNvSpPr txBox="1"/>
            <p:nvPr/>
          </p:nvSpPr>
          <p:spPr>
            <a:xfrm>
              <a:off x="6270873" y="934318"/>
              <a:ext cx="525202" cy="525202"/>
            </a:xfrm>
            <a:prstGeom prst="rect">
              <a:avLst/>
            </a:prstGeom>
            <a:noFill/>
            <a:ln>
              <a:noFill/>
            </a:ln>
          </p:spPr>
          <p:txBody>
            <a:bodyPr anchorCtr="0" anchor="ctr" bIns="28800" lIns="28800" spcFirstLastPara="1" rIns="28800" wrap="square" tIns="28800">
              <a:noAutofit/>
            </a:bodyPr>
            <a:lstStyle/>
            <a:p>
              <a:pPr indent="0" lvl="0" marL="0" marR="0" rtl="0" algn="ctr">
                <a:lnSpc>
                  <a:spcPct val="90000"/>
                </a:lnSpc>
                <a:spcBef>
                  <a:spcPts val="0"/>
                </a:spcBef>
                <a:spcAft>
                  <a:spcPts val="0"/>
                </a:spcAft>
                <a:buClr>
                  <a:schemeClr val="lt1"/>
                </a:buClr>
                <a:buSzPts val="3300"/>
                <a:buFont typeface="Arial"/>
                <a:buNone/>
              </a:pPr>
              <a:r>
                <a:rPr lang="en" sz="3300">
                  <a:solidFill>
                    <a:schemeClr val="lt1"/>
                  </a:solidFill>
                  <a:latin typeface="Arial"/>
                  <a:ea typeface="Arial"/>
                  <a:cs typeface="Arial"/>
                  <a:sym typeface="Arial"/>
                </a:rPr>
                <a:t>4</a:t>
              </a:r>
              <a:endParaRPr/>
            </a:p>
          </p:txBody>
        </p:sp>
        <p:sp>
          <p:nvSpPr>
            <p:cNvPr id="1466" name="Google Shape;1466;g3edf2b460e5_6_134"/>
            <p:cNvSpPr/>
            <p:nvPr/>
          </p:nvSpPr>
          <p:spPr>
            <a:xfrm>
              <a:off x="5682729" y="1733893"/>
              <a:ext cx="1701490" cy="1965600"/>
            </a:xfrm>
            <a:prstGeom prst="upArrowCallout">
              <a:avLst>
                <a:gd fmla="val 50000" name="adj1"/>
                <a:gd fmla="val 20000" name="adj2"/>
                <a:gd fmla="val 20000" name="adj3"/>
                <a:gd fmla="val 100000" name="adj4"/>
              </a:avLst>
            </a:prstGeom>
            <a:solidFill>
              <a:srgbClr val="CAD1D8">
                <a:alpha val="90196"/>
              </a:srgbClr>
            </a:solidFill>
            <a:ln cap="flat" cmpd="sng" w="19050">
              <a:solidFill>
                <a:srgbClr val="CAD1D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g3edf2b460e5_6_134"/>
            <p:cNvSpPr txBox="1"/>
            <p:nvPr/>
          </p:nvSpPr>
          <p:spPr>
            <a:xfrm>
              <a:off x="5682729" y="2074191"/>
              <a:ext cx="1701490" cy="1625302"/>
            </a:xfrm>
            <a:prstGeom prst="rect">
              <a:avLst/>
            </a:prstGeom>
            <a:noFill/>
            <a:ln>
              <a:noFill/>
            </a:ln>
          </p:spPr>
          <p:txBody>
            <a:bodyPr anchorCtr="0" anchor="t" bIns="165100" lIns="134200" spcFirstLastPara="1" rIns="134200" wrap="square" tIns="165100">
              <a:noAutofit/>
            </a:bodyPr>
            <a:lstStyle/>
            <a:p>
              <a:pPr indent="0" lvl="0" marL="0" marR="0" rtl="0" algn="l">
                <a:lnSpc>
                  <a:spcPct val="90000"/>
                </a:lnSpc>
                <a:spcBef>
                  <a:spcPts val="0"/>
                </a:spcBef>
                <a:spcAft>
                  <a:spcPts val="0"/>
                </a:spcAft>
                <a:buClr>
                  <a:schemeClr val="dk1"/>
                </a:buClr>
                <a:buSzPts val="1100"/>
                <a:buFont typeface="Arial"/>
                <a:buNone/>
              </a:pPr>
              <a:r>
                <a:rPr b="1" lang="en" sz="1100">
                  <a:solidFill>
                    <a:schemeClr val="dk1"/>
                  </a:solidFill>
                  <a:latin typeface="Arial"/>
                  <a:ea typeface="Arial"/>
                  <a:cs typeface="Arial"/>
                  <a:sym typeface="Arial"/>
                </a:rPr>
                <a:t>RMSE (Root Mean Squared Error)</a:t>
              </a:r>
              <a:r>
                <a:rPr lang="en" sz="1100">
                  <a:solidFill>
                    <a:schemeClr val="dk1"/>
                  </a:solidFill>
                  <a:latin typeface="Arial"/>
                  <a:ea typeface="Arial"/>
                  <a:cs typeface="Arial"/>
                  <a:sym typeface="Arial"/>
                </a:rPr>
                <a:t>: </a:t>
              </a:r>
              <a:r>
                <a:rPr b="1" lang="en" sz="1100">
                  <a:solidFill>
                    <a:schemeClr val="dk1"/>
                  </a:solidFill>
                  <a:latin typeface="Arial"/>
                  <a:ea typeface="Arial"/>
                  <a:cs typeface="Arial"/>
                  <a:sym typeface="Arial"/>
                </a:rPr>
                <a:t>0.0188</a:t>
              </a:r>
              <a:r>
                <a:rPr lang="en" sz="1100">
                  <a:solidFill>
                    <a:schemeClr val="dk1"/>
                  </a:solidFill>
                  <a:latin typeface="Arial"/>
                  <a:ea typeface="Arial"/>
                  <a:cs typeface="Arial"/>
                  <a:sym typeface="Arial"/>
                </a:rPr>
                <a:t> → Measures the average magnitude of prediction errors. Lower is better. Our model’s predictions are very close to actual values.</a:t>
              </a:r>
              <a:endParaRPr sz="1100">
                <a:solidFill>
                  <a:schemeClr val="dk1"/>
                </a:solidFill>
                <a:latin typeface="Arial"/>
                <a:ea typeface="Arial"/>
                <a:cs typeface="Arial"/>
                <a:sym typeface="Arial"/>
              </a:endParaRPr>
            </a:p>
          </p:txBody>
        </p:sp>
        <p:sp>
          <p:nvSpPr>
            <p:cNvPr id="1468" name="Google Shape;1468;g3edf2b460e5_6_134"/>
            <p:cNvSpPr/>
            <p:nvPr/>
          </p:nvSpPr>
          <p:spPr>
            <a:xfrm>
              <a:off x="7573274" y="1196883"/>
              <a:ext cx="1701490" cy="72"/>
            </a:xfrm>
            <a:prstGeom prst="rect">
              <a:avLst/>
            </a:prstGeom>
            <a:solidFill>
              <a:srgbClr val="CAD1D8">
                <a:alpha val="90196"/>
              </a:srgbClr>
            </a:solidFill>
            <a:ln cap="flat" cmpd="sng" w="19050">
              <a:solidFill>
                <a:srgbClr val="CAD1D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g3edf2b460e5_6_134"/>
            <p:cNvSpPr/>
            <p:nvPr/>
          </p:nvSpPr>
          <p:spPr>
            <a:xfrm>
              <a:off x="9320138" y="1133335"/>
              <a:ext cx="86965" cy="163502"/>
            </a:xfrm>
            <a:prstGeom prst="chevron">
              <a:avLst>
                <a:gd fmla="val 90000" name="adj"/>
              </a:avLst>
            </a:prstGeom>
            <a:solidFill>
              <a:srgbClr val="CAD1D8">
                <a:alpha val="90196"/>
              </a:srgbClr>
            </a:solidFill>
            <a:ln cap="flat" cmpd="sng" w="19050">
              <a:solidFill>
                <a:srgbClr val="CAD1D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g3edf2b460e5_6_134"/>
            <p:cNvSpPr/>
            <p:nvPr/>
          </p:nvSpPr>
          <p:spPr>
            <a:xfrm>
              <a:off x="8052645" y="825545"/>
              <a:ext cx="742748" cy="742748"/>
            </a:xfrm>
            <a:prstGeom prst="ellipse">
              <a:avLst/>
            </a:prstGeom>
            <a:solidFill>
              <a:srgbClr val="155D82"/>
            </a:solidFill>
            <a:ln cap="flat" cmpd="sng" w="19050">
              <a:solidFill>
                <a:srgbClr val="155D8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g3edf2b460e5_6_134"/>
            <p:cNvSpPr txBox="1"/>
            <p:nvPr/>
          </p:nvSpPr>
          <p:spPr>
            <a:xfrm>
              <a:off x="8161418" y="934318"/>
              <a:ext cx="525202" cy="525202"/>
            </a:xfrm>
            <a:prstGeom prst="rect">
              <a:avLst/>
            </a:prstGeom>
            <a:noFill/>
            <a:ln>
              <a:noFill/>
            </a:ln>
          </p:spPr>
          <p:txBody>
            <a:bodyPr anchorCtr="0" anchor="ctr" bIns="28800" lIns="28800" spcFirstLastPara="1" rIns="28800" wrap="square" tIns="28800">
              <a:noAutofit/>
            </a:bodyPr>
            <a:lstStyle/>
            <a:p>
              <a:pPr indent="0" lvl="0" marL="0" marR="0" rtl="0" algn="ctr">
                <a:lnSpc>
                  <a:spcPct val="90000"/>
                </a:lnSpc>
                <a:spcBef>
                  <a:spcPts val="0"/>
                </a:spcBef>
                <a:spcAft>
                  <a:spcPts val="0"/>
                </a:spcAft>
                <a:buClr>
                  <a:schemeClr val="lt1"/>
                </a:buClr>
                <a:buSzPts val="3300"/>
                <a:buFont typeface="Arial"/>
                <a:buNone/>
              </a:pPr>
              <a:r>
                <a:rPr lang="en" sz="3300">
                  <a:solidFill>
                    <a:schemeClr val="lt1"/>
                  </a:solidFill>
                  <a:latin typeface="Arial"/>
                  <a:ea typeface="Arial"/>
                  <a:cs typeface="Arial"/>
                  <a:sym typeface="Arial"/>
                </a:rPr>
                <a:t>5</a:t>
              </a:r>
              <a:endParaRPr/>
            </a:p>
          </p:txBody>
        </p:sp>
        <p:sp>
          <p:nvSpPr>
            <p:cNvPr id="1472" name="Google Shape;1472;g3edf2b460e5_6_134"/>
            <p:cNvSpPr/>
            <p:nvPr/>
          </p:nvSpPr>
          <p:spPr>
            <a:xfrm>
              <a:off x="7573274" y="1733893"/>
              <a:ext cx="1701490" cy="1965600"/>
            </a:xfrm>
            <a:prstGeom prst="upArrowCallout">
              <a:avLst>
                <a:gd fmla="val 50000" name="adj1"/>
                <a:gd fmla="val 20000" name="adj2"/>
                <a:gd fmla="val 20000" name="adj3"/>
                <a:gd fmla="val 100000" name="adj4"/>
              </a:avLst>
            </a:prstGeom>
            <a:solidFill>
              <a:srgbClr val="CAD1D8">
                <a:alpha val="90196"/>
              </a:srgbClr>
            </a:solidFill>
            <a:ln cap="flat" cmpd="sng" w="19050">
              <a:solidFill>
                <a:srgbClr val="CAD1D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g3edf2b460e5_6_134"/>
            <p:cNvSpPr txBox="1"/>
            <p:nvPr/>
          </p:nvSpPr>
          <p:spPr>
            <a:xfrm>
              <a:off x="7573274" y="2074191"/>
              <a:ext cx="1701490" cy="1625302"/>
            </a:xfrm>
            <a:prstGeom prst="rect">
              <a:avLst/>
            </a:prstGeom>
            <a:noFill/>
            <a:ln>
              <a:noFill/>
            </a:ln>
          </p:spPr>
          <p:txBody>
            <a:bodyPr anchorCtr="0" anchor="t" bIns="165100" lIns="134200" spcFirstLastPara="1" rIns="134200" wrap="square" tIns="165100">
              <a:noAutofit/>
            </a:bodyPr>
            <a:lstStyle/>
            <a:p>
              <a:pPr indent="0" lvl="0" marL="0" marR="0" rtl="0" algn="l">
                <a:lnSpc>
                  <a:spcPct val="90000"/>
                </a:lnSpc>
                <a:spcBef>
                  <a:spcPts val="0"/>
                </a:spcBef>
                <a:spcAft>
                  <a:spcPts val="0"/>
                </a:spcAft>
                <a:buClr>
                  <a:schemeClr val="dk1"/>
                </a:buClr>
                <a:buSzPts val="1100"/>
                <a:buFont typeface="Arial"/>
                <a:buNone/>
              </a:pPr>
              <a:r>
                <a:rPr b="1" lang="en" sz="1100">
                  <a:solidFill>
                    <a:schemeClr val="dk1"/>
                  </a:solidFill>
                  <a:latin typeface="Arial"/>
                  <a:ea typeface="Arial"/>
                  <a:cs typeface="Arial"/>
                  <a:sym typeface="Arial"/>
                </a:rPr>
                <a:t>MAE (Mean Absolute Error)</a:t>
              </a:r>
              <a:r>
                <a:rPr lang="en" sz="1100">
                  <a:solidFill>
                    <a:schemeClr val="dk1"/>
                  </a:solidFill>
                  <a:latin typeface="Arial"/>
                  <a:ea typeface="Arial"/>
                  <a:cs typeface="Arial"/>
                  <a:sym typeface="Arial"/>
                </a:rPr>
                <a:t>: </a:t>
              </a:r>
              <a:r>
                <a:rPr b="1" lang="en" sz="1100">
                  <a:solidFill>
                    <a:schemeClr val="dk1"/>
                  </a:solidFill>
                  <a:latin typeface="Arial"/>
                  <a:ea typeface="Arial"/>
                  <a:cs typeface="Arial"/>
                  <a:sym typeface="Arial"/>
                </a:rPr>
                <a:t>0.0109</a:t>
              </a:r>
              <a:r>
                <a:rPr lang="en" sz="1100">
                  <a:solidFill>
                    <a:schemeClr val="dk1"/>
                  </a:solidFill>
                  <a:latin typeface="Arial"/>
                  <a:ea typeface="Arial"/>
                  <a:cs typeface="Arial"/>
                  <a:sym typeface="Arial"/>
                </a:rPr>
                <a:t> → Shows the average absolute difference between predicted and actual values. Easy to interpret in the same unit as the target.</a:t>
              </a:r>
              <a:endParaRPr sz="1100">
                <a:solidFill>
                  <a:schemeClr val="dk1"/>
                </a:solidFill>
                <a:latin typeface="Arial"/>
                <a:ea typeface="Arial"/>
                <a:cs typeface="Arial"/>
                <a:sym typeface="Arial"/>
              </a:endParaRPr>
            </a:p>
          </p:txBody>
        </p:sp>
        <p:sp>
          <p:nvSpPr>
            <p:cNvPr id="1474" name="Google Shape;1474;g3edf2b460e5_6_134"/>
            <p:cNvSpPr/>
            <p:nvPr/>
          </p:nvSpPr>
          <p:spPr>
            <a:xfrm>
              <a:off x="9463820" y="1196883"/>
              <a:ext cx="850745" cy="72"/>
            </a:xfrm>
            <a:prstGeom prst="rect">
              <a:avLst/>
            </a:prstGeom>
            <a:solidFill>
              <a:srgbClr val="CAD1D8">
                <a:alpha val="90196"/>
              </a:srgbClr>
            </a:solidFill>
            <a:ln cap="flat" cmpd="sng" w="19050">
              <a:solidFill>
                <a:srgbClr val="CAD1D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g3edf2b460e5_6_134"/>
            <p:cNvSpPr/>
            <p:nvPr/>
          </p:nvSpPr>
          <p:spPr>
            <a:xfrm>
              <a:off x="9943191" y="825545"/>
              <a:ext cx="742748" cy="742748"/>
            </a:xfrm>
            <a:prstGeom prst="ellipse">
              <a:avLst/>
            </a:prstGeom>
            <a:solidFill>
              <a:srgbClr val="155D82"/>
            </a:solidFill>
            <a:ln cap="flat" cmpd="sng" w="19050">
              <a:solidFill>
                <a:srgbClr val="155D8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g3edf2b460e5_6_134"/>
            <p:cNvSpPr txBox="1"/>
            <p:nvPr/>
          </p:nvSpPr>
          <p:spPr>
            <a:xfrm>
              <a:off x="10051964" y="934318"/>
              <a:ext cx="525202" cy="525202"/>
            </a:xfrm>
            <a:prstGeom prst="rect">
              <a:avLst/>
            </a:prstGeom>
            <a:noFill/>
            <a:ln>
              <a:noFill/>
            </a:ln>
          </p:spPr>
          <p:txBody>
            <a:bodyPr anchorCtr="0" anchor="ctr" bIns="28800" lIns="28800" spcFirstLastPara="1" rIns="28800" wrap="square" tIns="28800">
              <a:noAutofit/>
            </a:bodyPr>
            <a:lstStyle/>
            <a:p>
              <a:pPr indent="0" lvl="0" marL="0" marR="0" rtl="0" algn="ctr">
                <a:lnSpc>
                  <a:spcPct val="90000"/>
                </a:lnSpc>
                <a:spcBef>
                  <a:spcPts val="0"/>
                </a:spcBef>
                <a:spcAft>
                  <a:spcPts val="0"/>
                </a:spcAft>
                <a:buClr>
                  <a:schemeClr val="lt1"/>
                </a:buClr>
                <a:buSzPts val="3300"/>
                <a:buFont typeface="Arial"/>
                <a:buNone/>
              </a:pPr>
              <a:r>
                <a:rPr lang="en" sz="3300">
                  <a:solidFill>
                    <a:schemeClr val="lt1"/>
                  </a:solidFill>
                  <a:latin typeface="Arial"/>
                  <a:ea typeface="Arial"/>
                  <a:cs typeface="Arial"/>
                  <a:sym typeface="Arial"/>
                </a:rPr>
                <a:t>6</a:t>
              </a:r>
              <a:endParaRPr/>
            </a:p>
          </p:txBody>
        </p:sp>
        <p:sp>
          <p:nvSpPr>
            <p:cNvPr id="1477" name="Google Shape;1477;g3edf2b460e5_6_134"/>
            <p:cNvSpPr/>
            <p:nvPr/>
          </p:nvSpPr>
          <p:spPr>
            <a:xfrm>
              <a:off x="9463820" y="1733893"/>
              <a:ext cx="1701490" cy="1965600"/>
            </a:xfrm>
            <a:prstGeom prst="upArrowCallout">
              <a:avLst>
                <a:gd fmla="val 50000" name="adj1"/>
                <a:gd fmla="val 20000" name="adj2"/>
                <a:gd fmla="val 20000" name="adj3"/>
                <a:gd fmla="val 100000" name="adj4"/>
              </a:avLst>
            </a:prstGeom>
            <a:solidFill>
              <a:srgbClr val="CAD1D8">
                <a:alpha val="90196"/>
              </a:srgbClr>
            </a:solidFill>
            <a:ln cap="flat" cmpd="sng" w="19050">
              <a:solidFill>
                <a:srgbClr val="CAD1D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g3edf2b460e5_6_134"/>
            <p:cNvSpPr txBox="1"/>
            <p:nvPr/>
          </p:nvSpPr>
          <p:spPr>
            <a:xfrm>
              <a:off x="9463820" y="2074191"/>
              <a:ext cx="1701490" cy="1625302"/>
            </a:xfrm>
            <a:prstGeom prst="rect">
              <a:avLst/>
            </a:prstGeom>
            <a:noFill/>
            <a:ln>
              <a:noFill/>
            </a:ln>
          </p:spPr>
          <p:txBody>
            <a:bodyPr anchorCtr="0" anchor="t" bIns="165100" lIns="134200" spcFirstLastPara="1" rIns="134200" wrap="square" tIns="165100">
              <a:noAutofit/>
            </a:bodyPr>
            <a:lstStyle/>
            <a:p>
              <a:pPr indent="0" lvl="0" marL="0" marR="0" rtl="0" algn="l">
                <a:lnSpc>
                  <a:spcPct val="90000"/>
                </a:lnSpc>
                <a:spcBef>
                  <a:spcPts val="0"/>
                </a:spcBef>
                <a:spcAft>
                  <a:spcPts val="0"/>
                </a:spcAft>
                <a:buClr>
                  <a:schemeClr val="dk1"/>
                </a:buClr>
                <a:buSzPts val="1100"/>
                <a:buFont typeface="Arial"/>
                <a:buNone/>
              </a:pPr>
              <a:r>
                <a:rPr b="1" lang="en" sz="1100">
                  <a:solidFill>
                    <a:schemeClr val="dk1"/>
                  </a:solidFill>
                  <a:latin typeface="Arial"/>
                  <a:ea typeface="Arial"/>
                  <a:cs typeface="Arial"/>
                  <a:sym typeface="Arial"/>
                </a:rPr>
                <a:t>MAPE (Mean Absolute Percentage Error)</a:t>
              </a:r>
              <a:r>
                <a:rPr lang="en" sz="1100">
                  <a:solidFill>
                    <a:schemeClr val="dk1"/>
                  </a:solidFill>
                  <a:latin typeface="Arial"/>
                  <a:ea typeface="Arial"/>
                  <a:cs typeface="Arial"/>
                  <a:sym typeface="Arial"/>
                </a:rPr>
                <a:t>: </a:t>
              </a:r>
              <a:r>
                <a:rPr b="1" lang="en" sz="1100">
                  <a:solidFill>
                    <a:schemeClr val="dk1"/>
                  </a:solidFill>
                  <a:latin typeface="Arial"/>
                  <a:ea typeface="Arial"/>
                  <a:cs typeface="Arial"/>
                  <a:sym typeface="Arial"/>
                </a:rPr>
                <a:t>0.97%</a:t>
              </a:r>
              <a:r>
                <a:rPr lang="en" sz="1100">
                  <a:solidFill>
                    <a:schemeClr val="dk1"/>
                  </a:solidFill>
                  <a:latin typeface="Arial"/>
                  <a:ea typeface="Arial"/>
                  <a:cs typeface="Arial"/>
                  <a:sym typeface="Arial"/>
                </a:rPr>
                <a:t> → Indicates the average percentage error. Our model’s predictions are off by less than </a:t>
              </a:r>
              <a:r>
                <a:rPr b="1" lang="en" sz="1100">
                  <a:solidFill>
                    <a:schemeClr val="dk1"/>
                  </a:solidFill>
                  <a:latin typeface="Arial"/>
                  <a:ea typeface="Arial"/>
                  <a:cs typeface="Arial"/>
                  <a:sym typeface="Arial"/>
                </a:rPr>
                <a:t>1%</a:t>
              </a:r>
              <a:r>
                <a:rPr lang="en" sz="1100">
                  <a:solidFill>
                    <a:schemeClr val="dk1"/>
                  </a:solidFill>
                  <a:latin typeface="Arial"/>
                  <a:ea typeface="Arial"/>
                  <a:cs typeface="Arial"/>
                  <a:sym typeface="Arial"/>
                </a:rPr>
                <a:t> on average — excellent accuracy for cost prediction.</a:t>
              </a:r>
              <a:endParaRPr sz="1100">
                <a:solidFill>
                  <a:schemeClr val="dk1"/>
                </a:solidFill>
                <a:latin typeface="Arial"/>
                <a:ea typeface="Arial"/>
                <a:cs typeface="Arial"/>
                <a:sym typeface="Arial"/>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g3edf2b460e5_6_179"/>
          <p:cNvSpPr txBox="1"/>
          <p:nvPr>
            <p:ph type="title"/>
          </p:nvPr>
        </p:nvSpPr>
        <p:spPr>
          <a:xfrm>
            <a:off x="838200" y="365126"/>
            <a:ext cx="9486900" cy="7339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
              <a:t>Evaluation and Improvement -Fine Tuning</a:t>
            </a:r>
            <a:endParaRPr/>
          </a:p>
        </p:txBody>
      </p:sp>
      <p:sp>
        <p:nvSpPr>
          <p:cNvPr id="1484" name="Google Shape;1484;g3edf2b460e5_6_17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485" name="Google Shape;1485;g3edf2b460e5_6_179"/>
          <p:cNvSpPr txBox="1"/>
          <p:nvPr/>
        </p:nvSpPr>
        <p:spPr>
          <a:xfrm>
            <a:off x="431799" y="6431465"/>
            <a:ext cx="3480385" cy="668204"/>
          </a:xfrm>
          <a:prstGeom prst="rect">
            <a:avLst/>
          </a:prstGeom>
          <a:noFill/>
          <a:ln>
            <a:noFill/>
          </a:ln>
        </p:spPr>
        <p:txBody>
          <a:bodyPr anchorCtr="0" anchor="ctr" bIns="45700" lIns="91425" spcFirstLastPara="1" rIns="91425" wrap="square" tIns="45700">
            <a:normAutofit fontScale="70000" lnSpcReduction="20000"/>
          </a:bodyPr>
          <a:lstStyle/>
          <a:p>
            <a:pPr indent="0" lvl="0" marL="0" marR="0" rtl="0" algn="l">
              <a:lnSpc>
                <a:spcPct val="90000"/>
              </a:lnSpc>
              <a:spcBef>
                <a:spcPts val="0"/>
              </a:spcBef>
              <a:spcAft>
                <a:spcPts val="0"/>
              </a:spcAft>
              <a:buNone/>
            </a:pPr>
            <a:r>
              <a:rPr b="1" i="0" lang="en" sz="2200" u="none" strike="noStrike">
                <a:solidFill>
                  <a:schemeClr val="dk1"/>
                </a:solidFill>
                <a:latin typeface="Play"/>
                <a:ea typeface="Play"/>
                <a:cs typeface="Play"/>
                <a:sym typeface="Play"/>
              </a:rPr>
              <a:t>Task-9  Mohammad Sharif Azimy</a:t>
            </a:r>
            <a:endParaRPr b="1" sz="2200">
              <a:solidFill>
                <a:schemeClr val="dk1"/>
              </a:solidFill>
              <a:latin typeface="Play"/>
              <a:ea typeface="Play"/>
              <a:cs typeface="Play"/>
              <a:sym typeface="Play"/>
            </a:endParaRPr>
          </a:p>
          <a:p>
            <a:pPr indent="0" lvl="0" marL="0" marR="0" rtl="0" algn="l">
              <a:lnSpc>
                <a:spcPct val="90000"/>
              </a:lnSpc>
              <a:spcBef>
                <a:spcPts val="600"/>
              </a:spcBef>
              <a:spcAft>
                <a:spcPts val="0"/>
              </a:spcAft>
              <a:buNone/>
            </a:pPr>
            <a:br>
              <a:rPr b="1" lang="en" sz="2200">
                <a:solidFill>
                  <a:schemeClr val="dk1"/>
                </a:solidFill>
                <a:latin typeface="Play"/>
                <a:ea typeface="Play"/>
                <a:cs typeface="Play"/>
                <a:sym typeface="Play"/>
              </a:rPr>
            </a:br>
            <a:endParaRPr b="1" sz="2200">
              <a:solidFill>
                <a:schemeClr val="dk1"/>
              </a:solidFill>
              <a:latin typeface="Play"/>
              <a:ea typeface="Play"/>
              <a:cs typeface="Play"/>
              <a:sym typeface="Play"/>
            </a:endParaRPr>
          </a:p>
        </p:txBody>
      </p:sp>
      <p:sp>
        <p:nvSpPr>
          <p:cNvPr id="1486" name="Google Shape;1486;g3edf2b460e5_6_179"/>
          <p:cNvSpPr txBox="1"/>
          <p:nvPr/>
        </p:nvSpPr>
        <p:spPr>
          <a:xfrm>
            <a:off x="431800" y="1859339"/>
            <a:ext cx="5847000" cy="369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Arial"/>
                <a:ea typeface="Arial"/>
                <a:cs typeface="Arial"/>
                <a:sym typeface="Arial"/>
              </a:rPr>
              <a:t>Used </a:t>
            </a:r>
            <a:r>
              <a:rPr b="1" lang="en" sz="1800">
                <a:solidFill>
                  <a:schemeClr val="dk1"/>
                </a:solidFill>
                <a:latin typeface="Arial"/>
                <a:ea typeface="Arial"/>
                <a:cs typeface="Arial"/>
                <a:sym typeface="Arial"/>
              </a:rPr>
              <a:t>CatBoost Regressor</a:t>
            </a:r>
            <a:r>
              <a:rPr lang="en" sz="1800">
                <a:solidFill>
                  <a:schemeClr val="dk1"/>
                </a:solidFill>
                <a:latin typeface="Arial"/>
                <a:ea typeface="Arial"/>
                <a:cs typeface="Arial"/>
                <a:sym typeface="Arial"/>
              </a:rPr>
              <a:t> as the primary model</a:t>
            </a:r>
            <a:endParaRPr/>
          </a:p>
          <a:p>
            <a:pPr indent="0" lvl="0" marL="0" marR="0" rtl="0" algn="l">
              <a:spcBef>
                <a:spcPts val="0"/>
              </a:spcBef>
              <a:spcAft>
                <a:spcPts val="0"/>
              </a:spcAft>
              <a:buNone/>
            </a:pPr>
            <a:r>
              <a:rPr lang="en" sz="1800">
                <a:solidFill>
                  <a:schemeClr val="dk1"/>
                </a:solidFill>
                <a:latin typeface="Arial"/>
                <a:ea typeface="Arial"/>
                <a:cs typeface="Arial"/>
                <a:sym typeface="Arial"/>
              </a:rPr>
              <a:t>Split data into </a:t>
            </a:r>
            <a:r>
              <a:rPr b="1" lang="en" sz="1800">
                <a:solidFill>
                  <a:schemeClr val="dk1"/>
                </a:solidFill>
                <a:latin typeface="Arial"/>
                <a:ea typeface="Arial"/>
                <a:cs typeface="Arial"/>
                <a:sym typeface="Arial"/>
              </a:rPr>
              <a:t>Train (70%) / Validation (15%) / Test (15%)</a:t>
            </a:r>
            <a:endParaRPr b="1"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 sz="1800">
                <a:solidFill>
                  <a:schemeClr val="dk1"/>
                </a:solidFill>
                <a:latin typeface="Arial"/>
                <a:ea typeface="Arial"/>
                <a:cs typeface="Arial"/>
                <a:sym typeface="Arial"/>
              </a:rPr>
              <a:t>Applied</a:t>
            </a:r>
            <a:r>
              <a:rPr b="1" lang="en" sz="1800">
                <a:solidFill>
                  <a:schemeClr val="dk1"/>
                </a:solidFill>
                <a:latin typeface="Arial"/>
                <a:ea typeface="Arial"/>
                <a:cs typeface="Arial"/>
                <a:sym typeface="Arial"/>
              </a:rPr>
              <a:t> hyperparameter tuning</a:t>
            </a:r>
            <a:r>
              <a:rPr lang="en"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285750" lvl="1" marL="742950" marR="0" rtl="0" algn="l">
              <a:spcBef>
                <a:spcPts val="0"/>
              </a:spcBef>
              <a:spcAft>
                <a:spcPts val="0"/>
              </a:spcAft>
              <a:buClr>
                <a:schemeClr val="dk1"/>
              </a:buClr>
              <a:buSzPts val="1800"/>
              <a:buFont typeface="Arial"/>
              <a:buChar char="•"/>
            </a:pPr>
            <a:r>
              <a:rPr b="0" i="0" lang="en" sz="1800" u="none" cap="none" strike="noStrike">
                <a:solidFill>
                  <a:schemeClr val="dk1"/>
                </a:solidFill>
                <a:latin typeface="Arial"/>
                <a:ea typeface="Arial"/>
                <a:cs typeface="Arial"/>
                <a:sym typeface="Arial"/>
              </a:rPr>
              <a:t>Iterations: 1000–2000</a:t>
            </a:r>
            <a:endParaRPr/>
          </a:p>
          <a:p>
            <a:pPr indent="-285750" lvl="1" marL="742950" marR="0" rtl="0" algn="l">
              <a:spcBef>
                <a:spcPts val="0"/>
              </a:spcBef>
              <a:spcAft>
                <a:spcPts val="0"/>
              </a:spcAft>
              <a:buClr>
                <a:schemeClr val="dk1"/>
              </a:buClr>
              <a:buSzPts val="1800"/>
              <a:buFont typeface="Arial"/>
              <a:buChar char="•"/>
            </a:pPr>
            <a:r>
              <a:rPr b="0" i="0" lang="en" sz="1800" u="none" cap="none" strike="noStrike">
                <a:solidFill>
                  <a:schemeClr val="dk1"/>
                </a:solidFill>
                <a:latin typeface="Arial"/>
                <a:ea typeface="Arial"/>
                <a:cs typeface="Arial"/>
                <a:sym typeface="Arial"/>
              </a:rPr>
              <a:t>Learning rate: 0.05 → 0.03</a:t>
            </a:r>
            <a:endParaRPr/>
          </a:p>
          <a:p>
            <a:pPr indent="-285750" lvl="1" marL="742950" marR="0" rtl="0" algn="l">
              <a:spcBef>
                <a:spcPts val="0"/>
              </a:spcBef>
              <a:spcAft>
                <a:spcPts val="0"/>
              </a:spcAft>
              <a:buClr>
                <a:schemeClr val="dk1"/>
              </a:buClr>
              <a:buSzPts val="1800"/>
              <a:buFont typeface="Arial"/>
              <a:buChar char="•"/>
            </a:pPr>
            <a:r>
              <a:rPr b="0" i="0" lang="en" sz="1800" u="none" cap="none" strike="noStrike">
                <a:solidFill>
                  <a:schemeClr val="dk1"/>
                </a:solidFill>
                <a:latin typeface="Arial"/>
                <a:ea typeface="Arial"/>
                <a:cs typeface="Arial"/>
                <a:sym typeface="Arial"/>
              </a:rPr>
              <a:t>Depth: 8</a:t>
            </a:r>
            <a:endParaRPr/>
          </a:p>
          <a:p>
            <a:pPr indent="-285750" lvl="1" marL="742950" marR="0" rtl="0" algn="l">
              <a:spcBef>
                <a:spcPts val="0"/>
              </a:spcBef>
              <a:spcAft>
                <a:spcPts val="0"/>
              </a:spcAft>
              <a:buClr>
                <a:schemeClr val="dk1"/>
              </a:buClr>
              <a:buSzPts val="1800"/>
              <a:buFont typeface="Arial"/>
              <a:buChar char="•"/>
            </a:pPr>
            <a:r>
              <a:rPr b="0" i="0" lang="en" sz="1800" u="none" cap="none" strike="noStrike">
                <a:solidFill>
                  <a:schemeClr val="dk1"/>
                </a:solidFill>
                <a:latin typeface="Arial"/>
                <a:ea typeface="Arial"/>
                <a:cs typeface="Arial"/>
                <a:sym typeface="Arial"/>
              </a:rPr>
              <a:t>Subsample: 0.8</a:t>
            </a:r>
            <a:endParaRPr b="0" i="0" sz="1800" u="none" cap="none" strike="noStrike">
              <a:solidFill>
                <a:schemeClr val="dk1"/>
              </a:solidFill>
              <a:latin typeface="Arial"/>
              <a:ea typeface="Arial"/>
              <a:cs typeface="Arial"/>
              <a:sym typeface="Arial"/>
            </a:endParaRPr>
          </a:p>
          <a:p>
            <a:pPr indent="0" lvl="1" marL="45720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lang="en" sz="1800">
                <a:solidFill>
                  <a:schemeClr val="dk1"/>
                </a:solidFill>
                <a:latin typeface="Arial"/>
                <a:ea typeface="Arial"/>
                <a:cs typeface="Arial"/>
                <a:sym typeface="Arial"/>
              </a:rPr>
              <a:t>Implemented </a:t>
            </a:r>
            <a:r>
              <a:rPr b="1" lang="en" sz="1800">
                <a:solidFill>
                  <a:schemeClr val="dk1"/>
                </a:solidFill>
                <a:latin typeface="Arial"/>
                <a:ea typeface="Arial"/>
                <a:cs typeface="Arial"/>
                <a:sym typeface="Arial"/>
              </a:rPr>
              <a:t>early stopping</a:t>
            </a:r>
            <a:r>
              <a:rPr lang="en" sz="1800">
                <a:solidFill>
                  <a:schemeClr val="dk1"/>
                </a:solidFill>
                <a:latin typeface="Arial"/>
                <a:ea typeface="Arial"/>
                <a:cs typeface="Arial"/>
                <a:sym typeface="Arial"/>
              </a:rPr>
              <a:t> (50 rounds) based on validation set performance</a:t>
            </a:r>
            <a:endParaRPr sz="1800">
              <a:solidFill>
                <a:schemeClr val="dk1"/>
              </a:solidFill>
              <a:latin typeface="Arial"/>
              <a:ea typeface="Arial"/>
              <a:cs typeface="Arial"/>
              <a:sym typeface="Arial"/>
            </a:endParaRPr>
          </a:p>
        </p:txBody>
      </p:sp>
      <p:pic>
        <p:nvPicPr>
          <p:cNvPr id="1487" name="Google Shape;1487;g3edf2b460e5_6_179"/>
          <p:cNvPicPr preferRelativeResize="0"/>
          <p:nvPr/>
        </p:nvPicPr>
        <p:blipFill>
          <a:blip r:embed="rId3">
            <a:alphaModFix/>
          </a:blip>
          <a:stretch>
            <a:fillRect/>
          </a:stretch>
        </p:blipFill>
        <p:spPr>
          <a:xfrm>
            <a:off x="6113662" y="800250"/>
            <a:ext cx="5608437" cy="3208842"/>
          </a:xfrm>
          <a:prstGeom prst="rect">
            <a:avLst/>
          </a:prstGeom>
          <a:noFill/>
          <a:ln>
            <a:noFill/>
          </a:ln>
        </p:spPr>
      </p:pic>
      <p:sp>
        <p:nvSpPr>
          <p:cNvPr id="1488" name="Google Shape;1488;g3edf2b460e5_6_179"/>
          <p:cNvSpPr txBox="1"/>
          <p:nvPr/>
        </p:nvSpPr>
        <p:spPr>
          <a:xfrm>
            <a:off x="6278750" y="4009104"/>
            <a:ext cx="4530900" cy="19836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600"/>
              </a:spcBef>
              <a:spcAft>
                <a:spcPts val="0"/>
              </a:spcAft>
              <a:buNone/>
            </a:pPr>
            <a:r>
              <a:t/>
            </a:r>
            <a:endParaRPr sz="2000">
              <a:solidFill>
                <a:schemeClr val="dk1"/>
              </a:solidFill>
              <a:latin typeface="Arial"/>
              <a:ea typeface="Arial"/>
              <a:cs typeface="Arial"/>
              <a:sym typeface="Arial"/>
            </a:endParaRPr>
          </a:p>
          <a:p>
            <a:pPr indent="0" lvl="0" marL="0" marR="0" rtl="0" algn="l">
              <a:lnSpc>
                <a:spcPct val="90000"/>
              </a:lnSpc>
              <a:spcBef>
                <a:spcPts val="600"/>
              </a:spcBef>
              <a:spcAft>
                <a:spcPts val="0"/>
              </a:spcAft>
              <a:buNone/>
            </a:pPr>
            <a:r>
              <a:rPr b="1" lang="en" sz="2000">
                <a:solidFill>
                  <a:schemeClr val="dk1"/>
                </a:solidFill>
                <a:latin typeface="Arial"/>
                <a:ea typeface="Arial"/>
                <a:cs typeface="Arial"/>
                <a:sym typeface="Arial"/>
              </a:rPr>
              <a:t>Final Performance on Test Set:</a:t>
            </a:r>
            <a:endParaRPr sz="2000">
              <a:solidFill>
                <a:schemeClr val="dk1"/>
              </a:solidFill>
              <a:latin typeface="Arial"/>
              <a:ea typeface="Arial"/>
              <a:cs typeface="Arial"/>
              <a:sym typeface="Arial"/>
            </a:endParaRPr>
          </a:p>
          <a:p>
            <a:pPr indent="0" lvl="0" marL="0" marR="0" rtl="0" algn="l">
              <a:lnSpc>
                <a:spcPct val="90000"/>
              </a:lnSpc>
              <a:spcBef>
                <a:spcPts val="600"/>
              </a:spcBef>
              <a:spcAft>
                <a:spcPts val="0"/>
              </a:spcAft>
              <a:buClr>
                <a:schemeClr val="dk1"/>
              </a:buClr>
              <a:buSzPts val="2000"/>
              <a:buFont typeface="Arial"/>
              <a:buChar char="•"/>
            </a:pPr>
            <a:r>
              <a:rPr b="1" lang="en" sz="2000">
                <a:solidFill>
                  <a:schemeClr val="dk1"/>
                </a:solidFill>
                <a:latin typeface="Arial"/>
                <a:ea typeface="Arial"/>
                <a:cs typeface="Arial"/>
                <a:sym typeface="Arial"/>
              </a:rPr>
              <a:t>RMSE</a:t>
            </a:r>
            <a:r>
              <a:rPr lang="en" sz="2000">
                <a:solidFill>
                  <a:schemeClr val="dk1"/>
                </a:solidFill>
                <a:latin typeface="Arial"/>
                <a:ea typeface="Arial"/>
                <a:cs typeface="Arial"/>
                <a:sym typeface="Arial"/>
              </a:rPr>
              <a:t>: </a:t>
            </a:r>
            <a:r>
              <a:rPr lang="en" sz="2000">
                <a:solidFill>
                  <a:schemeClr val="dk1"/>
                </a:solidFill>
              </a:rPr>
              <a:t>15.53</a:t>
            </a:r>
            <a:endParaRPr/>
          </a:p>
          <a:p>
            <a:pPr indent="0" lvl="0" marL="0" marR="0" rtl="0" algn="l">
              <a:lnSpc>
                <a:spcPct val="90000"/>
              </a:lnSpc>
              <a:spcBef>
                <a:spcPts val="600"/>
              </a:spcBef>
              <a:spcAft>
                <a:spcPts val="0"/>
              </a:spcAft>
              <a:buClr>
                <a:schemeClr val="dk1"/>
              </a:buClr>
              <a:buSzPts val="2000"/>
              <a:buFont typeface="Arial"/>
              <a:buChar char="•"/>
            </a:pPr>
            <a:r>
              <a:rPr b="1" lang="en" sz="2000">
                <a:solidFill>
                  <a:schemeClr val="dk1"/>
                </a:solidFill>
                <a:latin typeface="Arial"/>
                <a:ea typeface="Arial"/>
                <a:cs typeface="Arial"/>
                <a:sym typeface="Arial"/>
              </a:rPr>
              <a:t>MAE</a:t>
            </a:r>
            <a:r>
              <a:rPr lang="en" sz="2000">
                <a:solidFill>
                  <a:schemeClr val="dk1"/>
                </a:solidFill>
                <a:latin typeface="Arial"/>
                <a:ea typeface="Arial"/>
                <a:cs typeface="Arial"/>
                <a:sym typeface="Arial"/>
              </a:rPr>
              <a:t>: </a:t>
            </a:r>
            <a:r>
              <a:rPr lang="en" sz="2000">
                <a:solidFill>
                  <a:schemeClr val="dk1"/>
                </a:solidFill>
              </a:rPr>
              <a:t>5.55</a:t>
            </a:r>
            <a:endParaRPr/>
          </a:p>
          <a:p>
            <a:pPr indent="0" lvl="0" marL="0" marR="0" rtl="0" algn="l">
              <a:lnSpc>
                <a:spcPct val="90000"/>
              </a:lnSpc>
              <a:spcBef>
                <a:spcPts val="600"/>
              </a:spcBef>
              <a:spcAft>
                <a:spcPts val="0"/>
              </a:spcAft>
              <a:buClr>
                <a:schemeClr val="dk1"/>
              </a:buClr>
              <a:buSzPts val="2000"/>
              <a:buFont typeface="Arial"/>
              <a:buChar char="•"/>
            </a:pPr>
            <a:r>
              <a:rPr b="1" lang="en" sz="2000">
                <a:solidFill>
                  <a:schemeClr val="dk1"/>
                </a:solidFill>
                <a:latin typeface="Arial"/>
                <a:ea typeface="Arial"/>
                <a:cs typeface="Arial"/>
                <a:sym typeface="Arial"/>
              </a:rPr>
              <a:t>MAPE</a:t>
            </a:r>
            <a:r>
              <a:rPr lang="en" sz="2000">
                <a:solidFill>
                  <a:schemeClr val="dk1"/>
                </a:solidFill>
                <a:latin typeface="Arial"/>
                <a:ea typeface="Arial"/>
                <a:cs typeface="Arial"/>
                <a:sym typeface="Arial"/>
              </a:rPr>
              <a:t>: </a:t>
            </a:r>
            <a:r>
              <a:rPr b="1" lang="en" sz="2000">
                <a:solidFill>
                  <a:schemeClr val="dk1"/>
                </a:solidFill>
              </a:rPr>
              <a:t>20.74</a:t>
            </a:r>
            <a:r>
              <a:rPr b="1" lang="en" sz="2000">
                <a:solidFill>
                  <a:schemeClr val="dk1"/>
                </a:solidFill>
                <a:latin typeface="Arial"/>
                <a:ea typeface="Arial"/>
                <a:cs typeface="Arial"/>
                <a:sym typeface="Arial"/>
              </a:rPr>
              <a: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2" name="Shape 1492"/>
        <p:cNvGrpSpPr/>
        <p:nvPr/>
      </p:nvGrpSpPr>
      <p:grpSpPr>
        <a:xfrm>
          <a:off x="0" y="0"/>
          <a:ext cx="0" cy="0"/>
          <a:chOff x="0" y="0"/>
          <a:chExt cx="0" cy="0"/>
        </a:xfrm>
      </p:grpSpPr>
      <p:sp>
        <p:nvSpPr>
          <p:cNvPr id="1493" name="Google Shape;1493;g3edf2b460e5_6_199"/>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94" name="Google Shape;1494;g3edf2b460e5_6_199"/>
          <p:cNvSpPr txBox="1"/>
          <p:nvPr/>
        </p:nvSpPr>
        <p:spPr>
          <a:xfrm>
            <a:off x="645064" y="525982"/>
            <a:ext cx="4282983" cy="1200361"/>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lang="en" sz="3600">
                <a:solidFill>
                  <a:schemeClr val="dk1"/>
                </a:solidFill>
                <a:latin typeface="Play"/>
                <a:ea typeface="Play"/>
                <a:cs typeface="Play"/>
                <a:sym typeface="Play"/>
              </a:rPr>
              <a:t>5-Fold Cross Validation Results</a:t>
            </a:r>
            <a:endParaRPr/>
          </a:p>
        </p:txBody>
      </p:sp>
      <p:sp>
        <p:nvSpPr>
          <p:cNvPr id="1495" name="Google Shape;1495;g3edf2b460e5_6_199"/>
          <p:cNvSpPr/>
          <p:nvPr/>
        </p:nvSpPr>
        <p:spPr>
          <a:xfrm flipH="1">
            <a:off x="616533" y="1944913"/>
            <a:ext cx="4023360" cy="2743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96" name="Google Shape;1496;g3edf2b460e5_6_199"/>
          <p:cNvSpPr txBox="1"/>
          <p:nvPr/>
        </p:nvSpPr>
        <p:spPr>
          <a:xfrm>
            <a:off x="645066" y="2031101"/>
            <a:ext cx="4282984" cy="351194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lang="en" sz="1400">
                <a:solidFill>
                  <a:schemeClr val="dk1"/>
                </a:solidFill>
                <a:latin typeface="Arial"/>
                <a:ea typeface="Arial"/>
                <a:cs typeface="Arial"/>
                <a:sym typeface="Arial"/>
              </a:rPr>
              <a:t>Method</a:t>
            </a:r>
            <a:r>
              <a:rPr lang="en" sz="1400">
                <a:solidFill>
                  <a:schemeClr val="dk1"/>
                </a:solidFill>
                <a:latin typeface="Arial"/>
                <a:ea typeface="Arial"/>
                <a:cs typeface="Arial"/>
                <a:sym typeface="Arial"/>
              </a:rPr>
              <a:t>: 5-Fold Cross Validation applied to assess model stability and generalization capability </a:t>
            </a:r>
            <a:r>
              <a:rPr b="1" lang="en" sz="1400">
                <a:solidFill>
                  <a:schemeClr val="dk1"/>
                </a:solidFill>
                <a:latin typeface="Arial"/>
                <a:ea typeface="Arial"/>
                <a:cs typeface="Arial"/>
                <a:sym typeface="Arial"/>
              </a:rPr>
              <a:t>Objective</a:t>
            </a:r>
            <a:r>
              <a:rPr lang="en" sz="1400">
                <a:solidFill>
                  <a:schemeClr val="dk1"/>
                </a:solidFill>
                <a:latin typeface="Arial"/>
                <a:ea typeface="Arial"/>
                <a:cs typeface="Arial"/>
                <a:sym typeface="Arial"/>
              </a:rPr>
              <a:t>: Validate that the model performs consistently across different data subsets and is not overly dependent on any specific train-test split </a:t>
            </a:r>
            <a:r>
              <a:rPr b="1" lang="en" sz="1400">
                <a:solidFill>
                  <a:schemeClr val="dk1"/>
                </a:solidFill>
                <a:latin typeface="Arial"/>
                <a:ea typeface="Arial"/>
                <a:cs typeface="Arial"/>
                <a:sym typeface="Arial"/>
              </a:rPr>
              <a:t>Key Performance Summary</a:t>
            </a:r>
            <a:r>
              <a:rPr lang="en" sz="1400">
                <a:solidFill>
                  <a:schemeClr val="dk1"/>
                </a:solidFill>
                <a:latin typeface="Arial"/>
                <a:ea typeface="Arial"/>
                <a:cs typeface="Arial"/>
                <a:sym typeface="Arial"/>
              </a:rPr>
              <a:t>: </a:t>
            </a:r>
            <a:r>
              <a:rPr b="1" lang="en" sz="1400">
                <a:solidFill>
                  <a:schemeClr val="dk1"/>
                </a:solidFill>
                <a:latin typeface="Arial"/>
                <a:ea typeface="Arial"/>
                <a:cs typeface="Arial"/>
                <a:sym typeface="Arial"/>
              </a:rPr>
              <a:t>Average RMSE</a:t>
            </a:r>
            <a:r>
              <a:rPr lang="en" sz="1400">
                <a:solidFill>
                  <a:schemeClr val="dk1"/>
                </a:solidFill>
                <a:latin typeface="Arial"/>
                <a:ea typeface="Arial"/>
                <a:cs typeface="Arial"/>
                <a:sym typeface="Arial"/>
              </a:rPr>
              <a:t>: </a:t>
            </a:r>
            <a:r>
              <a:rPr lang="en">
                <a:solidFill>
                  <a:schemeClr val="dk1"/>
                </a:solidFill>
              </a:rPr>
              <a:t>15.37</a:t>
            </a:r>
            <a:r>
              <a:rPr lang="en" sz="1400">
                <a:solidFill>
                  <a:schemeClr val="dk1"/>
                </a:solidFill>
                <a:latin typeface="Arial"/>
                <a:ea typeface="Arial"/>
                <a:cs typeface="Arial"/>
                <a:sym typeface="Arial"/>
              </a:rPr>
              <a:t> ±1.31</a:t>
            </a:r>
            <a:endParaRPr/>
          </a:p>
          <a:p>
            <a:pPr indent="0" lvl="0" marL="0" marR="0" rtl="0" algn="l">
              <a:lnSpc>
                <a:spcPct val="90000"/>
              </a:lnSpc>
              <a:spcBef>
                <a:spcPts val="600"/>
              </a:spcBef>
              <a:spcAft>
                <a:spcPts val="0"/>
              </a:spcAft>
              <a:buClr>
                <a:schemeClr val="dk1"/>
              </a:buClr>
              <a:buSzPts val="1400"/>
              <a:buFont typeface="Arial"/>
              <a:buChar char="•"/>
            </a:pPr>
            <a:r>
              <a:rPr b="1" lang="en" sz="1400">
                <a:solidFill>
                  <a:schemeClr val="dk1"/>
                </a:solidFill>
                <a:latin typeface="Arial"/>
                <a:ea typeface="Arial"/>
                <a:cs typeface="Arial"/>
                <a:sym typeface="Arial"/>
              </a:rPr>
              <a:t>Average MAE</a:t>
            </a:r>
            <a:r>
              <a:rPr lang="en" sz="1400">
                <a:solidFill>
                  <a:schemeClr val="dk1"/>
                </a:solidFill>
                <a:latin typeface="Arial"/>
                <a:ea typeface="Arial"/>
                <a:cs typeface="Arial"/>
                <a:sym typeface="Arial"/>
              </a:rPr>
              <a:t>: </a:t>
            </a:r>
            <a:r>
              <a:rPr lang="en">
                <a:solidFill>
                  <a:schemeClr val="dk1"/>
                </a:solidFill>
              </a:rPr>
              <a:t>3.69</a:t>
            </a:r>
            <a:r>
              <a:rPr lang="en" sz="1400">
                <a:solidFill>
                  <a:schemeClr val="dk1"/>
                </a:solidFill>
                <a:latin typeface="Arial"/>
                <a:ea typeface="Arial"/>
                <a:cs typeface="Arial"/>
                <a:sym typeface="Arial"/>
              </a:rPr>
              <a:t> ± 0.</a:t>
            </a:r>
            <a:r>
              <a:rPr lang="en">
                <a:solidFill>
                  <a:schemeClr val="dk1"/>
                </a:solidFill>
              </a:rPr>
              <a:t>17</a:t>
            </a:r>
            <a:endParaRPr/>
          </a:p>
          <a:p>
            <a:pPr indent="0" lvl="0" marL="0" marR="0" rtl="0" algn="l">
              <a:lnSpc>
                <a:spcPct val="90000"/>
              </a:lnSpc>
              <a:spcBef>
                <a:spcPts val="600"/>
              </a:spcBef>
              <a:spcAft>
                <a:spcPts val="0"/>
              </a:spcAft>
              <a:buClr>
                <a:schemeClr val="dk1"/>
              </a:buClr>
              <a:buSzPts val="1400"/>
              <a:buFont typeface="Arial"/>
              <a:buChar char="•"/>
            </a:pPr>
            <a:r>
              <a:rPr b="1" lang="en" sz="1400">
                <a:solidFill>
                  <a:schemeClr val="dk1"/>
                </a:solidFill>
                <a:latin typeface="Arial"/>
                <a:ea typeface="Arial"/>
                <a:cs typeface="Arial"/>
                <a:sym typeface="Arial"/>
              </a:rPr>
              <a:t>Average MAPE</a:t>
            </a:r>
            <a:r>
              <a:rPr lang="en" sz="1400">
                <a:solidFill>
                  <a:schemeClr val="dk1"/>
                </a:solidFill>
                <a:latin typeface="Arial"/>
                <a:ea typeface="Arial"/>
                <a:cs typeface="Arial"/>
                <a:sym typeface="Arial"/>
              </a:rPr>
              <a:t>: </a:t>
            </a:r>
            <a:r>
              <a:rPr b="1" lang="en">
                <a:solidFill>
                  <a:schemeClr val="dk1"/>
                </a:solidFill>
              </a:rPr>
              <a:t>21</a:t>
            </a:r>
            <a:r>
              <a:rPr b="1" lang="en" sz="1400">
                <a:solidFill>
                  <a:schemeClr val="dk1"/>
                </a:solidFill>
                <a:latin typeface="Arial"/>
                <a:ea typeface="Arial"/>
                <a:cs typeface="Arial"/>
                <a:sym typeface="Arial"/>
              </a:rPr>
              <a:t>.9</a:t>
            </a:r>
            <a:r>
              <a:rPr b="1" lang="en">
                <a:solidFill>
                  <a:schemeClr val="dk1"/>
                </a:solidFill>
              </a:rPr>
              <a:t>3</a:t>
            </a:r>
            <a:r>
              <a:rPr b="1" lang="en" sz="1400">
                <a:solidFill>
                  <a:schemeClr val="dk1"/>
                </a:solidFill>
                <a:latin typeface="Arial"/>
                <a:ea typeface="Arial"/>
                <a:cs typeface="Arial"/>
                <a:sym typeface="Arial"/>
              </a:rPr>
              <a:t>% ± 0.</a:t>
            </a:r>
            <a:r>
              <a:rPr b="1" lang="en">
                <a:solidFill>
                  <a:schemeClr val="dk1"/>
                </a:solidFill>
              </a:rPr>
              <a:t>51</a:t>
            </a:r>
            <a:r>
              <a:rPr b="1" lang="en"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a:p>
            <a:pPr indent="0" lvl="0" marL="0" marR="0" rtl="0" algn="l">
              <a:lnSpc>
                <a:spcPct val="90000"/>
              </a:lnSpc>
              <a:spcBef>
                <a:spcPts val="600"/>
              </a:spcBef>
              <a:spcAft>
                <a:spcPts val="0"/>
              </a:spcAft>
              <a:buClr>
                <a:schemeClr val="dk1"/>
              </a:buClr>
              <a:buSzPts val="1400"/>
              <a:buFont typeface="Arial"/>
              <a:buChar char="•"/>
            </a:pPr>
            <a:r>
              <a:rPr b="1" lang="en" sz="1400">
                <a:solidFill>
                  <a:schemeClr val="dk1"/>
                </a:solidFill>
                <a:latin typeface="Arial"/>
                <a:ea typeface="Arial"/>
                <a:cs typeface="Arial"/>
                <a:sym typeface="Arial"/>
              </a:rPr>
              <a:t>Interpretation</a:t>
            </a:r>
            <a:r>
              <a:rPr lang="en" sz="1400">
                <a:solidFill>
                  <a:schemeClr val="dk1"/>
                </a:solidFill>
                <a:latin typeface="Arial"/>
                <a:ea typeface="Arial"/>
                <a:cs typeface="Arial"/>
                <a:sym typeface="Arial"/>
              </a:rPr>
              <a:t>: </a:t>
            </a:r>
            <a:r>
              <a:rPr lang="en">
                <a:solidFill>
                  <a:schemeClr val="dk1"/>
                </a:solidFill>
              </a:rPr>
              <a:t>s</a:t>
            </a:r>
            <a:r>
              <a:rPr lang="en" sz="1400">
                <a:solidFill>
                  <a:schemeClr val="dk1"/>
                </a:solidFill>
                <a:latin typeface="Arial"/>
                <a:ea typeface="Arial"/>
                <a:cs typeface="Arial"/>
                <a:sym typeface="Arial"/>
              </a:rPr>
              <a:t>table performance across all five folds</a:t>
            </a:r>
            <a:endParaRPr/>
          </a:p>
          <a:p>
            <a:pPr indent="0" lvl="0" marL="0" marR="0" rtl="0" algn="l">
              <a:lnSpc>
                <a:spcPct val="90000"/>
              </a:lnSpc>
              <a:spcBef>
                <a:spcPts val="600"/>
              </a:spcBef>
              <a:spcAft>
                <a:spcPts val="0"/>
              </a:spcAft>
              <a:buNone/>
            </a:pPr>
            <a:r>
              <a:rPr lang="en" sz="1400">
                <a:solidFill>
                  <a:schemeClr val="dk1"/>
                </a:solidFill>
                <a:latin typeface="Arial"/>
                <a:ea typeface="Arial"/>
                <a:cs typeface="Arial"/>
                <a:sym typeface="Arial"/>
              </a:rPr>
              <a:t>Very low standard deviation indicates high consistency and robustness</a:t>
            </a:r>
            <a:endParaRPr/>
          </a:p>
          <a:p>
            <a:pPr indent="0" lvl="0" marL="0" marR="0" rtl="0" algn="l">
              <a:lnSpc>
                <a:spcPct val="90000"/>
              </a:lnSpc>
              <a:spcBef>
                <a:spcPts val="600"/>
              </a:spcBef>
              <a:spcAft>
                <a:spcPts val="0"/>
              </a:spcAft>
              <a:buNone/>
            </a:pPr>
            <a:r>
              <a:rPr lang="en" sz="1400">
                <a:solidFill>
                  <a:schemeClr val="dk1"/>
                </a:solidFill>
                <a:latin typeface="Arial"/>
                <a:ea typeface="Arial"/>
                <a:cs typeface="Arial"/>
                <a:sym typeface="Arial"/>
              </a:rPr>
              <a:t>Excellent generalization across different subsets of the tube assembly cost dataset</a:t>
            </a:r>
            <a:endParaRPr/>
          </a:p>
        </p:txBody>
      </p:sp>
      <p:sp>
        <p:nvSpPr>
          <p:cNvPr id="1497" name="Google Shape;1497;g3edf2b460e5_6_199"/>
          <p:cNvSpPr/>
          <p:nvPr/>
        </p:nvSpPr>
        <p:spPr>
          <a:xfrm rot="5400000">
            <a:off x="-225843" y="6053360"/>
            <a:ext cx="740664" cy="154124"/>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98" name="Google Shape;1498;g3edf2b460e5_6_199"/>
          <p:cNvSpPr/>
          <p:nvPr/>
        </p:nvSpPr>
        <p:spPr>
          <a:xfrm rot="5400000">
            <a:off x="5904923" y="215201"/>
            <a:ext cx="740664" cy="1183349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99" name="Google Shape;1499;g3edf2b460e5_6_199"/>
          <p:cNvSpPr/>
          <p:nvPr/>
        </p:nvSpPr>
        <p:spPr>
          <a:xfrm>
            <a:off x="5696793" y="354959"/>
            <a:ext cx="6184973" cy="5915212"/>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00" name="Google Shape;1500;g3edf2b460e5_6_199"/>
          <p:cNvSpPr txBox="1"/>
          <p:nvPr>
            <p:ph idx="12" type="sldNum"/>
          </p:nvPr>
        </p:nvSpPr>
        <p:spPr>
          <a:xfrm>
            <a:off x="8610600" y="649224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solidFill>
                  <a:srgbClr val="888888"/>
                </a:solidFill>
              </a:rPr>
              <a:t>‹#›</a:t>
            </a:fld>
            <a:endParaRPr>
              <a:solidFill>
                <a:srgbClr val="888888"/>
              </a:solidFill>
            </a:endParaRPr>
          </a:p>
        </p:txBody>
      </p:sp>
      <p:sp>
        <p:nvSpPr>
          <p:cNvPr id="1501" name="Google Shape;1501;g3edf2b460e5_6_199"/>
          <p:cNvSpPr txBox="1"/>
          <p:nvPr/>
        </p:nvSpPr>
        <p:spPr>
          <a:xfrm>
            <a:off x="431799" y="6228269"/>
            <a:ext cx="3480385" cy="668204"/>
          </a:xfrm>
          <a:prstGeom prst="rect">
            <a:avLst/>
          </a:prstGeom>
          <a:noFill/>
          <a:ln>
            <a:noFill/>
          </a:ln>
        </p:spPr>
        <p:txBody>
          <a:bodyPr anchorCtr="0" anchor="ctr" bIns="45700" lIns="91425" spcFirstLastPara="1" rIns="91425" wrap="square" tIns="45700">
            <a:normAutofit fontScale="70000" lnSpcReduction="20000"/>
          </a:bodyPr>
          <a:lstStyle/>
          <a:p>
            <a:pPr indent="0" lvl="0" marL="0" marR="0" rtl="0" algn="l">
              <a:lnSpc>
                <a:spcPct val="90000"/>
              </a:lnSpc>
              <a:spcBef>
                <a:spcPts val="0"/>
              </a:spcBef>
              <a:spcAft>
                <a:spcPts val="0"/>
              </a:spcAft>
              <a:buNone/>
            </a:pPr>
            <a:r>
              <a:rPr b="1" i="0" lang="en" sz="2200" u="none" strike="noStrike">
                <a:solidFill>
                  <a:schemeClr val="dk1"/>
                </a:solidFill>
                <a:latin typeface="Play"/>
                <a:ea typeface="Play"/>
                <a:cs typeface="Play"/>
                <a:sym typeface="Play"/>
              </a:rPr>
              <a:t>Task-9  Mohammad Sharif Azimy</a:t>
            </a:r>
            <a:endParaRPr b="1" sz="2200">
              <a:solidFill>
                <a:schemeClr val="dk1"/>
              </a:solidFill>
              <a:latin typeface="Play"/>
              <a:ea typeface="Play"/>
              <a:cs typeface="Play"/>
              <a:sym typeface="Play"/>
            </a:endParaRPr>
          </a:p>
          <a:p>
            <a:pPr indent="0" lvl="0" marL="0" marR="0" rtl="0" algn="l">
              <a:lnSpc>
                <a:spcPct val="90000"/>
              </a:lnSpc>
              <a:spcBef>
                <a:spcPts val="600"/>
              </a:spcBef>
              <a:spcAft>
                <a:spcPts val="0"/>
              </a:spcAft>
              <a:buNone/>
            </a:pPr>
            <a:br>
              <a:rPr b="1" lang="en" sz="2200">
                <a:solidFill>
                  <a:schemeClr val="dk1"/>
                </a:solidFill>
                <a:latin typeface="Play"/>
                <a:ea typeface="Play"/>
                <a:cs typeface="Play"/>
                <a:sym typeface="Play"/>
              </a:rPr>
            </a:br>
            <a:endParaRPr b="1" sz="2200">
              <a:solidFill>
                <a:schemeClr val="dk1"/>
              </a:solidFill>
              <a:latin typeface="Play"/>
              <a:ea typeface="Play"/>
              <a:cs typeface="Play"/>
              <a:sym typeface="Play"/>
            </a:endParaRPr>
          </a:p>
        </p:txBody>
      </p:sp>
      <p:pic>
        <p:nvPicPr>
          <p:cNvPr id="1502" name="Google Shape;1502;g3edf2b460e5_6_199"/>
          <p:cNvPicPr preferRelativeResize="0"/>
          <p:nvPr/>
        </p:nvPicPr>
        <p:blipFill>
          <a:blip r:embed="rId3">
            <a:alphaModFix/>
          </a:blip>
          <a:stretch>
            <a:fillRect/>
          </a:stretch>
        </p:blipFill>
        <p:spPr>
          <a:xfrm>
            <a:off x="6424600" y="985850"/>
            <a:ext cx="4343400" cy="4171950"/>
          </a:xfrm>
          <a:prstGeom prst="rect">
            <a:avLst/>
          </a:prstGeom>
          <a:solidFill>
            <a:schemeClr val="lt1"/>
          </a:solidFill>
          <a:ln>
            <a:noFill/>
          </a:ln>
          <a:effectLst>
            <a:outerShdw blurRad="139700" rotWithShape="0" algn="t" dir="5400000" dist="127000">
              <a:srgbClr val="000000">
                <a:alpha val="14900"/>
              </a:srgbClr>
            </a:outerShdw>
          </a:effectLst>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06" name="Shape 1506"/>
        <p:cNvGrpSpPr/>
        <p:nvPr/>
      </p:nvGrpSpPr>
      <p:grpSpPr>
        <a:xfrm>
          <a:off x="0" y="0"/>
          <a:ext cx="0" cy="0"/>
          <a:chOff x="0" y="0"/>
          <a:chExt cx="0" cy="0"/>
        </a:xfrm>
      </p:grpSpPr>
      <p:sp>
        <p:nvSpPr>
          <p:cNvPr id="1507" name="Google Shape;1507;g3edf2b460e5_6_212"/>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08" name="Google Shape;1508;g3edf2b460e5_6_212"/>
          <p:cNvSpPr txBox="1"/>
          <p:nvPr>
            <p:ph type="title"/>
          </p:nvPr>
        </p:nvSpPr>
        <p:spPr>
          <a:xfrm>
            <a:off x="645064" y="525982"/>
            <a:ext cx="4282983" cy="1200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en" sz="3600">
                <a:solidFill>
                  <a:schemeClr val="dk1"/>
                </a:solidFill>
                <a:latin typeface="Play"/>
                <a:ea typeface="Play"/>
                <a:cs typeface="Play"/>
                <a:sym typeface="Play"/>
              </a:rPr>
              <a:t>SHAP Analysis</a:t>
            </a:r>
            <a:endParaRPr/>
          </a:p>
        </p:txBody>
      </p:sp>
      <p:sp>
        <p:nvSpPr>
          <p:cNvPr id="1509" name="Google Shape;1509;g3edf2b460e5_6_212"/>
          <p:cNvSpPr/>
          <p:nvPr/>
        </p:nvSpPr>
        <p:spPr>
          <a:xfrm flipH="1">
            <a:off x="616533" y="1944913"/>
            <a:ext cx="4023360" cy="2743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10" name="Google Shape;1510;g3edf2b460e5_6_212"/>
          <p:cNvSpPr txBox="1"/>
          <p:nvPr/>
        </p:nvSpPr>
        <p:spPr>
          <a:xfrm>
            <a:off x="645066" y="2031101"/>
            <a:ext cx="4282984" cy="3511943"/>
          </a:xfrm>
          <a:prstGeom prst="rect">
            <a:avLst/>
          </a:prstGeom>
          <a:noFill/>
          <a:ln>
            <a:noFill/>
          </a:ln>
        </p:spPr>
        <p:txBody>
          <a:bodyPr anchorCtr="0" anchor="ctr" bIns="45700" lIns="91425" spcFirstLastPara="1" rIns="91425" wrap="square" tIns="45700">
            <a:normAutofit/>
          </a:bodyPr>
          <a:lstStyle/>
          <a:p>
            <a:pPr indent="0" lvl="0" marL="0" marR="0" rtl="0" algn="just">
              <a:lnSpc>
                <a:spcPct val="90000"/>
              </a:lnSpc>
              <a:spcBef>
                <a:spcPts val="0"/>
              </a:spcBef>
              <a:spcAft>
                <a:spcPts val="0"/>
              </a:spcAft>
              <a:buNone/>
            </a:pPr>
            <a:r>
              <a:rPr b="1" lang="en" sz="1400">
                <a:solidFill>
                  <a:schemeClr val="dk1"/>
                </a:solidFill>
                <a:latin typeface="Arial"/>
                <a:ea typeface="Arial"/>
                <a:cs typeface="Arial"/>
                <a:sym typeface="Arial"/>
              </a:rPr>
              <a:t>To interpret the model’s predictions, I applied SHAP, a powerful technique that explains the contribution of each feature to individual predictions.The SHAP summary plot reveals that min_order_quantity has the highest impact on the predicted cost, followed by Total_weight and diameter. This suggests that order quantity and physical properties of the tube are the most influential factors.Interestingly, min_order_quantity shows a strong negative impact in many cases, aligning with our earlier correlation analysis — higher minimum order quantities tend to reduce the cost per unit due to economies of scale.This interpretability analysis gives us confidence that the model is learning meaningful business and physical patterns rather than random noise</a:t>
            </a:r>
            <a:endParaRPr sz="1400">
              <a:solidFill>
                <a:schemeClr val="dk1"/>
              </a:solidFill>
              <a:latin typeface="Arial"/>
              <a:ea typeface="Arial"/>
              <a:cs typeface="Arial"/>
              <a:sym typeface="Arial"/>
            </a:endParaRPr>
          </a:p>
        </p:txBody>
      </p:sp>
      <p:sp>
        <p:nvSpPr>
          <p:cNvPr id="1511" name="Google Shape;1511;g3edf2b460e5_6_212"/>
          <p:cNvSpPr/>
          <p:nvPr/>
        </p:nvSpPr>
        <p:spPr>
          <a:xfrm rot="5400000">
            <a:off x="-225843" y="6053360"/>
            <a:ext cx="740664" cy="154124"/>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12" name="Google Shape;1512;g3edf2b460e5_6_212"/>
          <p:cNvSpPr/>
          <p:nvPr/>
        </p:nvSpPr>
        <p:spPr>
          <a:xfrm rot="5400000">
            <a:off x="5904923" y="215201"/>
            <a:ext cx="740664" cy="1183349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13" name="Google Shape;1513;g3edf2b460e5_6_212"/>
          <p:cNvSpPr/>
          <p:nvPr/>
        </p:nvSpPr>
        <p:spPr>
          <a:xfrm>
            <a:off x="5696793" y="354959"/>
            <a:ext cx="6184973" cy="5915212"/>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514" name="Google Shape;1514;g3edf2b460e5_6_212"/>
          <p:cNvPicPr preferRelativeResize="0"/>
          <p:nvPr/>
        </p:nvPicPr>
        <p:blipFill rotWithShape="1">
          <a:blip r:embed="rId3">
            <a:alphaModFix/>
          </a:blip>
          <a:srcRect b="0" l="0" r="0" t="0"/>
          <a:stretch/>
        </p:blipFill>
        <p:spPr>
          <a:xfrm>
            <a:off x="5987738" y="1807070"/>
            <a:ext cx="5628018" cy="3010990"/>
          </a:xfrm>
          <a:prstGeom prst="rect">
            <a:avLst/>
          </a:prstGeom>
          <a:noFill/>
          <a:ln>
            <a:noFill/>
          </a:ln>
        </p:spPr>
      </p:pic>
      <p:sp>
        <p:nvSpPr>
          <p:cNvPr id="1515" name="Google Shape;1515;g3edf2b460e5_6_212"/>
          <p:cNvSpPr txBox="1"/>
          <p:nvPr>
            <p:ph idx="12" type="sldNum"/>
          </p:nvPr>
        </p:nvSpPr>
        <p:spPr>
          <a:xfrm>
            <a:off x="8610600" y="649224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solidFill>
                  <a:srgbClr val="888888"/>
                </a:solidFill>
              </a:rPr>
              <a:t>‹#›</a:t>
            </a:fld>
            <a:endParaRPr>
              <a:solidFill>
                <a:srgbClr val="888888"/>
              </a:solidFill>
            </a:endParaRPr>
          </a:p>
        </p:txBody>
      </p:sp>
      <p:sp>
        <p:nvSpPr>
          <p:cNvPr id="1516" name="Google Shape;1516;g3edf2b460e5_6_212"/>
          <p:cNvSpPr txBox="1"/>
          <p:nvPr/>
        </p:nvSpPr>
        <p:spPr>
          <a:xfrm>
            <a:off x="431799" y="6228269"/>
            <a:ext cx="3480385" cy="668204"/>
          </a:xfrm>
          <a:prstGeom prst="rect">
            <a:avLst/>
          </a:prstGeom>
          <a:noFill/>
          <a:ln>
            <a:noFill/>
          </a:ln>
        </p:spPr>
        <p:txBody>
          <a:bodyPr anchorCtr="0" anchor="ctr" bIns="45700" lIns="91425" spcFirstLastPara="1" rIns="91425" wrap="square" tIns="45700">
            <a:normAutofit fontScale="70000" lnSpcReduction="20000"/>
          </a:bodyPr>
          <a:lstStyle/>
          <a:p>
            <a:pPr indent="0" lvl="0" marL="0" marR="0" rtl="0" algn="l">
              <a:lnSpc>
                <a:spcPct val="90000"/>
              </a:lnSpc>
              <a:spcBef>
                <a:spcPts val="0"/>
              </a:spcBef>
              <a:spcAft>
                <a:spcPts val="0"/>
              </a:spcAft>
              <a:buNone/>
            </a:pPr>
            <a:r>
              <a:rPr b="1" i="0" lang="en" sz="2200" u="none" strike="noStrike">
                <a:solidFill>
                  <a:schemeClr val="dk1"/>
                </a:solidFill>
                <a:latin typeface="Play"/>
                <a:ea typeface="Play"/>
                <a:cs typeface="Play"/>
                <a:sym typeface="Play"/>
              </a:rPr>
              <a:t>Task-9  Mohammad Sharif Azimy</a:t>
            </a:r>
            <a:endParaRPr b="1" sz="2200">
              <a:solidFill>
                <a:schemeClr val="dk1"/>
              </a:solidFill>
              <a:latin typeface="Play"/>
              <a:ea typeface="Play"/>
              <a:cs typeface="Play"/>
              <a:sym typeface="Play"/>
            </a:endParaRPr>
          </a:p>
          <a:p>
            <a:pPr indent="0" lvl="0" marL="0" marR="0" rtl="0" algn="l">
              <a:lnSpc>
                <a:spcPct val="90000"/>
              </a:lnSpc>
              <a:spcBef>
                <a:spcPts val="600"/>
              </a:spcBef>
              <a:spcAft>
                <a:spcPts val="0"/>
              </a:spcAft>
              <a:buNone/>
            </a:pPr>
            <a:br>
              <a:rPr b="1" lang="en" sz="2200">
                <a:solidFill>
                  <a:schemeClr val="dk1"/>
                </a:solidFill>
                <a:latin typeface="Play"/>
                <a:ea typeface="Play"/>
                <a:cs typeface="Play"/>
                <a:sym typeface="Play"/>
              </a:rPr>
            </a:br>
            <a:endParaRPr b="1" sz="2200">
              <a:solidFill>
                <a:schemeClr val="dk1"/>
              </a:solidFill>
              <a:latin typeface="Play"/>
              <a:ea typeface="Play"/>
              <a:cs typeface="Play"/>
              <a:sym typeface="Play"/>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0" name="Shape 1520"/>
        <p:cNvGrpSpPr/>
        <p:nvPr/>
      </p:nvGrpSpPr>
      <p:grpSpPr>
        <a:xfrm>
          <a:off x="0" y="0"/>
          <a:ext cx="0" cy="0"/>
          <a:chOff x="0" y="0"/>
          <a:chExt cx="0" cy="0"/>
        </a:xfrm>
      </p:grpSpPr>
      <p:sp>
        <p:nvSpPr>
          <p:cNvPr id="1521" name="Google Shape;1521;g3edf2b460e5_6_22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22" name="Google Shape;1522;g3edf2b460e5_6_225"/>
          <p:cNvSpPr/>
          <p:nvPr/>
        </p:nvSpPr>
        <p:spPr>
          <a:xfrm>
            <a:off x="0" y="1"/>
            <a:ext cx="6291618" cy="5097980"/>
          </a:xfrm>
          <a:custGeom>
            <a:rect b="b" l="l" r="r" t="t"/>
            <a:pathLst>
              <a:path extrusionOk="0" h="5753325" w="6443456">
                <a:moveTo>
                  <a:pt x="0" y="0"/>
                </a:moveTo>
                <a:lnTo>
                  <a:pt x="6438980" y="0"/>
                </a:lnTo>
                <a:cubicBezTo>
                  <a:pt x="6439002" y="49"/>
                  <a:pt x="6439025" y="98"/>
                  <a:pt x="6439047" y="147"/>
                </a:cubicBezTo>
                <a:lnTo>
                  <a:pt x="6443456" y="130105"/>
                </a:lnTo>
                <a:cubicBezTo>
                  <a:pt x="6430828" y="154008"/>
                  <a:pt x="6411458" y="168030"/>
                  <a:pt x="6422751" y="174163"/>
                </a:cubicBezTo>
                <a:cubicBezTo>
                  <a:pt x="6418487" y="214830"/>
                  <a:pt x="6390727" y="235497"/>
                  <a:pt x="6396598" y="274847"/>
                </a:cubicBezTo>
                <a:cubicBezTo>
                  <a:pt x="6403386" y="335822"/>
                  <a:pt x="6333127" y="414969"/>
                  <a:pt x="6337615" y="471794"/>
                </a:cubicBezTo>
                <a:cubicBezTo>
                  <a:pt x="6324407" y="534783"/>
                  <a:pt x="6296331" y="556933"/>
                  <a:pt x="6304423" y="582623"/>
                </a:cubicBezTo>
                <a:cubicBezTo>
                  <a:pt x="6293676" y="611941"/>
                  <a:pt x="6296956" y="631352"/>
                  <a:pt x="6303977" y="664291"/>
                </a:cubicBezTo>
                <a:cubicBezTo>
                  <a:pt x="6302444" y="677879"/>
                  <a:pt x="6301462" y="685268"/>
                  <a:pt x="6299372" y="697330"/>
                </a:cubicBezTo>
                <a:cubicBezTo>
                  <a:pt x="6314387" y="714913"/>
                  <a:pt x="6313827" y="721408"/>
                  <a:pt x="6309888" y="754001"/>
                </a:cubicBezTo>
                <a:cubicBezTo>
                  <a:pt x="6306930" y="769492"/>
                  <a:pt x="6343751" y="814234"/>
                  <a:pt x="6339879" y="811136"/>
                </a:cubicBezTo>
                <a:lnTo>
                  <a:pt x="6330065" y="893399"/>
                </a:lnTo>
                <a:cubicBezTo>
                  <a:pt x="6341065" y="929331"/>
                  <a:pt x="6340586" y="969703"/>
                  <a:pt x="6328618" y="1009766"/>
                </a:cubicBezTo>
                <a:cubicBezTo>
                  <a:pt x="6286987" y="1110847"/>
                  <a:pt x="6336677" y="1067927"/>
                  <a:pt x="6320797" y="1146964"/>
                </a:cubicBezTo>
                <a:cubicBezTo>
                  <a:pt x="6308238" y="1199586"/>
                  <a:pt x="6355190" y="1221191"/>
                  <a:pt x="6334400" y="1280757"/>
                </a:cubicBezTo>
                <a:lnTo>
                  <a:pt x="6356023" y="1356227"/>
                </a:lnTo>
                <a:cubicBezTo>
                  <a:pt x="6356068" y="1358140"/>
                  <a:pt x="6356112" y="1360054"/>
                  <a:pt x="6356157" y="1361967"/>
                </a:cubicBezTo>
                <a:cubicBezTo>
                  <a:pt x="6355533" y="1373512"/>
                  <a:pt x="6353847" y="1384370"/>
                  <a:pt x="6350613" y="1393569"/>
                </a:cubicBezTo>
                <a:cubicBezTo>
                  <a:pt x="6364468" y="1383914"/>
                  <a:pt x="6345614" y="1435855"/>
                  <a:pt x="6357062" y="1444071"/>
                </a:cubicBezTo>
                <a:cubicBezTo>
                  <a:pt x="6366618" y="1448518"/>
                  <a:pt x="6363125" y="1465312"/>
                  <a:pt x="6364832" y="1478763"/>
                </a:cubicBezTo>
                <a:cubicBezTo>
                  <a:pt x="6367033" y="1481449"/>
                  <a:pt x="6368644" y="1487606"/>
                  <a:pt x="6369745" y="1495680"/>
                </a:cubicBezTo>
                <a:cubicBezTo>
                  <a:pt x="6370129" y="1501564"/>
                  <a:pt x="6370514" y="1507447"/>
                  <a:pt x="6370898" y="1513331"/>
                </a:cubicBezTo>
                <a:lnTo>
                  <a:pt x="6339773" y="1527414"/>
                </a:lnTo>
                <a:cubicBezTo>
                  <a:pt x="6334226" y="1566662"/>
                  <a:pt x="6321052" y="1604564"/>
                  <a:pt x="6321854" y="1635366"/>
                </a:cubicBezTo>
                <a:cubicBezTo>
                  <a:pt x="6320655" y="1701187"/>
                  <a:pt x="6292278" y="1721205"/>
                  <a:pt x="6299489" y="1784860"/>
                </a:cubicBezTo>
                <a:cubicBezTo>
                  <a:pt x="6294212" y="1831400"/>
                  <a:pt x="6277478" y="1829559"/>
                  <a:pt x="6267878" y="1858572"/>
                </a:cubicBezTo>
                <a:lnTo>
                  <a:pt x="6251146" y="1926167"/>
                </a:lnTo>
                <a:lnTo>
                  <a:pt x="6210686" y="2014834"/>
                </a:lnTo>
                <a:lnTo>
                  <a:pt x="6106652" y="2150572"/>
                </a:lnTo>
                <a:lnTo>
                  <a:pt x="6097813" y="2172208"/>
                </a:lnTo>
                <a:lnTo>
                  <a:pt x="6095990" y="2181185"/>
                </a:lnTo>
                <a:cubicBezTo>
                  <a:pt x="6094176" y="2187056"/>
                  <a:pt x="6092249" y="2190556"/>
                  <a:pt x="6090126" y="2192533"/>
                </a:cubicBezTo>
                <a:lnTo>
                  <a:pt x="6089503" y="2192543"/>
                </a:lnTo>
                <a:lnTo>
                  <a:pt x="6084946" y="2203694"/>
                </a:lnTo>
                <a:cubicBezTo>
                  <a:pt x="6068006" y="2222414"/>
                  <a:pt x="6006445" y="2274546"/>
                  <a:pt x="5987861" y="2304868"/>
                </a:cubicBezTo>
                <a:lnTo>
                  <a:pt x="5973439" y="2385635"/>
                </a:lnTo>
                <a:lnTo>
                  <a:pt x="5916727" y="2458777"/>
                </a:lnTo>
                <a:cubicBezTo>
                  <a:pt x="5897241" y="2491718"/>
                  <a:pt x="5869630" y="2534165"/>
                  <a:pt x="5856524" y="2583281"/>
                </a:cubicBezTo>
                <a:cubicBezTo>
                  <a:pt x="5857506" y="2592319"/>
                  <a:pt x="5833326" y="2744711"/>
                  <a:pt x="5838091" y="2753474"/>
                </a:cubicBezTo>
                <a:cubicBezTo>
                  <a:pt x="5785248" y="2871502"/>
                  <a:pt x="5778642" y="2803565"/>
                  <a:pt x="5744296" y="2893276"/>
                </a:cubicBezTo>
                <a:cubicBezTo>
                  <a:pt x="5695297" y="2988328"/>
                  <a:pt x="5724634" y="2958553"/>
                  <a:pt x="5682522" y="3044368"/>
                </a:cubicBezTo>
                <a:cubicBezTo>
                  <a:pt x="5632185" y="3125072"/>
                  <a:pt x="5597317" y="3217236"/>
                  <a:pt x="5557886" y="3304853"/>
                </a:cubicBezTo>
                <a:cubicBezTo>
                  <a:pt x="5482395" y="3325072"/>
                  <a:pt x="5519234" y="3371478"/>
                  <a:pt x="5483942" y="3416604"/>
                </a:cubicBezTo>
                <a:cubicBezTo>
                  <a:pt x="5462927" y="3437263"/>
                  <a:pt x="5484515" y="3475608"/>
                  <a:pt x="5461007" y="3503742"/>
                </a:cubicBezTo>
                <a:cubicBezTo>
                  <a:pt x="5452964" y="3510933"/>
                  <a:pt x="5447709" y="3554203"/>
                  <a:pt x="5437889" y="3559927"/>
                </a:cubicBezTo>
                <a:lnTo>
                  <a:pt x="5432770" y="3562948"/>
                </a:lnTo>
                <a:lnTo>
                  <a:pt x="5406795" y="3578594"/>
                </a:lnTo>
                <a:lnTo>
                  <a:pt x="5381495" y="3599883"/>
                </a:lnTo>
                <a:cubicBezTo>
                  <a:pt x="5373777" y="3608845"/>
                  <a:pt x="5367528" y="3619642"/>
                  <a:pt x="5363689" y="3633299"/>
                </a:cubicBezTo>
                <a:cubicBezTo>
                  <a:pt x="5370837" y="3689178"/>
                  <a:pt x="5280250" y="3728687"/>
                  <a:pt x="5291870" y="3799039"/>
                </a:cubicBezTo>
                <a:cubicBezTo>
                  <a:pt x="5291660" y="3823262"/>
                  <a:pt x="5263601" y="3888134"/>
                  <a:pt x="5241600" y="3894238"/>
                </a:cubicBezTo>
                <a:cubicBezTo>
                  <a:pt x="5232312" y="3906493"/>
                  <a:pt x="5231731" y="3924583"/>
                  <a:pt x="5211041" y="3924184"/>
                </a:cubicBezTo>
                <a:cubicBezTo>
                  <a:pt x="5184976" y="3926521"/>
                  <a:pt x="5198956" y="3986438"/>
                  <a:pt x="5176073" y="3970179"/>
                </a:cubicBezTo>
                <a:lnTo>
                  <a:pt x="5172826" y="3991773"/>
                </a:lnTo>
                <a:lnTo>
                  <a:pt x="5157053" y="3997708"/>
                </a:lnTo>
                <a:cubicBezTo>
                  <a:pt x="5140589" y="4003541"/>
                  <a:pt x="5128715" y="4008828"/>
                  <a:pt x="5127922" y="4022660"/>
                </a:cubicBezTo>
                <a:cubicBezTo>
                  <a:pt x="5105225" y="4035701"/>
                  <a:pt x="5043623" y="4065128"/>
                  <a:pt x="5020872" y="4075951"/>
                </a:cubicBezTo>
                <a:cubicBezTo>
                  <a:pt x="5006705" y="4069570"/>
                  <a:pt x="5001251" y="4081880"/>
                  <a:pt x="4991410" y="4087598"/>
                </a:cubicBezTo>
                <a:cubicBezTo>
                  <a:pt x="4974522" y="4085320"/>
                  <a:pt x="4937025" y="4121806"/>
                  <a:pt x="4930112" y="4138459"/>
                </a:cubicBezTo>
                <a:cubicBezTo>
                  <a:pt x="4918473" y="4190437"/>
                  <a:pt x="4844909" y="4190974"/>
                  <a:pt x="4834224" y="4231643"/>
                </a:cubicBezTo>
                <a:cubicBezTo>
                  <a:pt x="4827758" y="4239937"/>
                  <a:pt x="4820427" y="4245543"/>
                  <a:pt x="4812599" y="4249449"/>
                </a:cubicBezTo>
                <a:lnTo>
                  <a:pt x="4789188" y="4256678"/>
                </a:lnTo>
                <a:lnTo>
                  <a:pt x="4779554" y="4251313"/>
                </a:lnTo>
                <a:lnTo>
                  <a:pt x="4766885" y="4259812"/>
                </a:lnTo>
                <a:lnTo>
                  <a:pt x="4762510" y="4260383"/>
                </a:lnTo>
                <a:cubicBezTo>
                  <a:pt x="4754131" y="4261437"/>
                  <a:pt x="4745977" y="4262766"/>
                  <a:pt x="4738416" y="4265355"/>
                </a:cubicBezTo>
                <a:cubicBezTo>
                  <a:pt x="4764694" y="4302719"/>
                  <a:pt x="4678447" y="4293536"/>
                  <a:pt x="4712007" y="4317892"/>
                </a:cubicBezTo>
                <a:cubicBezTo>
                  <a:pt x="4675039" y="4338619"/>
                  <a:pt x="4716682" y="4356361"/>
                  <a:pt x="4658930" y="4348041"/>
                </a:cubicBezTo>
                <a:cubicBezTo>
                  <a:pt x="4614182" y="4379702"/>
                  <a:pt x="4505053" y="4447283"/>
                  <a:pt x="4443526" y="4507851"/>
                </a:cubicBezTo>
                <a:cubicBezTo>
                  <a:pt x="4410144" y="4540439"/>
                  <a:pt x="4338540" y="4659677"/>
                  <a:pt x="4289766" y="4711450"/>
                </a:cubicBezTo>
                <a:cubicBezTo>
                  <a:pt x="4238344" y="4747694"/>
                  <a:pt x="4215457" y="4807131"/>
                  <a:pt x="4150870" y="4818480"/>
                </a:cubicBezTo>
                <a:cubicBezTo>
                  <a:pt x="4103683" y="4855538"/>
                  <a:pt x="4148748" y="4891762"/>
                  <a:pt x="4006639" y="4933815"/>
                </a:cubicBezTo>
                <a:cubicBezTo>
                  <a:pt x="3736045" y="4990755"/>
                  <a:pt x="3474704" y="5040115"/>
                  <a:pt x="3298210" y="5070790"/>
                </a:cubicBezTo>
                <a:cubicBezTo>
                  <a:pt x="3121717" y="5101466"/>
                  <a:pt x="3041810" y="5115566"/>
                  <a:pt x="2947678" y="5117869"/>
                </a:cubicBezTo>
                <a:cubicBezTo>
                  <a:pt x="2853544" y="5120174"/>
                  <a:pt x="2858560" y="5135060"/>
                  <a:pt x="2822169" y="5129396"/>
                </a:cubicBezTo>
                <a:lnTo>
                  <a:pt x="2538773" y="5313397"/>
                </a:lnTo>
                <a:cubicBezTo>
                  <a:pt x="2405817" y="5334661"/>
                  <a:pt x="2144167" y="5431620"/>
                  <a:pt x="2014500" y="5519744"/>
                </a:cubicBezTo>
                <a:cubicBezTo>
                  <a:pt x="1982084" y="5541774"/>
                  <a:pt x="1956346" y="5565847"/>
                  <a:pt x="1934391" y="5591335"/>
                </a:cubicBezTo>
                <a:lnTo>
                  <a:pt x="1892550" y="5649708"/>
                </a:lnTo>
                <a:lnTo>
                  <a:pt x="1854769" y="5647691"/>
                </a:lnTo>
                <a:cubicBezTo>
                  <a:pt x="1838936" y="5647705"/>
                  <a:pt x="1823701" y="5648312"/>
                  <a:pt x="1809461" y="5648628"/>
                </a:cubicBezTo>
                <a:cubicBezTo>
                  <a:pt x="1834147" y="5698228"/>
                  <a:pt x="1737274" y="5633540"/>
                  <a:pt x="1745150" y="5693879"/>
                </a:cubicBezTo>
                <a:cubicBezTo>
                  <a:pt x="1734532" y="5692199"/>
                  <a:pt x="1724002" y="5688669"/>
                  <a:pt x="1713375" y="5684672"/>
                </a:cubicBezTo>
                <a:lnTo>
                  <a:pt x="1707808" y="5682611"/>
                </a:lnTo>
                <a:lnTo>
                  <a:pt x="1679313" y="5672360"/>
                </a:lnTo>
                <a:lnTo>
                  <a:pt x="1646933" y="5666227"/>
                </a:lnTo>
                <a:cubicBezTo>
                  <a:pt x="1635170" y="5665926"/>
                  <a:pt x="1622939" y="5667937"/>
                  <a:pt x="1610055" y="5673643"/>
                </a:cubicBezTo>
                <a:cubicBezTo>
                  <a:pt x="1571890" y="5714775"/>
                  <a:pt x="1484024" y="5669440"/>
                  <a:pt x="1437641" y="5723266"/>
                </a:cubicBezTo>
                <a:cubicBezTo>
                  <a:pt x="1418992" y="5738521"/>
                  <a:pt x="1351540" y="5757985"/>
                  <a:pt x="1332869" y="5744752"/>
                </a:cubicBezTo>
                <a:cubicBezTo>
                  <a:pt x="1317589" y="5745326"/>
                  <a:pt x="1303391" y="5756388"/>
                  <a:pt x="1290525" y="5740036"/>
                </a:cubicBezTo>
                <a:cubicBezTo>
                  <a:pt x="1272146" y="5721242"/>
                  <a:pt x="1235243" y="5770261"/>
                  <a:pt x="1233107" y="5742106"/>
                </a:cubicBezTo>
                <a:lnTo>
                  <a:pt x="1214532" y="5753325"/>
                </a:lnTo>
                <a:lnTo>
                  <a:pt x="1199955" y="5744831"/>
                </a:lnTo>
                <a:cubicBezTo>
                  <a:pt x="1185016" y="5735734"/>
                  <a:pt x="1173414" y="5729861"/>
                  <a:pt x="1162337" y="5738048"/>
                </a:cubicBezTo>
                <a:cubicBezTo>
                  <a:pt x="1137920" y="5728689"/>
                  <a:pt x="1076212" y="5699490"/>
                  <a:pt x="1053457" y="5688676"/>
                </a:cubicBezTo>
                <a:cubicBezTo>
                  <a:pt x="1049315" y="5673592"/>
                  <a:pt x="1036434" y="5677184"/>
                  <a:pt x="1025798" y="5673166"/>
                </a:cubicBezTo>
                <a:cubicBezTo>
                  <a:pt x="1016787" y="5658576"/>
                  <a:pt x="965030" y="5652626"/>
                  <a:pt x="947900" y="5657848"/>
                </a:cubicBezTo>
                <a:cubicBezTo>
                  <a:pt x="900757" y="5681878"/>
                  <a:pt x="853518" y="5624981"/>
                  <a:pt x="815627" y="5642557"/>
                </a:cubicBezTo>
                <a:cubicBezTo>
                  <a:pt x="805172" y="5642805"/>
                  <a:pt x="796221" y="5640669"/>
                  <a:pt x="788251" y="5637065"/>
                </a:cubicBezTo>
                <a:lnTo>
                  <a:pt x="767822" y="5623450"/>
                </a:lnTo>
                <a:lnTo>
                  <a:pt x="765791" y="5612539"/>
                </a:lnTo>
                <a:lnTo>
                  <a:pt x="751230" y="5608092"/>
                </a:lnTo>
                <a:lnTo>
                  <a:pt x="748008" y="5605052"/>
                </a:lnTo>
                <a:cubicBezTo>
                  <a:pt x="741868" y="5599203"/>
                  <a:pt x="735661" y="5593704"/>
                  <a:pt x="728871" y="5589469"/>
                </a:cubicBezTo>
                <a:cubicBezTo>
                  <a:pt x="717035" y="5633700"/>
                  <a:pt x="669153" y="5560747"/>
                  <a:pt x="671898" y="5602363"/>
                </a:cubicBezTo>
                <a:cubicBezTo>
                  <a:pt x="632522" y="5586794"/>
                  <a:pt x="645467" y="5630489"/>
                  <a:pt x="615065" y="5580257"/>
                </a:cubicBezTo>
                <a:cubicBezTo>
                  <a:pt x="562379" y="5565593"/>
                  <a:pt x="441250" y="5523701"/>
                  <a:pt x="355785" y="5514383"/>
                </a:cubicBezTo>
                <a:cubicBezTo>
                  <a:pt x="309622" y="5509152"/>
                  <a:pt x="172894" y="5529342"/>
                  <a:pt x="102269" y="5524347"/>
                </a:cubicBezTo>
                <a:cubicBezTo>
                  <a:pt x="72050" y="5515878"/>
                  <a:pt x="41939" y="5516649"/>
                  <a:pt x="13160" y="5514159"/>
                </a:cubicBezTo>
                <a:lnTo>
                  <a:pt x="0" y="5511735"/>
                </a:lnTo>
                <a:lnTo>
                  <a:pt x="0" y="0"/>
                </a:lnTo>
                <a:close/>
              </a:path>
            </a:pathLst>
          </a:custGeom>
          <a:solidFill>
            <a:srgbClr val="82766A">
              <a:alpha val="1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23" name="Google Shape;1523;g3edf2b460e5_6_225"/>
          <p:cNvSpPr txBox="1"/>
          <p:nvPr>
            <p:ph type="title"/>
          </p:nvPr>
        </p:nvSpPr>
        <p:spPr>
          <a:xfrm>
            <a:off x="838199" y="1068891"/>
            <a:ext cx="4259731" cy="198508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Play"/>
              <a:buNone/>
            </a:pPr>
            <a:r>
              <a:rPr lang="en" sz="2400">
                <a:solidFill>
                  <a:schemeClr val="dk1"/>
                </a:solidFill>
                <a:latin typeface="Play"/>
                <a:ea typeface="Play"/>
                <a:cs typeface="Play"/>
                <a:sym typeface="Play"/>
              </a:rPr>
              <a:t>Comparing with HistGradientBoostingRegressor</a:t>
            </a:r>
            <a:br>
              <a:rPr lang="en" sz="2400">
                <a:solidFill>
                  <a:schemeClr val="dk1"/>
                </a:solidFill>
                <a:latin typeface="Play"/>
                <a:ea typeface="Play"/>
                <a:cs typeface="Play"/>
                <a:sym typeface="Play"/>
              </a:rPr>
            </a:br>
            <a:endParaRPr sz="2400">
              <a:solidFill>
                <a:schemeClr val="dk1"/>
              </a:solidFill>
              <a:latin typeface="Play"/>
              <a:ea typeface="Play"/>
              <a:cs typeface="Play"/>
              <a:sym typeface="Play"/>
            </a:endParaRPr>
          </a:p>
        </p:txBody>
      </p:sp>
      <p:sp>
        <p:nvSpPr>
          <p:cNvPr id="1524" name="Google Shape;1524;g3edf2b460e5_6_225"/>
          <p:cNvSpPr/>
          <p:nvPr/>
        </p:nvSpPr>
        <p:spPr>
          <a:xfrm>
            <a:off x="2114188" y="5840345"/>
            <a:ext cx="1707751" cy="428984"/>
          </a:xfrm>
          <a:custGeom>
            <a:rect b="b" l="l" r="r" t="t"/>
            <a:pathLst>
              <a:path extrusionOk="0" h="594531" w="2201784">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25" name="Google Shape;1525;g3edf2b460e5_6_225"/>
          <p:cNvSpPr txBox="1"/>
          <p:nvPr/>
        </p:nvSpPr>
        <p:spPr>
          <a:xfrm>
            <a:off x="6586415" y="723153"/>
            <a:ext cx="4555782" cy="5392482"/>
          </a:xfrm>
          <a:prstGeom prst="rect">
            <a:avLst/>
          </a:prstGeom>
          <a:noFill/>
          <a:ln>
            <a:noFill/>
          </a:ln>
        </p:spPr>
        <p:txBody>
          <a:bodyPr anchorCtr="0" anchor="ctr" bIns="45700" lIns="91425" spcFirstLastPara="1" rIns="91425" wrap="square" tIns="45700">
            <a:normAutofit/>
          </a:bodyPr>
          <a:lstStyle/>
          <a:p>
            <a:pPr indent="0" lvl="0" marL="0" marR="0" rtl="0" algn="just">
              <a:lnSpc>
                <a:spcPct val="90000"/>
              </a:lnSpc>
              <a:spcBef>
                <a:spcPts val="0"/>
              </a:spcBef>
              <a:spcAft>
                <a:spcPts val="0"/>
              </a:spcAft>
              <a:buNone/>
            </a:pPr>
            <a:r>
              <a:rPr lang="en" sz="1900">
                <a:solidFill>
                  <a:schemeClr val="dk1"/>
                </a:solidFill>
                <a:latin typeface="Arial"/>
                <a:ea typeface="Arial"/>
                <a:cs typeface="Arial"/>
                <a:sym typeface="Arial"/>
              </a:rPr>
              <a:t>In addition to CatBoost, I implemented HistGradientBoostingRegressor from Scikit-learn to compare different gradient boosting approaches. This model is known for its speed and efficiency due to histogram-based splitting. Using the same selected features and validation strategy, it achieved a strong MAPE of </a:t>
            </a:r>
            <a:r>
              <a:rPr lang="en" sz="1900">
                <a:solidFill>
                  <a:schemeClr val="dk1"/>
                </a:solidFill>
              </a:rPr>
              <a:t>26</a:t>
            </a:r>
            <a:r>
              <a:rPr lang="en" sz="1900">
                <a:solidFill>
                  <a:schemeClr val="dk1"/>
                </a:solidFill>
                <a:latin typeface="Arial"/>
                <a:ea typeface="Arial"/>
                <a:cs typeface="Arial"/>
                <a:sym typeface="Arial"/>
              </a:rPr>
              <a:t>.0</a:t>
            </a:r>
            <a:r>
              <a:rPr lang="en" sz="1900">
                <a:solidFill>
                  <a:schemeClr val="dk1"/>
                </a:solidFill>
              </a:rPr>
              <a:t>3</a:t>
            </a:r>
            <a:r>
              <a:rPr lang="en" sz="1900">
                <a:solidFill>
                  <a:schemeClr val="dk1"/>
                </a:solidFill>
                <a:latin typeface="Arial"/>
                <a:ea typeface="Arial"/>
                <a:cs typeface="Arial"/>
                <a:sym typeface="Arial"/>
              </a:rPr>
              <a:t>%, which is </a:t>
            </a:r>
            <a:r>
              <a:rPr lang="en" sz="1900">
                <a:solidFill>
                  <a:schemeClr val="dk1"/>
                </a:solidFill>
              </a:rPr>
              <a:t>almost</a:t>
            </a:r>
            <a:r>
              <a:rPr lang="en" sz="1900">
                <a:solidFill>
                  <a:schemeClr val="dk1"/>
                </a:solidFill>
                <a:latin typeface="Arial"/>
                <a:ea typeface="Arial"/>
                <a:cs typeface="Arial"/>
                <a:sym typeface="Arial"/>
              </a:rPr>
              <a:t> close to CatBoost’s performance. This shows that a native Scikit-learn boosting algorithm can deliver competitive results with faster training time and simpler implementation. The slight difference in performance demonstrates the strength of both models, while HistGradientBoostingRegressor offers a good balance between accuracy and computational efficiency</a:t>
            </a:r>
            <a:endParaRPr/>
          </a:p>
        </p:txBody>
      </p:sp>
      <p:sp>
        <p:nvSpPr>
          <p:cNvPr id="1526" name="Google Shape;1526;g3edf2b460e5_6_2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sz="1000">
                <a:solidFill>
                  <a:srgbClr val="888888"/>
                </a:solidFill>
              </a:rPr>
              <a:t>‹#›</a:t>
            </a:fld>
            <a:endParaRPr sz="1000">
              <a:solidFill>
                <a:srgbClr val="888888"/>
              </a:solidFill>
            </a:endParaRPr>
          </a:p>
        </p:txBody>
      </p:sp>
      <p:sp>
        <p:nvSpPr>
          <p:cNvPr id="1527" name="Google Shape;1527;g3edf2b460e5_6_225"/>
          <p:cNvSpPr txBox="1"/>
          <p:nvPr/>
        </p:nvSpPr>
        <p:spPr>
          <a:xfrm>
            <a:off x="431799" y="6228269"/>
            <a:ext cx="3480385" cy="668204"/>
          </a:xfrm>
          <a:prstGeom prst="rect">
            <a:avLst/>
          </a:prstGeom>
          <a:noFill/>
          <a:ln>
            <a:noFill/>
          </a:ln>
        </p:spPr>
        <p:txBody>
          <a:bodyPr anchorCtr="0" anchor="ctr" bIns="45700" lIns="91425" spcFirstLastPara="1" rIns="91425" wrap="square" tIns="45700">
            <a:normAutofit fontScale="70000" lnSpcReduction="20000"/>
          </a:bodyPr>
          <a:lstStyle/>
          <a:p>
            <a:pPr indent="0" lvl="0" marL="0" marR="0" rtl="0" algn="l">
              <a:lnSpc>
                <a:spcPct val="90000"/>
              </a:lnSpc>
              <a:spcBef>
                <a:spcPts val="0"/>
              </a:spcBef>
              <a:spcAft>
                <a:spcPts val="0"/>
              </a:spcAft>
              <a:buNone/>
            </a:pPr>
            <a:r>
              <a:rPr b="1" i="0" lang="en" sz="2200" u="none" strike="noStrike">
                <a:solidFill>
                  <a:schemeClr val="dk1"/>
                </a:solidFill>
                <a:latin typeface="Play"/>
                <a:ea typeface="Play"/>
                <a:cs typeface="Play"/>
                <a:sym typeface="Play"/>
              </a:rPr>
              <a:t>Task-9  Mohammad Sharif Azimy</a:t>
            </a:r>
            <a:endParaRPr b="1" sz="2200">
              <a:solidFill>
                <a:schemeClr val="dk1"/>
              </a:solidFill>
              <a:latin typeface="Play"/>
              <a:ea typeface="Play"/>
              <a:cs typeface="Play"/>
              <a:sym typeface="Play"/>
            </a:endParaRPr>
          </a:p>
          <a:p>
            <a:pPr indent="0" lvl="0" marL="0" marR="0" rtl="0" algn="l">
              <a:lnSpc>
                <a:spcPct val="90000"/>
              </a:lnSpc>
              <a:spcBef>
                <a:spcPts val="600"/>
              </a:spcBef>
              <a:spcAft>
                <a:spcPts val="0"/>
              </a:spcAft>
              <a:buNone/>
            </a:pPr>
            <a:br>
              <a:rPr b="1" lang="en" sz="2200">
                <a:solidFill>
                  <a:schemeClr val="dk1"/>
                </a:solidFill>
                <a:latin typeface="Play"/>
                <a:ea typeface="Play"/>
                <a:cs typeface="Play"/>
                <a:sym typeface="Play"/>
              </a:rPr>
            </a:br>
            <a:endParaRPr b="1" sz="2200">
              <a:solidFill>
                <a:schemeClr val="dk1"/>
              </a:solidFill>
              <a:latin typeface="Play"/>
              <a:ea typeface="Play"/>
              <a:cs typeface="Play"/>
              <a:sym typeface="Play"/>
            </a:endParaRPr>
          </a:p>
        </p:txBody>
      </p:sp>
      <p:pic>
        <p:nvPicPr>
          <p:cNvPr id="1528" name="Google Shape;1528;g3edf2b460e5_6_225"/>
          <p:cNvPicPr preferRelativeResize="0"/>
          <p:nvPr/>
        </p:nvPicPr>
        <p:blipFill>
          <a:blip r:embed="rId3">
            <a:alphaModFix/>
          </a:blip>
          <a:stretch>
            <a:fillRect/>
          </a:stretch>
        </p:blipFill>
        <p:spPr>
          <a:xfrm>
            <a:off x="902663" y="2810488"/>
            <a:ext cx="4486275" cy="2219325"/>
          </a:xfrm>
          <a:prstGeom prst="rect">
            <a:avLst/>
          </a:prstGeom>
          <a:solidFill>
            <a:srgbClr val="82766A">
              <a:alpha val="14900"/>
            </a:srgbClr>
          </a:solid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1532" name="Shape 1532"/>
        <p:cNvGrpSpPr/>
        <p:nvPr/>
      </p:nvGrpSpPr>
      <p:grpSpPr>
        <a:xfrm>
          <a:off x="0" y="0"/>
          <a:ext cx="0" cy="0"/>
          <a:chOff x="0" y="0"/>
          <a:chExt cx="0" cy="0"/>
        </a:xfrm>
      </p:grpSpPr>
      <p:sp>
        <p:nvSpPr>
          <p:cNvPr id="1533" name="Google Shape;1533;g3ee0adc8e96_0_9"/>
          <p:cNvSpPr/>
          <p:nvPr/>
        </p:nvSpPr>
        <p:spPr>
          <a:xfrm>
            <a:off x="3668026" y="4356000"/>
            <a:ext cx="3097795" cy="2895840"/>
          </a:xfrm>
          <a:custGeom>
            <a:rect b="b" l="l" r="r" t="t"/>
            <a:pathLst>
              <a:path extrusionOk="0" h="5438197" w="4765838">
                <a:moveTo>
                  <a:pt x="0" y="0"/>
                </a:moveTo>
                <a:lnTo>
                  <a:pt x="4765838" y="0"/>
                </a:lnTo>
                <a:lnTo>
                  <a:pt x="4765838" y="5438197"/>
                </a:lnTo>
                <a:lnTo>
                  <a:pt x="0" y="5438197"/>
                </a:lnTo>
                <a:lnTo>
                  <a:pt x="0" y="0"/>
                </a:lnTo>
                <a:close/>
              </a:path>
            </a:pathLst>
          </a:custGeom>
          <a:blipFill rotWithShape="1">
            <a:blip r:embed="rId3">
              <a:alphaModFix/>
            </a:blip>
            <a:stretch>
              <a:fillRect b="0" l="0" r="0" t="0"/>
            </a:stretch>
          </a:blipFill>
          <a:ln>
            <a:noFill/>
          </a:ln>
        </p:spPr>
      </p:sp>
      <p:sp>
        <p:nvSpPr>
          <p:cNvPr id="1534" name="Google Shape;1534;g3ee0adc8e96_0_9"/>
          <p:cNvSpPr txBox="1"/>
          <p:nvPr/>
        </p:nvSpPr>
        <p:spPr>
          <a:xfrm>
            <a:off x="4378275" y="243950"/>
            <a:ext cx="7813800" cy="2321400"/>
          </a:xfrm>
          <a:prstGeom prst="rect">
            <a:avLst/>
          </a:prstGeom>
          <a:noFill/>
          <a:ln>
            <a:noFill/>
          </a:ln>
        </p:spPr>
        <p:txBody>
          <a:bodyPr anchorCtr="0" anchor="t" bIns="0" lIns="0" spcFirstLastPara="1" rIns="0" wrap="square" tIns="0">
            <a:spAutoFit/>
          </a:bodyPr>
          <a:lstStyle/>
          <a:p>
            <a:pPr indent="0" lvl="0" marL="0" marR="0" rtl="0" algn="l">
              <a:lnSpc>
                <a:spcPct val="105004"/>
              </a:lnSpc>
              <a:spcBef>
                <a:spcPts val="0"/>
              </a:spcBef>
              <a:spcAft>
                <a:spcPts val="0"/>
              </a:spcAft>
              <a:buNone/>
            </a:pPr>
            <a:r>
              <a:rPr b="1" i="0" lang="en" sz="2900" u="none" cap="none" strike="noStrike">
                <a:solidFill>
                  <a:srgbClr val="FFFFFF"/>
                </a:solidFill>
                <a:latin typeface="Montserrat"/>
                <a:ea typeface="Montserrat"/>
                <a:cs typeface="Montserrat"/>
                <a:sym typeface="Montserrat"/>
              </a:rPr>
              <a:t>Linear Regression models the relationship between features and a continuous target as a weighted sum:</a:t>
            </a:r>
            <a:endParaRPr sz="900"/>
          </a:p>
          <a:p>
            <a:pPr indent="0" lvl="0" marL="0" marR="0" rtl="0" algn="l">
              <a:lnSpc>
                <a:spcPct val="105004"/>
              </a:lnSpc>
              <a:spcBef>
                <a:spcPts val="0"/>
              </a:spcBef>
              <a:spcAft>
                <a:spcPts val="0"/>
              </a:spcAft>
              <a:buNone/>
            </a:pPr>
            <a:r>
              <a:rPr b="1" i="0" lang="en" sz="2900" u="none" cap="none" strike="noStrike">
                <a:solidFill>
                  <a:srgbClr val="FFFFFF"/>
                </a:solidFill>
                <a:latin typeface="Montserrat"/>
                <a:ea typeface="Montserrat"/>
                <a:cs typeface="Montserrat"/>
                <a:sym typeface="Montserrat"/>
              </a:rPr>
              <a:t>price = β₀ + β₁·diameter + β₂·quantity + ... + βₙ·feature_n</a:t>
            </a:r>
            <a:endParaRPr b="1" i="0" sz="2900" u="none" cap="none" strike="noStrike">
              <a:solidFill>
                <a:srgbClr val="FFFFFF"/>
              </a:solidFill>
              <a:latin typeface="Montserrat"/>
              <a:ea typeface="Montserrat"/>
              <a:cs typeface="Montserrat"/>
              <a:sym typeface="Montserrat"/>
            </a:endParaRPr>
          </a:p>
        </p:txBody>
      </p:sp>
      <p:sp>
        <p:nvSpPr>
          <p:cNvPr id="1535" name="Google Shape;1535;g3ee0adc8e96_0_9"/>
          <p:cNvSpPr txBox="1"/>
          <p:nvPr/>
        </p:nvSpPr>
        <p:spPr>
          <a:xfrm>
            <a:off x="5587150" y="3246875"/>
            <a:ext cx="6488700" cy="2493300"/>
          </a:xfrm>
          <a:prstGeom prst="rect">
            <a:avLst/>
          </a:prstGeom>
          <a:noFill/>
          <a:ln>
            <a:noFill/>
          </a:ln>
        </p:spPr>
        <p:txBody>
          <a:bodyPr anchorCtr="0" anchor="t" bIns="91425" lIns="91425" spcFirstLastPara="1" rIns="91425" wrap="square" tIns="91425">
            <a:spAutoFit/>
          </a:bodyPr>
          <a:lstStyle/>
          <a:p>
            <a:pPr indent="0" lvl="0" marL="0" rtl="0" algn="just">
              <a:lnSpc>
                <a:spcPct val="104980"/>
              </a:lnSpc>
              <a:spcBef>
                <a:spcPts val="0"/>
              </a:spcBef>
              <a:spcAft>
                <a:spcPts val="0"/>
              </a:spcAft>
              <a:buNone/>
            </a:pPr>
            <a:r>
              <a:rPr b="1" lang="en" sz="2400">
                <a:solidFill>
                  <a:schemeClr val="lt1"/>
                </a:solidFill>
                <a:latin typeface="Montserrat"/>
                <a:ea typeface="Montserrat"/>
                <a:cs typeface="Montserrat"/>
                <a:sym typeface="Montserrat"/>
              </a:rPr>
              <a:t>K</a:t>
            </a:r>
            <a:r>
              <a:rPr b="1" lang="en" sz="2400">
                <a:solidFill>
                  <a:schemeClr val="lt1"/>
                </a:solidFill>
                <a:latin typeface="Montserrat"/>
                <a:ea typeface="Montserrat"/>
                <a:cs typeface="Montserrat"/>
                <a:sym typeface="Montserrat"/>
              </a:rPr>
              <a:t>NN (K-Nearest Neighbours) is non-parametric, it fits no equation. Instead, to predict the price of a new tube assembly, it finds the K most similar assemblies in the training data and averages their prices.</a:t>
            </a:r>
            <a:endParaRPr sz="2000"/>
          </a:p>
        </p:txBody>
      </p:sp>
      <p:sp>
        <p:nvSpPr>
          <p:cNvPr id="1536" name="Google Shape;1536;g3ee0adc8e96_0_9"/>
          <p:cNvSpPr/>
          <p:nvPr/>
        </p:nvSpPr>
        <p:spPr>
          <a:xfrm flipH="1" rot="5400000">
            <a:off x="-1361616" y="1410138"/>
            <a:ext cx="6858000" cy="4037700"/>
          </a:xfrm>
          <a:prstGeom prst="rect">
            <a:avLst/>
          </a:prstGeom>
          <a:gradFill>
            <a:gsLst>
              <a:gs pos="0">
                <a:srgbClr val="0A3041"/>
              </a:gs>
              <a:gs pos="100000">
                <a:srgbClr val="0F4861"/>
              </a:gs>
            </a:gsLst>
            <a:lin ang="839841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37" name="Google Shape;1537;g3ee0adc8e96_0_9"/>
          <p:cNvSpPr/>
          <p:nvPr/>
        </p:nvSpPr>
        <p:spPr>
          <a:xfrm flipH="1" rot="5400000">
            <a:off x="816383" y="3588145"/>
            <a:ext cx="2502000" cy="4037700"/>
          </a:xfrm>
          <a:prstGeom prst="rect">
            <a:avLst/>
          </a:prstGeom>
          <a:gradFill>
            <a:gsLst>
              <a:gs pos="0">
                <a:srgbClr val="156082">
                  <a:alpha val="29019"/>
                </a:srgbClr>
              </a:gs>
              <a:gs pos="2000">
                <a:srgbClr val="156082">
                  <a:alpha val="29019"/>
                </a:srgbClr>
              </a:gs>
              <a:gs pos="100000">
                <a:srgbClr val="000000">
                  <a:alpha val="30196"/>
                </a:srgbClr>
              </a:gs>
            </a:gsLst>
            <a:lin ang="7799903"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38" name="Google Shape;1538;g3ee0adc8e96_0_9"/>
          <p:cNvSpPr/>
          <p:nvPr/>
        </p:nvSpPr>
        <p:spPr>
          <a:xfrm rot="-967356">
            <a:off x="-500907" y="968177"/>
            <a:ext cx="3897638" cy="4176045"/>
          </a:xfrm>
          <a:custGeom>
            <a:rect b="b" l="l" r="r" t="t"/>
            <a:pathLst>
              <a:path extrusionOk="0" h="4178958" w="3900357">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3137"/>
                </a:srgbClr>
              </a:gs>
            </a:gsLst>
            <a:lin ang="180000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39" name="Google Shape;1539;g3ee0adc8e96_0_9"/>
          <p:cNvSpPr txBox="1"/>
          <p:nvPr/>
        </p:nvSpPr>
        <p:spPr>
          <a:xfrm>
            <a:off x="466722" y="586855"/>
            <a:ext cx="3201300" cy="3387600"/>
          </a:xfrm>
          <a:prstGeom prst="rect">
            <a:avLst/>
          </a:prstGeom>
          <a:noFill/>
          <a:ln>
            <a:noFill/>
          </a:ln>
        </p:spPr>
        <p:txBody>
          <a:bodyPr anchorCtr="0" anchor="b" bIns="45700" lIns="91425" spcFirstLastPara="1" rIns="91425" wrap="square" tIns="45700">
            <a:normAutofit fontScale="92500" lnSpcReduction="10000"/>
          </a:bodyPr>
          <a:lstStyle/>
          <a:p>
            <a:pPr indent="0" lvl="0" marL="0" marR="0" rtl="0" algn="r">
              <a:lnSpc>
                <a:spcPct val="90000"/>
              </a:lnSpc>
              <a:spcBef>
                <a:spcPts val="0"/>
              </a:spcBef>
              <a:spcAft>
                <a:spcPts val="0"/>
              </a:spcAft>
              <a:buNone/>
            </a:pPr>
            <a:r>
              <a:rPr b="0" i="0" lang="en" sz="4000" u="none" cap="none" strike="noStrike">
                <a:solidFill>
                  <a:schemeClr val="lt1"/>
                </a:solidFill>
                <a:latin typeface="Arial"/>
                <a:ea typeface="Arial"/>
                <a:cs typeface="Arial"/>
                <a:sym typeface="Arial"/>
              </a:rPr>
              <a:t>Machine Learning Algorithms</a:t>
            </a:r>
            <a:r>
              <a:rPr b="1" i="0" lang="en" sz="4000" u="none" cap="none" strike="noStrike">
                <a:solidFill>
                  <a:schemeClr val="lt1"/>
                </a:solidFill>
                <a:latin typeface="Play"/>
                <a:ea typeface="Play"/>
                <a:cs typeface="Play"/>
                <a:sym typeface="Play"/>
              </a:rPr>
              <a:t> -</a:t>
            </a:r>
            <a:r>
              <a:rPr b="1" i="0" lang="en" sz="4000" u="none" cap="none" strike="noStrike">
                <a:solidFill>
                  <a:srgbClr val="FFFFFF"/>
                </a:solidFill>
                <a:latin typeface="Play"/>
                <a:ea typeface="Play"/>
                <a:cs typeface="Play"/>
                <a:sym typeface="Play"/>
              </a:rPr>
              <a:t> </a:t>
            </a:r>
            <a:r>
              <a:rPr b="1" lang="en" sz="4000">
                <a:solidFill>
                  <a:srgbClr val="FFFFFF"/>
                </a:solidFill>
                <a:latin typeface="Play"/>
                <a:ea typeface="Play"/>
                <a:cs typeface="Play"/>
                <a:sym typeface="Play"/>
              </a:rPr>
              <a:t>Chinelo Lydia Nweke</a:t>
            </a:r>
            <a:endParaRPr b="1" i="0" sz="4000" u="none" cap="none" strike="noStrike">
              <a:solidFill>
                <a:srgbClr val="FFFFFF"/>
              </a:solidFill>
              <a:latin typeface="Play"/>
              <a:ea typeface="Play"/>
              <a:cs typeface="Play"/>
              <a:sym typeface="Play"/>
            </a:endParaRPr>
          </a:p>
          <a:p>
            <a:pPr indent="0" lvl="0" marL="0" marR="0" rtl="0" algn="r">
              <a:lnSpc>
                <a:spcPct val="90000"/>
              </a:lnSpc>
              <a:spcBef>
                <a:spcPts val="600"/>
              </a:spcBef>
              <a:spcAft>
                <a:spcPts val="0"/>
              </a:spcAft>
              <a:buNone/>
            </a:pPr>
            <a:br>
              <a:rPr b="1" i="0" lang="en" sz="4000" u="none" cap="none" strike="noStrike">
                <a:solidFill>
                  <a:srgbClr val="FFFFFF"/>
                </a:solidFill>
                <a:latin typeface="Play"/>
                <a:ea typeface="Play"/>
                <a:cs typeface="Play"/>
                <a:sym typeface="Play"/>
              </a:rPr>
            </a:br>
            <a:endParaRPr b="1" i="0" sz="4000" u="none" cap="none" strike="noStrike">
              <a:solidFill>
                <a:srgbClr val="FFFFFF"/>
              </a:solidFill>
              <a:latin typeface="Play"/>
              <a:ea typeface="Play"/>
              <a:cs typeface="Play"/>
              <a:sym typeface="Play"/>
            </a:endParaRPr>
          </a:p>
        </p:txBody>
      </p:sp>
      <p:sp>
        <p:nvSpPr>
          <p:cNvPr id="1540" name="Google Shape;1540;g3ee0adc8e96_0_9"/>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541" name="Google Shape;1541;g3ee0adc8e96_0_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Clr>
                <a:srgbClr val="757575"/>
              </a:buClr>
              <a:buSzPts val="1200"/>
              <a:buFont typeface="Arial"/>
              <a:buNone/>
            </a:pPr>
            <a:fld id="{00000000-1234-1234-1234-123412341234}" type="slidenum">
              <a:rPr lang="en" sz="1500">
                <a:solidFill>
                  <a:schemeClr val="lt1"/>
                </a:solidFill>
              </a:rPr>
              <a:t>‹#›</a:t>
            </a:fld>
            <a:endParaRPr sz="1500">
              <a:solidFill>
                <a:schemeClr val="lt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1545" name="Shape 1545"/>
        <p:cNvGrpSpPr/>
        <p:nvPr/>
      </p:nvGrpSpPr>
      <p:grpSpPr>
        <a:xfrm>
          <a:off x="0" y="0"/>
          <a:ext cx="0" cy="0"/>
          <a:chOff x="0" y="0"/>
          <a:chExt cx="0" cy="0"/>
        </a:xfrm>
      </p:grpSpPr>
      <p:grpSp>
        <p:nvGrpSpPr>
          <p:cNvPr id="1546" name="Google Shape;1546;g3ee0adc8e96_0_25"/>
          <p:cNvGrpSpPr/>
          <p:nvPr/>
        </p:nvGrpSpPr>
        <p:grpSpPr>
          <a:xfrm>
            <a:off x="8706107" y="-462302"/>
            <a:ext cx="3969516" cy="7638089"/>
            <a:chOff x="0" y="-57150"/>
            <a:chExt cx="1568173" cy="3017457"/>
          </a:xfrm>
        </p:grpSpPr>
        <p:sp>
          <p:nvSpPr>
            <p:cNvPr id="1547" name="Google Shape;1547;g3ee0adc8e96_0_25"/>
            <p:cNvSpPr/>
            <p:nvPr/>
          </p:nvSpPr>
          <p:spPr>
            <a:xfrm>
              <a:off x="0" y="0"/>
              <a:ext cx="1568173" cy="2960307"/>
            </a:xfrm>
            <a:custGeom>
              <a:rect b="b" l="l" r="r" t="t"/>
              <a:pathLst>
                <a:path extrusionOk="0" h="2960307" w="1568173">
                  <a:moveTo>
                    <a:pt x="0" y="0"/>
                  </a:moveTo>
                  <a:lnTo>
                    <a:pt x="1568173" y="0"/>
                  </a:lnTo>
                  <a:lnTo>
                    <a:pt x="1568173" y="2960307"/>
                  </a:lnTo>
                  <a:lnTo>
                    <a:pt x="0" y="2960307"/>
                  </a:lnTo>
                  <a:close/>
                </a:path>
              </a:pathLst>
            </a:custGeom>
            <a:solidFill>
              <a:srgbClr val="EFF1E8"/>
            </a:solidFill>
            <a:ln>
              <a:noFill/>
            </a:ln>
          </p:spPr>
        </p:sp>
        <p:sp>
          <p:nvSpPr>
            <p:cNvPr id="1548" name="Google Shape;1548;g3ee0adc8e96_0_25"/>
            <p:cNvSpPr txBox="1"/>
            <p:nvPr/>
          </p:nvSpPr>
          <p:spPr>
            <a:xfrm>
              <a:off x="0" y="-57150"/>
              <a:ext cx="1568100" cy="30174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549" name="Google Shape;1549;g3ee0adc8e96_0_25"/>
          <p:cNvGrpSpPr/>
          <p:nvPr/>
        </p:nvGrpSpPr>
        <p:grpSpPr>
          <a:xfrm>
            <a:off x="204925" y="1010498"/>
            <a:ext cx="8530722" cy="5418289"/>
            <a:chOff x="-18" y="-20223"/>
            <a:chExt cx="2005200" cy="1009500"/>
          </a:xfrm>
        </p:grpSpPr>
        <p:sp>
          <p:nvSpPr>
            <p:cNvPr id="1550" name="Google Shape;1550;g3ee0adc8e96_0_25"/>
            <p:cNvSpPr/>
            <p:nvPr/>
          </p:nvSpPr>
          <p:spPr>
            <a:xfrm>
              <a:off x="0" y="0"/>
              <a:ext cx="2005166" cy="952383"/>
            </a:xfrm>
            <a:custGeom>
              <a:rect b="b" l="l" r="r" t="t"/>
              <a:pathLst>
                <a:path extrusionOk="0" h="952383" w="2005166">
                  <a:moveTo>
                    <a:pt x="0" y="0"/>
                  </a:moveTo>
                  <a:lnTo>
                    <a:pt x="2005166" y="0"/>
                  </a:lnTo>
                  <a:lnTo>
                    <a:pt x="2005166" y="952383"/>
                  </a:lnTo>
                  <a:lnTo>
                    <a:pt x="0" y="952383"/>
                  </a:lnTo>
                  <a:close/>
                </a:path>
              </a:pathLst>
            </a:custGeom>
            <a:noFill/>
            <a:ln cap="sq" cmpd="sng" w="38100">
              <a:solidFill>
                <a:srgbClr val="EFF1E8"/>
              </a:solidFill>
              <a:prstDash val="solid"/>
              <a:miter lim="8000"/>
              <a:headEnd len="sm" w="sm" type="none"/>
              <a:tailEnd len="sm" w="sm" type="none"/>
            </a:ln>
          </p:spPr>
        </p:sp>
        <p:sp>
          <p:nvSpPr>
            <p:cNvPr id="1551" name="Google Shape;1551;g3ee0adc8e96_0_25"/>
            <p:cNvSpPr txBox="1"/>
            <p:nvPr/>
          </p:nvSpPr>
          <p:spPr>
            <a:xfrm>
              <a:off x="-18" y="-20223"/>
              <a:ext cx="2005200" cy="10095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552" name="Google Shape;1552;g3ee0adc8e96_0_25"/>
          <p:cNvSpPr/>
          <p:nvPr/>
        </p:nvSpPr>
        <p:spPr>
          <a:xfrm>
            <a:off x="0" y="6230323"/>
            <a:ext cx="659253" cy="622716"/>
          </a:xfrm>
          <a:custGeom>
            <a:rect b="b" l="l" r="r" t="t"/>
            <a:pathLst>
              <a:path extrusionOk="0" h="635425" w="635425">
                <a:moveTo>
                  <a:pt x="0" y="0"/>
                </a:moveTo>
                <a:lnTo>
                  <a:pt x="635425" y="0"/>
                </a:lnTo>
                <a:lnTo>
                  <a:pt x="635425" y="635425"/>
                </a:lnTo>
                <a:lnTo>
                  <a:pt x="0" y="635425"/>
                </a:lnTo>
                <a:lnTo>
                  <a:pt x="0" y="0"/>
                </a:lnTo>
                <a:close/>
              </a:path>
            </a:pathLst>
          </a:custGeom>
          <a:blipFill rotWithShape="1">
            <a:blip r:embed="rId3">
              <a:alphaModFix/>
            </a:blip>
            <a:stretch>
              <a:fillRect b="0" l="0" r="0" t="0"/>
            </a:stretch>
          </a:blipFill>
          <a:ln>
            <a:noFill/>
          </a:ln>
        </p:spPr>
      </p:sp>
      <p:sp>
        <p:nvSpPr>
          <p:cNvPr id="1553" name="Google Shape;1553;g3ee0adc8e96_0_25"/>
          <p:cNvSpPr txBox="1"/>
          <p:nvPr/>
        </p:nvSpPr>
        <p:spPr>
          <a:xfrm>
            <a:off x="297926" y="1092088"/>
            <a:ext cx="7651800" cy="49266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2400">
                <a:solidFill>
                  <a:schemeClr val="dk1"/>
                </a:solidFill>
                <a:latin typeface="Roboto"/>
                <a:ea typeface="Roboto"/>
                <a:cs typeface="Roboto"/>
                <a:sym typeface="Roboto"/>
              </a:rPr>
              <a:t>Evaluation Metrics used:</a:t>
            </a:r>
            <a:endParaRPr b="1" sz="2400">
              <a:solidFill>
                <a:schemeClr val="dk1"/>
              </a:solidFill>
              <a:latin typeface="Roboto"/>
              <a:ea typeface="Roboto"/>
              <a:cs typeface="Roboto"/>
              <a:sym typeface="Roboto"/>
            </a:endParaRPr>
          </a:p>
          <a:p>
            <a:pPr indent="-381000" lvl="0" marL="457200" rtl="0" algn="l">
              <a:lnSpc>
                <a:spcPct val="115000"/>
              </a:lnSpc>
              <a:spcBef>
                <a:spcPts val="1000"/>
              </a:spcBef>
              <a:spcAft>
                <a:spcPts val="0"/>
              </a:spcAft>
              <a:buClr>
                <a:schemeClr val="dk1"/>
              </a:buClr>
              <a:buSzPts val="2400"/>
              <a:buFont typeface="Roboto"/>
              <a:buChar char="●"/>
            </a:pPr>
            <a:r>
              <a:rPr b="1" lang="en" sz="2400">
                <a:solidFill>
                  <a:schemeClr val="dk1"/>
                </a:solidFill>
                <a:latin typeface="Roboto"/>
                <a:ea typeface="Roboto"/>
                <a:cs typeface="Roboto"/>
                <a:sym typeface="Roboto"/>
              </a:rPr>
              <a:t>MAE (Mean Absolute Error):</a:t>
            </a:r>
            <a:r>
              <a:rPr lang="en" sz="2400">
                <a:solidFill>
                  <a:schemeClr val="dk1"/>
                </a:solidFill>
                <a:latin typeface="Roboto"/>
                <a:ea typeface="Roboto"/>
                <a:cs typeface="Roboto"/>
                <a:sym typeface="Roboto"/>
              </a:rPr>
              <a:t> Average dollar difference between predicted and actual price — lower is better</a:t>
            </a:r>
            <a:endParaRPr sz="2400">
              <a:solidFill>
                <a:schemeClr val="dk1"/>
              </a:solidFill>
              <a:latin typeface="Roboto"/>
              <a:ea typeface="Roboto"/>
              <a:cs typeface="Roboto"/>
              <a:sym typeface="Roboto"/>
            </a:endParaRPr>
          </a:p>
          <a:p>
            <a:pPr indent="0" lvl="0" marL="457200" rtl="0" algn="l">
              <a:lnSpc>
                <a:spcPct val="115000"/>
              </a:lnSpc>
              <a:spcBef>
                <a:spcPts val="1000"/>
              </a:spcBef>
              <a:spcAft>
                <a:spcPts val="0"/>
              </a:spcAft>
              <a:buNone/>
            </a:pPr>
            <a:r>
              <a:t/>
            </a:r>
            <a:endParaRPr sz="2400">
              <a:solidFill>
                <a:schemeClr val="dk1"/>
              </a:solidFill>
              <a:latin typeface="Roboto"/>
              <a:ea typeface="Roboto"/>
              <a:cs typeface="Roboto"/>
              <a:sym typeface="Roboto"/>
            </a:endParaRPr>
          </a:p>
          <a:p>
            <a:pPr indent="-381000" lvl="0" marL="457200" rtl="0" algn="l">
              <a:lnSpc>
                <a:spcPct val="115000"/>
              </a:lnSpc>
              <a:spcBef>
                <a:spcPts val="1000"/>
              </a:spcBef>
              <a:spcAft>
                <a:spcPts val="0"/>
              </a:spcAft>
              <a:buClr>
                <a:schemeClr val="dk1"/>
              </a:buClr>
              <a:buSzPts val="2400"/>
              <a:buFont typeface="Roboto"/>
              <a:buChar char="●"/>
            </a:pPr>
            <a:r>
              <a:rPr b="1" lang="en" sz="2400">
                <a:solidFill>
                  <a:schemeClr val="dk1"/>
                </a:solidFill>
                <a:latin typeface="Roboto"/>
                <a:ea typeface="Roboto"/>
                <a:cs typeface="Roboto"/>
                <a:sym typeface="Roboto"/>
              </a:rPr>
              <a:t>RMSE (Root Mean Squared Error):</a:t>
            </a:r>
            <a:r>
              <a:rPr lang="en" sz="2400">
                <a:solidFill>
                  <a:schemeClr val="dk1"/>
                </a:solidFill>
                <a:latin typeface="Roboto"/>
                <a:ea typeface="Roboto"/>
                <a:cs typeface="Roboto"/>
                <a:sym typeface="Roboto"/>
              </a:rPr>
              <a:t> Like MAE but penalises large errors more heavily — lower is better</a:t>
            </a:r>
            <a:endParaRPr sz="2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t/>
            </a:r>
            <a:endParaRPr sz="2400">
              <a:solidFill>
                <a:schemeClr val="dk1"/>
              </a:solidFill>
              <a:latin typeface="Roboto"/>
              <a:ea typeface="Roboto"/>
              <a:cs typeface="Roboto"/>
              <a:sym typeface="Roboto"/>
            </a:endParaRPr>
          </a:p>
          <a:p>
            <a:pPr indent="-381000" lvl="0" marL="457200" rtl="0" algn="l">
              <a:lnSpc>
                <a:spcPct val="115000"/>
              </a:lnSpc>
              <a:spcBef>
                <a:spcPts val="1000"/>
              </a:spcBef>
              <a:spcAft>
                <a:spcPts val="0"/>
              </a:spcAft>
              <a:buClr>
                <a:schemeClr val="dk1"/>
              </a:buClr>
              <a:buSzPts val="2400"/>
              <a:buFont typeface="Roboto"/>
              <a:buChar char="●"/>
            </a:pPr>
            <a:r>
              <a:rPr b="1" lang="en" sz="2400">
                <a:solidFill>
                  <a:schemeClr val="dk1"/>
                </a:solidFill>
                <a:latin typeface="Roboto"/>
                <a:ea typeface="Roboto"/>
                <a:cs typeface="Roboto"/>
                <a:sym typeface="Roboto"/>
              </a:rPr>
              <a:t>R² Score:</a:t>
            </a:r>
            <a:r>
              <a:rPr lang="en" sz="2400">
                <a:solidFill>
                  <a:schemeClr val="dk1"/>
                </a:solidFill>
                <a:latin typeface="Roboto"/>
                <a:ea typeface="Roboto"/>
                <a:cs typeface="Roboto"/>
                <a:sym typeface="Roboto"/>
              </a:rPr>
              <a:t> How much of the price variation the model explains — higher is better</a:t>
            </a:r>
            <a:endParaRPr b="0" i="0" u="none" cap="none" strike="noStrike">
              <a:solidFill>
                <a:schemeClr val="dk1"/>
              </a:solidFill>
              <a:latin typeface="Poppins"/>
              <a:ea typeface="Poppins"/>
              <a:cs typeface="Poppins"/>
              <a:sym typeface="Poppins"/>
            </a:endParaRPr>
          </a:p>
        </p:txBody>
      </p:sp>
      <p:grpSp>
        <p:nvGrpSpPr>
          <p:cNvPr id="1554" name="Google Shape;1554;g3ee0adc8e96_0_25"/>
          <p:cNvGrpSpPr/>
          <p:nvPr/>
        </p:nvGrpSpPr>
        <p:grpSpPr>
          <a:xfrm>
            <a:off x="7223676" y="3277900"/>
            <a:ext cx="4782721" cy="3150874"/>
            <a:chOff x="-1889558" y="0"/>
            <a:chExt cx="3894724" cy="2342831"/>
          </a:xfrm>
        </p:grpSpPr>
        <p:sp>
          <p:nvSpPr>
            <p:cNvPr id="1555" name="Google Shape;1555;g3ee0adc8e96_0_25"/>
            <p:cNvSpPr/>
            <p:nvPr/>
          </p:nvSpPr>
          <p:spPr>
            <a:xfrm>
              <a:off x="0" y="0"/>
              <a:ext cx="2005166" cy="952383"/>
            </a:xfrm>
            <a:custGeom>
              <a:rect b="b" l="l" r="r" t="t"/>
              <a:pathLst>
                <a:path extrusionOk="0" h="952383" w="2005166">
                  <a:moveTo>
                    <a:pt x="0" y="0"/>
                  </a:moveTo>
                  <a:lnTo>
                    <a:pt x="2005166" y="0"/>
                  </a:lnTo>
                  <a:lnTo>
                    <a:pt x="2005166" y="952383"/>
                  </a:lnTo>
                  <a:lnTo>
                    <a:pt x="0" y="952383"/>
                  </a:lnTo>
                  <a:close/>
                </a:path>
              </a:pathLst>
            </a:custGeom>
            <a:noFill/>
            <a:ln cap="sq" cmpd="sng" w="38100">
              <a:solidFill>
                <a:srgbClr val="EFF1E8"/>
              </a:solidFill>
              <a:prstDash val="solid"/>
              <a:miter lim="8000"/>
              <a:headEnd len="sm" w="sm" type="none"/>
              <a:tailEnd len="sm" w="sm" type="none"/>
            </a:ln>
          </p:spPr>
        </p:sp>
        <p:sp>
          <p:nvSpPr>
            <p:cNvPr id="1556" name="Google Shape;1556;g3ee0adc8e96_0_25"/>
            <p:cNvSpPr txBox="1"/>
            <p:nvPr/>
          </p:nvSpPr>
          <p:spPr>
            <a:xfrm>
              <a:off x="-1889558" y="1333331"/>
              <a:ext cx="2005200" cy="1009500"/>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557" name="Google Shape;1557;g3ee0adc8e96_0_25"/>
          <p:cNvSpPr/>
          <p:nvPr/>
        </p:nvSpPr>
        <p:spPr>
          <a:xfrm>
            <a:off x="8706112" y="3041847"/>
            <a:ext cx="3181197" cy="3629996"/>
          </a:xfrm>
          <a:custGeom>
            <a:rect b="b" l="l" r="r" t="t"/>
            <a:pathLst>
              <a:path extrusionOk="0" h="5438197" w="4765838">
                <a:moveTo>
                  <a:pt x="0" y="0"/>
                </a:moveTo>
                <a:lnTo>
                  <a:pt x="4765838" y="0"/>
                </a:lnTo>
                <a:lnTo>
                  <a:pt x="4765838" y="5438198"/>
                </a:lnTo>
                <a:lnTo>
                  <a:pt x="0" y="5438198"/>
                </a:lnTo>
                <a:lnTo>
                  <a:pt x="0" y="0"/>
                </a:lnTo>
                <a:close/>
              </a:path>
            </a:pathLst>
          </a:custGeom>
          <a:blipFill rotWithShape="1">
            <a:blip r:embed="rId4">
              <a:alphaModFix/>
            </a:blip>
            <a:stretch>
              <a:fillRect b="0" l="0" r="0" t="0"/>
            </a:stretch>
          </a:blipFill>
          <a:ln>
            <a:noFill/>
          </a:ln>
        </p:spPr>
      </p:sp>
      <p:sp>
        <p:nvSpPr>
          <p:cNvPr id="1558" name="Google Shape;1558;g3ee0adc8e96_0_25"/>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559" name="Google Shape;1559;g3ee0adc8e96_0_2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sz="1500"/>
              <a:t>‹#›</a:t>
            </a:fld>
            <a:endParaRPr sz="1500"/>
          </a:p>
        </p:txBody>
      </p:sp>
      <p:pic>
        <p:nvPicPr>
          <p:cNvPr descr="Datei:Social Network Analysis Visualization.png – Wikipedia" id="1560" name="Google Shape;1560;g3ee0adc8e96_0_25"/>
          <p:cNvPicPr preferRelativeResize="0"/>
          <p:nvPr/>
        </p:nvPicPr>
        <p:blipFill>
          <a:blip r:embed="rId5">
            <a:alphaModFix/>
          </a:blip>
          <a:stretch>
            <a:fillRect/>
          </a:stretch>
        </p:blipFill>
        <p:spPr>
          <a:xfrm>
            <a:off x="7949725" y="-683225"/>
            <a:ext cx="4917125" cy="3662924"/>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5" name="Shape 1565"/>
        <p:cNvGrpSpPr/>
        <p:nvPr/>
      </p:nvGrpSpPr>
      <p:grpSpPr>
        <a:xfrm>
          <a:off x="0" y="0"/>
          <a:ext cx="0" cy="0"/>
          <a:chOff x="0" y="0"/>
          <a:chExt cx="0" cy="0"/>
        </a:xfrm>
      </p:grpSpPr>
      <p:sp>
        <p:nvSpPr>
          <p:cNvPr id="1566" name="Google Shape;1566;g3e336e0d84f_0_281"/>
          <p:cNvSpPr txBox="1"/>
          <p:nvPr>
            <p:ph type="title"/>
          </p:nvPr>
        </p:nvSpPr>
        <p:spPr>
          <a:xfrm>
            <a:off x="0" y="0"/>
            <a:ext cx="8399400" cy="597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3600"/>
              <a:t>System </a:t>
            </a:r>
            <a:r>
              <a:rPr lang="en" sz="3600"/>
              <a:t>Architecture</a:t>
            </a:r>
            <a:r>
              <a:rPr lang="en" sz="3600"/>
              <a:t> and </a:t>
            </a:r>
            <a:r>
              <a:rPr lang="en" sz="3600"/>
              <a:t>Experimental</a:t>
            </a:r>
            <a:r>
              <a:rPr lang="en" sz="3600"/>
              <a:t> Plan</a:t>
            </a:r>
            <a:endParaRPr sz="3600"/>
          </a:p>
        </p:txBody>
      </p:sp>
      <p:sp>
        <p:nvSpPr>
          <p:cNvPr id="1567" name="Google Shape;1567;g3e336e0d84f_0_28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568" name="Google Shape;1568;g3e336e0d84f_0_281"/>
          <p:cNvSpPr txBox="1"/>
          <p:nvPr/>
        </p:nvSpPr>
        <p:spPr>
          <a:xfrm>
            <a:off x="0" y="1510150"/>
            <a:ext cx="5866200" cy="176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chemeClr val="dk1"/>
                </a:solidFill>
              </a:rPr>
              <a:t>Baseline Performance:</a:t>
            </a:r>
            <a:endParaRPr b="1" sz="2800">
              <a:solidFill>
                <a:schemeClr val="dk1"/>
              </a:solidFill>
            </a:endParaRPr>
          </a:p>
          <a:p>
            <a:pPr indent="0" lvl="0" marL="0" rtl="0" algn="l">
              <a:spcBef>
                <a:spcPts val="0"/>
              </a:spcBef>
              <a:spcAft>
                <a:spcPts val="0"/>
              </a:spcAft>
              <a:buNone/>
            </a:pPr>
            <a:r>
              <a:rPr lang="en" sz="2800">
                <a:solidFill>
                  <a:srgbClr val="7F6000"/>
                </a:solidFill>
              </a:rPr>
              <a:t>Compare model performance against average price price prediction baseline</a:t>
            </a:r>
            <a:endParaRPr sz="2800">
              <a:solidFill>
                <a:srgbClr val="7F6000"/>
              </a:solidFill>
            </a:endParaRPr>
          </a:p>
        </p:txBody>
      </p:sp>
      <p:grpSp>
        <p:nvGrpSpPr>
          <p:cNvPr id="1569" name="Google Shape;1569;g3e336e0d84f_0_281"/>
          <p:cNvGrpSpPr/>
          <p:nvPr/>
        </p:nvGrpSpPr>
        <p:grpSpPr>
          <a:xfrm>
            <a:off x="-84285" y="5057267"/>
            <a:ext cx="2137659" cy="2058809"/>
            <a:chOff x="1083025" y="1574025"/>
            <a:chExt cx="1834900" cy="1767218"/>
          </a:xfrm>
        </p:grpSpPr>
        <p:sp>
          <p:nvSpPr>
            <p:cNvPr id="1570" name="Google Shape;1570;g3e336e0d84f_0_281"/>
            <p:cNvSpPr txBox="1"/>
            <p:nvPr/>
          </p:nvSpPr>
          <p:spPr>
            <a:xfrm>
              <a:off x="1604274" y="1574025"/>
              <a:ext cx="624300" cy="241200"/>
            </a:xfrm>
            <a:prstGeom prst="rect">
              <a:avLst/>
            </a:prstGeom>
            <a:noFill/>
            <a:ln>
              <a:noFill/>
            </a:ln>
          </p:spPr>
          <p:txBody>
            <a:bodyPr anchorCtr="0" anchor="t" bIns="106525" lIns="106525" spcFirstLastPara="1" rIns="106525" wrap="square" tIns="106525">
              <a:noAutofit/>
            </a:bodyPr>
            <a:lstStyle/>
            <a:p>
              <a:pPr indent="0" lvl="0" marL="0" rtl="0" algn="r">
                <a:lnSpc>
                  <a:spcPct val="115000"/>
                </a:lnSpc>
                <a:spcBef>
                  <a:spcPts val="0"/>
                </a:spcBef>
                <a:spcAft>
                  <a:spcPts val="1835"/>
                </a:spcAft>
                <a:buNone/>
              </a:pPr>
              <a:r>
                <a:rPr b="1" lang="en" sz="1800">
                  <a:solidFill>
                    <a:srgbClr val="0C57D3"/>
                  </a:solidFill>
                  <a:latin typeface="Roboto"/>
                  <a:ea typeface="Roboto"/>
                  <a:cs typeface="Roboto"/>
                  <a:sym typeface="Roboto"/>
                </a:rPr>
                <a:t>1</a:t>
              </a:r>
              <a:endParaRPr b="1" sz="1800">
                <a:solidFill>
                  <a:srgbClr val="0C57D3"/>
                </a:solidFill>
                <a:latin typeface="Roboto"/>
                <a:ea typeface="Roboto"/>
                <a:cs typeface="Roboto"/>
                <a:sym typeface="Roboto"/>
              </a:endParaRPr>
            </a:p>
          </p:txBody>
        </p:sp>
        <p:sp>
          <p:nvSpPr>
            <p:cNvPr id="1571" name="Google Shape;1571;g3e336e0d84f_0_281"/>
            <p:cNvSpPr txBox="1"/>
            <p:nvPr/>
          </p:nvSpPr>
          <p:spPr>
            <a:xfrm>
              <a:off x="1143633" y="2603843"/>
              <a:ext cx="1545600" cy="737400"/>
            </a:xfrm>
            <a:prstGeom prst="rect">
              <a:avLst/>
            </a:prstGeom>
            <a:noFill/>
            <a:ln>
              <a:noFill/>
            </a:ln>
          </p:spPr>
          <p:txBody>
            <a:bodyPr anchorCtr="0" anchor="t" bIns="106525" lIns="106525" spcFirstLastPara="1" rIns="106525" wrap="square" tIns="106525">
              <a:noAutofit/>
            </a:bodyPr>
            <a:lstStyle/>
            <a:p>
              <a:pPr indent="0" lvl="0" marL="0" rtl="0" algn="l">
                <a:lnSpc>
                  <a:spcPct val="115000"/>
                </a:lnSpc>
                <a:spcBef>
                  <a:spcPts val="0"/>
                </a:spcBef>
                <a:spcAft>
                  <a:spcPts val="1835"/>
                </a:spcAft>
                <a:buNone/>
              </a:pPr>
              <a:r>
                <a:rPr b="1" lang="en" sz="1800">
                  <a:solidFill>
                    <a:srgbClr val="0C57D3"/>
                  </a:solidFill>
                  <a:latin typeface="Roboto"/>
                  <a:ea typeface="Roboto"/>
                  <a:cs typeface="Roboto"/>
                  <a:sym typeface="Roboto"/>
                </a:rPr>
                <a:t>Train-test split</a:t>
              </a:r>
              <a:endParaRPr b="1" sz="1800">
                <a:solidFill>
                  <a:srgbClr val="0C57D3"/>
                </a:solidFill>
                <a:latin typeface="Roboto"/>
                <a:ea typeface="Roboto"/>
                <a:cs typeface="Roboto"/>
                <a:sym typeface="Roboto"/>
              </a:endParaRPr>
            </a:p>
          </p:txBody>
        </p:sp>
        <p:cxnSp>
          <p:nvCxnSpPr>
            <p:cNvPr id="1572" name="Google Shape;1572;g3e336e0d84f_0_281"/>
            <p:cNvCxnSpPr/>
            <p:nvPr/>
          </p:nvCxnSpPr>
          <p:spPr>
            <a:xfrm>
              <a:off x="2180202" y="1695421"/>
              <a:ext cx="718500" cy="741900"/>
            </a:xfrm>
            <a:prstGeom prst="straightConnector1">
              <a:avLst/>
            </a:prstGeom>
            <a:noFill/>
            <a:ln cap="flat" cmpd="sng" w="9525">
              <a:solidFill>
                <a:srgbClr val="0D5CDF"/>
              </a:solidFill>
              <a:prstDash val="solid"/>
              <a:round/>
              <a:headEnd len="sm" w="sm" type="none"/>
              <a:tailEnd len="sm" w="sm" type="none"/>
            </a:ln>
          </p:spPr>
        </p:cxnSp>
        <p:sp>
          <p:nvSpPr>
            <p:cNvPr id="1573" name="Google Shape;1573;g3e336e0d84f_0_281"/>
            <p:cNvSpPr/>
            <p:nvPr/>
          </p:nvSpPr>
          <p:spPr>
            <a:xfrm flipH="1">
              <a:off x="1083025" y="2306625"/>
              <a:ext cx="1834800" cy="143400"/>
            </a:xfrm>
            <a:prstGeom prst="parallelogram">
              <a:avLst>
                <a:gd fmla="val 96952" name="adj"/>
              </a:avLst>
            </a:prstGeom>
            <a:solidFill>
              <a:srgbClr val="0D5CDF"/>
            </a:solidFill>
            <a:ln>
              <a:noFill/>
            </a:ln>
          </p:spPr>
          <p:txBody>
            <a:bodyPr anchorCtr="0" anchor="ctr" bIns="106525" lIns="106525" spcFirstLastPara="1" rIns="106525" wrap="square" tIns="106525">
              <a:noAutofit/>
            </a:bodyPr>
            <a:lstStyle/>
            <a:p>
              <a:pPr indent="0" lvl="0" marL="0" rtl="0" algn="l">
                <a:spcBef>
                  <a:spcPts val="0"/>
                </a:spcBef>
                <a:spcAft>
                  <a:spcPts val="0"/>
                </a:spcAft>
                <a:buNone/>
              </a:pPr>
              <a:r>
                <a:rPr lang="en" sz="1660"/>
                <a:t>  </a:t>
              </a:r>
              <a:endParaRPr sz="1660"/>
            </a:p>
          </p:txBody>
        </p:sp>
        <p:sp>
          <p:nvSpPr>
            <p:cNvPr id="1574" name="Google Shape;1574;g3e336e0d84f_0_281"/>
            <p:cNvSpPr/>
            <p:nvPr/>
          </p:nvSpPr>
          <p:spPr>
            <a:xfrm>
              <a:off x="1083125" y="2460449"/>
              <a:ext cx="1834800" cy="143400"/>
            </a:xfrm>
            <a:prstGeom prst="parallelogram">
              <a:avLst>
                <a:gd fmla="val 96952" name="adj"/>
              </a:avLst>
            </a:prstGeom>
            <a:solidFill>
              <a:srgbClr val="0942A1"/>
            </a:solidFill>
            <a:ln>
              <a:noFill/>
            </a:ln>
          </p:spPr>
          <p:txBody>
            <a:bodyPr anchorCtr="0" anchor="ctr" bIns="106525" lIns="106525" spcFirstLastPara="1" rIns="106525" wrap="square" tIns="106525">
              <a:noAutofit/>
            </a:bodyPr>
            <a:lstStyle/>
            <a:p>
              <a:pPr indent="0" lvl="0" marL="0" rtl="0" algn="l">
                <a:spcBef>
                  <a:spcPts val="0"/>
                </a:spcBef>
                <a:spcAft>
                  <a:spcPts val="0"/>
                </a:spcAft>
                <a:buNone/>
              </a:pPr>
              <a:r>
                <a:t/>
              </a:r>
              <a:endParaRPr/>
            </a:p>
          </p:txBody>
        </p:sp>
      </p:grpSp>
      <p:grpSp>
        <p:nvGrpSpPr>
          <p:cNvPr id="1575" name="Google Shape;1575;g3e336e0d84f_0_281"/>
          <p:cNvGrpSpPr/>
          <p:nvPr/>
        </p:nvGrpSpPr>
        <p:grpSpPr>
          <a:xfrm>
            <a:off x="1864272" y="5051768"/>
            <a:ext cx="2137659" cy="1846782"/>
            <a:chOff x="1083025" y="1574025"/>
            <a:chExt cx="1834900" cy="1585221"/>
          </a:xfrm>
        </p:grpSpPr>
        <p:sp>
          <p:nvSpPr>
            <p:cNvPr id="1576" name="Google Shape;1576;g3e336e0d84f_0_281"/>
            <p:cNvSpPr txBox="1"/>
            <p:nvPr/>
          </p:nvSpPr>
          <p:spPr>
            <a:xfrm>
              <a:off x="1604274" y="1574025"/>
              <a:ext cx="624300" cy="241200"/>
            </a:xfrm>
            <a:prstGeom prst="rect">
              <a:avLst/>
            </a:prstGeom>
            <a:noFill/>
            <a:ln>
              <a:noFill/>
            </a:ln>
          </p:spPr>
          <p:txBody>
            <a:bodyPr anchorCtr="0" anchor="t" bIns="106500" lIns="106500" spcFirstLastPara="1" rIns="106500" wrap="square" tIns="106500">
              <a:noAutofit/>
            </a:bodyPr>
            <a:lstStyle/>
            <a:p>
              <a:pPr indent="0" lvl="0" marL="0" rtl="0" algn="r">
                <a:lnSpc>
                  <a:spcPct val="115000"/>
                </a:lnSpc>
                <a:spcBef>
                  <a:spcPts val="0"/>
                </a:spcBef>
                <a:spcAft>
                  <a:spcPts val="1835"/>
                </a:spcAft>
                <a:buNone/>
              </a:pPr>
              <a:r>
                <a:rPr b="1" lang="en" sz="1800">
                  <a:solidFill>
                    <a:srgbClr val="0C57D3"/>
                  </a:solidFill>
                  <a:latin typeface="Roboto"/>
                  <a:ea typeface="Roboto"/>
                  <a:cs typeface="Roboto"/>
                  <a:sym typeface="Roboto"/>
                </a:rPr>
                <a:t>2</a:t>
              </a:r>
              <a:endParaRPr b="1" sz="1800">
                <a:solidFill>
                  <a:srgbClr val="0C57D3"/>
                </a:solidFill>
                <a:latin typeface="Roboto"/>
                <a:ea typeface="Roboto"/>
                <a:cs typeface="Roboto"/>
                <a:sym typeface="Roboto"/>
              </a:endParaRPr>
            </a:p>
          </p:txBody>
        </p:sp>
        <p:sp>
          <p:nvSpPr>
            <p:cNvPr id="1577" name="Google Shape;1577;g3e336e0d84f_0_281"/>
            <p:cNvSpPr txBox="1"/>
            <p:nvPr/>
          </p:nvSpPr>
          <p:spPr>
            <a:xfrm>
              <a:off x="1186955" y="2571246"/>
              <a:ext cx="1320900" cy="588000"/>
            </a:xfrm>
            <a:prstGeom prst="rect">
              <a:avLst/>
            </a:prstGeom>
            <a:noFill/>
            <a:ln>
              <a:noFill/>
            </a:ln>
          </p:spPr>
          <p:txBody>
            <a:bodyPr anchorCtr="0" anchor="t" bIns="106500" lIns="106500" spcFirstLastPara="1" rIns="106500" wrap="square" tIns="106500">
              <a:noAutofit/>
            </a:bodyPr>
            <a:lstStyle/>
            <a:p>
              <a:pPr indent="0" lvl="0" marL="0" rtl="0" algn="l">
                <a:lnSpc>
                  <a:spcPct val="115000"/>
                </a:lnSpc>
                <a:spcBef>
                  <a:spcPts val="0"/>
                </a:spcBef>
                <a:spcAft>
                  <a:spcPts val="0"/>
                </a:spcAft>
                <a:buNone/>
              </a:pPr>
              <a:r>
                <a:rPr b="1" lang="en" sz="900">
                  <a:solidFill>
                    <a:srgbClr val="0C57D3"/>
                  </a:solidFill>
                  <a:latin typeface="Roboto"/>
                  <a:ea typeface="Roboto"/>
                  <a:cs typeface="Roboto"/>
                  <a:sym typeface="Roboto"/>
                </a:rPr>
                <a:t>5-Fold Cross-Validation</a:t>
              </a:r>
              <a:endParaRPr b="1" sz="900">
                <a:solidFill>
                  <a:srgbClr val="0C57D3"/>
                </a:solidFill>
                <a:latin typeface="Roboto"/>
                <a:ea typeface="Roboto"/>
                <a:cs typeface="Roboto"/>
                <a:sym typeface="Roboto"/>
              </a:endParaRPr>
            </a:p>
            <a:p>
              <a:pPr indent="0" lvl="0" marL="0" rtl="0" algn="l">
                <a:lnSpc>
                  <a:spcPct val="115000"/>
                </a:lnSpc>
                <a:spcBef>
                  <a:spcPts val="1835"/>
                </a:spcBef>
                <a:spcAft>
                  <a:spcPts val="1835"/>
                </a:spcAft>
                <a:buNone/>
              </a:pPr>
              <a:r>
                <a:rPr b="1" lang="en" sz="900">
                  <a:solidFill>
                    <a:srgbClr val="0C57D3"/>
                  </a:solidFill>
                  <a:latin typeface="Roboto"/>
                  <a:ea typeface="Roboto"/>
                  <a:cs typeface="Roboto"/>
                  <a:sym typeface="Roboto"/>
                </a:rPr>
                <a:t>Hyper parameter tunning</a:t>
              </a:r>
              <a:endParaRPr b="1" sz="900">
                <a:solidFill>
                  <a:srgbClr val="0C57D3"/>
                </a:solidFill>
                <a:latin typeface="Roboto"/>
                <a:ea typeface="Roboto"/>
                <a:cs typeface="Roboto"/>
                <a:sym typeface="Roboto"/>
              </a:endParaRPr>
            </a:p>
          </p:txBody>
        </p:sp>
        <p:cxnSp>
          <p:nvCxnSpPr>
            <p:cNvPr id="1578" name="Google Shape;1578;g3e336e0d84f_0_281"/>
            <p:cNvCxnSpPr/>
            <p:nvPr/>
          </p:nvCxnSpPr>
          <p:spPr>
            <a:xfrm>
              <a:off x="2180202" y="1695421"/>
              <a:ext cx="718500" cy="741900"/>
            </a:xfrm>
            <a:prstGeom prst="straightConnector1">
              <a:avLst/>
            </a:prstGeom>
            <a:noFill/>
            <a:ln cap="flat" cmpd="sng" w="9525">
              <a:solidFill>
                <a:srgbClr val="0D5CDF"/>
              </a:solidFill>
              <a:prstDash val="solid"/>
              <a:round/>
              <a:headEnd len="sm" w="sm" type="none"/>
              <a:tailEnd len="sm" w="sm" type="none"/>
            </a:ln>
          </p:spPr>
        </p:cxnSp>
        <p:sp>
          <p:nvSpPr>
            <p:cNvPr id="1579" name="Google Shape;1579;g3e336e0d84f_0_281"/>
            <p:cNvSpPr/>
            <p:nvPr/>
          </p:nvSpPr>
          <p:spPr>
            <a:xfrm flipH="1">
              <a:off x="1083025" y="2306625"/>
              <a:ext cx="1834800" cy="143400"/>
            </a:xfrm>
            <a:prstGeom prst="parallelogram">
              <a:avLst>
                <a:gd fmla="val 96952" name="adj"/>
              </a:avLst>
            </a:prstGeom>
            <a:solidFill>
              <a:srgbClr val="0D5CDF"/>
            </a:solidFill>
            <a:ln>
              <a:noFill/>
            </a:ln>
          </p:spPr>
          <p:txBody>
            <a:bodyPr anchorCtr="0" anchor="ctr" bIns="106500" lIns="106500" spcFirstLastPara="1" rIns="106500" wrap="square" tIns="106500">
              <a:noAutofit/>
            </a:bodyPr>
            <a:lstStyle/>
            <a:p>
              <a:pPr indent="0" lvl="0" marL="0" rtl="0" algn="l">
                <a:spcBef>
                  <a:spcPts val="0"/>
                </a:spcBef>
                <a:spcAft>
                  <a:spcPts val="0"/>
                </a:spcAft>
                <a:buNone/>
              </a:pPr>
              <a:r>
                <a:rPr lang="en" sz="1660"/>
                <a:t>  </a:t>
              </a:r>
              <a:endParaRPr sz="1660"/>
            </a:p>
          </p:txBody>
        </p:sp>
        <p:sp>
          <p:nvSpPr>
            <p:cNvPr id="1580" name="Google Shape;1580;g3e336e0d84f_0_281"/>
            <p:cNvSpPr/>
            <p:nvPr/>
          </p:nvSpPr>
          <p:spPr>
            <a:xfrm>
              <a:off x="1083125" y="2460449"/>
              <a:ext cx="1834800" cy="143400"/>
            </a:xfrm>
            <a:prstGeom prst="parallelogram">
              <a:avLst>
                <a:gd fmla="val 96952" name="adj"/>
              </a:avLst>
            </a:prstGeom>
            <a:solidFill>
              <a:srgbClr val="0942A1"/>
            </a:solidFill>
            <a:ln>
              <a:noFill/>
            </a:ln>
          </p:spPr>
          <p:txBody>
            <a:bodyPr anchorCtr="0" anchor="ctr" bIns="106500" lIns="106500" spcFirstLastPara="1" rIns="106500" wrap="square" tIns="106500">
              <a:noAutofit/>
            </a:bodyPr>
            <a:lstStyle/>
            <a:p>
              <a:pPr indent="0" lvl="0" marL="0" rtl="0" algn="l">
                <a:spcBef>
                  <a:spcPts val="0"/>
                </a:spcBef>
                <a:spcAft>
                  <a:spcPts val="0"/>
                </a:spcAft>
                <a:buNone/>
              </a:pPr>
              <a:r>
                <a:t/>
              </a:r>
              <a:endParaRPr/>
            </a:p>
          </p:txBody>
        </p:sp>
      </p:grpSp>
      <p:grpSp>
        <p:nvGrpSpPr>
          <p:cNvPr id="1581" name="Google Shape;1581;g3e336e0d84f_0_281"/>
          <p:cNvGrpSpPr/>
          <p:nvPr/>
        </p:nvGrpSpPr>
        <p:grpSpPr>
          <a:xfrm>
            <a:off x="3891256" y="5057263"/>
            <a:ext cx="2137659" cy="2058833"/>
            <a:chOff x="1083025" y="1574025"/>
            <a:chExt cx="1834900" cy="1767239"/>
          </a:xfrm>
        </p:grpSpPr>
        <p:sp>
          <p:nvSpPr>
            <p:cNvPr id="1582" name="Google Shape;1582;g3e336e0d84f_0_281"/>
            <p:cNvSpPr txBox="1"/>
            <p:nvPr/>
          </p:nvSpPr>
          <p:spPr>
            <a:xfrm>
              <a:off x="1604274" y="1574025"/>
              <a:ext cx="624300" cy="241200"/>
            </a:xfrm>
            <a:prstGeom prst="rect">
              <a:avLst/>
            </a:prstGeom>
            <a:noFill/>
            <a:ln>
              <a:noFill/>
            </a:ln>
          </p:spPr>
          <p:txBody>
            <a:bodyPr anchorCtr="0" anchor="t" bIns="106500" lIns="106500" spcFirstLastPara="1" rIns="106500" wrap="square" tIns="106500">
              <a:noAutofit/>
            </a:bodyPr>
            <a:lstStyle/>
            <a:p>
              <a:pPr indent="0" lvl="0" marL="0" rtl="0" algn="r">
                <a:lnSpc>
                  <a:spcPct val="115000"/>
                </a:lnSpc>
                <a:spcBef>
                  <a:spcPts val="0"/>
                </a:spcBef>
                <a:spcAft>
                  <a:spcPts val="1835"/>
                </a:spcAft>
                <a:buNone/>
              </a:pPr>
              <a:r>
                <a:rPr b="1" lang="en" sz="1800">
                  <a:solidFill>
                    <a:srgbClr val="858585"/>
                  </a:solidFill>
                  <a:latin typeface="Roboto"/>
                  <a:ea typeface="Roboto"/>
                  <a:cs typeface="Roboto"/>
                  <a:sym typeface="Roboto"/>
                </a:rPr>
                <a:t>3</a:t>
              </a:r>
              <a:endParaRPr b="1" sz="1800">
                <a:solidFill>
                  <a:srgbClr val="858585"/>
                </a:solidFill>
                <a:latin typeface="Roboto"/>
                <a:ea typeface="Roboto"/>
                <a:cs typeface="Roboto"/>
                <a:sym typeface="Roboto"/>
              </a:endParaRPr>
            </a:p>
          </p:txBody>
        </p:sp>
        <p:sp>
          <p:nvSpPr>
            <p:cNvPr id="1583" name="Google Shape;1583;g3e336e0d84f_0_281"/>
            <p:cNvSpPr txBox="1"/>
            <p:nvPr/>
          </p:nvSpPr>
          <p:spPr>
            <a:xfrm>
              <a:off x="1227674" y="2603864"/>
              <a:ext cx="1545600" cy="737400"/>
            </a:xfrm>
            <a:prstGeom prst="rect">
              <a:avLst/>
            </a:prstGeom>
            <a:noFill/>
            <a:ln>
              <a:noFill/>
            </a:ln>
          </p:spPr>
          <p:txBody>
            <a:bodyPr anchorCtr="0" anchor="t" bIns="106500" lIns="106500" spcFirstLastPara="1" rIns="106500" wrap="square" tIns="106500">
              <a:noAutofit/>
            </a:bodyPr>
            <a:lstStyle/>
            <a:p>
              <a:pPr indent="0" lvl="0" marL="0" rtl="0" algn="l">
                <a:lnSpc>
                  <a:spcPct val="115000"/>
                </a:lnSpc>
                <a:spcBef>
                  <a:spcPts val="0"/>
                </a:spcBef>
                <a:spcAft>
                  <a:spcPts val="1835"/>
                </a:spcAft>
                <a:buNone/>
              </a:pPr>
              <a:r>
                <a:rPr b="1" lang="en">
                  <a:solidFill>
                    <a:srgbClr val="858585"/>
                  </a:solidFill>
                  <a:latin typeface="Roboto"/>
                  <a:ea typeface="Roboto"/>
                  <a:cs typeface="Roboto"/>
                  <a:sym typeface="Roboto"/>
                </a:rPr>
                <a:t>Compare models using RMSE and R²</a:t>
              </a:r>
              <a:endParaRPr b="1">
                <a:solidFill>
                  <a:srgbClr val="858585"/>
                </a:solidFill>
                <a:latin typeface="Roboto"/>
                <a:ea typeface="Roboto"/>
                <a:cs typeface="Roboto"/>
                <a:sym typeface="Roboto"/>
              </a:endParaRPr>
            </a:p>
          </p:txBody>
        </p:sp>
        <p:cxnSp>
          <p:nvCxnSpPr>
            <p:cNvPr id="1584" name="Google Shape;1584;g3e336e0d84f_0_281"/>
            <p:cNvCxnSpPr/>
            <p:nvPr/>
          </p:nvCxnSpPr>
          <p:spPr>
            <a:xfrm>
              <a:off x="2180202"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1585" name="Google Shape;1585;g3e336e0d84f_0_281"/>
            <p:cNvSpPr/>
            <p:nvPr/>
          </p:nvSpPr>
          <p:spPr>
            <a:xfrm flipH="1">
              <a:off x="1083025" y="2306625"/>
              <a:ext cx="1834800" cy="143400"/>
            </a:xfrm>
            <a:prstGeom prst="parallelogram">
              <a:avLst>
                <a:gd fmla="val 96952" name="adj"/>
              </a:avLst>
            </a:prstGeom>
            <a:solidFill>
              <a:srgbClr val="C2C2C2"/>
            </a:solidFill>
            <a:ln>
              <a:noFill/>
            </a:ln>
          </p:spPr>
          <p:txBody>
            <a:bodyPr anchorCtr="0" anchor="ctr" bIns="106500" lIns="106500" spcFirstLastPara="1" rIns="106500" wrap="square" tIns="106500">
              <a:noAutofit/>
            </a:bodyPr>
            <a:lstStyle/>
            <a:p>
              <a:pPr indent="0" lvl="0" marL="0" rtl="0" algn="l">
                <a:spcBef>
                  <a:spcPts val="0"/>
                </a:spcBef>
                <a:spcAft>
                  <a:spcPts val="0"/>
                </a:spcAft>
                <a:buNone/>
              </a:pPr>
              <a:r>
                <a:rPr lang="en" sz="1660"/>
                <a:t>  </a:t>
              </a:r>
              <a:endParaRPr sz="1660"/>
            </a:p>
          </p:txBody>
        </p:sp>
        <p:sp>
          <p:nvSpPr>
            <p:cNvPr id="1586" name="Google Shape;1586;g3e336e0d84f_0_281"/>
            <p:cNvSpPr/>
            <p:nvPr/>
          </p:nvSpPr>
          <p:spPr>
            <a:xfrm>
              <a:off x="1083125" y="2460449"/>
              <a:ext cx="1834800" cy="143400"/>
            </a:xfrm>
            <a:prstGeom prst="parallelogram">
              <a:avLst>
                <a:gd fmla="val 96952" name="adj"/>
              </a:avLst>
            </a:prstGeom>
            <a:solidFill>
              <a:srgbClr val="858585"/>
            </a:solidFill>
            <a:ln>
              <a:noFill/>
            </a:ln>
          </p:spPr>
          <p:txBody>
            <a:bodyPr anchorCtr="0" anchor="ctr" bIns="106500" lIns="106500" spcFirstLastPara="1" rIns="106500" wrap="square" tIns="106500">
              <a:noAutofit/>
            </a:bodyPr>
            <a:lstStyle/>
            <a:p>
              <a:pPr indent="0" lvl="0" marL="0" rtl="0" algn="l">
                <a:spcBef>
                  <a:spcPts val="0"/>
                </a:spcBef>
                <a:spcAft>
                  <a:spcPts val="0"/>
                </a:spcAft>
                <a:buNone/>
              </a:pPr>
              <a:r>
                <a:t/>
              </a:r>
              <a:endParaRPr/>
            </a:p>
          </p:txBody>
        </p:sp>
      </p:grpSp>
      <p:grpSp>
        <p:nvGrpSpPr>
          <p:cNvPr id="1587" name="Google Shape;1587;g3e336e0d84f_0_281"/>
          <p:cNvGrpSpPr/>
          <p:nvPr/>
        </p:nvGrpSpPr>
        <p:grpSpPr>
          <a:xfrm>
            <a:off x="5866191" y="5051196"/>
            <a:ext cx="2137659" cy="1830211"/>
            <a:chOff x="1083025" y="1574025"/>
            <a:chExt cx="1834900" cy="1570997"/>
          </a:xfrm>
        </p:grpSpPr>
        <p:sp>
          <p:nvSpPr>
            <p:cNvPr id="1588" name="Google Shape;1588;g3e336e0d84f_0_281"/>
            <p:cNvSpPr txBox="1"/>
            <p:nvPr/>
          </p:nvSpPr>
          <p:spPr>
            <a:xfrm>
              <a:off x="1604274" y="1574025"/>
              <a:ext cx="624300" cy="241200"/>
            </a:xfrm>
            <a:prstGeom prst="rect">
              <a:avLst/>
            </a:prstGeom>
            <a:noFill/>
            <a:ln>
              <a:noFill/>
            </a:ln>
          </p:spPr>
          <p:txBody>
            <a:bodyPr anchorCtr="0" anchor="t" bIns="106525" lIns="106525" spcFirstLastPara="1" rIns="106525" wrap="square" tIns="106525">
              <a:noAutofit/>
            </a:bodyPr>
            <a:lstStyle/>
            <a:p>
              <a:pPr indent="0" lvl="0" marL="0" rtl="0" algn="r">
                <a:lnSpc>
                  <a:spcPct val="115000"/>
                </a:lnSpc>
                <a:spcBef>
                  <a:spcPts val="0"/>
                </a:spcBef>
                <a:spcAft>
                  <a:spcPts val="1835"/>
                </a:spcAft>
                <a:buNone/>
              </a:pPr>
              <a:r>
                <a:rPr b="1" lang="en" sz="1800">
                  <a:solidFill>
                    <a:srgbClr val="858585"/>
                  </a:solidFill>
                  <a:latin typeface="Roboto"/>
                  <a:ea typeface="Roboto"/>
                  <a:cs typeface="Roboto"/>
                  <a:sym typeface="Roboto"/>
                </a:rPr>
                <a:t>4</a:t>
              </a:r>
              <a:endParaRPr b="1" sz="1800">
                <a:solidFill>
                  <a:srgbClr val="858585"/>
                </a:solidFill>
                <a:latin typeface="Roboto"/>
                <a:ea typeface="Roboto"/>
                <a:cs typeface="Roboto"/>
                <a:sym typeface="Roboto"/>
              </a:endParaRPr>
            </a:p>
          </p:txBody>
        </p:sp>
        <p:sp>
          <p:nvSpPr>
            <p:cNvPr id="1589" name="Google Shape;1589;g3e336e0d84f_0_281"/>
            <p:cNvSpPr txBox="1"/>
            <p:nvPr/>
          </p:nvSpPr>
          <p:spPr>
            <a:xfrm>
              <a:off x="1223118" y="2557021"/>
              <a:ext cx="1386600" cy="588000"/>
            </a:xfrm>
            <a:prstGeom prst="rect">
              <a:avLst/>
            </a:prstGeom>
            <a:noFill/>
            <a:ln>
              <a:noFill/>
            </a:ln>
          </p:spPr>
          <p:txBody>
            <a:bodyPr anchorCtr="0" anchor="t" bIns="106525" lIns="106525" spcFirstLastPara="1" rIns="106525" wrap="square" tIns="106525">
              <a:noAutofit/>
            </a:bodyPr>
            <a:lstStyle/>
            <a:p>
              <a:pPr indent="0" lvl="0" marL="0" rtl="0" algn="l">
                <a:lnSpc>
                  <a:spcPct val="115000"/>
                </a:lnSpc>
                <a:spcBef>
                  <a:spcPts val="0"/>
                </a:spcBef>
                <a:spcAft>
                  <a:spcPts val="1835"/>
                </a:spcAft>
                <a:buNone/>
              </a:pPr>
              <a:r>
                <a:rPr b="1" lang="en" sz="1200">
                  <a:solidFill>
                    <a:srgbClr val="858585"/>
                  </a:solidFill>
                  <a:latin typeface="Roboto"/>
                  <a:ea typeface="Roboto"/>
                  <a:cs typeface="Roboto"/>
                  <a:sym typeface="Roboto"/>
                </a:rPr>
                <a:t>Basic feature selection and parameter tuning</a:t>
              </a:r>
              <a:endParaRPr b="1" sz="1200">
                <a:solidFill>
                  <a:srgbClr val="858585"/>
                </a:solidFill>
                <a:latin typeface="Roboto"/>
                <a:ea typeface="Roboto"/>
                <a:cs typeface="Roboto"/>
                <a:sym typeface="Roboto"/>
              </a:endParaRPr>
            </a:p>
          </p:txBody>
        </p:sp>
        <p:cxnSp>
          <p:nvCxnSpPr>
            <p:cNvPr id="1590" name="Google Shape;1590;g3e336e0d84f_0_281"/>
            <p:cNvCxnSpPr/>
            <p:nvPr/>
          </p:nvCxnSpPr>
          <p:spPr>
            <a:xfrm>
              <a:off x="2180202"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1591" name="Google Shape;1591;g3e336e0d84f_0_281"/>
            <p:cNvSpPr/>
            <p:nvPr/>
          </p:nvSpPr>
          <p:spPr>
            <a:xfrm flipH="1">
              <a:off x="1083025" y="2306625"/>
              <a:ext cx="1834800" cy="143400"/>
            </a:xfrm>
            <a:prstGeom prst="parallelogram">
              <a:avLst>
                <a:gd fmla="val 96952" name="adj"/>
              </a:avLst>
            </a:prstGeom>
            <a:solidFill>
              <a:srgbClr val="C2C2C2"/>
            </a:solidFill>
            <a:ln>
              <a:noFill/>
            </a:ln>
          </p:spPr>
          <p:txBody>
            <a:bodyPr anchorCtr="0" anchor="ctr" bIns="106525" lIns="106525" spcFirstLastPara="1" rIns="106525" wrap="square" tIns="106525">
              <a:noAutofit/>
            </a:bodyPr>
            <a:lstStyle/>
            <a:p>
              <a:pPr indent="0" lvl="0" marL="0" rtl="0" algn="l">
                <a:spcBef>
                  <a:spcPts val="0"/>
                </a:spcBef>
                <a:spcAft>
                  <a:spcPts val="0"/>
                </a:spcAft>
                <a:buNone/>
              </a:pPr>
              <a:r>
                <a:rPr lang="en" sz="1660"/>
                <a:t>  </a:t>
              </a:r>
              <a:endParaRPr sz="1660"/>
            </a:p>
          </p:txBody>
        </p:sp>
        <p:sp>
          <p:nvSpPr>
            <p:cNvPr id="1592" name="Google Shape;1592;g3e336e0d84f_0_281"/>
            <p:cNvSpPr/>
            <p:nvPr/>
          </p:nvSpPr>
          <p:spPr>
            <a:xfrm>
              <a:off x="1083125" y="2460449"/>
              <a:ext cx="1834800" cy="143400"/>
            </a:xfrm>
            <a:prstGeom prst="parallelogram">
              <a:avLst>
                <a:gd fmla="val 96952" name="adj"/>
              </a:avLst>
            </a:prstGeom>
            <a:solidFill>
              <a:srgbClr val="858585"/>
            </a:solidFill>
            <a:ln>
              <a:noFill/>
            </a:ln>
          </p:spPr>
          <p:txBody>
            <a:bodyPr anchorCtr="0" anchor="ctr" bIns="106525" lIns="106525" spcFirstLastPara="1" rIns="106525" wrap="square" tIns="106525">
              <a:noAutofit/>
            </a:bodyPr>
            <a:lstStyle/>
            <a:p>
              <a:pPr indent="0" lvl="0" marL="0" rtl="0" algn="l">
                <a:spcBef>
                  <a:spcPts val="0"/>
                </a:spcBef>
                <a:spcAft>
                  <a:spcPts val="0"/>
                </a:spcAft>
                <a:buNone/>
              </a:pPr>
              <a:r>
                <a:t/>
              </a:r>
              <a:endParaRPr/>
            </a:p>
          </p:txBody>
        </p:sp>
      </p:grpSp>
      <p:grpSp>
        <p:nvGrpSpPr>
          <p:cNvPr id="1593" name="Google Shape;1593;g3e336e0d84f_0_281"/>
          <p:cNvGrpSpPr/>
          <p:nvPr/>
        </p:nvGrpSpPr>
        <p:grpSpPr>
          <a:xfrm>
            <a:off x="7866797" y="5051193"/>
            <a:ext cx="2137659" cy="1990658"/>
            <a:chOff x="1083025" y="1574025"/>
            <a:chExt cx="1834900" cy="1708719"/>
          </a:xfrm>
        </p:grpSpPr>
        <p:sp>
          <p:nvSpPr>
            <p:cNvPr id="1594" name="Google Shape;1594;g3e336e0d84f_0_281"/>
            <p:cNvSpPr txBox="1"/>
            <p:nvPr/>
          </p:nvSpPr>
          <p:spPr>
            <a:xfrm>
              <a:off x="1604274" y="1574025"/>
              <a:ext cx="624300" cy="241200"/>
            </a:xfrm>
            <a:prstGeom prst="rect">
              <a:avLst/>
            </a:prstGeom>
            <a:noFill/>
            <a:ln>
              <a:noFill/>
            </a:ln>
          </p:spPr>
          <p:txBody>
            <a:bodyPr anchorCtr="0" anchor="t" bIns="106500" lIns="106500" spcFirstLastPara="1" rIns="106500" wrap="square" tIns="106500">
              <a:noAutofit/>
            </a:bodyPr>
            <a:lstStyle/>
            <a:p>
              <a:pPr indent="0" lvl="0" marL="0" rtl="0" algn="r">
                <a:lnSpc>
                  <a:spcPct val="115000"/>
                </a:lnSpc>
                <a:spcBef>
                  <a:spcPts val="0"/>
                </a:spcBef>
                <a:spcAft>
                  <a:spcPts val="1835"/>
                </a:spcAft>
                <a:buNone/>
              </a:pPr>
              <a:r>
                <a:rPr b="1" lang="en" sz="1800">
                  <a:solidFill>
                    <a:srgbClr val="0C57D3"/>
                  </a:solidFill>
                  <a:latin typeface="Roboto"/>
                  <a:ea typeface="Roboto"/>
                  <a:cs typeface="Roboto"/>
                  <a:sym typeface="Roboto"/>
                </a:rPr>
                <a:t>5</a:t>
              </a:r>
              <a:endParaRPr b="1" sz="1800">
                <a:solidFill>
                  <a:srgbClr val="0C57D3"/>
                </a:solidFill>
                <a:latin typeface="Roboto"/>
                <a:ea typeface="Roboto"/>
                <a:cs typeface="Roboto"/>
                <a:sym typeface="Roboto"/>
              </a:endParaRPr>
            </a:p>
          </p:txBody>
        </p:sp>
        <p:sp>
          <p:nvSpPr>
            <p:cNvPr id="1595" name="Google Shape;1595;g3e336e0d84f_0_281"/>
            <p:cNvSpPr txBox="1"/>
            <p:nvPr/>
          </p:nvSpPr>
          <p:spPr>
            <a:xfrm>
              <a:off x="1143618" y="2545344"/>
              <a:ext cx="1545600" cy="737400"/>
            </a:xfrm>
            <a:prstGeom prst="rect">
              <a:avLst/>
            </a:prstGeom>
            <a:noFill/>
            <a:ln>
              <a:noFill/>
            </a:ln>
          </p:spPr>
          <p:txBody>
            <a:bodyPr anchorCtr="0" anchor="t" bIns="106500" lIns="106500" spcFirstLastPara="1" rIns="106500" wrap="square" tIns="106500">
              <a:noAutofit/>
            </a:bodyPr>
            <a:lstStyle/>
            <a:p>
              <a:pPr indent="0" lvl="0" marL="0" rtl="0" algn="l">
                <a:lnSpc>
                  <a:spcPct val="115000"/>
                </a:lnSpc>
                <a:spcBef>
                  <a:spcPts val="0"/>
                </a:spcBef>
                <a:spcAft>
                  <a:spcPts val="1835"/>
                </a:spcAft>
                <a:buNone/>
              </a:pPr>
              <a:r>
                <a:rPr b="1" lang="en" sz="1200">
                  <a:solidFill>
                    <a:srgbClr val="0C57D3"/>
                  </a:solidFill>
                  <a:latin typeface="Roboto"/>
                  <a:ea typeface="Roboto"/>
                  <a:cs typeface="Roboto"/>
                  <a:sym typeface="Roboto"/>
                </a:rPr>
                <a:t>Results documented using tables and charts</a:t>
              </a:r>
              <a:endParaRPr b="1" sz="1200">
                <a:solidFill>
                  <a:srgbClr val="0C57D3"/>
                </a:solidFill>
                <a:latin typeface="Roboto"/>
                <a:ea typeface="Roboto"/>
                <a:cs typeface="Roboto"/>
                <a:sym typeface="Roboto"/>
              </a:endParaRPr>
            </a:p>
          </p:txBody>
        </p:sp>
        <p:cxnSp>
          <p:nvCxnSpPr>
            <p:cNvPr id="1596" name="Google Shape;1596;g3e336e0d84f_0_281"/>
            <p:cNvCxnSpPr/>
            <p:nvPr/>
          </p:nvCxnSpPr>
          <p:spPr>
            <a:xfrm>
              <a:off x="2180202" y="1695421"/>
              <a:ext cx="718500" cy="741900"/>
            </a:xfrm>
            <a:prstGeom prst="straightConnector1">
              <a:avLst/>
            </a:prstGeom>
            <a:noFill/>
            <a:ln cap="flat" cmpd="sng" w="9525">
              <a:solidFill>
                <a:srgbClr val="0D5CDF"/>
              </a:solidFill>
              <a:prstDash val="solid"/>
              <a:round/>
              <a:headEnd len="sm" w="sm" type="none"/>
              <a:tailEnd len="sm" w="sm" type="none"/>
            </a:ln>
          </p:spPr>
        </p:cxnSp>
        <p:sp>
          <p:nvSpPr>
            <p:cNvPr id="1597" name="Google Shape;1597;g3e336e0d84f_0_281"/>
            <p:cNvSpPr/>
            <p:nvPr/>
          </p:nvSpPr>
          <p:spPr>
            <a:xfrm flipH="1">
              <a:off x="1083025" y="2306625"/>
              <a:ext cx="1834800" cy="143400"/>
            </a:xfrm>
            <a:prstGeom prst="parallelogram">
              <a:avLst>
                <a:gd fmla="val 96952" name="adj"/>
              </a:avLst>
            </a:prstGeom>
            <a:solidFill>
              <a:srgbClr val="0D5CDF"/>
            </a:solidFill>
            <a:ln>
              <a:noFill/>
            </a:ln>
          </p:spPr>
          <p:txBody>
            <a:bodyPr anchorCtr="0" anchor="ctr" bIns="106500" lIns="106500" spcFirstLastPara="1" rIns="106500" wrap="square" tIns="106500">
              <a:noAutofit/>
            </a:bodyPr>
            <a:lstStyle/>
            <a:p>
              <a:pPr indent="0" lvl="0" marL="0" rtl="0" algn="l">
                <a:spcBef>
                  <a:spcPts val="0"/>
                </a:spcBef>
                <a:spcAft>
                  <a:spcPts val="0"/>
                </a:spcAft>
                <a:buNone/>
              </a:pPr>
              <a:r>
                <a:rPr lang="en" sz="1660"/>
                <a:t>  </a:t>
              </a:r>
              <a:endParaRPr sz="1660"/>
            </a:p>
          </p:txBody>
        </p:sp>
        <p:sp>
          <p:nvSpPr>
            <p:cNvPr id="1598" name="Google Shape;1598;g3e336e0d84f_0_281"/>
            <p:cNvSpPr/>
            <p:nvPr/>
          </p:nvSpPr>
          <p:spPr>
            <a:xfrm>
              <a:off x="1083125" y="2460449"/>
              <a:ext cx="1834800" cy="143400"/>
            </a:xfrm>
            <a:prstGeom prst="parallelogram">
              <a:avLst>
                <a:gd fmla="val 96952" name="adj"/>
              </a:avLst>
            </a:prstGeom>
            <a:solidFill>
              <a:srgbClr val="0942A1"/>
            </a:solidFill>
            <a:ln>
              <a:noFill/>
            </a:ln>
          </p:spPr>
          <p:txBody>
            <a:bodyPr anchorCtr="0" anchor="ctr" bIns="106500" lIns="106500" spcFirstLastPara="1" rIns="106500" wrap="square" tIns="106500">
              <a:noAutofit/>
            </a:bodyPr>
            <a:lstStyle/>
            <a:p>
              <a:pPr indent="0" lvl="0" marL="0" rtl="0" algn="l">
                <a:spcBef>
                  <a:spcPts val="0"/>
                </a:spcBef>
                <a:spcAft>
                  <a:spcPts val="0"/>
                </a:spcAft>
                <a:buNone/>
              </a:pPr>
              <a:r>
                <a:t/>
              </a:r>
              <a:endParaRPr/>
            </a:p>
          </p:txBody>
        </p:sp>
      </p:grpSp>
      <p:sp>
        <p:nvSpPr>
          <p:cNvPr id="1599" name="Google Shape;1599;g3e336e0d84f_0_281"/>
          <p:cNvSpPr txBox="1"/>
          <p:nvPr/>
        </p:nvSpPr>
        <p:spPr>
          <a:xfrm>
            <a:off x="0" y="4339550"/>
            <a:ext cx="5160900" cy="5100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3600">
                <a:solidFill>
                  <a:schemeClr val="dk1"/>
                </a:solidFill>
                <a:latin typeface="Play"/>
                <a:ea typeface="Play"/>
                <a:cs typeface="Play"/>
                <a:sym typeface="Play"/>
              </a:rPr>
              <a:t>Experimental Plan</a:t>
            </a:r>
            <a:endParaRPr sz="3600">
              <a:solidFill>
                <a:schemeClr val="dk1"/>
              </a:solidFill>
              <a:latin typeface="Play"/>
              <a:ea typeface="Play"/>
              <a:cs typeface="Play"/>
              <a:sym typeface="Play"/>
            </a:endParaRPr>
          </a:p>
          <a:p>
            <a:pPr indent="0" lvl="0" marL="0" rtl="0" algn="l">
              <a:spcBef>
                <a:spcPts val="0"/>
              </a:spcBef>
              <a:spcAft>
                <a:spcPts val="0"/>
              </a:spcAft>
              <a:buNone/>
            </a:pPr>
            <a:r>
              <a:t/>
            </a:r>
            <a:endParaRPr sz="2800">
              <a:solidFill>
                <a:schemeClr val="dk1"/>
              </a:solidFill>
            </a:endParaRPr>
          </a:p>
        </p:txBody>
      </p:sp>
      <p:sp>
        <p:nvSpPr>
          <p:cNvPr id="1600" name="Google Shape;1600;g3e336e0d84f_0_281"/>
          <p:cNvSpPr txBox="1"/>
          <p:nvPr/>
        </p:nvSpPr>
        <p:spPr>
          <a:xfrm>
            <a:off x="10345800" y="5849725"/>
            <a:ext cx="1909200" cy="6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rPr>
              <a:t>By </a:t>
            </a:r>
            <a:r>
              <a:rPr lang="en" sz="2800">
                <a:solidFill>
                  <a:schemeClr val="dk1"/>
                </a:solidFill>
              </a:rPr>
              <a:t>Chinelo</a:t>
            </a:r>
            <a:endParaRPr sz="2800">
              <a:solidFill>
                <a:schemeClr val="dk1"/>
              </a:solidFill>
            </a:endParaRPr>
          </a:p>
        </p:txBody>
      </p:sp>
      <p:pic>
        <p:nvPicPr>
          <p:cNvPr id="1601" name="Google Shape;1601;g3e336e0d84f_0_281"/>
          <p:cNvPicPr preferRelativeResize="0"/>
          <p:nvPr/>
        </p:nvPicPr>
        <p:blipFill>
          <a:blip r:embed="rId3">
            <a:alphaModFix/>
          </a:blip>
          <a:stretch>
            <a:fillRect/>
          </a:stretch>
        </p:blipFill>
        <p:spPr>
          <a:xfrm>
            <a:off x="6532925" y="241350"/>
            <a:ext cx="5285048" cy="5430099"/>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1605" name="Shape 1605"/>
        <p:cNvGrpSpPr/>
        <p:nvPr/>
      </p:nvGrpSpPr>
      <p:grpSpPr>
        <a:xfrm>
          <a:off x="0" y="0"/>
          <a:ext cx="0" cy="0"/>
          <a:chOff x="0" y="0"/>
          <a:chExt cx="0" cy="0"/>
        </a:xfrm>
      </p:grpSpPr>
      <p:sp>
        <p:nvSpPr>
          <p:cNvPr id="1606" name="Google Shape;1606;g3ee0adc8e96_2_75"/>
          <p:cNvSpPr/>
          <p:nvPr/>
        </p:nvSpPr>
        <p:spPr>
          <a:xfrm>
            <a:off x="6868026" y="3060925"/>
            <a:ext cx="5320569" cy="3798577"/>
          </a:xfrm>
          <a:custGeom>
            <a:rect b="b" l="l" r="r" t="t"/>
            <a:pathLst>
              <a:path extrusionOk="0" h="8536129" w="8411967">
                <a:moveTo>
                  <a:pt x="0" y="0"/>
                </a:moveTo>
                <a:lnTo>
                  <a:pt x="8411967" y="0"/>
                </a:lnTo>
                <a:lnTo>
                  <a:pt x="8411967" y="8536129"/>
                </a:lnTo>
                <a:lnTo>
                  <a:pt x="0" y="8536129"/>
                </a:lnTo>
                <a:lnTo>
                  <a:pt x="0" y="0"/>
                </a:lnTo>
                <a:close/>
              </a:path>
            </a:pathLst>
          </a:custGeom>
          <a:blipFill rotWithShape="1">
            <a:blip r:embed="rId3">
              <a:alphaModFix/>
            </a:blip>
            <a:stretch>
              <a:fillRect b="0" l="0" r="0" t="0"/>
            </a:stretch>
          </a:blipFill>
          <a:ln>
            <a:noFill/>
          </a:ln>
        </p:spPr>
      </p:sp>
      <p:sp>
        <p:nvSpPr>
          <p:cNvPr id="1607" name="Google Shape;1607;g3ee0adc8e96_2_75"/>
          <p:cNvSpPr/>
          <p:nvPr/>
        </p:nvSpPr>
        <p:spPr>
          <a:xfrm>
            <a:off x="9014775" y="0"/>
            <a:ext cx="3177225" cy="3625465"/>
          </a:xfrm>
          <a:custGeom>
            <a:rect b="b" l="l" r="r" t="t"/>
            <a:pathLst>
              <a:path extrusionOk="0" h="5438197" w="4765838">
                <a:moveTo>
                  <a:pt x="0" y="0"/>
                </a:moveTo>
                <a:lnTo>
                  <a:pt x="4765838" y="0"/>
                </a:lnTo>
                <a:lnTo>
                  <a:pt x="4765838" y="5438197"/>
                </a:lnTo>
                <a:lnTo>
                  <a:pt x="0" y="5438197"/>
                </a:lnTo>
                <a:lnTo>
                  <a:pt x="0" y="0"/>
                </a:lnTo>
                <a:close/>
              </a:path>
            </a:pathLst>
          </a:custGeom>
          <a:blipFill rotWithShape="1">
            <a:blip r:embed="rId4">
              <a:alphaModFix/>
            </a:blip>
            <a:stretch>
              <a:fillRect b="0" l="0" r="0" t="0"/>
            </a:stretch>
          </a:blipFill>
          <a:ln>
            <a:noFill/>
          </a:ln>
        </p:spPr>
      </p:sp>
      <p:sp>
        <p:nvSpPr>
          <p:cNvPr id="1608" name="Google Shape;1608;g3ee0adc8e96_2_75"/>
          <p:cNvSpPr/>
          <p:nvPr/>
        </p:nvSpPr>
        <p:spPr>
          <a:xfrm>
            <a:off x="147250" y="2930850"/>
            <a:ext cx="5572928" cy="3926619"/>
          </a:xfrm>
          <a:custGeom>
            <a:rect b="b" l="l" r="r" t="t"/>
            <a:pathLst>
              <a:path extrusionOk="0" h="8536129" w="8411967">
                <a:moveTo>
                  <a:pt x="0" y="0"/>
                </a:moveTo>
                <a:lnTo>
                  <a:pt x="8411967" y="0"/>
                </a:lnTo>
                <a:lnTo>
                  <a:pt x="8411967" y="8536129"/>
                </a:lnTo>
                <a:lnTo>
                  <a:pt x="0" y="8536129"/>
                </a:lnTo>
                <a:lnTo>
                  <a:pt x="0" y="0"/>
                </a:lnTo>
                <a:close/>
              </a:path>
            </a:pathLst>
          </a:custGeom>
          <a:blipFill rotWithShape="1">
            <a:blip r:embed="rId3">
              <a:alphaModFix/>
            </a:blip>
            <a:stretch>
              <a:fillRect b="0" l="0" r="0" t="0"/>
            </a:stretch>
          </a:blipFill>
          <a:ln>
            <a:noFill/>
          </a:ln>
        </p:spPr>
      </p:sp>
      <p:sp>
        <p:nvSpPr>
          <p:cNvPr id="1609" name="Google Shape;1609;g3ee0adc8e96_2_75"/>
          <p:cNvSpPr txBox="1"/>
          <p:nvPr/>
        </p:nvSpPr>
        <p:spPr>
          <a:xfrm>
            <a:off x="311765" y="222299"/>
            <a:ext cx="5443500" cy="569400"/>
          </a:xfrm>
          <a:prstGeom prst="rect">
            <a:avLst/>
          </a:prstGeom>
          <a:noFill/>
          <a:ln>
            <a:noFill/>
          </a:ln>
        </p:spPr>
        <p:txBody>
          <a:bodyPr anchorCtr="0" anchor="t" bIns="0" lIns="0" spcFirstLastPara="1" rIns="0" wrap="square" tIns="0">
            <a:spAutoFit/>
          </a:bodyPr>
          <a:lstStyle/>
          <a:p>
            <a:pPr indent="0" lvl="0" marL="0" marR="0" rtl="0" algn="ctr">
              <a:lnSpc>
                <a:spcPct val="104985"/>
              </a:lnSpc>
              <a:spcBef>
                <a:spcPts val="0"/>
              </a:spcBef>
              <a:spcAft>
                <a:spcPts val="0"/>
              </a:spcAft>
              <a:buNone/>
            </a:pPr>
            <a:r>
              <a:rPr b="1" i="0" lang="en" sz="3700" u="none" cap="none" strike="noStrike">
                <a:solidFill>
                  <a:srgbClr val="FEFEFE"/>
                </a:solidFill>
                <a:latin typeface="Montserrat"/>
                <a:ea typeface="Montserrat"/>
                <a:cs typeface="Montserrat"/>
                <a:sym typeface="Montserrat"/>
              </a:rPr>
              <a:t>MODEL DESCRIPTION</a:t>
            </a:r>
            <a:r>
              <a:rPr b="1" i="0" lang="en" sz="3700" u="none" cap="none" strike="noStrike">
                <a:solidFill>
                  <a:srgbClr val="000000"/>
                </a:solidFill>
                <a:latin typeface="Montserrat"/>
                <a:ea typeface="Montserrat"/>
                <a:cs typeface="Montserrat"/>
                <a:sym typeface="Montserrat"/>
              </a:rPr>
              <a:t> </a:t>
            </a:r>
            <a:endParaRPr sz="900"/>
          </a:p>
        </p:txBody>
      </p:sp>
      <p:sp>
        <p:nvSpPr>
          <p:cNvPr id="1610" name="Google Shape;1610;g3ee0adc8e96_2_75"/>
          <p:cNvSpPr txBox="1"/>
          <p:nvPr/>
        </p:nvSpPr>
        <p:spPr>
          <a:xfrm>
            <a:off x="2390850" y="733550"/>
            <a:ext cx="9698700" cy="446400"/>
          </a:xfrm>
          <a:prstGeom prst="rect">
            <a:avLst/>
          </a:prstGeom>
          <a:noFill/>
          <a:ln>
            <a:noFill/>
          </a:ln>
        </p:spPr>
        <p:txBody>
          <a:bodyPr anchorCtr="0" anchor="t" bIns="0" lIns="0" spcFirstLastPara="1" rIns="0" wrap="square" tIns="0">
            <a:spAutoFit/>
          </a:bodyPr>
          <a:lstStyle/>
          <a:p>
            <a:pPr indent="0" lvl="0" marL="0" marR="0" rtl="0" algn="ctr">
              <a:lnSpc>
                <a:spcPct val="105004"/>
              </a:lnSpc>
              <a:spcBef>
                <a:spcPts val="0"/>
              </a:spcBef>
              <a:spcAft>
                <a:spcPts val="0"/>
              </a:spcAft>
              <a:buNone/>
            </a:pPr>
            <a:r>
              <a:rPr b="1" i="0" lang="en" sz="2900" u="none" cap="none" strike="noStrike">
                <a:solidFill>
                  <a:srgbClr val="000000"/>
                </a:solidFill>
                <a:latin typeface="Montserrat"/>
                <a:ea typeface="Montserrat"/>
                <a:cs typeface="Montserrat"/>
                <a:sym typeface="Montserrat"/>
              </a:rPr>
              <a:t>Linear Regression: Theory &amp; Parameters</a:t>
            </a:r>
            <a:endParaRPr sz="900"/>
          </a:p>
        </p:txBody>
      </p:sp>
      <p:sp>
        <p:nvSpPr>
          <p:cNvPr id="1611" name="Google Shape;1611;g3ee0adc8e96_2_75"/>
          <p:cNvSpPr txBox="1"/>
          <p:nvPr/>
        </p:nvSpPr>
        <p:spPr>
          <a:xfrm>
            <a:off x="147250" y="1169318"/>
            <a:ext cx="10820400" cy="1383900"/>
          </a:xfrm>
          <a:prstGeom prst="rect">
            <a:avLst/>
          </a:prstGeom>
          <a:noFill/>
          <a:ln>
            <a:noFill/>
          </a:ln>
        </p:spPr>
        <p:txBody>
          <a:bodyPr anchorCtr="0" anchor="t" bIns="0" lIns="0" spcFirstLastPara="1" rIns="0" wrap="square" tIns="0">
            <a:spAutoFit/>
          </a:bodyPr>
          <a:lstStyle/>
          <a:p>
            <a:pPr indent="0" lvl="0" marL="0" marR="0" rtl="0" algn="ctr">
              <a:lnSpc>
                <a:spcPct val="105004"/>
              </a:lnSpc>
              <a:spcBef>
                <a:spcPts val="0"/>
              </a:spcBef>
              <a:spcAft>
                <a:spcPts val="0"/>
              </a:spcAft>
              <a:buNone/>
            </a:pPr>
            <a:r>
              <a:rPr b="1" i="0" lang="en" sz="2900" u="none" cap="none" strike="noStrike">
                <a:solidFill>
                  <a:srgbClr val="FFFFFF"/>
                </a:solidFill>
                <a:latin typeface="Montserrat"/>
                <a:ea typeface="Montserrat"/>
                <a:cs typeface="Montserrat"/>
                <a:sym typeface="Montserrat"/>
              </a:rPr>
              <a:t>Linear Regression models the relationship between features and a continuous target as a weighted sum:</a:t>
            </a:r>
            <a:endParaRPr sz="900"/>
          </a:p>
          <a:p>
            <a:pPr indent="0" lvl="0" marL="0" marR="0" rtl="0" algn="ctr">
              <a:lnSpc>
                <a:spcPct val="105004"/>
              </a:lnSpc>
              <a:spcBef>
                <a:spcPts val="0"/>
              </a:spcBef>
              <a:spcAft>
                <a:spcPts val="0"/>
              </a:spcAft>
              <a:buNone/>
            </a:pPr>
            <a:r>
              <a:rPr b="1" i="0" lang="en" sz="2900" u="none" cap="none" strike="noStrike">
                <a:solidFill>
                  <a:srgbClr val="FFFFFF"/>
                </a:solidFill>
                <a:latin typeface="Montserrat"/>
                <a:ea typeface="Montserrat"/>
                <a:cs typeface="Montserrat"/>
                <a:sym typeface="Montserrat"/>
              </a:rPr>
              <a:t>price = β₀ + β₁·diameter + β₂·quantity + ... + βₙ·feature_n</a:t>
            </a:r>
            <a:endParaRPr b="1" i="0" sz="2900" u="none" cap="none" strike="noStrike">
              <a:solidFill>
                <a:srgbClr val="FFFFFF"/>
              </a:solidFill>
              <a:latin typeface="Montserrat"/>
              <a:ea typeface="Montserrat"/>
              <a:cs typeface="Montserrat"/>
              <a:sym typeface="Montserrat"/>
            </a:endParaRPr>
          </a:p>
        </p:txBody>
      </p:sp>
      <p:sp>
        <p:nvSpPr>
          <p:cNvPr id="1612" name="Google Shape;1612;g3ee0adc8e96_2_75"/>
          <p:cNvSpPr txBox="1"/>
          <p:nvPr/>
        </p:nvSpPr>
        <p:spPr>
          <a:xfrm>
            <a:off x="6686473" y="3121775"/>
            <a:ext cx="5403000" cy="3495600"/>
          </a:xfrm>
          <a:prstGeom prst="rect">
            <a:avLst/>
          </a:prstGeom>
          <a:noFill/>
          <a:ln>
            <a:noFill/>
          </a:ln>
        </p:spPr>
        <p:txBody>
          <a:bodyPr anchorCtr="0" anchor="t" bIns="0" lIns="0" spcFirstLastPara="1" rIns="0" wrap="square" tIns="0">
            <a:spAutoFit/>
          </a:bodyPr>
          <a:lstStyle/>
          <a:p>
            <a:pPr indent="0" lvl="0" marL="0" marR="0" rtl="0" algn="ctr">
              <a:lnSpc>
                <a:spcPct val="153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ctr">
              <a:lnSpc>
                <a:spcPct val="104994"/>
              </a:lnSpc>
              <a:spcBef>
                <a:spcPts val="0"/>
              </a:spcBef>
              <a:spcAft>
                <a:spcPts val="0"/>
              </a:spcAft>
              <a:buNone/>
            </a:pPr>
            <a:r>
              <a:rPr b="1" i="0" lang="en" sz="1700" u="none" cap="none" strike="noStrike">
                <a:solidFill>
                  <a:srgbClr val="000000"/>
                </a:solidFill>
                <a:latin typeface="Montserrat"/>
                <a:ea typeface="Montserrat"/>
                <a:cs typeface="Montserrat"/>
                <a:sym typeface="Montserrat"/>
              </a:rPr>
              <a:t>Hyperparameters (set before training):</a:t>
            </a:r>
            <a:endParaRPr sz="900"/>
          </a:p>
          <a:p>
            <a:pPr indent="0" lvl="0" marL="0" marR="0" rtl="0" algn="ctr">
              <a:lnSpc>
                <a:spcPct val="104994"/>
              </a:lnSpc>
              <a:spcBef>
                <a:spcPts val="0"/>
              </a:spcBef>
              <a:spcAft>
                <a:spcPts val="0"/>
              </a:spcAft>
              <a:buNone/>
            </a:pPr>
            <a:r>
              <a:t/>
            </a:r>
            <a:endParaRPr b="1" i="0" sz="1700" u="none" cap="none" strike="noStrike">
              <a:solidFill>
                <a:srgbClr val="000000"/>
              </a:solidFill>
              <a:latin typeface="Montserrat"/>
              <a:ea typeface="Montserrat"/>
              <a:cs typeface="Montserrat"/>
              <a:sym typeface="Montserrat"/>
            </a:endParaRPr>
          </a:p>
          <a:p>
            <a:pPr indent="-184150" lvl="1" marL="381000" marR="0" rtl="0" algn="l">
              <a:lnSpc>
                <a:spcPct val="104994"/>
              </a:lnSpc>
              <a:spcBef>
                <a:spcPts val="0"/>
              </a:spcBef>
              <a:spcAft>
                <a:spcPts val="0"/>
              </a:spcAft>
              <a:buClr>
                <a:srgbClr val="000000"/>
              </a:buClr>
              <a:buSzPts val="1700"/>
              <a:buFont typeface="Arial"/>
              <a:buChar char="•"/>
            </a:pPr>
            <a:r>
              <a:rPr b="1" i="0" lang="en" sz="1700" u="none" cap="none" strike="noStrike">
                <a:solidFill>
                  <a:srgbClr val="000000"/>
                </a:solidFill>
                <a:latin typeface="Montserrat"/>
                <a:ea typeface="Montserrat"/>
                <a:cs typeface="Montserrat"/>
                <a:sym typeface="Montserrat"/>
              </a:rPr>
              <a:t>Ridge α (L2): penalises large coefficients  keeps all features but shrinks them</a:t>
            </a:r>
            <a:endParaRPr sz="900"/>
          </a:p>
          <a:p>
            <a:pPr indent="0" lvl="0" marL="0" marR="0" rtl="0" algn="l">
              <a:lnSpc>
                <a:spcPct val="104994"/>
              </a:lnSpc>
              <a:spcBef>
                <a:spcPts val="0"/>
              </a:spcBef>
              <a:spcAft>
                <a:spcPts val="0"/>
              </a:spcAft>
              <a:buNone/>
            </a:pPr>
            <a:r>
              <a:t/>
            </a:r>
            <a:endParaRPr b="1" i="0" sz="1700" u="none" cap="none" strike="noStrike">
              <a:solidFill>
                <a:srgbClr val="000000"/>
              </a:solidFill>
              <a:latin typeface="Montserrat"/>
              <a:ea typeface="Montserrat"/>
              <a:cs typeface="Montserrat"/>
              <a:sym typeface="Montserrat"/>
            </a:endParaRPr>
          </a:p>
          <a:p>
            <a:pPr indent="-184150" lvl="1" marL="381000" marR="0" rtl="0" algn="l">
              <a:lnSpc>
                <a:spcPct val="104994"/>
              </a:lnSpc>
              <a:spcBef>
                <a:spcPts val="0"/>
              </a:spcBef>
              <a:spcAft>
                <a:spcPts val="0"/>
              </a:spcAft>
              <a:buClr>
                <a:srgbClr val="000000"/>
              </a:buClr>
              <a:buSzPts val="1700"/>
              <a:buFont typeface="Arial"/>
              <a:buChar char="•"/>
            </a:pPr>
            <a:r>
              <a:rPr b="1" i="0" lang="en" sz="1700" u="none" cap="none" strike="noStrike">
                <a:solidFill>
                  <a:srgbClr val="000000"/>
                </a:solidFill>
                <a:latin typeface="Montserrat"/>
                <a:ea typeface="Montserrat"/>
                <a:cs typeface="Montserrat"/>
                <a:sym typeface="Montserrat"/>
              </a:rPr>
              <a:t>Lasso α (L1): penalises large coefficients  drives weak ones to exactly zero (feature selection)</a:t>
            </a:r>
            <a:endParaRPr sz="900"/>
          </a:p>
          <a:p>
            <a:pPr indent="0" lvl="0" marL="0" marR="0" rtl="0" algn="l">
              <a:lnSpc>
                <a:spcPct val="104994"/>
              </a:lnSpc>
              <a:spcBef>
                <a:spcPts val="0"/>
              </a:spcBef>
              <a:spcAft>
                <a:spcPts val="0"/>
              </a:spcAft>
              <a:buNone/>
            </a:pPr>
            <a:r>
              <a:t/>
            </a:r>
            <a:endParaRPr b="1" i="0" sz="1700" u="none" cap="none" strike="noStrike">
              <a:solidFill>
                <a:srgbClr val="000000"/>
              </a:solidFill>
              <a:latin typeface="Montserrat"/>
              <a:ea typeface="Montserrat"/>
              <a:cs typeface="Montserrat"/>
              <a:sym typeface="Montserrat"/>
            </a:endParaRPr>
          </a:p>
          <a:p>
            <a:pPr indent="-184150" lvl="1" marL="381000" marR="0" rtl="0" algn="l">
              <a:lnSpc>
                <a:spcPct val="104994"/>
              </a:lnSpc>
              <a:spcBef>
                <a:spcPts val="0"/>
              </a:spcBef>
              <a:spcAft>
                <a:spcPts val="0"/>
              </a:spcAft>
              <a:buClr>
                <a:srgbClr val="000000"/>
              </a:buClr>
              <a:buSzPts val="1700"/>
              <a:buFont typeface="Arial"/>
              <a:buChar char="•"/>
            </a:pPr>
            <a:r>
              <a:rPr b="1" i="0" lang="en" sz="1700" u="none" cap="none" strike="noStrike">
                <a:solidFill>
                  <a:srgbClr val="000000"/>
                </a:solidFill>
                <a:latin typeface="Montserrat"/>
                <a:ea typeface="Montserrat"/>
                <a:cs typeface="Montserrat"/>
                <a:sym typeface="Montserrat"/>
              </a:rPr>
              <a:t>Tested: Ridge α ∈ {0.01, 0.1, 1, 10, 100, 1000} | Lasso α ∈ {0.0001, 0.001, 0.01, 0.1, 1}</a:t>
            </a:r>
            <a:endParaRPr sz="900"/>
          </a:p>
          <a:p>
            <a:pPr indent="0" lvl="0" marL="0" marR="0" rtl="0" algn="ctr">
              <a:lnSpc>
                <a:spcPct val="72969"/>
              </a:lnSpc>
              <a:spcBef>
                <a:spcPts val="0"/>
              </a:spcBef>
              <a:spcAft>
                <a:spcPts val="0"/>
              </a:spcAft>
              <a:buNone/>
            </a:pPr>
            <a:r>
              <a:t/>
            </a:r>
            <a:endParaRPr b="1" i="0" sz="1700" u="none" cap="none" strike="noStrike">
              <a:solidFill>
                <a:srgbClr val="000000"/>
              </a:solidFill>
              <a:latin typeface="Montserrat"/>
              <a:ea typeface="Montserrat"/>
              <a:cs typeface="Montserrat"/>
              <a:sym typeface="Montserrat"/>
            </a:endParaRPr>
          </a:p>
        </p:txBody>
      </p:sp>
      <p:sp>
        <p:nvSpPr>
          <p:cNvPr id="1613" name="Google Shape;1613;g3ee0adc8e96_2_75"/>
          <p:cNvSpPr txBox="1"/>
          <p:nvPr/>
        </p:nvSpPr>
        <p:spPr>
          <a:xfrm>
            <a:off x="245612" y="3657215"/>
            <a:ext cx="5326664" cy="2480310"/>
          </a:xfrm>
          <a:prstGeom prst="rect">
            <a:avLst/>
          </a:prstGeom>
          <a:noFill/>
          <a:ln>
            <a:noFill/>
          </a:ln>
        </p:spPr>
        <p:txBody>
          <a:bodyPr anchorCtr="0" anchor="t" bIns="0" lIns="0" spcFirstLastPara="1" rIns="0" wrap="square" tIns="0">
            <a:spAutoFit/>
          </a:bodyPr>
          <a:lstStyle/>
          <a:p>
            <a:pPr indent="0" lvl="0" marL="0" marR="0" rtl="0" algn="ctr">
              <a:lnSpc>
                <a:spcPct val="105001"/>
              </a:lnSpc>
              <a:spcBef>
                <a:spcPts val="0"/>
              </a:spcBef>
              <a:spcAft>
                <a:spcPts val="0"/>
              </a:spcAft>
              <a:buNone/>
            </a:pPr>
            <a:r>
              <a:rPr b="1" i="0" lang="en" sz="1900" u="none" cap="none" strike="noStrike">
                <a:solidFill>
                  <a:srgbClr val="000000"/>
                </a:solidFill>
                <a:latin typeface="Montserrat"/>
                <a:ea typeface="Montserrat"/>
                <a:cs typeface="Montserrat"/>
                <a:sym typeface="Montserrat"/>
              </a:rPr>
              <a:t>Parameters (learned from data during training):</a:t>
            </a:r>
            <a:endParaRPr sz="900"/>
          </a:p>
          <a:p>
            <a:pPr indent="0" lvl="0" marL="0" marR="0" rtl="0" algn="ctr">
              <a:lnSpc>
                <a:spcPct val="105001"/>
              </a:lnSpc>
              <a:spcBef>
                <a:spcPts val="0"/>
              </a:spcBef>
              <a:spcAft>
                <a:spcPts val="0"/>
              </a:spcAft>
              <a:buNone/>
            </a:pPr>
            <a:r>
              <a:t/>
            </a:r>
            <a:endParaRPr b="1" i="0" sz="1900" u="none" cap="none" strike="noStrike">
              <a:solidFill>
                <a:srgbClr val="000000"/>
              </a:solidFill>
              <a:latin typeface="Montserrat"/>
              <a:ea typeface="Montserrat"/>
              <a:cs typeface="Montserrat"/>
              <a:sym typeface="Montserrat"/>
            </a:endParaRPr>
          </a:p>
          <a:p>
            <a:pPr indent="-209550" lvl="1" marL="406400" marR="0" rtl="0" algn="l">
              <a:lnSpc>
                <a:spcPct val="105001"/>
              </a:lnSpc>
              <a:spcBef>
                <a:spcPts val="0"/>
              </a:spcBef>
              <a:spcAft>
                <a:spcPts val="0"/>
              </a:spcAft>
              <a:buClr>
                <a:srgbClr val="000000"/>
              </a:buClr>
              <a:buSzPts val="1900"/>
              <a:buFont typeface="Arial"/>
              <a:buChar char="•"/>
            </a:pPr>
            <a:r>
              <a:rPr b="1" i="0" lang="en" sz="1900" u="none" cap="none" strike="noStrike">
                <a:solidFill>
                  <a:srgbClr val="000000"/>
                </a:solidFill>
                <a:latin typeface="Montserrat"/>
                <a:ea typeface="Montserrat"/>
                <a:cs typeface="Montserrat"/>
                <a:sym typeface="Montserrat"/>
              </a:rPr>
              <a:t>Coefficients (β): one per feature, how much each feature shifts the predicted price</a:t>
            </a:r>
            <a:endParaRPr sz="900"/>
          </a:p>
          <a:p>
            <a:pPr indent="0" lvl="0" marL="0" marR="0" rtl="0" algn="l">
              <a:lnSpc>
                <a:spcPct val="105001"/>
              </a:lnSpc>
              <a:spcBef>
                <a:spcPts val="0"/>
              </a:spcBef>
              <a:spcAft>
                <a:spcPts val="0"/>
              </a:spcAft>
              <a:buNone/>
            </a:pPr>
            <a:r>
              <a:t/>
            </a:r>
            <a:endParaRPr b="1" i="0" sz="1900" u="none" cap="none" strike="noStrike">
              <a:solidFill>
                <a:srgbClr val="000000"/>
              </a:solidFill>
              <a:latin typeface="Montserrat"/>
              <a:ea typeface="Montserrat"/>
              <a:cs typeface="Montserrat"/>
              <a:sym typeface="Montserrat"/>
            </a:endParaRPr>
          </a:p>
          <a:p>
            <a:pPr indent="-209550" lvl="1" marL="406400" marR="0" rtl="0" algn="l">
              <a:lnSpc>
                <a:spcPct val="105001"/>
              </a:lnSpc>
              <a:spcBef>
                <a:spcPts val="0"/>
              </a:spcBef>
              <a:spcAft>
                <a:spcPts val="0"/>
              </a:spcAft>
              <a:buClr>
                <a:srgbClr val="000000"/>
              </a:buClr>
              <a:buSzPts val="1900"/>
              <a:buFont typeface="Arial"/>
              <a:buChar char="•"/>
            </a:pPr>
            <a:r>
              <a:rPr b="1" i="0" lang="en" sz="1900" u="none" cap="none" strike="noStrike">
                <a:solidFill>
                  <a:srgbClr val="000000"/>
                </a:solidFill>
                <a:latin typeface="Montserrat"/>
                <a:ea typeface="Montserrat"/>
                <a:cs typeface="Montserrat"/>
                <a:sym typeface="Montserrat"/>
              </a:rPr>
              <a:t>Intercept (β₀): the baseline price when all features are zero</a:t>
            </a:r>
            <a:endParaRPr sz="900"/>
          </a:p>
          <a:p>
            <a:pPr indent="0" lvl="0" marL="0" marR="0" rtl="0" algn="l">
              <a:lnSpc>
                <a:spcPct val="105001"/>
              </a:lnSpc>
              <a:spcBef>
                <a:spcPts val="0"/>
              </a:spcBef>
              <a:spcAft>
                <a:spcPts val="0"/>
              </a:spcAft>
              <a:buNone/>
            </a:pPr>
            <a:r>
              <a:t/>
            </a:r>
            <a:endParaRPr b="1" i="0" sz="1900" u="none" cap="none" strike="noStrike">
              <a:solidFill>
                <a:srgbClr val="000000"/>
              </a:solidFill>
              <a:latin typeface="Montserrat"/>
              <a:ea typeface="Montserrat"/>
              <a:cs typeface="Montserrat"/>
              <a:sym typeface="Montserrat"/>
            </a:endParaRPr>
          </a:p>
        </p:txBody>
      </p:sp>
      <p:sp>
        <p:nvSpPr>
          <p:cNvPr id="1614" name="Google Shape;1614;g3ee0adc8e96_2_75"/>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615" name="Google Shape;1615;g3ee0adc8e96_2_7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sz="1500">
                <a:solidFill>
                  <a:schemeClr val="lt1"/>
                </a:solidFill>
              </a:rPr>
              <a:t>‹#›</a:t>
            </a:fld>
            <a:endParaRPr sz="1500">
              <a:solidFill>
                <a:schemeClr val="lt1"/>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1619" name="Shape 1619"/>
        <p:cNvGrpSpPr/>
        <p:nvPr/>
      </p:nvGrpSpPr>
      <p:grpSpPr>
        <a:xfrm>
          <a:off x="0" y="0"/>
          <a:ext cx="0" cy="0"/>
          <a:chOff x="0" y="0"/>
          <a:chExt cx="0" cy="0"/>
        </a:xfrm>
      </p:grpSpPr>
      <p:sp>
        <p:nvSpPr>
          <p:cNvPr id="1620" name="Google Shape;1620;g3ee0adc8e96_2_87"/>
          <p:cNvSpPr/>
          <p:nvPr/>
        </p:nvSpPr>
        <p:spPr>
          <a:xfrm>
            <a:off x="4862100" y="3625476"/>
            <a:ext cx="7290733" cy="3341188"/>
          </a:xfrm>
          <a:custGeom>
            <a:rect b="b" l="l" r="r" t="t"/>
            <a:pathLst>
              <a:path extrusionOk="0" h="11932814" w="11759246">
                <a:moveTo>
                  <a:pt x="0" y="0"/>
                </a:moveTo>
                <a:lnTo>
                  <a:pt x="11759246" y="0"/>
                </a:lnTo>
                <a:lnTo>
                  <a:pt x="11759246" y="11932814"/>
                </a:lnTo>
                <a:lnTo>
                  <a:pt x="0" y="11932814"/>
                </a:lnTo>
                <a:lnTo>
                  <a:pt x="0" y="0"/>
                </a:lnTo>
                <a:close/>
              </a:path>
            </a:pathLst>
          </a:custGeom>
          <a:blipFill rotWithShape="1">
            <a:blip r:embed="rId3">
              <a:alphaModFix/>
            </a:blip>
            <a:stretch>
              <a:fillRect b="0" l="0" r="0" t="0"/>
            </a:stretch>
          </a:blipFill>
          <a:ln>
            <a:noFill/>
          </a:ln>
        </p:spPr>
      </p:sp>
      <p:sp>
        <p:nvSpPr>
          <p:cNvPr id="1621" name="Google Shape;1621;g3ee0adc8e96_2_87"/>
          <p:cNvSpPr/>
          <p:nvPr/>
        </p:nvSpPr>
        <p:spPr>
          <a:xfrm>
            <a:off x="9014775" y="0"/>
            <a:ext cx="3177225" cy="3625465"/>
          </a:xfrm>
          <a:custGeom>
            <a:rect b="b" l="l" r="r" t="t"/>
            <a:pathLst>
              <a:path extrusionOk="0" h="5438197" w="4765838">
                <a:moveTo>
                  <a:pt x="0" y="0"/>
                </a:moveTo>
                <a:lnTo>
                  <a:pt x="4765838" y="0"/>
                </a:lnTo>
                <a:lnTo>
                  <a:pt x="4765838" y="5438197"/>
                </a:lnTo>
                <a:lnTo>
                  <a:pt x="0" y="5438197"/>
                </a:lnTo>
                <a:lnTo>
                  <a:pt x="0" y="0"/>
                </a:lnTo>
                <a:close/>
              </a:path>
            </a:pathLst>
          </a:custGeom>
          <a:blipFill rotWithShape="1">
            <a:blip r:embed="rId4">
              <a:alphaModFix/>
            </a:blip>
            <a:stretch>
              <a:fillRect b="0" l="0" r="0" t="0"/>
            </a:stretch>
          </a:blipFill>
          <a:ln>
            <a:noFill/>
          </a:ln>
        </p:spPr>
      </p:sp>
      <p:sp>
        <p:nvSpPr>
          <p:cNvPr id="1622" name="Google Shape;1622;g3ee0adc8e96_2_87"/>
          <p:cNvSpPr/>
          <p:nvPr/>
        </p:nvSpPr>
        <p:spPr>
          <a:xfrm>
            <a:off x="0" y="4095372"/>
            <a:ext cx="3983187" cy="2740068"/>
          </a:xfrm>
          <a:custGeom>
            <a:rect b="b" l="l" r="r" t="t"/>
            <a:pathLst>
              <a:path extrusionOk="0" h="6055399" w="5967321">
                <a:moveTo>
                  <a:pt x="0" y="0"/>
                </a:moveTo>
                <a:lnTo>
                  <a:pt x="5967320" y="0"/>
                </a:lnTo>
                <a:lnTo>
                  <a:pt x="5967320" y="6055399"/>
                </a:lnTo>
                <a:lnTo>
                  <a:pt x="0" y="6055399"/>
                </a:lnTo>
                <a:lnTo>
                  <a:pt x="0" y="0"/>
                </a:lnTo>
                <a:close/>
              </a:path>
            </a:pathLst>
          </a:custGeom>
          <a:blipFill rotWithShape="1">
            <a:blip r:embed="rId3">
              <a:alphaModFix/>
            </a:blip>
            <a:stretch>
              <a:fillRect b="0" l="0" r="0" t="0"/>
            </a:stretch>
          </a:blipFill>
          <a:ln>
            <a:noFill/>
          </a:ln>
        </p:spPr>
      </p:sp>
      <p:sp>
        <p:nvSpPr>
          <p:cNvPr id="1623" name="Google Shape;1623;g3ee0adc8e96_2_87"/>
          <p:cNvSpPr txBox="1"/>
          <p:nvPr/>
        </p:nvSpPr>
        <p:spPr>
          <a:xfrm>
            <a:off x="6206065" y="-1"/>
            <a:ext cx="5443500" cy="569400"/>
          </a:xfrm>
          <a:prstGeom prst="rect">
            <a:avLst/>
          </a:prstGeom>
          <a:noFill/>
          <a:ln>
            <a:noFill/>
          </a:ln>
        </p:spPr>
        <p:txBody>
          <a:bodyPr anchorCtr="0" anchor="t" bIns="0" lIns="0" spcFirstLastPara="1" rIns="0" wrap="square" tIns="0">
            <a:spAutoFit/>
          </a:bodyPr>
          <a:lstStyle/>
          <a:p>
            <a:pPr indent="0" lvl="0" marL="0" marR="0" rtl="0" algn="ctr">
              <a:lnSpc>
                <a:spcPct val="104985"/>
              </a:lnSpc>
              <a:spcBef>
                <a:spcPts val="0"/>
              </a:spcBef>
              <a:spcAft>
                <a:spcPts val="0"/>
              </a:spcAft>
              <a:buNone/>
            </a:pPr>
            <a:r>
              <a:rPr b="1" i="0" lang="en" sz="3700" u="none" cap="none" strike="noStrike">
                <a:solidFill>
                  <a:srgbClr val="FEFEFE"/>
                </a:solidFill>
                <a:latin typeface="Montserrat"/>
                <a:ea typeface="Montserrat"/>
                <a:cs typeface="Montserrat"/>
                <a:sym typeface="Montserrat"/>
              </a:rPr>
              <a:t>MODEL DESCRIPTION</a:t>
            </a:r>
            <a:r>
              <a:rPr b="1" i="0" lang="en" sz="3700" u="none" cap="none" strike="noStrike">
                <a:solidFill>
                  <a:srgbClr val="000000"/>
                </a:solidFill>
                <a:latin typeface="Montserrat"/>
                <a:ea typeface="Montserrat"/>
                <a:cs typeface="Montserrat"/>
                <a:sym typeface="Montserrat"/>
              </a:rPr>
              <a:t> </a:t>
            </a:r>
            <a:endParaRPr sz="900"/>
          </a:p>
        </p:txBody>
      </p:sp>
      <p:sp>
        <p:nvSpPr>
          <p:cNvPr id="1624" name="Google Shape;1624;g3ee0adc8e96_2_87"/>
          <p:cNvSpPr txBox="1"/>
          <p:nvPr/>
        </p:nvSpPr>
        <p:spPr>
          <a:xfrm>
            <a:off x="100750" y="685800"/>
            <a:ext cx="8386200" cy="446400"/>
          </a:xfrm>
          <a:prstGeom prst="rect">
            <a:avLst/>
          </a:prstGeom>
          <a:noFill/>
          <a:ln>
            <a:noFill/>
          </a:ln>
        </p:spPr>
        <p:txBody>
          <a:bodyPr anchorCtr="0" anchor="t" bIns="0" lIns="0" spcFirstLastPara="1" rIns="0" wrap="square" tIns="0">
            <a:spAutoFit/>
          </a:bodyPr>
          <a:lstStyle/>
          <a:p>
            <a:pPr indent="0" lvl="0" marL="0" marR="0" rtl="0" algn="ctr">
              <a:lnSpc>
                <a:spcPct val="105004"/>
              </a:lnSpc>
              <a:spcBef>
                <a:spcPts val="0"/>
              </a:spcBef>
              <a:spcAft>
                <a:spcPts val="0"/>
              </a:spcAft>
              <a:buNone/>
            </a:pPr>
            <a:r>
              <a:rPr b="1" i="0" lang="en" sz="2900" u="none" cap="none" strike="noStrike">
                <a:solidFill>
                  <a:srgbClr val="000000"/>
                </a:solidFill>
                <a:latin typeface="Montserrat"/>
                <a:ea typeface="Montserrat"/>
                <a:cs typeface="Montserrat"/>
                <a:sym typeface="Montserrat"/>
              </a:rPr>
              <a:t>KNN Regression: Theory &amp; Parameters</a:t>
            </a:r>
            <a:endParaRPr sz="900"/>
          </a:p>
        </p:txBody>
      </p:sp>
      <p:sp>
        <p:nvSpPr>
          <p:cNvPr id="1625" name="Google Shape;1625;g3ee0adc8e96_2_87"/>
          <p:cNvSpPr txBox="1"/>
          <p:nvPr/>
        </p:nvSpPr>
        <p:spPr>
          <a:xfrm>
            <a:off x="0" y="1146762"/>
            <a:ext cx="9508141" cy="2171569"/>
          </a:xfrm>
          <a:prstGeom prst="rect">
            <a:avLst/>
          </a:prstGeom>
          <a:noFill/>
          <a:ln>
            <a:noFill/>
          </a:ln>
        </p:spPr>
        <p:txBody>
          <a:bodyPr anchorCtr="0" anchor="t" bIns="0" lIns="0" spcFirstLastPara="1" rIns="0" wrap="square" tIns="0">
            <a:spAutoFit/>
          </a:bodyPr>
          <a:lstStyle/>
          <a:p>
            <a:pPr indent="0" lvl="0" marL="0" marR="0" rtl="0" algn="just">
              <a:lnSpc>
                <a:spcPct val="104980"/>
              </a:lnSpc>
              <a:spcBef>
                <a:spcPts val="0"/>
              </a:spcBef>
              <a:spcAft>
                <a:spcPts val="0"/>
              </a:spcAft>
              <a:buNone/>
            </a:pPr>
            <a:r>
              <a:rPr b="1" i="0" lang="en" sz="1800" u="none" cap="none" strike="noStrike">
                <a:solidFill>
                  <a:srgbClr val="FFFFFF"/>
                </a:solidFill>
                <a:latin typeface="Montserrat"/>
                <a:ea typeface="Montserrat"/>
                <a:cs typeface="Montserrat"/>
                <a:sym typeface="Montserrat"/>
              </a:rPr>
              <a:t>KNN (K-Nearest Neighbours) is non-parametric, it fits no equation. Instead, to predict the price of a new tube assembly, it finds the K most similar assemblies in the training data and averages their prices.</a:t>
            </a:r>
            <a:endParaRPr sz="900"/>
          </a:p>
          <a:p>
            <a:pPr indent="0" lvl="0" marL="0" marR="0" rtl="0" algn="just">
              <a:lnSpc>
                <a:spcPct val="104980"/>
              </a:lnSpc>
              <a:spcBef>
                <a:spcPts val="0"/>
              </a:spcBef>
              <a:spcAft>
                <a:spcPts val="0"/>
              </a:spcAft>
              <a:buNone/>
            </a:pPr>
            <a:r>
              <a:t/>
            </a:r>
            <a:endParaRPr b="1" i="0" sz="1800" u="none" cap="none" strike="noStrike">
              <a:solidFill>
                <a:srgbClr val="FFFFFF"/>
              </a:solidFill>
              <a:latin typeface="Montserrat"/>
              <a:ea typeface="Montserrat"/>
              <a:cs typeface="Montserrat"/>
              <a:sym typeface="Montserrat"/>
            </a:endParaRPr>
          </a:p>
          <a:p>
            <a:pPr indent="0" lvl="0" marL="0" marR="0" rtl="0" algn="just">
              <a:lnSpc>
                <a:spcPct val="104980"/>
              </a:lnSpc>
              <a:spcBef>
                <a:spcPts val="0"/>
              </a:spcBef>
              <a:spcAft>
                <a:spcPts val="0"/>
              </a:spcAft>
              <a:buNone/>
            </a:pPr>
            <a:r>
              <a:rPr b="1" i="0" lang="en" sz="1800" u="none" cap="none" strike="noStrike">
                <a:solidFill>
                  <a:srgbClr val="FFFFFF"/>
                </a:solidFill>
                <a:latin typeface="Montserrat"/>
                <a:ea typeface="Montserrat"/>
                <a:cs typeface="Montserrat"/>
                <a:sym typeface="Montserrat"/>
              </a:rPr>
              <a:t>Similarity is measured by distance in feature space:</a:t>
            </a:r>
            <a:endParaRPr sz="900"/>
          </a:p>
          <a:p>
            <a:pPr indent="0" lvl="0" marL="0" marR="0" rtl="0" algn="just">
              <a:lnSpc>
                <a:spcPct val="104980"/>
              </a:lnSpc>
              <a:spcBef>
                <a:spcPts val="0"/>
              </a:spcBef>
              <a:spcAft>
                <a:spcPts val="0"/>
              </a:spcAft>
              <a:buNone/>
            </a:pPr>
            <a:r>
              <a:t/>
            </a:r>
            <a:endParaRPr b="1" i="0" sz="1800" u="none" cap="none" strike="noStrike">
              <a:solidFill>
                <a:srgbClr val="FFFFFF"/>
              </a:solidFill>
              <a:latin typeface="Montserrat"/>
              <a:ea typeface="Montserrat"/>
              <a:cs typeface="Montserrat"/>
              <a:sym typeface="Montserrat"/>
            </a:endParaRPr>
          </a:p>
          <a:p>
            <a:pPr indent="-190500" lvl="1" marL="393700" marR="0" rtl="0" algn="just">
              <a:lnSpc>
                <a:spcPct val="104980"/>
              </a:lnSpc>
              <a:spcBef>
                <a:spcPts val="0"/>
              </a:spcBef>
              <a:spcAft>
                <a:spcPts val="0"/>
              </a:spcAft>
              <a:buClr>
                <a:srgbClr val="FFFFFF"/>
              </a:buClr>
              <a:buSzPts val="1800"/>
              <a:buFont typeface="Arial"/>
              <a:buChar char="•"/>
            </a:pPr>
            <a:r>
              <a:rPr b="1" i="0" lang="en" sz="1800" u="none" cap="none" strike="noStrike">
                <a:solidFill>
                  <a:srgbClr val="FFFFFF"/>
                </a:solidFill>
                <a:latin typeface="Montserrat"/>
                <a:ea typeface="Montserrat"/>
                <a:cs typeface="Montserrat"/>
                <a:sym typeface="Montserrat"/>
              </a:rPr>
              <a:t>Euclidean: √(Σ(xᵢ - xⱼ)²)  standard straight-line distance</a:t>
            </a:r>
            <a:endParaRPr sz="900"/>
          </a:p>
          <a:p>
            <a:pPr indent="-190500" lvl="1" marL="393700" marR="0" rtl="0" algn="just">
              <a:lnSpc>
                <a:spcPct val="104980"/>
              </a:lnSpc>
              <a:spcBef>
                <a:spcPts val="0"/>
              </a:spcBef>
              <a:spcAft>
                <a:spcPts val="0"/>
              </a:spcAft>
              <a:buClr>
                <a:srgbClr val="FFFFFF"/>
              </a:buClr>
              <a:buSzPts val="1800"/>
              <a:buFont typeface="Arial"/>
              <a:buChar char="•"/>
            </a:pPr>
            <a:r>
              <a:rPr b="1" i="0" lang="en" sz="1800" u="none" cap="none" strike="noStrike">
                <a:solidFill>
                  <a:srgbClr val="FFFFFF"/>
                </a:solidFill>
                <a:latin typeface="Montserrat"/>
                <a:ea typeface="Montserrat"/>
                <a:cs typeface="Montserrat"/>
                <a:sym typeface="Montserrat"/>
              </a:rPr>
              <a:t>Manhattan: Σ|xᵢ - xⱼ| sum of absolute differences (less sensitive to outliers)</a:t>
            </a:r>
            <a:endParaRPr sz="900"/>
          </a:p>
          <a:p>
            <a:pPr indent="0" lvl="0" marL="0" marR="0" rtl="0" algn="just">
              <a:lnSpc>
                <a:spcPct val="104980"/>
              </a:lnSpc>
              <a:spcBef>
                <a:spcPts val="0"/>
              </a:spcBef>
              <a:spcAft>
                <a:spcPts val="0"/>
              </a:spcAft>
              <a:buNone/>
            </a:pPr>
            <a:r>
              <a:t/>
            </a:r>
            <a:endParaRPr b="1" i="0" sz="1800" u="none" cap="none" strike="noStrike">
              <a:solidFill>
                <a:srgbClr val="FFFFFF"/>
              </a:solidFill>
              <a:latin typeface="Montserrat"/>
              <a:ea typeface="Montserrat"/>
              <a:cs typeface="Montserrat"/>
              <a:sym typeface="Montserrat"/>
            </a:endParaRPr>
          </a:p>
        </p:txBody>
      </p:sp>
      <p:sp>
        <p:nvSpPr>
          <p:cNvPr id="1626" name="Google Shape;1626;g3ee0adc8e96_2_87"/>
          <p:cNvSpPr txBox="1"/>
          <p:nvPr/>
        </p:nvSpPr>
        <p:spPr>
          <a:xfrm>
            <a:off x="4997574" y="3699977"/>
            <a:ext cx="7019700" cy="2955000"/>
          </a:xfrm>
          <a:prstGeom prst="rect">
            <a:avLst/>
          </a:prstGeom>
          <a:noFill/>
          <a:ln>
            <a:noFill/>
          </a:ln>
        </p:spPr>
        <p:txBody>
          <a:bodyPr anchorCtr="0" anchor="t" bIns="0" lIns="0" spcFirstLastPara="1" rIns="0" wrap="square" tIns="0">
            <a:spAutoFit/>
          </a:bodyPr>
          <a:lstStyle/>
          <a:p>
            <a:pPr indent="0" lvl="0" marL="0" marR="0" rtl="0" algn="l">
              <a:lnSpc>
                <a:spcPct val="104994"/>
              </a:lnSpc>
              <a:spcBef>
                <a:spcPts val="0"/>
              </a:spcBef>
              <a:spcAft>
                <a:spcPts val="0"/>
              </a:spcAft>
              <a:buNone/>
            </a:pPr>
            <a:r>
              <a:rPr b="0" i="0" lang="en" sz="1900" u="none" cap="none" strike="noStrike">
                <a:solidFill>
                  <a:srgbClr val="000000"/>
                </a:solidFill>
                <a:latin typeface="Montserrat"/>
                <a:ea typeface="Montserrat"/>
                <a:cs typeface="Montserrat"/>
                <a:sym typeface="Montserrat"/>
              </a:rPr>
              <a:t>Hyperparameters (set before training):</a:t>
            </a:r>
            <a:endParaRPr sz="900"/>
          </a:p>
          <a:p>
            <a:pPr indent="-209550" lvl="1" marL="419100" marR="0" rtl="0" algn="l">
              <a:lnSpc>
                <a:spcPct val="104994"/>
              </a:lnSpc>
              <a:spcBef>
                <a:spcPts val="0"/>
              </a:spcBef>
              <a:spcAft>
                <a:spcPts val="0"/>
              </a:spcAft>
              <a:buClr>
                <a:srgbClr val="000000"/>
              </a:buClr>
              <a:buSzPts val="1900"/>
              <a:buFont typeface="Arial"/>
              <a:buChar char="•"/>
            </a:pPr>
            <a:r>
              <a:rPr b="0" i="0" lang="en" sz="1900" u="none" cap="none" strike="noStrike">
                <a:solidFill>
                  <a:srgbClr val="000000"/>
                </a:solidFill>
                <a:latin typeface="Montserrat"/>
                <a:ea typeface="Montserrat"/>
                <a:cs typeface="Montserrat"/>
                <a:sym typeface="Montserrat"/>
              </a:rPr>
              <a:t>K (n_neighbors): number of neighbours to average, tested: K ∈ {3, 5, 7, 10, 15, 20, 25, 30}</a:t>
            </a:r>
            <a:endParaRPr sz="900"/>
          </a:p>
          <a:p>
            <a:pPr indent="0" lvl="0" marL="0" marR="0" rtl="0" algn="l">
              <a:lnSpc>
                <a:spcPct val="104994"/>
              </a:lnSpc>
              <a:spcBef>
                <a:spcPts val="0"/>
              </a:spcBef>
              <a:spcAft>
                <a:spcPts val="0"/>
              </a:spcAft>
              <a:buNone/>
            </a:pPr>
            <a:r>
              <a:t/>
            </a:r>
            <a:endParaRPr b="0" i="0" sz="1900" u="none" cap="none" strike="noStrike">
              <a:solidFill>
                <a:srgbClr val="000000"/>
              </a:solidFill>
              <a:latin typeface="Montserrat"/>
              <a:ea typeface="Montserrat"/>
              <a:cs typeface="Montserrat"/>
              <a:sym typeface="Montserrat"/>
            </a:endParaRPr>
          </a:p>
          <a:p>
            <a:pPr indent="-209550" lvl="1" marL="419100" marR="0" rtl="0" algn="l">
              <a:lnSpc>
                <a:spcPct val="104994"/>
              </a:lnSpc>
              <a:spcBef>
                <a:spcPts val="0"/>
              </a:spcBef>
              <a:spcAft>
                <a:spcPts val="0"/>
              </a:spcAft>
              <a:buClr>
                <a:srgbClr val="000000"/>
              </a:buClr>
              <a:buSzPts val="1900"/>
              <a:buFont typeface="Arial"/>
              <a:buChar char="•"/>
            </a:pPr>
            <a:r>
              <a:rPr b="0" i="0" lang="en" sz="1900" u="none" cap="none" strike="noStrike">
                <a:solidFill>
                  <a:srgbClr val="000000"/>
                </a:solidFill>
                <a:latin typeface="Montserrat"/>
                <a:ea typeface="Montserrat"/>
                <a:cs typeface="Montserrat"/>
                <a:sym typeface="Montserrat"/>
              </a:rPr>
              <a:t>Distance metric: Euclidean vs Manhattan, tested in Task 9 enhancement</a:t>
            </a:r>
            <a:endParaRPr sz="900"/>
          </a:p>
          <a:p>
            <a:pPr indent="0" lvl="0" marL="0" marR="0" rtl="0" algn="l">
              <a:lnSpc>
                <a:spcPct val="104994"/>
              </a:lnSpc>
              <a:spcBef>
                <a:spcPts val="0"/>
              </a:spcBef>
              <a:spcAft>
                <a:spcPts val="0"/>
              </a:spcAft>
              <a:buNone/>
            </a:pPr>
            <a:r>
              <a:t/>
            </a:r>
            <a:endParaRPr b="0" i="0" sz="1900" u="none" cap="none" strike="noStrike">
              <a:solidFill>
                <a:srgbClr val="000000"/>
              </a:solidFill>
              <a:latin typeface="Montserrat"/>
              <a:ea typeface="Montserrat"/>
              <a:cs typeface="Montserrat"/>
              <a:sym typeface="Montserrat"/>
            </a:endParaRPr>
          </a:p>
          <a:p>
            <a:pPr indent="-209550" lvl="1" marL="419100" marR="0" rtl="0" algn="l">
              <a:lnSpc>
                <a:spcPct val="104994"/>
              </a:lnSpc>
              <a:spcBef>
                <a:spcPts val="0"/>
              </a:spcBef>
              <a:spcAft>
                <a:spcPts val="0"/>
              </a:spcAft>
              <a:buClr>
                <a:srgbClr val="000000"/>
              </a:buClr>
              <a:buSzPts val="1900"/>
              <a:buFont typeface="Arial"/>
              <a:buChar char="•"/>
            </a:pPr>
            <a:r>
              <a:rPr b="0" i="0" lang="en" sz="1900" u="none" cap="none" strike="noStrike">
                <a:solidFill>
                  <a:srgbClr val="000000"/>
                </a:solidFill>
                <a:latin typeface="Montserrat"/>
                <a:ea typeface="Montserrat"/>
                <a:cs typeface="Montserrat"/>
                <a:sym typeface="Montserrat"/>
              </a:rPr>
              <a:t>StandardScaler required: without scaling, quantity (up to 2500) dominates distance over wall (0.7–7.9)</a:t>
            </a:r>
            <a:endParaRPr sz="900"/>
          </a:p>
          <a:p>
            <a:pPr indent="0" lvl="0" marL="0" marR="0" rtl="0" algn="l">
              <a:lnSpc>
                <a:spcPct val="65480"/>
              </a:lnSpc>
              <a:spcBef>
                <a:spcPts val="0"/>
              </a:spcBef>
              <a:spcAft>
                <a:spcPts val="0"/>
              </a:spcAft>
              <a:buNone/>
            </a:pPr>
            <a:r>
              <a:t/>
            </a:r>
            <a:endParaRPr b="0" i="0" sz="1900" u="none" cap="none" strike="noStrike">
              <a:solidFill>
                <a:srgbClr val="000000"/>
              </a:solidFill>
              <a:latin typeface="Montserrat"/>
              <a:ea typeface="Montserrat"/>
              <a:cs typeface="Montserrat"/>
              <a:sym typeface="Montserrat"/>
            </a:endParaRPr>
          </a:p>
        </p:txBody>
      </p:sp>
      <p:sp>
        <p:nvSpPr>
          <p:cNvPr id="1627" name="Google Shape;1627;g3ee0adc8e96_2_87"/>
          <p:cNvSpPr txBox="1"/>
          <p:nvPr/>
        </p:nvSpPr>
        <p:spPr>
          <a:xfrm>
            <a:off x="0" y="4819733"/>
            <a:ext cx="3709951" cy="994410"/>
          </a:xfrm>
          <a:prstGeom prst="rect">
            <a:avLst/>
          </a:prstGeom>
          <a:noFill/>
          <a:ln>
            <a:noFill/>
          </a:ln>
        </p:spPr>
        <p:txBody>
          <a:bodyPr anchorCtr="0" anchor="t" bIns="0" lIns="0" spcFirstLastPara="1" rIns="0" wrap="square" tIns="0">
            <a:spAutoFit/>
          </a:bodyPr>
          <a:lstStyle/>
          <a:p>
            <a:pPr indent="0" lvl="0" marL="0" marR="0" rtl="0" algn="ctr">
              <a:lnSpc>
                <a:spcPct val="105001"/>
              </a:lnSpc>
              <a:spcBef>
                <a:spcPts val="0"/>
              </a:spcBef>
              <a:spcAft>
                <a:spcPts val="0"/>
              </a:spcAft>
              <a:buNone/>
            </a:pPr>
            <a:r>
              <a:rPr b="1" i="0" lang="en" sz="1900" u="none" cap="none" strike="noStrike">
                <a:solidFill>
                  <a:srgbClr val="000000"/>
                </a:solidFill>
                <a:latin typeface="Montserrat"/>
                <a:ea typeface="Montserrat"/>
                <a:cs typeface="Montserrat"/>
                <a:sym typeface="Montserrat"/>
              </a:rPr>
              <a:t>Parameters None learned - KNN memorises the training data directly</a:t>
            </a:r>
            <a:endParaRPr sz="900"/>
          </a:p>
          <a:p>
            <a:pPr indent="0" lvl="0" marL="0" marR="0" rtl="0" algn="l">
              <a:lnSpc>
                <a:spcPct val="105001"/>
              </a:lnSpc>
              <a:spcBef>
                <a:spcPts val="0"/>
              </a:spcBef>
              <a:spcAft>
                <a:spcPts val="0"/>
              </a:spcAft>
              <a:buNone/>
            </a:pPr>
            <a:r>
              <a:t/>
            </a:r>
            <a:endParaRPr b="1" i="0" sz="1900" u="none" cap="none" strike="noStrike">
              <a:solidFill>
                <a:srgbClr val="000000"/>
              </a:solidFill>
              <a:latin typeface="Montserrat"/>
              <a:ea typeface="Montserrat"/>
              <a:cs typeface="Montserrat"/>
              <a:sym typeface="Montserrat"/>
            </a:endParaRPr>
          </a:p>
        </p:txBody>
      </p:sp>
      <p:sp>
        <p:nvSpPr>
          <p:cNvPr id="1628" name="Google Shape;1628;g3ee0adc8e96_2_87"/>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629" name="Google Shape;1629;g3ee0adc8e96_2_8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sz="1500">
                <a:solidFill>
                  <a:schemeClr val="lt1"/>
                </a:solidFill>
              </a:rPr>
              <a:t>‹#›</a:t>
            </a:fld>
            <a:endParaRPr sz="1500">
              <a:solidFill>
                <a:schemeClr val="lt1"/>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1E8"/>
        </a:solidFill>
      </p:bgPr>
    </p:bg>
    <p:spTree>
      <p:nvGrpSpPr>
        <p:cNvPr id="1633" name="Shape 1633"/>
        <p:cNvGrpSpPr/>
        <p:nvPr/>
      </p:nvGrpSpPr>
      <p:grpSpPr>
        <a:xfrm>
          <a:off x="0" y="0"/>
          <a:ext cx="0" cy="0"/>
          <a:chOff x="0" y="0"/>
          <a:chExt cx="0" cy="0"/>
        </a:xfrm>
      </p:grpSpPr>
      <p:sp>
        <p:nvSpPr>
          <p:cNvPr id="1634" name="Google Shape;1634;g3ee0adc8e96_4_0"/>
          <p:cNvSpPr/>
          <p:nvPr/>
        </p:nvSpPr>
        <p:spPr>
          <a:xfrm>
            <a:off x="10824561" y="-258655"/>
            <a:ext cx="1363278" cy="1152311"/>
          </a:xfrm>
          <a:custGeom>
            <a:rect b="b" l="l" r="r" t="t"/>
            <a:pathLst>
              <a:path extrusionOk="0" h="1728467" w="2044917">
                <a:moveTo>
                  <a:pt x="0" y="0"/>
                </a:moveTo>
                <a:lnTo>
                  <a:pt x="2044916" y="0"/>
                </a:lnTo>
                <a:lnTo>
                  <a:pt x="2044916" y="1728467"/>
                </a:lnTo>
                <a:lnTo>
                  <a:pt x="0" y="1728467"/>
                </a:lnTo>
                <a:lnTo>
                  <a:pt x="0" y="0"/>
                </a:lnTo>
                <a:close/>
              </a:path>
            </a:pathLst>
          </a:custGeom>
          <a:blipFill rotWithShape="1">
            <a:blip r:embed="rId3">
              <a:alphaModFix/>
            </a:blip>
            <a:stretch>
              <a:fillRect b="0" l="0" r="0" t="0"/>
            </a:stretch>
          </a:blipFill>
          <a:ln>
            <a:noFill/>
          </a:ln>
        </p:spPr>
      </p:sp>
      <p:sp>
        <p:nvSpPr>
          <p:cNvPr id="1635" name="Google Shape;1635;g3ee0adc8e96_4_0"/>
          <p:cNvSpPr txBox="1"/>
          <p:nvPr/>
        </p:nvSpPr>
        <p:spPr>
          <a:xfrm>
            <a:off x="373282" y="63500"/>
            <a:ext cx="9328500" cy="908100"/>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None/>
            </a:pPr>
            <a:r>
              <a:rPr b="1" i="0" lang="en" sz="5900" u="none" cap="none" strike="noStrike">
                <a:solidFill>
                  <a:srgbClr val="343734"/>
                </a:solidFill>
                <a:latin typeface="Montserrat"/>
                <a:ea typeface="Montserrat"/>
                <a:cs typeface="Montserrat"/>
                <a:sym typeface="Montserrat"/>
              </a:rPr>
              <a:t>MODE</a:t>
            </a:r>
            <a:r>
              <a:rPr b="1" lang="en" sz="5900">
                <a:solidFill>
                  <a:srgbClr val="343734"/>
                </a:solidFill>
                <a:latin typeface="Montserrat"/>
                <a:ea typeface="Montserrat"/>
                <a:cs typeface="Montserrat"/>
                <a:sym typeface="Montserrat"/>
              </a:rPr>
              <a:t>L</a:t>
            </a:r>
            <a:r>
              <a:rPr b="1" i="0" lang="en" sz="5900" u="none" cap="none" strike="noStrike">
                <a:solidFill>
                  <a:srgbClr val="343734"/>
                </a:solidFill>
                <a:latin typeface="Montserrat"/>
                <a:ea typeface="Montserrat"/>
                <a:cs typeface="Montserrat"/>
                <a:sym typeface="Montserrat"/>
              </a:rPr>
              <a:t> JUSTIFICATION</a:t>
            </a:r>
            <a:endParaRPr sz="900"/>
          </a:p>
        </p:txBody>
      </p:sp>
      <p:sp>
        <p:nvSpPr>
          <p:cNvPr id="1636" name="Google Shape;1636;g3ee0adc8e96_4_0"/>
          <p:cNvSpPr txBox="1"/>
          <p:nvPr/>
        </p:nvSpPr>
        <p:spPr>
          <a:xfrm>
            <a:off x="1871701" y="1154789"/>
            <a:ext cx="5898291" cy="494029"/>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1" i="0" lang="en" sz="3600" u="none" cap="none" strike="noStrike">
                <a:solidFill>
                  <a:srgbClr val="343734"/>
                </a:solidFill>
                <a:latin typeface="Montserrat"/>
                <a:ea typeface="Montserrat"/>
                <a:cs typeface="Montserrat"/>
                <a:sym typeface="Montserrat"/>
              </a:rPr>
              <a:t>Why These Two Models?</a:t>
            </a:r>
            <a:endParaRPr sz="900"/>
          </a:p>
        </p:txBody>
      </p:sp>
      <p:graphicFrame>
        <p:nvGraphicFramePr>
          <p:cNvPr id="1637" name="Google Shape;1637;g3ee0adc8e96_4_0"/>
          <p:cNvGraphicFramePr/>
          <p:nvPr/>
        </p:nvGraphicFramePr>
        <p:xfrm>
          <a:off x="373282" y="1845181"/>
          <a:ext cx="3000000" cy="3000000"/>
        </p:xfrm>
        <a:graphic>
          <a:graphicData uri="http://schemas.openxmlformats.org/drawingml/2006/table">
            <a:tbl>
              <a:tblPr>
                <a:noFill/>
                <a:tableStyleId>{45EFA893-811E-4007-9D9D-CAB5BEB4294B}</a:tableStyleId>
              </a:tblPr>
              <a:tblGrid>
                <a:gridCol w="3837950"/>
                <a:gridCol w="3837950"/>
                <a:gridCol w="3837950"/>
              </a:tblGrid>
              <a:tr h="86540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Criterion</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Linear Regression</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KNN Regression</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865400">
                <a:tc>
                  <a:txBody>
                    <a:bodyPr/>
                    <a:lstStyle/>
                    <a:p>
                      <a:pPr indent="0" lvl="0" marL="0" marR="0" rtl="0" algn="l">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Interpretability</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High — coefficients explain each feature's contribution</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Low — no equation, black-box prediction</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865400">
                <a:tc>
                  <a:txBody>
                    <a:bodyPr/>
                    <a:lstStyle/>
                    <a:p>
                      <a:pPr indent="0" lvl="0" marL="0" marR="0" rtl="0" algn="l">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Assumptions</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Assumes linear relationship between features and price</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No assumptions about data shape</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865400">
                <a:tc>
                  <a:txBody>
                    <a:bodyPr/>
                    <a:lstStyle/>
                    <a:p>
                      <a:pPr indent="0" lvl="0" marL="0" marR="0" rtl="0" algn="l">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Speed</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Fast training and prediction</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Slow prediction on large datasets</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865400">
                <a:tc>
                  <a:txBody>
                    <a:bodyPr/>
                    <a:lstStyle/>
                    <a:p>
                      <a:pPr indent="0" lvl="0" marL="0" marR="0" rtl="0" algn="l">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Handles non-linearity</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No — global straight-line equation</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Yes — captures local pricing clusters</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bl>
          </a:graphicData>
        </a:graphic>
      </p:graphicFrame>
      <p:sp>
        <p:nvSpPr>
          <p:cNvPr id="1638" name="Google Shape;1638;g3ee0adc8e96_4_0"/>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639" name="Google Shape;1639;g3ee0adc8e96_4_0"/>
          <p:cNvSpPr txBox="1"/>
          <p:nvPr>
            <p:ph idx="12" type="sldNum"/>
          </p:nvPr>
        </p:nvSpPr>
        <p:spPr>
          <a:xfrm>
            <a:off x="11296611" y="6227756"/>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sz="1500"/>
              <a:t>‹#›</a:t>
            </a:fld>
            <a:endParaRPr sz="1500"/>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1643" name="Shape 1643"/>
        <p:cNvGrpSpPr/>
        <p:nvPr/>
      </p:nvGrpSpPr>
      <p:grpSpPr>
        <a:xfrm>
          <a:off x="0" y="0"/>
          <a:ext cx="0" cy="0"/>
          <a:chOff x="0" y="0"/>
          <a:chExt cx="0" cy="0"/>
        </a:xfrm>
      </p:grpSpPr>
      <p:sp>
        <p:nvSpPr>
          <p:cNvPr id="1644" name="Google Shape;1644;g3ee0adc8e96_6_0"/>
          <p:cNvSpPr/>
          <p:nvPr/>
        </p:nvSpPr>
        <p:spPr>
          <a:xfrm>
            <a:off x="10884150" y="-12681"/>
            <a:ext cx="795737" cy="907999"/>
          </a:xfrm>
          <a:custGeom>
            <a:rect b="b" l="l" r="r" t="t"/>
            <a:pathLst>
              <a:path extrusionOk="0" h="1361999" w="1193606">
                <a:moveTo>
                  <a:pt x="0" y="0"/>
                </a:moveTo>
                <a:lnTo>
                  <a:pt x="1193606" y="0"/>
                </a:lnTo>
                <a:lnTo>
                  <a:pt x="1193606" y="1361999"/>
                </a:lnTo>
                <a:lnTo>
                  <a:pt x="0" y="1361999"/>
                </a:lnTo>
                <a:lnTo>
                  <a:pt x="0" y="0"/>
                </a:lnTo>
                <a:close/>
              </a:path>
            </a:pathLst>
          </a:custGeom>
          <a:blipFill rotWithShape="1">
            <a:blip r:embed="rId3">
              <a:alphaModFix/>
            </a:blip>
            <a:stretch>
              <a:fillRect b="0" l="0" r="0" t="0"/>
            </a:stretch>
          </a:blipFill>
          <a:ln>
            <a:noFill/>
          </a:ln>
        </p:spPr>
      </p:sp>
      <p:grpSp>
        <p:nvGrpSpPr>
          <p:cNvPr id="1645" name="Google Shape;1645;g3ee0adc8e96_6_0"/>
          <p:cNvGrpSpPr/>
          <p:nvPr/>
        </p:nvGrpSpPr>
        <p:grpSpPr>
          <a:xfrm>
            <a:off x="11282019" y="-500007"/>
            <a:ext cx="1117375" cy="7761574"/>
            <a:chOff x="0" y="-38100"/>
            <a:chExt cx="441432" cy="3066301"/>
          </a:xfrm>
        </p:grpSpPr>
        <p:sp>
          <p:nvSpPr>
            <p:cNvPr id="1646" name="Google Shape;1646;g3ee0adc8e96_6_0"/>
            <p:cNvSpPr/>
            <p:nvPr/>
          </p:nvSpPr>
          <p:spPr>
            <a:xfrm>
              <a:off x="0" y="0"/>
              <a:ext cx="441432" cy="3028201"/>
            </a:xfrm>
            <a:custGeom>
              <a:rect b="b" l="l" r="r" t="t"/>
              <a:pathLst>
                <a:path extrusionOk="0" h="3028201" w="441432">
                  <a:moveTo>
                    <a:pt x="0" y="0"/>
                  </a:moveTo>
                  <a:lnTo>
                    <a:pt x="441432" y="0"/>
                  </a:lnTo>
                  <a:lnTo>
                    <a:pt x="441432" y="3028201"/>
                  </a:lnTo>
                  <a:lnTo>
                    <a:pt x="0" y="3028201"/>
                  </a:lnTo>
                  <a:close/>
                </a:path>
              </a:pathLst>
            </a:custGeom>
            <a:solidFill>
              <a:srgbClr val="EFF1E8"/>
            </a:solidFill>
            <a:ln>
              <a:noFill/>
            </a:ln>
          </p:spPr>
        </p:sp>
        <p:sp>
          <p:nvSpPr>
            <p:cNvPr id="1647" name="Google Shape;1647;g3ee0adc8e96_6_0"/>
            <p:cNvSpPr txBox="1"/>
            <p:nvPr/>
          </p:nvSpPr>
          <p:spPr>
            <a:xfrm>
              <a:off x="0" y="-38100"/>
              <a:ext cx="441432" cy="3066301"/>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cxnSp>
        <p:nvCxnSpPr>
          <p:cNvPr id="1648" name="Google Shape;1648;g3ee0adc8e96_6_0"/>
          <p:cNvCxnSpPr/>
          <p:nvPr/>
        </p:nvCxnSpPr>
        <p:spPr>
          <a:xfrm rot="10800000">
            <a:off x="698500" y="5903637"/>
            <a:ext cx="0" cy="268563"/>
          </a:xfrm>
          <a:prstGeom prst="straightConnector1">
            <a:avLst/>
          </a:prstGeom>
          <a:noFill/>
          <a:ln cap="flat" cmpd="sng" w="38100">
            <a:solidFill>
              <a:srgbClr val="EFF1E8"/>
            </a:solidFill>
            <a:prstDash val="solid"/>
            <a:round/>
            <a:headEnd len="sm" w="sm" type="none"/>
            <a:tailEnd len="sm" w="sm" type="none"/>
          </a:ln>
        </p:spPr>
      </p:cxnSp>
      <p:cxnSp>
        <p:nvCxnSpPr>
          <p:cNvPr id="1649" name="Google Shape;1649;g3ee0adc8e96_6_0"/>
          <p:cNvCxnSpPr/>
          <p:nvPr/>
        </p:nvCxnSpPr>
        <p:spPr>
          <a:xfrm rot="10800000">
            <a:off x="794492" y="5903637"/>
            <a:ext cx="0" cy="268563"/>
          </a:xfrm>
          <a:prstGeom prst="straightConnector1">
            <a:avLst/>
          </a:prstGeom>
          <a:noFill/>
          <a:ln cap="flat" cmpd="sng" w="38100">
            <a:solidFill>
              <a:srgbClr val="EFF1E8"/>
            </a:solidFill>
            <a:prstDash val="solid"/>
            <a:round/>
            <a:headEnd len="sm" w="sm" type="none"/>
            <a:tailEnd len="sm" w="sm" type="none"/>
          </a:ln>
        </p:spPr>
      </p:cxnSp>
      <p:cxnSp>
        <p:nvCxnSpPr>
          <p:cNvPr id="1650" name="Google Shape;1650;g3ee0adc8e96_6_0"/>
          <p:cNvCxnSpPr/>
          <p:nvPr/>
        </p:nvCxnSpPr>
        <p:spPr>
          <a:xfrm rot="10800000">
            <a:off x="890484" y="5903637"/>
            <a:ext cx="0" cy="268563"/>
          </a:xfrm>
          <a:prstGeom prst="straightConnector1">
            <a:avLst/>
          </a:prstGeom>
          <a:noFill/>
          <a:ln cap="flat" cmpd="sng" w="38100">
            <a:solidFill>
              <a:srgbClr val="EFF1E8"/>
            </a:solidFill>
            <a:prstDash val="solid"/>
            <a:round/>
            <a:headEnd len="sm" w="sm" type="none"/>
            <a:tailEnd len="sm" w="sm" type="none"/>
          </a:ln>
        </p:spPr>
      </p:cxnSp>
      <p:cxnSp>
        <p:nvCxnSpPr>
          <p:cNvPr id="1651" name="Google Shape;1651;g3ee0adc8e96_6_0"/>
          <p:cNvCxnSpPr/>
          <p:nvPr/>
        </p:nvCxnSpPr>
        <p:spPr>
          <a:xfrm rot="10800000">
            <a:off x="11301516" y="5903637"/>
            <a:ext cx="0" cy="268563"/>
          </a:xfrm>
          <a:prstGeom prst="straightConnector1">
            <a:avLst/>
          </a:prstGeom>
          <a:noFill/>
          <a:ln cap="flat" cmpd="sng" w="38100">
            <a:solidFill>
              <a:srgbClr val="EFF1E8"/>
            </a:solidFill>
            <a:prstDash val="solid"/>
            <a:round/>
            <a:headEnd len="sm" w="sm" type="none"/>
            <a:tailEnd len="sm" w="sm" type="none"/>
          </a:ln>
        </p:spPr>
      </p:cxnSp>
      <p:cxnSp>
        <p:nvCxnSpPr>
          <p:cNvPr id="1652" name="Google Shape;1652;g3ee0adc8e96_6_0"/>
          <p:cNvCxnSpPr/>
          <p:nvPr/>
        </p:nvCxnSpPr>
        <p:spPr>
          <a:xfrm rot="10800000">
            <a:off x="11397508" y="5903637"/>
            <a:ext cx="0" cy="268563"/>
          </a:xfrm>
          <a:prstGeom prst="straightConnector1">
            <a:avLst/>
          </a:prstGeom>
          <a:noFill/>
          <a:ln cap="flat" cmpd="sng" w="38100">
            <a:solidFill>
              <a:srgbClr val="EFF1E8"/>
            </a:solidFill>
            <a:prstDash val="solid"/>
            <a:round/>
            <a:headEnd len="sm" w="sm" type="none"/>
            <a:tailEnd len="sm" w="sm" type="none"/>
          </a:ln>
        </p:spPr>
      </p:cxnSp>
      <p:cxnSp>
        <p:nvCxnSpPr>
          <p:cNvPr id="1653" name="Google Shape;1653;g3ee0adc8e96_6_0"/>
          <p:cNvCxnSpPr/>
          <p:nvPr/>
        </p:nvCxnSpPr>
        <p:spPr>
          <a:xfrm rot="10800000">
            <a:off x="11493500" y="5903637"/>
            <a:ext cx="0" cy="268563"/>
          </a:xfrm>
          <a:prstGeom prst="straightConnector1">
            <a:avLst/>
          </a:prstGeom>
          <a:noFill/>
          <a:ln cap="flat" cmpd="sng" w="38100">
            <a:solidFill>
              <a:srgbClr val="EFF1E8"/>
            </a:solidFill>
            <a:prstDash val="solid"/>
            <a:round/>
            <a:headEnd len="sm" w="sm" type="none"/>
            <a:tailEnd len="sm" w="sm" type="none"/>
          </a:ln>
        </p:spPr>
      </p:cxnSp>
      <p:sp>
        <p:nvSpPr>
          <p:cNvPr id="1654" name="Google Shape;1654;g3ee0adc8e96_6_0"/>
          <p:cNvSpPr/>
          <p:nvPr/>
        </p:nvSpPr>
        <p:spPr>
          <a:xfrm>
            <a:off x="0" y="3664573"/>
            <a:ext cx="7985892" cy="3193427"/>
          </a:xfrm>
          <a:custGeom>
            <a:rect b="b" l="l" r="r" t="t"/>
            <a:pathLst>
              <a:path extrusionOk="0" h="4790141" w="11978838">
                <a:moveTo>
                  <a:pt x="0" y="0"/>
                </a:moveTo>
                <a:lnTo>
                  <a:pt x="11978838" y="0"/>
                </a:lnTo>
                <a:lnTo>
                  <a:pt x="11978838" y="4790141"/>
                </a:lnTo>
                <a:lnTo>
                  <a:pt x="0" y="4790141"/>
                </a:lnTo>
                <a:lnTo>
                  <a:pt x="0" y="0"/>
                </a:lnTo>
                <a:close/>
              </a:path>
            </a:pathLst>
          </a:custGeom>
          <a:blipFill rotWithShape="1">
            <a:blip r:embed="rId4">
              <a:alphaModFix/>
            </a:blip>
            <a:stretch>
              <a:fillRect b="-3291" l="0" r="0" t="-3291"/>
            </a:stretch>
          </a:blipFill>
          <a:ln>
            <a:noFill/>
          </a:ln>
        </p:spPr>
      </p:sp>
      <p:sp>
        <p:nvSpPr>
          <p:cNvPr id="1655" name="Google Shape;1655;g3ee0adc8e96_6_0"/>
          <p:cNvSpPr txBox="1"/>
          <p:nvPr/>
        </p:nvSpPr>
        <p:spPr>
          <a:xfrm>
            <a:off x="1230920" y="463965"/>
            <a:ext cx="7450333" cy="778055"/>
          </a:xfrm>
          <a:prstGeom prst="rect">
            <a:avLst/>
          </a:prstGeom>
          <a:noFill/>
          <a:ln>
            <a:noFill/>
          </a:ln>
        </p:spPr>
        <p:txBody>
          <a:bodyPr anchorCtr="0" anchor="t" bIns="0" lIns="0" spcFirstLastPara="1" rIns="0" wrap="square" tIns="0">
            <a:spAutoFit/>
          </a:bodyPr>
          <a:lstStyle/>
          <a:p>
            <a:pPr indent="0" lvl="0" marL="0" marR="0" rtl="0" algn="l">
              <a:lnSpc>
                <a:spcPct val="105004"/>
              </a:lnSpc>
              <a:spcBef>
                <a:spcPts val="0"/>
              </a:spcBef>
              <a:spcAft>
                <a:spcPts val="0"/>
              </a:spcAft>
              <a:buNone/>
            </a:pPr>
            <a:r>
              <a:rPr b="1" i="0" lang="en" sz="2900" u="none" cap="none" strike="noStrike">
                <a:solidFill>
                  <a:srgbClr val="EFF1E8"/>
                </a:solidFill>
                <a:latin typeface="Montserrat"/>
                <a:ea typeface="Montserrat"/>
                <a:cs typeface="Montserrat"/>
                <a:sym typeface="Montserrat"/>
              </a:rPr>
              <a:t>Feature Selection &amp; Data Preparation</a:t>
            </a:r>
            <a:endParaRPr sz="900"/>
          </a:p>
          <a:p>
            <a:pPr indent="0" lvl="0" marL="0" marR="0" rtl="0" algn="l">
              <a:lnSpc>
                <a:spcPct val="105004"/>
              </a:lnSpc>
              <a:spcBef>
                <a:spcPts val="0"/>
              </a:spcBef>
              <a:spcAft>
                <a:spcPts val="0"/>
              </a:spcAft>
              <a:buNone/>
            </a:pPr>
            <a:r>
              <a:t/>
            </a:r>
            <a:endParaRPr b="1" i="0" sz="2900" u="none" cap="none" strike="noStrike">
              <a:solidFill>
                <a:srgbClr val="EFF1E8"/>
              </a:solidFill>
              <a:latin typeface="Montserrat"/>
              <a:ea typeface="Montserrat"/>
              <a:cs typeface="Montserrat"/>
              <a:sym typeface="Montserrat"/>
            </a:endParaRPr>
          </a:p>
        </p:txBody>
      </p:sp>
      <p:sp>
        <p:nvSpPr>
          <p:cNvPr id="1656" name="Google Shape;1656;g3ee0adc8e96_6_0"/>
          <p:cNvSpPr txBox="1"/>
          <p:nvPr/>
        </p:nvSpPr>
        <p:spPr>
          <a:xfrm>
            <a:off x="111838" y="895320"/>
            <a:ext cx="7762200" cy="2893500"/>
          </a:xfrm>
          <a:prstGeom prst="rect">
            <a:avLst/>
          </a:prstGeom>
          <a:noFill/>
          <a:ln>
            <a:noFill/>
          </a:ln>
        </p:spPr>
        <p:txBody>
          <a:bodyPr anchorCtr="0" anchor="t" bIns="0" lIns="0" spcFirstLastPara="1" rIns="0" wrap="square" tIns="0">
            <a:spAutoFit/>
          </a:bodyPr>
          <a:lstStyle/>
          <a:p>
            <a:pPr indent="0" lvl="0" marL="0" marR="0" rtl="0" algn="l">
              <a:lnSpc>
                <a:spcPct val="104986"/>
              </a:lnSpc>
              <a:spcBef>
                <a:spcPts val="0"/>
              </a:spcBef>
              <a:spcAft>
                <a:spcPts val="0"/>
              </a:spcAft>
              <a:buNone/>
            </a:pPr>
            <a:r>
              <a:rPr b="1" i="0" lang="en" sz="2000" u="none" cap="none" strike="noStrike">
                <a:solidFill>
                  <a:srgbClr val="FEFEFE"/>
                </a:solidFill>
                <a:latin typeface="Montserrat"/>
                <a:ea typeface="Montserrat"/>
                <a:cs typeface="Montserrat"/>
                <a:sym typeface="Montserrat"/>
              </a:rPr>
              <a:t>Step 1 - Power Transformation:</a:t>
            </a:r>
            <a:endParaRPr sz="900"/>
          </a:p>
          <a:p>
            <a:pPr indent="0" lvl="0" marL="0" marR="0" rtl="0" algn="l">
              <a:lnSpc>
                <a:spcPct val="104986"/>
              </a:lnSpc>
              <a:spcBef>
                <a:spcPts val="0"/>
              </a:spcBef>
              <a:spcAft>
                <a:spcPts val="0"/>
              </a:spcAft>
              <a:buNone/>
            </a:pPr>
            <a:r>
              <a:rPr b="1" i="0" lang="en" sz="2000" u="none" cap="none" strike="noStrike">
                <a:solidFill>
                  <a:srgbClr val="FEFEFE"/>
                </a:solidFill>
                <a:latin typeface="Montserrat"/>
                <a:ea typeface="Montserrat"/>
                <a:cs typeface="Montserrat"/>
                <a:sym typeface="Montserrat"/>
              </a:rPr>
              <a:t>Cost is severely right-skewed. Training on raw dollars destabilises gradients.</a:t>
            </a:r>
            <a:endParaRPr sz="900"/>
          </a:p>
          <a:p>
            <a:pPr indent="0" lvl="0" marL="0" marR="0" rtl="0" algn="l">
              <a:lnSpc>
                <a:spcPct val="104986"/>
              </a:lnSpc>
              <a:spcBef>
                <a:spcPts val="0"/>
              </a:spcBef>
              <a:spcAft>
                <a:spcPts val="0"/>
              </a:spcAft>
              <a:buNone/>
            </a:pPr>
            <a:r>
              <a:rPr b="1" i="0" lang="en" sz="2000" u="none" cap="none" strike="noStrike">
                <a:solidFill>
                  <a:srgbClr val="FEFEFE"/>
                </a:solidFill>
                <a:latin typeface="Montserrat"/>
                <a:ea typeface="Montserrat"/>
                <a:cs typeface="Montserrat"/>
                <a:sym typeface="Montserrat"/>
              </a:rPr>
              <a:t>cost_transformed = cost ** (1/20)  all predictions back-transformed: clip(pred, 0) ** 20</a:t>
            </a:r>
            <a:endParaRPr sz="900"/>
          </a:p>
          <a:p>
            <a:pPr indent="0" lvl="0" marL="0" marR="0" rtl="0" algn="l">
              <a:lnSpc>
                <a:spcPct val="104986"/>
              </a:lnSpc>
              <a:spcBef>
                <a:spcPts val="0"/>
              </a:spcBef>
              <a:spcAft>
                <a:spcPts val="0"/>
              </a:spcAft>
              <a:buNone/>
            </a:pPr>
            <a:r>
              <a:t/>
            </a:r>
            <a:endParaRPr b="1" i="0" sz="2000" u="none" cap="none" strike="noStrike">
              <a:solidFill>
                <a:srgbClr val="FEFEFE"/>
              </a:solidFill>
              <a:latin typeface="Montserrat"/>
              <a:ea typeface="Montserrat"/>
              <a:cs typeface="Montserrat"/>
              <a:sym typeface="Montserrat"/>
            </a:endParaRPr>
          </a:p>
          <a:p>
            <a:pPr indent="0" lvl="0" marL="0" marR="0" rtl="0" algn="l">
              <a:lnSpc>
                <a:spcPct val="104986"/>
              </a:lnSpc>
              <a:spcBef>
                <a:spcPts val="0"/>
              </a:spcBef>
              <a:spcAft>
                <a:spcPts val="0"/>
              </a:spcAft>
              <a:buNone/>
            </a:pPr>
            <a:r>
              <a:rPr b="1" i="0" lang="en" sz="2000" u="none" cap="none" strike="noStrike">
                <a:solidFill>
                  <a:srgbClr val="FEFEFE"/>
                </a:solidFill>
                <a:latin typeface="Montserrat"/>
                <a:ea typeface="Montserrat"/>
                <a:cs typeface="Montserrat"/>
                <a:sym typeface="Montserrat"/>
              </a:rPr>
              <a:t>Step 2 - F-Regression on all 45 numeric features:</a:t>
            </a:r>
            <a:endParaRPr sz="900"/>
          </a:p>
          <a:p>
            <a:pPr indent="0" lvl="0" marL="0" marR="0" rtl="0" algn="l">
              <a:lnSpc>
                <a:spcPct val="104986"/>
              </a:lnSpc>
              <a:spcBef>
                <a:spcPts val="0"/>
              </a:spcBef>
              <a:spcAft>
                <a:spcPts val="0"/>
              </a:spcAft>
              <a:buNone/>
            </a:pPr>
            <a:r>
              <a:rPr b="1" i="0" lang="en" sz="2000" u="none" cap="none" strike="noStrike">
                <a:solidFill>
                  <a:srgbClr val="FEFEFE"/>
                </a:solidFill>
                <a:latin typeface="Montserrat"/>
                <a:ea typeface="Montserrat"/>
                <a:cs typeface="Montserrat"/>
                <a:sym typeface="Montserrat"/>
              </a:rPr>
              <a:t>Selected top 7 by F-Score (all p-values = 0.000):</a:t>
            </a:r>
            <a:endParaRPr sz="900"/>
          </a:p>
          <a:p>
            <a:pPr indent="0" lvl="0" marL="0" marR="0" rtl="0" algn="l">
              <a:lnSpc>
                <a:spcPct val="104986"/>
              </a:lnSpc>
              <a:spcBef>
                <a:spcPts val="0"/>
              </a:spcBef>
              <a:spcAft>
                <a:spcPts val="0"/>
              </a:spcAft>
              <a:buNone/>
            </a:pPr>
            <a:r>
              <a:t/>
            </a:r>
            <a:endParaRPr b="1" i="0" sz="2000" u="none" cap="none" strike="noStrike">
              <a:solidFill>
                <a:srgbClr val="FEFEFE"/>
              </a:solidFill>
              <a:latin typeface="Montserrat"/>
              <a:ea typeface="Montserrat"/>
              <a:cs typeface="Montserrat"/>
              <a:sym typeface="Montserrat"/>
            </a:endParaRPr>
          </a:p>
        </p:txBody>
      </p:sp>
      <p:graphicFrame>
        <p:nvGraphicFramePr>
          <p:cNvPr id="1657" name="Google Shape;1657;g3ee0adc8e96_6_0"/>
          <p:cNvGraphicFramePr/>
          <p:nvPr/>
        </p:nvGraphicFramePr>
        <p:xfrm>
          <a:off x="7762231" y="895319"/>
          <a:ext cx="3000000" cy="3000000"/>
        </p:xfrm>
        <a:graphic>
          <a:graphicData uri="http://schemas.openxmlformats.org/drawingml/2006/table">
            <a:tbl>
              <a:tblPr>
                <a:noFill/>
                <a:tableStyleId>{45EFA893-811E-4007-9D9D-CAB5BEB4294B}</a:tableStyleId>
              </a:tblPr>
              <a:tblGrid>
                <a:gridCol w="1476575"/>
                <a:gridCol w="1476575"/>
                <a:gridCol w="1476575"/>
              </a:tblGrid>
              <a:tr h="41910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Feature</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F-Score</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MI Score</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1910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diameter</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5,907</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0.197</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1910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min_order_quantity</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5,582</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0.621</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1910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quantity</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5,470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0.612</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1910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Total_weight</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3,719</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0.366</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1910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wall</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3,401</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0.165</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1910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length</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940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0.203</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1910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Total_quantity</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398</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0.149</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bl>
          </a:graphicData>
        </a:graphic>
      </p:graphicFrame>
      <p:sp>
        <p:nvSpPr>
          <p:cNvPr id="1658" name="Google Shape;1658;g3ee0adc8e96_6_0"/>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659" name="Google Shape;1659;g3ee0adc8e96_6_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sz="1500"/>
              <a:t>‹#›</a:t>
            </a:fld>
            <a:endParaRPr sz="1500"/>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1663" name="Shape 1663"/>
        <p:cNvGrpSpPr/>
        <p:nvPr/>
      </p:nvGrpSpPr>
      <p:grpSpPr>
        <a:xfrm>
          <a:off x="0" y="0"/>
          <a:ext cx="0" cy="0"/>
          <a:chOff x="0" y="0"/>
          <a:chExt cx="0" cy="0"/>
        </a:xfrm>
      </p:grpSpPr>
      <p:sp>
        <p:nvSpPr>
          <p:cNvPr id="1664" name="Google Shape;1664;g3ee0adc8e96_6_18"/>
          <p:cNvSpPr/>
          <p:nvPr/>
        </p:nvSpPr>
        <p:spPr>
          <a:xfrm>
            <a:off x="10884150" y="-12681"/>
            <a:ext cx="795737" cy="907999"/>
          </a:xfrm>
          <a:custGeom>
            <a:rect b="b" l="l" r="r" t="t"/>
            <a:pathLst>
              <a:path extrusionOk="0" h="1361999" w="1193606">
                <a:moveTo>
                  <a:pt x="0" y="0"/>
                </a:moveTo>
                <a:lnTo>
                  <a:pt x="1193606" y="0"/>
                </a:lnTo>
                <a:lnTo>
                  <a:pt x="1193606" y="1361999"/>
                </a:lnTo>
                <a:lnTo>
                  <a:pt x="0" y="1361999"/>
                </a:lnTo>
                <a:lnTo>
                  <a:pt x="0" y="0"/>
                </a:lnTo>
                <a:close/>
              </a:path>
            </a:pathLst>
          </a:custGeom>
          <a:blipFill rotWithShape="1">
            <a:blip r:embed="rId3">
              <a:alphaModFix/>
            </a:blip>
            <a:stretch>
              <a:fillRect b="0" l="0" r="0" t="0"/>
            </a:stretch>
          </a:blipFill>
          <a:ln>
            <a:noFill/>
          </a:ln>
        </p:spPr>
      </p:sp>
      <p:grpSp>
        <p:nvGrpSpPr>
          <p:cNvPr id="1665" name="Google Shape;1665;g3ee0adc8e96_6_18"/>
          <p:cNvGrpSpPr/>
          <p:nvPr/>
        </p:nvGrpSpPr>
        <p:grpSpPr>
          <a:xfrm>
            <a:off x="11679887" y="-557677"/>
            <a:ext cx="1117375" cy="7761574"/>
            <a:chOff x="0" y="-38100"/>
            <a:chExt cx="441432" cy="3066301"/>
          </a:xfrm>
        </p:grpSpPr>
        <p:sp>
          <p:nvSpPr>
            <p:cNvPr id="1666" name="Google Shape;1666;g3ee0adc8e96_6_18"/>
            <p:cNvSpPr/>
            <p:nvPr/>
          </p:nvSpPr>
          <p:spPr>
            <a:xfrm>
              <a:off x="0" y="0"/>
              <a:ext cx="441432" cy="3028201"/>
            </a:xfrm>
            <a:custGeom>
              <a:rect b="b" l="l" r="r" t="t"/>
              <a:pathLst>
                <a:path extrusionOk="0" h="3028201" w="441432">
                  <a:moveTo>
                    <a:pt x="0" y="0"/>
                  </a:moveTo>
                  <a:lnTo>
                    <a:pt x="441432" y="0"/>
                  </a:lnTo>
                  <a:lnTo>
                    <a:pt x="441432" y="3028201"/>
                  </a:lnTo>
                  <a:lnTo>
                    <a:pt x="0" y="3028201"/>
                  </a:lnTo>
                  <a:close/>
                </a:path>
              </a:pathLst>
            </a:custGeom>
            <a:solidFill>
              <a:srgbClr val="EFF1E8"/>
            </a:solidFill>
            <a:ln>
              <a:noFill/>
            </a:ln>
          </p:spPr>
        </p:sp>
        <p:sp>
          <p:nvSpPr>
            <p:cNvPr id="1667" name="Google Shape;1667;g3ee0adc8e96_6_18"/>
            <p:cNvSpPr txBox="1"/>
            <p:nvPr/>
          </p:nvSpPr>
          <p:spPr>
            <a:xfrm>
              <a:off x="0" y="-38100"/>
              <a:ext cx="441432" cy="3066301"/>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cxnSp>
        <p:nvCxnSpPr>
          <p:cNvPr id="1668" name="Google Shape;1668;g3ee0adc8e96_6_18"/>
          <p:cNvCxnSpPr/>
          <p:nvPr/>
        </p:nvCxnSpPr>
        <p:spPr>
          <a:xfrm rot="10800000">
            <a:off x="698500" y="5903637"/>
            <a:ext cx="0" cy="268563"/>
          </a:xfrm>
          <a:prstGeom prst="straightConnector1">
            <a:avLst/>
          </a:prstGeom>
          <a:noFill/>
          <a:ln cap="flat" cmpd="sng" w="38100">
            <a:solidFill>
              <a:srgbClr val="EFF1E8"/>
            </a:solidFill>
            <a:prstDash val="solid"/>
            <a:round/>
            <a:headEnd len="sm" w="sm" type="none"/>
            <a:tailEnd len="sm" w="sm" type="none"/>
          </a:ln>
        </p:spPr>
      </p:cxnSp>
      <p:cxnSp>
        <p:nvCxnSpPr>
          <p:cNvPr id="1669" name="Google Shape;1669;g3ee0adc8e96_6_18"/>
          <p:cNvCxnSpPr/>
          <p:nvPr/>
        </p:nvCxnSpPr>
        <p:spPr>
          <a:xfrm rot="10800000">
            <a:off x="794492" y="5903637"/>
            <a:ext cx="0" cy="268563"/>
          </a:xfrm>
          <a:prstGeom prst="straightConnector1">
            <a:avLst/>
          </a:prstGeom>
          <a:noFill/>
          <a:ln cap="flat" cmpd="sng" w="38100">
            <a:solidFill>
              <a:srgbClr val="EFF1E8"/>
            </a:solidFill>
            <a:prstDash val="solid"/>
            <a:round/>
            <a:headEnd len="sm" w="sm" type="none"/>
            <a:tailEnd len="sm" w="sm" type="none"/>
          </a:ln>
        </p:spPr>
      </p:cxnSp>
      <p:cxnSp>
        <p:nvCxnSpPr>
          <p:cNvPr id="1670" name="Google Shape;1670;g3ee0adc8e96_6_18"/>
          <p:cNvCxnSpPr/>
          <p:nvPr/>
        </p:nvCxnSpPr>
        <p:spPr>
          <a:xfrm rot="10800000">
            <a:off x="890484" y="5903637"/>
            <a:ext cx="0" cy="268563"/>
          </a:xfrm>
          <a:prstGeom prst="straightConnector1">
            <a:avLst/>
          </a:prstGeom>
          <a:noFill/>
          <a:ln cap="flat" cmpd="sng" w="38100">
            <a:solidFill>
              <a:srgbClr val="EFF1E8"/>
            </a:solidFill>
            <a:prstDash val="solid"/>
            <a:round/>
            <a:headEnd len="sm" w="sm" type="none"/>
            <a:tailEnd len="sm" w="sm" type="none"/>
          </a:ln>
        </p:spPr>
      </p:cxnSp>
      <p:cxnSp>
        <p:nvCxnSpPr>
          <p:cNvPr id="1671" name="Google Shape;1671;g3ee0adc8e96_6_18"/>
          <p:cNvCxnSpPr/>
          <p:nvPr/>
        </p:nvCxnSpPr>
        <p:spPr>
          <a:xfrm rot="10800000">
            <a:off x="11301516" y="5903637"/>
            <a:ext cx="0" cy="268563"/>
          </a:xfrm>
          <a:prstGeom prst="straightConnector1">
            <a:avLst/>
          </a:prstGeom>
          <a:noFill/>
          <a:ln cap="flat" cmpd="sng" w="38100">
            <a:solidFill>
              <a:srgbClr val="EFF1E8"/>
            </a:solidFill>
            <a:prstDash val="solid"/>
            <a:round/>
            <a:headEnd len="sm" w="sm" type="none"/>
            <a:tailEnd len="sm" w="sm" type="none"/>
          </a:ln>
        </p:spPr>
      </p:cxnSp>
      <p:cxnSp>
        <p:nvCxnSpPr>
          <p:cNvPr id="1672" name="Google Shape;1672;g3ee0adc8e96_6_18"/>
          <p:cNvCxnSpPr/>
          <p:nvPr/>
        </p:nvCxnSpPr>
        <p:spPr>
          <a:xfrm rot="10800000">
            <a:off x="11397508" y="5903637"/>
            <a:ext cx="0" cy="268563"/>
          </a:xfrm>
          <a:prstGeom prst="straightConnector1">
            <a:avLst/>
          </a:prstGeom>
          <a:noFill/>
          <a:ln cap="flat" cmpd="sng" w="38100">
            <a:solidFill>
              <a:srgbClr val="EFF1E8"/>
            </a:solidFill>
            <a:prstDash val="solid"/>
            <a:round/>
            <a:headEnd len="sm" w="sm" type="none"/>
            <a:tailEnd len="sm" w="sm" type="none"/>
          </a:ln>
        </p:spPr>
      </p:cxnSp>
      <p:cxnSp>
        <p:nvCxnSpPr>
          <p:cNvPr id="1673" name="Google Shape;1673;g3ee0adc8e96_6_18"/>
          <p:cNvCxnSpPr/>
          <p:nvPr/>
        </p:nvCxnSpPr>
        <p:spPr>
          <a:xfrm rot="10800000">
            <a:off x="11493500" y="5903637"/>
            <a:ext cx="0" cy="268563"/>
          </a:xfrm>
          <a:prstGeom prst="straightConnector1">
            <a:avLst/>
          </a:prstGeom>
          <a:noFill/>
          <a:ln cap="flat" cmpd="sng" w="38100">
            <a:solidFill>
              <a:srgbClr val="EFF1E8"/>
            </a:solidFill>
            <a:prstDash val="solid"/>
            <a:round/>
            <a:headEnd len="sm" w="sm" type="none"/>
            <a:tailEnd len="sm" w="sm" type="none"/>
          </a:ln>
        </p:spPr>
      </p:cxnSp>
      <p:sp>
        <p:nvSpPr>
          <p:cNvPr id="1674" name="Google Shape;1674;g3ee0adc8e96_6_18"/>
          <p:cNvSpPr/>
          <p:nvPr/>
        </p:nvSpPr>
        <p:spPr>
          <a:xfrm>
            <a:off x="0" y="-12681"/>
            <a:ext cx="7002315" cy="3471736"/>
          </a:xfrm>
          <a:custGeom>
            <a:rect b="b" l="l" r="r" t="t"/>
            <a:pathLst>
              <a:path extrusionOk="0" h="5207604" w="10503472">
                <a:moveTo>
                  <a:pt x="0" y="0"/>
                </a:moveTo>
                <a:lnTo>
                  <a:pt x="10503472" y="0"/>
                </a:lnTo>
                <a:lnTo>
                  <a:pt x="10503472" y="5207604"/>
                </a:lnTo>
                <a:lnTo>
                  <a:pt x="0" y="5207604"/>
                </a:lnTo>
                <a:lnTo>
                  <a:pt x="0" y="0"/>
                </a:lnTo>
                <a:close/>
              </a:path>
            </a:pathLst>
          </a:custGeom>
          <a:blipFill rotWithShape="1">
            <a:blip r:embed="rId4">
              <a:alphaModFix/>
            </a:blip>
            <a:stretch>
              <a:fillRect b="0" l="0" r="0" t="0"/>
            </a:stretch>
          </a:blipFill>
          <a:ln>
            <a:noFill/>
          </a:ln>
        </p:spPr>
      </p:sp>
      <p:sp>
        <p:nvSpPr>
          <p:cNvPr id="1675" name="Google Shape;1675;g3ee0adc8e96_6_18"/>
          <p:cNvSpPr/>
          <p:nvPr/>
        </p:nvSpPr>
        <p:spPr>
          <a:xfrm>
            <a:off x="7101753" y="1774257"/>
            <a:ext cx="5090247" cy="1684799"/>
          </a:xfrm>
          <a:custGeom>
            <a:rect b="b" l="l" r="r" t="t"/>
            <a:pathLst>
              <a:path extrusionOk="0" h="2527198" w="7635371">
                <a:moveTo>
                  <a:pt x="0" y="0"/>
                </a:moveTo>
                <a:lnTo>
                  <a:pt x="7635371" y="0"/>
                </a:lnTo>
                <a:lnTo>
                  <a:pt x="7635371" y="2527198"/>
                </a:lnTo>
                <a:lnTo>
                  <a:pt x="0" y="2527198"/>
                </a:lnTo>
                <a:lnTo>
                  <a:pt x="0" y="0"/>
                </a:lnTo>
                <a:close/>
              </a:path>
            </a:pathLst>
          </a:custGeom>
          <a:blipFill rotWithShape="1">
            <a:blip r:embed="rId5">
              <a:alphaModFix/>
            </a:blip>
            <a:stretch>
              <a:fillRect b="0" l="0" r="-41603" t="-2703"/>
            </a:stretch>
          </a:blipFill>
          <a:ln>
            <a:noFill/>
          </a:ln>
        </p:spPr>
      </p:sp>
      <p:sp>
        <p:nvSpPr>
          <p:cNvPr id="1676" name="Google Shape;1676;g3ee0adc8e96_6_18"/>
          <p:cNvSpPr txBox="1"/>
          <p:nvPr/>
        </p:nvSpPr>
        <p:spPr>
          <a:xfrm>
            <a:off x="7293875" y="362016"/>
            <a:ext cx="3988145" cy="956863"/>
          </a:xfrm>
          <a:prstGeom prst="rect">
            <a:avLst/>
          </a:prstGeom>
          <a:noFill/>
          <a:ln>
            <a:noFill/>
          </a:ln>
        </p:spPr>
        <p:txBody>
          <a:bodyPr anchorCtr="0" anchor="t" bIns="0" lIns="0" spcFirstLastPara="1" rIns="0" wrap="square" tIns="0">
            <a:spAutoFit/>
          </a:bodyPr>
          <a:lstStyle/>
          <a:p>
            <a:pPr indent="0" lvl="0" marL="0" marR="0" rtl="0" algn="l">
              <a:lnSpc>
                <a:spcPct val="104997"/>
              </a:lnSpc>
              <a:spcBef>
                <a:spcPts val="0"/>
              </a:spcBef>
              <a:spcAft>
                <a:spcPts val="0"/>
              </a:spcAft>
              <a:buNone/>
            </a:pPr>
            <a:r>
              <a:rPr b="1" i="0" lang="en" sz="3600" u="none" cap="none" strike="noStrike">
                <a:solidFill>
                  <a:srgbClr val="EFF1E8"/>
                </a:solidFill>
                <a:latin typeface="Montserrat"/>
                <a:ea typeface="Montserrat"/>
                <a:cs typeface="Montserrat"/>
                <a:sym typeface="Montserrat"/>
              </a:rPr>
              <a:t>3-Way Split &amp;</a:t>
            </a:r>
            <a:endParaRPr sz="900"/>
          </a:p>
          <a:p>
            <a:pPr indent="0" lvl="0" marL="0" marR="0" rtl="0" algn="l">
              <a:lnSpc>
                <a:spcPct val="104997"/>
              </a:lnSpc>
              <a:spcBef>
                <a:spcPts val="0"/>
              </a:spcBef>
              <a:spcAft>
                <a:spcPts val="0"/>
              </a:spcAft>
              <a:buNone/>
            </a:pPr>
            <a:r>
              <a:rPr b="1" i="0" lang="en" sz="3600" u="none" cap="none" strike="noStrike">
                <a:solidFill>
                  <a:srgbClr val="EFF1E8"/>
                </a:solidFill>
                <a:latin typeface="Montserrat"/>
                <a:ea typeface="Montserrat"/>
                <a:cs typeface="Montserrat"/>
                <a:sym typeface="Montserrat"/>
              </a:rPr>
              <a:t> Pipeline Design</a:t>
            </a:r>
            <a:endParaRPr sz="900"/>
          </a:p>
        </p:txBody>
      </p:sp>
      <p:sp>
        <p:nvSpPr>
          <p:cNvPr id="1677" name="Google Shape;1677;g3ee0adc8e96_6_18"/>
          <p:cNvSpPr txBox="1"/>
          <p:nvPr/>
        </p:nvSpPr>
        <p:spPr>
          <a:xfrm>
            <a:off x="6405821" y="3960705"/>
            <a:ext cx="5274067" cy="2078942"/>
          </a:xfrm>
          <a:prstGeom prst="rect">
            <a:avLst/>
          </a:prstGeom>
          <a:noFill/>
          <a:ln>
            <a:noFill/>
          </a:ln>
        </p:spPr>
        <p:txBody>
          <a:bodyPr anchorCtr="0" anchor="t" bIns="0" lIns="0" spcFirstLastPara="1" rIns="0" wrap="square" tIns="0">
            <a:spAutoFit/>
          </a:bodyPr>
          <a:lstStyle/>
          <a:p>
            <a:pPr indent="0" lvl="0" marL="0" marR="0" rtl="0" algn="l">
              <a:lnSpc>
                <a:spcPct val="105004"/>
              </a:lnSpc>
              <a:spcBef>
                <a:spcPts val="0"/>
              </a:spcBef>
              <a:spcAft>
                <a:spcPts val="0"/>
              </a:spcAft>
              <a:buNone/>
            </a:pPr>
            <a:r>
              <a:rPr b="1" i="0" lang="en" sz="3100" u="none" cap="none" strike="noStrike">
                <a:solidFill>
                  <a:srgbClr val="EFF1E8"/>
                </a:solidFill>
                <a:latin typeface="Montserrat"/>
                <a:ea typeface="Montserrat"/>
                <a:cs typeface="Montserrat"/>
                <a:sym typeface="Montserrat"/>
              </a:rPr>
              <a:t>StandardScaler inside the pipeline ensures the scaler is fitted only on training data never on validation or test rows.</a:t>
            </a:r>
            <a:endParaRPr sz="900"/>
          </a:p>
        </p:txBody>
      </p:sp>
      <p:graphicFrame>
        <p:nvGraphicFramePr>
          <p:cNvPr id="1678" name="Google Shape;1678;g3ee0adc8e96_6_18"/>
          <p:cNvGraphicFramePr/>
          <p:nvPr/>
        </p:nvGraphicFramePr>
        <p:xfrm>
          <a:off x="0" y="3619211"/>
          <a:ext cx="3000000" cy="3000000"/>
        </p:xfrm>
        <a:graphic>
          <a:graphicData uri="http://schemas.openxmlformats.org/drawingml/2006/table">
            <a:tbl>
              <a:tblPr>
                <a:noFill/>
                <a:tableStyleId>{45EFA893-811E-4007-9D9D-CAB5BEB4294B}</a:tableStyleId>
              </a:tblPr>
              <a:tblGrid>
                <a:gridCol w="1464900"/>
                <a:gridCol w="1464900"/>
                <a:gridCol w="1464900"/>
                <a:gridCol w="1464900"/>
              </a:tblGrid>
              <a:tr h="809700">
                <a:tc>
                  <a:txBody>
                    <a:bodyPr/>
                    <a:lstStyle/>
                    <a:p>
                      <a:pPr indent="0" lvl="0" marL="0" marR="0" rtl="0" algn="l">
                        <a:lnSpc>
                          <a:spcPct val="140000"/>
                        </a:lnSpc>
                        <a:spcBef>
                          <a:spcPts val="0"/>
                        </a:spcBef>
                        <a:spcAft>
                          <a:spcPts val="0"/>
                        </a:spcAft>
                        <a:buNone/>
                      </a:pPr>
                      <a:r>
                        <a:rPr lang="en" sz="1500" u="none" cap="none" strike="noStrike">
                          <a:solidFill>
                            <a:srgbClr val="000000"/>
                          </a:solidFill>
                          <a:latin typeface="Arial"/>
                          <a:ea typeface="Arial"/>
                          <a:cs typeface="Arial"/>
                          <a:sym typeface="Arial"/>
                        </a:rPr>
                        <a:t>Set</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500" u="none" cap="none" strike="noStrike">
                          <a:solidFill>
                            <a:srgbClr val="000000"/>
                          </a:solidFill>
                          <a:latin typeface="Arial"/>
                          <a:ea typeface="Arial"/>
                          <a:cs typeface="Arial"/>
                          <a:sym typeface="Arial"/>
                        </a:rPr>
                        <a:t>Rows</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500" u="none" cap="none" strike="noStrike">
                          <a:solidFill>
                            <a:srgbClr val="000000"/>
                          </a:solidFill>
                          <a:latin typeface="Arial"/>
                          <a:ea typeface="Arial"/>
                          <a:cs typeface="Arial"/>
                          <a:sym typeface="Arial"/>
                        </a:rPr>
                        <a:t>Share</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500" u="none" cap="none" strike="noStrike">
                          <a:solidFill>
                            <a:srgbClr val="000000"/>
                          </a:solidFill>
                          <a:latin typeface="Arial"/>
                          <a:ea typeface="Arial"/>
                          <a:cs typeface="Arial"/>
                          <a:sym typeface="Arial"/>
                        </a:rPr>
                        <a:t>Purpose</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809700">
                <a:tc>
                  <a:txBody>
                    <a:bodyPr/>
                    <a:lstStyle/>
                    <a:p>
                      <a:pPr indent="0" lvl="0" marL="0" marR="0" rtl="0" algn="l">
                        <a:lnSpc>
                          <a:spcPct val="140000"/>
                        </a:lnSpc>
                        <a:spcBef>
                          <a:spcPts val="0"/>
                        </a:spcBef>
                        <a:spcAft>
                          <a:spcPts val="0"/>
                        </a:spcAft>
                        <a:buNone/>
                      </a:pPr>
                      <a:r>
                        <a:rPr lang="en" sz="1500" u="none" cap="none" strike="noStrike">
                          <a:solidFill>
                            <a:srgbClr val="000000"/>
                          </a:solidFill>
                          <a:latin typeface="Arial"/>
                          <a:ea typeface="Arial"/>
                          <a:cs typeface="Arial"/>
                          <a:sym typeface="Arial"/>
                        </a:rPr>
                        <a:t>Training</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500" u="none" cap="none" strike="noStrike">
                          <a:solidFill>
                            <a:srgbClr val="000000"/>
                          </a:solidFill>
                          <a:latin typeface="Arial"/>
                          <a:ea typeface="Arial"/>
                          <a:cs typeface="Arial"/>
                          <a:sym typeface="Arial"/>
                        </a:rPr>
                        <a:t>18,127</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500" u="none" cap="none" strike="noStrike">
                          <a:solidFill>
                            <a:srgbClr val="000000"/>
                          </a:solidFill>
                          <a:latin typeface="Arial"/>
                          <a:ea typeface="Arial"/>
                          <a:cs typeface="Arial"/>
                          <a:sym typeface="Arial"/>
                        </a:rPr>
                        <a:t>60%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500" u="none" cap="none" strike="noStrike">
                          <a:solidFill>
                            <a:srgbClr val="000000"/>
                          </a:solidFill>
                          <a:latin typeface="Arial"/>
                          <a:ea typeface="Arial"/>
                          <a:cs typeface="Arial"/>
                          <a:sym typeface="Arial"/>
                        </a:rPr>
                        <a:t>Model fitting + cross-validation</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809700">
                <a:tc>
                  <a:txBody>
                    <a:bodyPr/>
                    <a:lstStyle/>
                    <a:p>
                      <a:pPr indent="0" lvl="0" marL="0" marR="0" rtl="0" algn="l">
                        <a:lnSpc>
                          <a:spcPct val="140000"/>
                        </a:lnSpc>
                        <a:spcBef>
                          <a:spcPts val="0"/>
                        </a:spcBef>
                        <a:spcAft>
                          <a:spcPts val="0"/>
                        </a:spcAft>
                        <a:buNone/>
                      </a:pPr>
                      <a:r>
                        <a:rPr lang="en" sz="1500" u="none" cap="none" strike="noStrike">
                          <a:solidFill>
                            <a:srgbClr val="000000"/>
                          </a:solidFill>
                          <a:latin typeface="Arial"/>
                          <a:ea typeface="Arial"/>
                          <a:cs typeface="Arial"/>
                          <a:sym typeface="Arial"/>
                        </a:rPr>
                        <a:t>Validation</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500" u="none" cap="none" strike="noStrike">
                          <a:solidFill>
                            <a:srgbClr val="000000"/>
                          </a:solidFill>
                          <a:latin typeface="Arial"/>
                          <a:ea typeface="Arial"/>
                          <a:cs typeface="Arial"/>
                          <a:sym typeface="Arial"/>
                        </a:rPr>
                        <a:t>6,043</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500" u="none" cap="none" strike="noStrike">
                          <a:solidFill>
                            <a:srgbClr val="000000"/>
                          </a:solidFill>
                          <a:latin typeface="Arial"/>
                          <a:ea typeface="Arial"/>
                          <a:cs typeface="Arial"/>
                          <a:sym typeface="Arial"/>
                        </a:rPr>
                        <a:t>20%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500" u="none" cap="none" strike="noStrike">
                          <a:solidFill>
                            <a:srgbClr val="000000"/>
                          </a:solidFill>
                          <a:latin typeface="Arial"/>
                          <a:ea typeface="Arial"/>
                          <a:cs typeface="Arial"/>
                          <a:sym typeface="Arial"/>
                        </a:rPr>
                        <a:t>Comparing tuned models</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809700">
                <a:tc>
                  <a:txBody>
                    <a:bodyPr/>
                    <a:lstStyle/>
                    <a:p>
                      <a:pPr indent="0" lvl="0" marL="0" marR="0" rtl="0" algn="l">
                        <a:lnSpc>
                          <a:spcPct val="140000"/>
                        </a:lnSpc>
                        <a:spcBef>
                          <a:spcPts val="0"/>
                        </a:spcBef>
                        <a:spcAft>
                          <a:spcPts val="0"/>
                        </a:spcAft>
                        <a:buNone/>
                      </a:pPr>
                      <a:r>
                        <a:rPr b="1" lang="en" sz="1500" u="none" cap="none" strike="noStrike">
                          <a:solidFill>
                            <a:srgbClr val="000000"/>
                          </a:solidFill>
                          <a:latin typeface="Arial"/>
                          <a:ea typeface="Arial"/>
                          <a:cs typeface="Arial"/>
                          <a:sym typeface="Arial"/>
                        </a:rPr>
                        <a:t>Test</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b="1" lang="en" sz="1500" u="none" cap="none" strike="noStrike">
                          <a:solidFill>
                            <a:srgbClr val="000000"/>
                          </a:solidFill>
                          <a:latin typeface="Arial"/>
                          <a:ea typeface="Arial"/>
                          <a:cs typeface="Arial"/>
                          <a:sym typeface="Arial"/>
                        </a:rPr>
                        <a:t>6,043</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b="1" lang="en" sz="1500" u="none" cap="none" strike="noStrike">
                          <a:solidFill>
                            <a:srgbClr val="000000"/>
                          </a:solidFill>
                          <a:latin typeface="Arial"/>
                          <a:ea typeface="Arial"/>
                          <a:cs typeface="Arial"/>
                          <a:sym typeface="Arial"/>
                        </a:rPr>
                        <a:t>20%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b="1" lang="en" sz="1500" u="none" cap="none" strike="noStrike">
                          <a:solidFill>
                            <a:srgbClr val="000000"/>
                          </a:solidFill>
                          <a:latin typeface="Arial"/>
                          <a:ea typeface="Arial"/>
                          <a:cs typeface="Arial"/>
                          <a:sym typeface="Arial"/>
                        </a:rPr>
                        <a:t>SEALED, opened once in Phase 5</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bl>
          </a:graphicData>
        </a:graphic>
      </p:graphicFrame>
      <p:sp>
        <p:nvSpPr>
          <p:cNvPr id="1679" name="Google Shape;1679;g3ee0adc8e96_6_18"/>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680" name="Google Shape;1680;g3ee0adc8e96_6_18"/>
          <p:cNvSpPr txBox="1"/>
          <p:nvPr>
            <p:ph idx="12" type="sldNum"/>
          </p:nvPr>
        </p:nvSpPr>
        <p:spPr>
          <a:xfrm>
            <a:off x="11493511" y="6172198"/>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sz="1500"/>
              <a:t>‹#›</a:t>
            </a:fld>
            <a:endParaRPr sz="1500"/>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1E8"/>
        </a:solidFill>
      </p:bgPr>
    </p:bg>
    <p:spTree>
      <p:nvGrpSpPr>
        <p:cNvPr id="1684" name="Shape 1684"/>
        <p:cNvGrpSpPr/>
        <p:nvPr/>
      </p:nvGrpSpPr>
      <p:grpSpPr>
        <a:xfrm>
          <a:off x="0" y="0"/>
          <a:ext cx="0" cy="0"/>
          <a:chOff x="0" y="0"/>
          <a:chExt cx="0" cy="0"/>
        </a:xfrm>
      </p:grpSpPr>
      <p:sp>
        <p:nvSpPr>
          <p:cNvPr id="1685" name="Google Shape;1685;g3ee0adc8e96_6_36"/>
          <p:cNvSpPr/>
          <p:nvPr/>
        </p:nvSpPr>
        <p:spPr>
          <a:xfrm>
            <a:off x="10824561" y="-258655"/>
            <a:ext cx="1363278" cy="1152311"/>
          </a:xfrm>
          <a:custGeom>
            <a:rect b="b" l="l" r="r" t="t"/>
            <a:pathLst>
              <a:path extrusionOk="0" h="1728467" w="2044917">
                <a:moveTo>
                  <a:pt x="0" y="0"/>
                </a:moveTo>
                <a:lnTo>
                  <a:pt x="2044916" y="0"/>
                </a:lnTo>
                <a:lnTo>
                  <a:pt x="2044916" y="1728467"/>
                </a:lnTo>
                <a:lnTo>
                  <a:pt x="0" y="1728467"/>
                </a:lnTo>
                <a:lnTo>
                  <a:pt x="0" y="0"/>
                </a:lnTo>
                <a:close/>
              </a:path>
            </a:pathLst>
          </a:custGeom>
          <a:blipFill rotWithShape="1">
            <a:blip r:embed="rId3">
              <a:alphaModFix/>
            </a:blip>
            <a:stretch>
              <a:fillRect b="0" l="0" r="0" t="0"/>
            </a:stretch>
          </a:blipFill>
          <a:ln>
            <a:noFill/>
          </a:ln>
        </p:spPr>
      </p:sp>
      <p:sp>
        <p:nvSpPr>
          <p:cNvPr id="1686" name="Google Shape;1686;g3ee0adc8e96_6_36"/>
          <p:cNvSpPr/>
          <p:nvPr/>
        </p:nvSpPr>
        <p:spPr>
          <a:xfrm>
            <a:off x="6100161" y="1371121"/>
            <a:ext cx="6091839" cy="3645697"/>
          </a:xfrm>
          <a:custGeom>
            <a:rect b="b" l="l" r="r" t="t"/>
            <a:pathLst>
              <a:path extrusionOk="0" h="5468546" w="9137758">
                <a:moveTo>
                  <a:pt x="0" y="0"/>
                </a:moveTo>
                <a:lnTo>
                  <a:pt x="9137758" y="0"/>
                </a:lnTo>
                <a:lnTo>
                  <a:pt x="9137758" y="5468546"/>
                </a:lnTo>
                <a:lnTo>
                  <a:pt x="0" y="5468546"/>
                </a:lnTo>
                <a:lnTo>
                  <a:pt x="0" y="0"/>
                </a:lnTo>
                <a:close/>
              </a:path>
            </a:pathLst>
          </a:custGeom>
          <a:blipFill rotWithShape="1">
            <a:blip r:embed="rId4">
              <a:alphaModFix/>
            </a:blip>
            <a:stretch>
              <a:fillRect b="-3642" l="0" r="0" t="0"/>
            </a:stretch>
          </a:blipFill>
          <a:ln>
            <a:noFill/>
          </a:ln>
        </p:spPr>
      </p:sp>
      <p:sp>
        <p:nvSpPr>
          <p:cNvPr id="1687" name="Google Shape;1687;g3ee0adc8e96_6_36"/>
          <p:cNvSpPr txBox="1"/>
          <p:nvPr/>
        </p:nvSpPr>
        <p:spPr>
          <a:xfrm>
            <a:off x="373282" y="25400"/>
            <a:ext cx="8736512" cy="4110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2900" u="none" cap="none" strike="noStrike">
                <a:solidFill>
                  <a:srgbClr val="343734"/>
                </a:solidFill>
                <a:latin typeface="Montserrat"/>
                <a:ea typeface="Montserrat"/>
                <a:cs typeface="Montserrat"/>
                <a:sym typeface="Montserrat"/>
              </a:rPr>
              <a:t>PERFORMANCE ANALYSIS, INITIAL MODEL</a:t>
            </a:r>
            <a:endParaRPr sz="900"/>
          </a:p>
        </p:txBody>
      </p:sp>
      <p:sp>
        <p:nvSpPr>
          <p:cNvPr id="1688" name="Google Shape;1688;g3ee0adc8e96_6_36"/>
          <p:cNvSpPr txBox="1"/>
          <p:nvPr/>
        </p:nvSpPr>
        <p:spPr>
          <a:xfrm>
            <a:off x="0" y="4960619"/>
            <a:ext cx="8880672" cy="1897381"/>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None/>
            </a:pPr>
            <a:r>
              <a:rPr b="0" i="0" lang="en" sz="1800" u="none" cap="none" strike="noStrike">
                <a:solidFill>
                  <a:srgbClr val="343734"/>
                </a:solidFill>
                <a:latin typeface="Arial"/>
                <a:ea typeface="Arial"/>
                <a:cs typeface="Arial"/>
                <a:sym typeface="Arial"/>
              </a:rPr>
              <a:t>Key finding: Validation R² alone is misleading — Model A appears better (0.22 vs 0.01). But 5-fold CV reveals Model B is 43% more consistent across data subsets (0.37 vs 0.26). Cross-validation is essential when cost outliers cluster in one split</a:t>
            </a:r>
            <a:endParaRPr sz="900"/>
          </a:p>
          <a:p>
            <a:pPr indent="0" lvl="0" marL="0" marR="0" rtl="0" algn="just">
              <a:lnSpc>
                <a:spcPct val="140014"/>
              </a:lnSpc>
              <a:spcBef>
                <a:spcPts val="0"/>
              </a:spcBef>
              <a:spcAft>
                <a:spcPts val="0"/>
              </a:spcAft>
              <a:buNone/>
            </a:pPr>
            <a:r>
              <a:t/>
            </a:r>
            <a:endParaRPr b="0" i="0" sz="1800" u="none" cap="none" strike="noStrike">
              <a:solidFill>
                <a:srgbClr val="343734"/>
              </a:solidFill>
              <a:latin typeface="Arial"/>
              <a:ea typeface="Arial"/>
              <a:cs typeface="Arial"/>
              <a:sym typeface="Arial"/>
            </a:endParaRPr>
          </a:p>
          <a:p>
            <a:pPr indent="0" lvl="0" marL="0" marR="0" rtl="0" algn="just">
              <a:lnSpc>
                <a:spcPct val="140014"/>
              </a:lnSpc>
              <a:spcBef>
                <a:spcPts val="0"/>
              </a:spcBef>
              <a:spcAft>
                <a:spcPts val="0"/>
              </a:spcAft>
              <a:buNone/>
            </a:pPr>
            <a:r>
              <a:rPr b="0" i="0" lang="en" sz="1800" u="none" cap="none" strike="noStrike">
                <a:solidFill>
                  <a:srgbClr val="343734"/>
                </a:solidFill>
                <a:latin typeface="Arial"/>
                <a:ea typeface="Arial"/>
                <a:cs typeface="Arial"/>
                <a:sym typeface="Arial"/>
              </a:rPr>
              <a:t>➡ Model B (power-transformed) selected for all tuning.</a:t>
            </a:r>
            <a:endParaRPr sz="900"/>
          </a:p>
          <a:p>
            <a:pPr indent="0" lvl="0" marL="0" marR="0" rtl="0" algn="just">
              <a:lnSpc>
                <a:spcPct val="140014"/>
              </a:lnSpc>
              <a:spcBef>
                <a:spcPts val="0"/>
              </a:spcBef>
              <a:spcAft>
                <a:spcPts val="0"/>
              </a:spcAft>
              <a:buNone/>
            </a:pPr>
            <a:r>
              <a:t/>
            </a:r>
            <a:endParaRPr b="0" i="0" sz="1800" u="none" cap="none" strike="noStrike">
              <a:solidFill>
                <a:srgbClr val="343734"/>
              </a:solidFill>
              <a:latin typeface="Arial"/>
              <a:ea typeface="Arial"/>
              <a:cs typeface="Arial"/>
              <a:sym typeface="Arial"/>
            </a:endParaRPr>
          </a:p>
        </p:txBody>
      </p:sp>
      <p:sp>
        <p:nvSpPr>
          <p:cNvPr id="1689" name="Google Shape;1689;g3ee0adc8e96_6_36"/>
          <p:cNvSpPr txBox="1"/>
          <p:nvPr/>
        </p:nvSpPr>
        <p:spPr>
          <a:xfrm>
            <a:off x="0" y="455510"/>
            <a:ext cx="5565114" cy="389252"/>
          </a:xfrm>
          <a:prstGeom prst="rect">
            <a:avLst/>
          </a:prstGeom>
          <a:noFill/>
          <a:ln>
            <a:noFill/>
          </a:ln>
        </p:spPr>
        <p:txBody>
          <a:bodyPr anchorCtr="0" anchor="t" bIns="0" lIns="0" spcFirstLastPara="1" rIns="0" wrap="square" tIns="0">
            <a:spAutoFit/>
          </a:bodyPr>
          <a:lstStyle/>
          <a:p>
            <a:pPr indent="0" lvl="0" marL="0" marR="0" rtl="0" algn="l">
              <a:lnSpc>
                <a:spcPct val="105025"/>
              </a:lnSpc>
              <a:spcBef>
                <a:spcPts val="0"/>
              </a:spcBef>
              <a:spcAft>
                <a:spcPts val="0"/>
              </a:spcAft>
              <a:buNone/>
            </a:pPr>
            <a:r>
              <a:rPr b="1" i="0" lang="en" sz="1400" u="none" cap="none" strike="noStrike">
                <a:solidFill>
                  <a:srgbClr val="343734"/>
                </a:solidFill>
                <a:latin typeface="Montserrat"/>
                <a:ea typeface="Montserrat"/>
                <a:cs typeface="Montserrat"/>
                <a:sym typeface="Montserrat"/>
              </a:rPr>
              <a:t> LR Baseline: Model A vs Model B</a:t>
            </a:r>
            <a:endParaRPr sz="900"/>
          </a:p>
          <a:p>
            <a:pPr indent="0" lvl="0" marL="0" marR="0" rtl="0" algn="l">
              <a:lnSpc>
                <a:spcPct val="105025"/>
              </a:lnSpc>
              <a:spcBef>
                <a:spcPts val="0"/>
              </a:spcBef>
              <a:spcAft>
                <a:spcPts val="0"/>
              </a:spcAft>
              <a:buNone/>
            </a:pPr>
            <a:r>
              <a:rPr b="1" i="0" lang="en" sz="1400" u="none" cap="none" strike="noStrike">
                <a:solidFill>
                  <a:srgbClr val="343734"/>
                </a:solidFill>
                <a:latin typeface="Montserrat"/>
                <a:ea typeface="Montserrat"/>
                <a:cs typeface="Montserrat"/>
                <a:sym typeface="Montserrat"/>
              </a:rPr>
              <a:t>Two baselines trained to justify the transformation choice:</a:t>
            </a:r>
            <a:endParaRPr sz="900"/>
          </a:p>
        </p:txBody>
      </p:sp>
      <p:graphicFrame>
        <p:nvGraphicFramePr>
          <p:cNvPr id="1690" name="Google Shape;1690;g3ee0adc8e96_6_36"/>
          <p:cNvGraphicFramePr/>
          <p:nvPr/>
        </p:nvGraphicFramePr>
        <p:xfrm>
          <a:off x="0" y="1035701"/>
          <a:ext cx="3000000" cy="3000000"/>
        </p:xfrm>
        <a:graphic>
          <a:graphicData uri="http://schemas.openxmlformats.org/drawingml/2006/table">
            <a:tbl>
              <a:tblPr>
                <a:noFill/>
                <a:tableStyleId>{45EFA893-811E-4007-9D9D-CAB5BEB4294B}</a:tableStyleId>
              </a:tblPr>
              <a:tblGrid>
                <a:gridCol w="1169750"/>
                <a:gridCol w="1169750"/>
                <a:gridCol w="1169750"/>
                <a:gridCol w="1169750"/>
                <a:gridCol w="1169750"/>
              </a:tblGrid>
              <a:tr h="124460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Model</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Val MAE ($)</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Val RMSE ($)</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Val R²</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5-Fold CV R²</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124460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Model A — raw cost</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$10.04</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$27.71</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0.222</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0.262</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1244600">
                <a:tc>
                  <a:txBody>
                    <a:bodyPr/>
                    <a:lstStyle/>
                    <a:p>
                      <a:pPr indent="0" lvl="0" marL="0" marR="0" rtl="0" algn="l">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Model B — cost^(1/20)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$8.70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$31.26</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0.01</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0.373</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bl>
          </a:graphicData>
        </a:graphic>
      </p:graphicFrame>
      <p:sp>
        <p:nvSpPr>
          <p:cNvPr id="1691" name="Google Shape;1691;g3ee0adc8e96_6_36"/>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692" name="Google Shape;1692;g3ee0adc8e96_6_3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sz="1500"/>
              <a:t>‹#›</a:t>
            </a:fld>
            <a:endParaRPr sz="1500"/>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1E8"/>
        </a:solidFill>
      </p:bgPr>
    </p:bg>
    <p:spTree>
      <p:nvGrpSpPr>
        <p:cNvPr id="1696" name="Shape 1696"/>
        <p:cNvGrpSpPr/>
        <p:nvPr/>
      </p:nvGrpSpPr>
      <p:grpSpPr>
        <a:xfrm>
          <a:off x="0" y="0"/>
          <a:ext cx="0" cy="0"/>
          <a:chOff x="0" y="0"/>
          <a:chExt cx="0" cy="0"/>
        </a:xfrm>
      </p:grpSpPr>
      <p:sp>
        <p:nvSpPr>
          <p:cNvPr id="1697" name="Google Shape;1697;g3ee0adc8e96_6_45"/>
          <p:cNvSpPr/>
          <p:nvPr/>
        </p:nvSpPr>
        <p:spPr>
          <a:xfrm flipH="1">
            <a:off x="-328860" y="3243373"/>
            <a:ext cx="2536345" cy="3729919"/>
          </a:xfrm>
          <a:custGeom>
            <a:rect b="b" l="l" r="r" t="t"/>
            <a:pathLst>
              <a:path extrusionOk="0" h="5594879" w="3804517">
                <a:moveTo>
                  <a:pt x="3804517" y="0"/>
                </a:moveTo>
                <a:lnTo>
                  <a:pt x="0" y="0"/>
                </a:lnTo>
                <a:lnTo>
                  <a:pt x="0" y="5594879"/>
                </a:lnTo>
                <a:lnTo>
                  <a:pt x="3804517" y="5594879"/>
                </a:lnTo>
                <a:lnTo>
                  <a:pt x="3804517" y="0"/>
                </a:lnTo>
                <a:close/>
              </a:path>
            </a:pathLst>
          </a:custGeom>
          <a:blipFill rotWithShape="1">
            <a:blip r:embed="rId3">
              <a:alphaModFix/>
            </a:blip>
            <a:stretch>
              <a:fillRect b="0" l="0" r="0" t="0"/>
            </a:stretch>
          </a:blipFill>
          <a:ln>
            <a:noFill/>
          </a:ln>
        </p:spPr>
      </p:sp>
      <p:sp>
        <p:nvSpPr>
          <p:cNvPr id="1698" name="Google Shape;1698;g3ee0adc8e96_6_45"/>
          <p:cNvSpPr/>
          <p:nvPr/>
        </p:nvSpPr>
        <p:spPr>
          <a:xfrm>
            <a:off x="217171" y="729403"/>
            <a:ext cx="6990749" cy="4237169"/>
          </a:xfrm>
          <a:custGeom>
            <a:rect b="b" l="l" r="r" t="t"/>
            <a:pathLst>
              <a:path extrusionOk="0" h="6355754" w="10486123">
                <a:moveTo>
                  <a:pt x="0" y="0"/>
                </a:moveTo>
                <a:lnTo>
                  <a:pt x="10486123" y="0"/>
                </a:lnTo>
                <a:lnTo>
                  <a:pt x="10486123" y="6355753"/>
                </a:lnTo>
                <a:lnTo>
                  <a:pt x="0" y="6355753"/>
                </a:lnTo>
                <a:lnTo>
                  <a:pt x="0" y="0"/>
                </a:lnTo>
                <a:close/>
              </a:path>
            </a:pathLst>
          </a:custGeom>
          <a:blipFill rotWithShape="1">
            <a:blip r:embed="rId4">
              <a:alphaModFix/>
            </a:blip>
            <a:stretch>
              <a:fillRect b="-1166" l="0" r="0" t="-1166"/>
            </a:stretch>
          </a:blipFill>
          <a:ln>
            <a:noFill/>
          </a:ln>
        </p:spPr>
      </p:sp>
      <p:sp>
        <p:nvSpPr>
          <p:cNvPr id="1699" name="Google Shape;1699;g3ee0adc8e96_6_45"/>
          <p:cNvSpPr txBox="1"/>
          <p:nvPr/>
        </p:nvSpPr>
        <p:spPr>
          <a:xfrm>
            <a:off x="2721190" y="405917"/>
            <a:ext cx="5229633" cy="578815"/>
          </a:xfrm>
          <a:prstGeom prst="rect">
            <a:avLst/>
          </a:prstGeom>
          <a:noFill/>
          <a:ln>
            <a:noFill/>
          </a:ln>
        </p:spPr>
        <p:txBody>
          <a:bodyPr anchorCtr="0" anchor="t" bIns="0" lIns="0" spcFirstLastPara="1" rIns="0" wrap="square" tIns="0">
            <a:spAutoFit/>
          </a:bodyPr>
          <a:lstStyle/>
          <a:p>
            <a:pPr indent="0" lvl="0" marL="0" marR="0" rtl="0" algn="l">
              <a:lnSpc>
                <a:spcPct val="109996"/>
              </a:lnSpc>
              <a:spcBef>
                <a:spcPts val="0"/>
              </a:spcBef>
              <a:spcAft>
                <a:spcPts val="0"/>
              </a:spcAft>
              <a:buNone/>
            </a:pPr>
            <a:r>
              <a:rPr b="1" i="0" lang="en" sz="2000" u="none" cap="none" strike="noStrike">
                <a:solidFill>
                  <a:srgbClr val="343734"/>
                </a:solidFill>
                <a:latin typeface="Montserrat"/>
                <a:ea typeface="Montserrat"/>
                <a:cs typeface="Montserrat"/>
                <a:sym typeface="Montserrat"/>
              </a:rPr>
              <a:t>KNN Baseline + Tuning</a:t>
            </a:r>
            <a:endParaRPr sz="900"/>
          </a:p>
          <a:p>
            <a:pPr indent="0" lvl="0" marL="0" marR="0" rtl="0" algn="l">
              <a:lnSpc>
                <a:spcPct val="109996"/>
              </a:lnSpc>
              <a:spcBef>
                <a:spcPts val="0"/>
              </a:spcBef>
              <a:spcAft>
                <a:spcPts val="0"/>
              </a:spcAft>
              <a:buNone/>
            </a:pPr>
            <a:r>
              <a:t/>
            </a:r>
            <a:endParaRPr b="1" i="0" sz="2000" u="none" cap="none" strike="noStrike">
              <a:solidFill>
                <a:srgbClr val="343734"/>
              </a:solidFill>
              <a:latin typeface="Montserrat"/>
              <a:ea typeface="Montserrat"/>
              <a:cs typeface="Montserrat"/>
              <a:sym typeface="Montserrat"/>
            </a:endParaRPr>
          </a:p>
        </p:txBody>
      </p:sp>
      <p:sp>
        <p:nvSpPr>
          <p:cNvPr id="1700" name="Google Shape;1700;g3ee0adc8e96_6_45"/>
          <p:cNvSpPr txBox="1"/>
          <p:nvPr/>
        </p:nvSpPr>
        <p:spPr>
          <a:xfrm>
            <a:off x="8112899" y="348767"/>
            <a:ext cx="4079101" cy="627011"/>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b="1" i="0" lang="en" sz="1800" u="none" cap="none" strike="noStrike">
                <a:solidFill>
                  <a:srgbClr val="343734"/>
                </a:solidFill>
                <a:latin typeface="Montserrat"/>
                <a:ea typeface="Montserrat"/>
                <a:cs typeface="Montserrat"/>
                <a:sym typeface="Montserrat"/>
              </a:rPr>
              <a:t>KNN Baseline (K=5, power-transformed target):</a:t>
            </a:r>
            <a:endParaRPr sz="900"/>
          </a:p>
        </p:txBody>
      </p:sp>
      <p:sp>
        <p:nvSpPr>
          <p:cNvPr id="1701" name="Google Shape;1701;g3ee0adc8e96_6_45"/>
          <p:cNvSpPr txBox="1"/>
          <p:nvPr/>
        </p:nvSpPr>
        <p:spPr>
          <a:xfrm>
            <a:off x="7327319" y="3441700"/>
            <a:ext cx="3435812" cy="1073374"/>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None/>
            </a:pPr>
            <a:r>
              <a:rPr b="1" i="0" lang="en" sz="1200" u="none" cap="none" strike="noStrike">
                <a:solidFill>
                  <a:srgbClr val="343734"/>
                </a:solidFill>
                <a:latin typeface="Montserrat"/>
                <a:ea typeface="Montserrat"/>
                <a:cs typeface="Montserrat"/>
                <a:sym typeface="Montserrat"/>
              </a:rPr>
              <a:t>Already much stronger than Linear Regression baseline (CV R² 0.60 vs 0.37)</a:t>
            </a:r>
            <a:endParaRPr sz="900"/>
          </a:p>
          <a:p>
            <a:pPr indent="0" lvl="0" marL="0" marR="0" rtl="0" algn="l">
              <a:lnSpc>
                <a:spcPct val="140032"/>
              </a:lnSpc>
              <a:spcBef>
                <a:spcPts val="0"/>
              </a:spcBef>
              <a:spcAft>
                <a:spcPts val="0"/>
              </a:spcAft>
              <a:buNone/>
            </a:pPr>
            <a:r>
              <a:rPr b="1" i="0" lang="en" sz="1200" u="none" cap="none" strike="noStrike">
                <a:solidFill>
                  <a:srgbClr val="343734"/>
                </a:solidFill>
                <a:latin typeface="Montserrat"/>
                <a:ea typeface="Montserrat"/>
                <a:cs typeface="Montserrat"/>
                <a:sym typeface="Montserrat"/>
              </a:rPr>
              <a:t>GridSearchCV - best K search (K = 3 to 30):</a:t>
            </a:r>
            <a:endParaRPr sz="900"/>
          </a:p>
          <a:p>
            <a:pPr indent="0" lvl="0" marL="0" marR="0" rtl="0" algn="l">
              <a:lnSpc>
                <a:spcPct val="140032"/>
              </a:lnSpc>
              <a:spcBef>
                <a:spcPts val="0"/>
              </a:spcBef>
              <a:spcAft>
                <a:spcPts val="0"/>
              </a:spcAft>
              <a:buNone/>
            </a:pPr>
            <a:r>
              <a:t/>
            </a:r>
            <a:endParaRPr b="1" i="0" sz="1200" u="none" cap="none" strike="noStrike">
              <a:solidFill>
                <a:srgbClr val="343734"/>
              </a:solidFill>
              <a:latin typeface="Montserrat"/>
              <a:ea typeface="Montserrat"/>
              <a:cs typeface="Montserrat"/>
              <a:sym typeface="Montserrat"/>
            </a:endParaRPr>
          </a:p>
        </p:txBody>
      </p:sp>
      <p:sp>
        <p:nvSpPr>
          <p:cNvPr id="1702" name="Google Shape;1702;g3ee0adc8e96_6_45"/>
          <p:cNvSpPr txBox="1"/>
          <p:nvPr/>
        </p:nvSpPr>
        <p:spPr>
          <a:xfrm>
            <a:off x="4235995" y="6259926"/>
            <a:ext cx="3091323" cy="555393"/>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i="0" lang="en" sz="1100" u="none" cap="none" strike="noStrike">
                <a:solidFill>
                  <a:srgbClr val="343734"/>
                </a:solidFill>
                <a:latin typeface="Montserrat"/>
                <a:ea typeface="Montserrat"/>
                <a:cs typeface="Montserrat"/>
                <a:sym typeface="Montserrat"/>
              </a:rPr>
              <a:t>Best K = 3 - small K captures fine-grained local pricing patterns in this dataset</a:t>
            </a:r>
            <a:endParaRPr sz="900"/>
          </a:p>
          <a:p>
            <a:pPr indent="0" lvl="0" marL="0" marR="0" rtl="0" algn="l">
              <a:lnSpc>
                <a:spcPct val="140012"/>
              </a:lnSpc>
              <a:spcBef>
                <a:spcPts val="0"/>
              </a:spcBef>
              <a:spcAft>
                <a:spcPts val="0"/>
              </a:spcAft>
              <a:buNone/>
            </a:pPr>
            <a:r>
              <a:t/>
            </a:r>
            <a:endParaRPr b="1" i="0" sz="1100" u="none" cap="none" strike="noStrike">
              <a:solidFill>
                <a:srgbClr val="343734"/>
              </a:solidFill>
              <a:latin typeface="Montserrat"/>
              <a:ea typeface="Montserrat"/>
              <a:cs typeface="Montserrat"/>
              <a:sym typeface="Montserrat"/>
            </a:endParaRPr>
          </a:p>
        </p:txBody>
      </p:sp>
      <p:sp>
        <p:nvSpPr>
          <p:cNvPr id="1703" name="Google Shape;1703;g3ee0adc8e96_6_45"/>
          <p:cNvSpPr txBox="1"/>
          <p:nvPr/>
        </p:nvSpPr>
        <p:spPr>
          <a:xfrm>
            <a:off x="1095675" y="5188050"/>
            <a:ext cx="5952900" cy="1120500"/>
          </a:xfrm>
          <a:prstGeom prst="rect">
            <a:avLst/>
          </a:prstGeom>
          <a:noFill/>
          <a:ln>
            <a:noFill/>
          </a:ln>
        </p:spPr>
        <p:txBody>
          <a:bodyPr anchorCtr="0" anchor="t" bIns="0" lIns="0" spcFirstLastPara="1" rIns="0" wrap="square" tIns="0">
            <a:spAutoFit/>
          </a:bodyPr>
          <a:lstStyle/>
          <a:p>
            <a:pPr indent="0" lvl="0" marL="0" marR="0" rtl="0" algn="l">
              <a:lnSpc>
                <a:spcPct val="104999"/>
              </a:lnSpc>
              <a:spcBef>
                <a:spcPts val="0"/>
              </a:spcBef>
              <a:spcAft>
                <a:spcPts val="0"/>
              </a:spcAft>
              <a:buNone/>
            </a:pPr>
            <a:r>
              <a:rPr b="1" i="0" lang="en" u="none" cap="none" strike="noStrike">
                <a:solidFill>
                  <a:srgbClr val="343734"/>
                </a:solidFill>
                <a:latin typeface="Montserrat"/>
                <a:ea typeface="Montserrat"/>
                <a:cs typeface="Montserrat"/>
                <a:sym typeface="Montserrat"/>
              </a:rPr>
              <a:t>observation: KNN baseline with default K=5 already outperforms the best tuned LR model on validation (R² 0.43 vs 0.09). This strongly suggests that supplier pricing has non-linear local structure that a global linear equation cannot capture.</a:t>
            </a:r>
            <a:endParaRPr/>
          </a:p>
        </p:txBody>
      </p:sp>
      <p:graphicFrame>
        <p:nvGraphicFramePr>
          <p:cNvPr id="1704" name="Google Shape;1704;g3ee0adc8e96_6_45"/>
          <p:cNvGraphicFramePr/>
          <p:nvPr/>
        </p:nvGraphicFramePr>
        <p:xfrm>
          <a:off x="7207919" y="1023859"/>
          <a:ext cx="3000000" cy="3000000"/>
        </p:xfrm>
        <a:graphic>
          <a:graphicData uri="http://schemas.openxmlformats.org/drawingml/2006/table">
            <a:tbl>
              <a:tblPr>
                <a:noFill/>
                <a:tableStyleId>{45EFA893-811E-4007-9D9D-CAB5BEB4294B}</a:tableStyleId>
              </a:tblPr>
              <a:tblGrid>
                <a:gridCol w="2492025"/>
                <a:gridCol w="2492025"/>
              </a:tblGrid>
              <a:tr h="481025">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Metric</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Value</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81025">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Val MAE</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$6.54</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81025">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Val RMSE</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$23.67</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81025">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Val R²</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0.4325</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81025">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5-Fold CV R²</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0.596</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bl>
          </a:graphicData>
        </a:graphic>
      </p:graphicFrame>
      <p:graphicFrame>
        <p:nvGraphicFramePr>
          <p:cNvPr id="1705" name="Google Shape;1705;g3ee0adc8e96_6_45"/>
          <p:cNvGraphicFramePr/>
          <p:nvPr/>
        </p:nvGraphicFramePr>
        <p:xfrm>
          <a:off x="7327319" y="4429919"/>
          <a:ext cx="3000000" cy="3000000"/>
        </p:xfrm>
        <a:graphic>
          <a:graphicData uri="http://schemas.openxmlformats.org/drawingml/2006/table">
            <a:tbl>
              <a:tblPr>
                <a:noFill/>
                <a:tableStyleId>{45EFA893-811E-4007-9D9D-CAB5BEB4294B}</a:tableStyleId>
              </a:tblPr>
              <a:tblGrid>
                <a:gridCol w="2432325"/>
                <a:gridCol w="2432325"/>
              </a:tblGrid>
              <a:tr h="33455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K</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CV MAE (transformed)</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334550">
                <a:tc>
                  <a:txBody>
                    <a:bodyPr/>
                    <a:lstStyle/>
                    <a:p>
                      <a:pPr indent="0" lvl="0" marL="0" marR="0" rtl="0" algn="r">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3</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b="1" lang="en" sz="700" u="none" cap="none" strike="noStrike">
                          <a:solidFill>
                            <a:srgbClr val="000000"/>
                          </a:solidFill>
                          <a:latin typeface="Arial"/>
                          <a:ea typeface="Arial"/>
                          <a:cs typeface="Arial"/>
                          <a:sym typeface="Arial"/>
                        </a:rPr>
                        <a:t>0.02188</a:t>
                      </a:r>
                      <a:r>
                        <a:rPr lang="en" sz="700" u="none" cap="none" strike="noStrike">
                          <a:solidFill>
                            <a:srgbClr val="000000"/>
                          </a:solidFill>
                          <a:latin typeface="Arial"/>
                          <a:ea typeface="Arial"/>
                          <a:cs typeface="Arial"/>
                          <a:sym typeface="Arial"/>
                        </a:rPr>
                        <a:t> ← Best</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334550">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5</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0.02205</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334550">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7</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0.02237</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334550">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10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0.02274</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334550">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15</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0.02304</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334550">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20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0.02338</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bl>
          </a:graphicData>
        </a:graphic>
      </p:graphicFrame>
      <p:sp>
        <p:nvSpPr>
          <p:cNvPr id="1706" name="Google Shape;1706;g3ee0adc8e96_6_45"/>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707" name="Google Shape;1707;g3ee0adc8e96_6_45"/>
          <p:cNvSpPr txBox="1"/>
          <p:nvPr>
            <p:ph idx="12" type="sldNum"/>
          </p:nvPr>
        </p:nvSpPr>
        <p:spPr>
          <a:xfrm>
            <a:off x="2451986" y="627527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sz="1500"/>
              <a:t>‹#›</a:t>
            </a:fld>
            <a:endParaRPr sz="1500"/>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1711" name="Shape 1711"/>
        <p:cNvGrpSpPr/>
        <p:nvPr/>
      </p:nvGrpSpPr>
      <p:grpSpPr>
        <a:xfrm>
          <a:off x="0" y="0"/>
          <a:ext cx="0" cy="0"/>
          <a:chOff x="0" y="0"/>
          <a:chExt cx="0" cy="0"/>
        </a:xfrm>
      </p:grpSpPr>
      <p:sp>
        <p:nvSpPr>
          <p:cNvPr id="1712" name="Google Shape;1712;g3ee0adc8e96_6_57"/>
          <p:cNvSpPr/>
          <p:nvPr/>
        </p:nvSpPr>
        <p:spPr>
          <a:xfrm>
            <a:off x="10884150" y="-12681"/>
            <a:ext cx="795737" cy="907999"/>
          </a:xfrm>
          <a:custGeom>
            <a:rect b="b" l="l" r="r" t="t"/>
            <a:pathLst>
              <a:path extrusionOk="0" h="1361999" w="1193606">
                <a:moveTo>
                  <a:pt x="0" y="0"/>
                </a:moveTo>
                <a:lnTo>
                  <a:pt x="1193606" y="0"/>
                </a:lnTo>
                <a:lnTo>
                  <a:pt x="1193606" y="1361999"/>
                </a:lnTo>
                <a:lnTo>
                  <a:pt x="0" y="1361999"/>
                </a:lnTo>
                <a:lnTo>
                  <a:pt x="0" y="0"/>
                </a:lnTo>
                <a:close/>
              </a:path>
            </a:pathLst>
          </a:custGeom>
          <a:blipFill rotWithShape="1">
            <a:blip r:embed="rId3">
              <a:alphaModFix/>
            </a:blip>
            <a:stretch>
              <a:fillRect b="0" l="0" r="0" t="0"/>
            </a:stretch>
          </a:blipFill>
          <a:ln>
            <a:noFill/>
          </a:ln>
        </p:spPr>
      </p:sp>
      <p:grpSp>
        <p:nvGrpSpPr>
          <p:cNvPr id="1713" name="Google Shape;1713;g3ee0adc8e96_6_57"/>
          <p:cNvGrpSpPr/>
          <p:nvPr/>
        </p:nvGrpSpPr>
        <p:grpSpPr>
          <a:xfrm>
            <a:off x="11679887" y="-557677"/>
            <a:ext cx="1117375" cy="7761574"/>
            <a:chOff x="0" y="-38100"/>
            <a:chExt cx="441432" cy="3066301"/>
          </a:xfrm>
        </p:grpSpPr>
        <p:sp>
          <p:nvSpPr>
            <p:cNvPr id="1714" name="Google Shape;1714;g3ee0adc8e96_6_57"/>
            <p:cNvSpPr/>
            <p:nvPr/>
          </p:nvSpPr>
          <p:spPr>
            <a:xfrm>
              <a:off x="0" y="0"/>
              <a:ext cx="441432" cy="3028201"/>
            </a:xfrm>
            <a:custGeom>
              <a:rect b="b" l="l" r="r" t="t"/>
              <a:pathLst>
                <a:path extrusionOk="0" h="3028201" w="441432">
                  <a:moveTo>
                    <a:pt x="0" y="0"/>
                  </a:moveTo>
                  <a:lnTo>
                    <a:pt x="441432" y="0"/>
                  </a:lnTo>
                  <a:lnTo>
                    <a:pt x="441432" y="3028201"/>
                  </a:lnTo>
                  <a:lnTo>
                    <a:pt x="0" y="3028201"/>
                  </a:lnTo>
                  <a:close/>
                </a:path>
              </a:pathLst>
            </a:custGeom>
            <a:solidFill>
              <a:srgbClr val="EFF1E8"/>
            </a:solidFill>
            <a:ln>
              <a:noFill/>
            </a:ln>
          </p:spPr>
        </p:sp>
        <p:sp>
          <p:nvSpPr>
            <p:cNvPr id="1715" name="Google Shape;1715;g3ee0adc8e96_6_57"/>
            <p:cNvSpPr txBox="1"/>
            <p:nvPr/>
          </p:nvSpPr>
          <p:spPr>
            <a:xfrm>
              <a:off x="0" y="-38100"/>
              <a:ext cx="441432" cy="3066301"/>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cxnSp>
        <p:nvCxnSpPr>
          <p:cNvPr id="1716" name="Google Shape;1716;g3ee0adc8e96_6_57"/>
          <p:cNvCxnSpPr/>
          <p:nvPr/>
        </p:nvCxnSpPr>
        <p:spPr>
          <a:xfrm rot="10800000">
            <a:off x="698500" y="5903637"/>
            <a:ext cx="0" cy="268563"/>
          </a:xfrm>
          <a:prstGeom prst="straightConnector1">
            <a:avLst/>
          </a:prstGeom>
          <a:noFill/>
          <a:ln cap="flat" cmpd="sng" w="38100">
            <a:solidFill>
              <a:srgbClr val="EFF1E8"/>
            </a:solidFill>
            <a:prstDash val="solid"/>
            <a:round/>
            <a:headEnd len="sm" w="sm" type="none"/>
            <a:tailEnd len="sm" w="sm" type="none"/>
          </a:ln>
        </p:spPr>
      </p:cxnSp>
      <p:cxnSp>
        <p:nvCxnSpPr>
          <p:cNvPr id="1717" name="Google Shape;1717;g3ee0adc8e96_6_57"/>
          <p:cNvCxnSpPr/>
          <p:nvPr/>
        </p:nvCxnSpPr>
        <p:spPr>
          <a:xfrm rot="10800000">
            <a:off x="794492" y="5903637"/>
            <a:ext cx="0" cy="268563"/>
          </a:xfrm>
          <a:prstGeom prst="straightConnector1">
            <a:avLst/>
          </a:prstGeom>
          <a:noFill/>
          <a:ln cap="flat" cmpd="sng" w="38100">
            <a:solidFill>
              <a:srgbClr val="EFF1E8"/>
            </a:solidFill>
            <a:prstDash val="solid"/>
            <a:round/>
            <a:headEnd len="sm" w="sm" type="none"/>
            <a:tailEnd len="sm" w="sm" type="none"/>
          </a:ln>
        </p:spPr>
      </p:cxnSp>
      <p:cxnSp>
        <p:nvCxnSpPr>
          <p:cNvPr id="1718" name="Google Shape;1718;g3ee0adc8e96_6_57"/>
          <p:cNvCxnSpPr/>
          <p:nvPr/>
        </p:nvCxnSpPr>
        <p:spPr>
          <a:xfrm rot="10800000">
            <a:off x="890484" y="5903637"/>
            <a:ext cx="0" cy="268563"/>
          </a:xfrm>
          <a:prstGeom prst="straightConnector1">
            <a:avLst/>
          </a:prstGeom>
          <a:noFill/>
          <a:ln cap="flat" cmpd="sng" w="38100">
            <a:solidFill>
              <a:srgbClr val="EFF1E8"/>
            </a:solidFill>
            <a:prstDash val="solid"/>
            <a:round/>
            <a:headEnd len="sm" w="sm" type="none"/>
            <a:tailEnd len="sm" w="sm" type="none"/>
          </a:ln>
        </p:spPr>
      </p:cxnSp>
      <p:cxnSp>
        <p:nvCxnSpPr>
          <p:cNvPr id="1719" name="Google Shape;1719;g3ee0adc8e96_6_57"/>
          <p:cNvCxnSpPr/>
          <p:nvPr/>
        </p:nvCxnSpPr>
        <p:spPr>
          <a:xfrm rot="10800000">
            <a:off x="11301516" y="5903637"/>
            <a:ext cx="0" cy="268563"/>
          </a:xfrm>
          <a:prstGeom prst="straightConnector1">
            <a:avLst/>
          </a:prstGeom>
          <a:noFill/>
          <a:ln cap="flat" cmpd="sng" w="38100">
            <a:solidFill>
              <a:srgbClr val="EFF1E8"/>
            </a:solidFill>
            <a:prstDash val="solid"/>
            <a:round/>
            <a:headEnd len="sm" w="sm" type="none"/>
            <a:tailEnd len="sm" w="sm" type="none"/>
          </a:ln>
        </p:spPr>
      </p:cxnSp>
      <p:cxnSp>
        <p:nvCxnSpPr>
          <p:cNvPr id="1720" name="Google Shape;1720;g3ee0adc8e96_6_57"/>
          <p:cNvCxnSpPr/>
          <p:nvPr/>
        </p:nvCxnSpPr>
        <p:spPr>
          <a:xfrm rot="10800000">
            <a:off x="11397508" y="5903637"/>
            <a:ext cx="0" cy="268563"/>
          </a:xfrm>
          <a:prstGeom prst="straightConnector1">
            <a:avLst/>
          </a:prstGeom>
          <a:noFill/>
          <a:ln cap="flat" cmpd="sng" w="38100">
            <a:solidFill>
              <a:srgbClr val="EFF1E8"/>
            </a:solidFill>
            <a:prstDash val="solid"/>
            <a:round/>
            <a:headEnd len="sm" w="sm" type="none"/>
            <a:tailEnd len="sm" w="sm" type="none"/>
          </a:ln>
        </p:spPr>
      </p:cxnSp>
      <p:cxnSp>
        <p:nvCxnSpPr>
          <p:cNvPr id="1721" name="Google Shape;1721;g3ee0adc8e96_6_57"/>
          <p:cNvCxnSpPr/>
          <p:nvPr/>
        </p:nvCxnSpPr>
        <p:spPr>
          <a:xfrm rot="10800000">
            <a:off x="11493500" y="5903637"/>
            <a:ext cx="0" cy="268563"/>
          </a:xfrm>
          <a:prstGeom prst="straightConnector1">
            <a:avLst/>
          </a:prstGeom>
          <a:noFill/>
          <a:ln cap="flat" cmpd="sng" w="38100">
            <a:solidFill>
              <a:srgbClr val="EFF1E8"/>
            </a:solidFill>
            <a:prstDash val="solid"/>
            <a:round/>
            <a:headEnd len="sm" w="sm" type="none"/>
            <a:tailEnd len="sm" w="sm" type="none"/>
          </a:ln>
        </p:spPr>
      </p:cxnSp>
      <p:sp>
        <p:nvSpPr>
          <p:cNvPr id="1722" name="Google Shape;1722;g3ee0adc8e96_6_57"/>
          <p:cNvSpPr/>
          <p:nvPr/>
        </p:nvSpPr>
        <p:spPr>
          <a:xfrm>
            <a:off x="138397" y="685800"/>
            <a:ext cx="3995501" cy="2884683"/>
          </a:xfrm>
          <a:custGeom>
            <a:rect b="b" l="l" r="r" t="t"/>
            <a:pathLst>
              <a:path extrusionOk="0" h="4327025" w="5993252">
                <a:moveTo>
                  <a:pt x="0" y="0"/>
                </a:moveTo>
                <a:lnTo>
                  <a:pt x="5993252" y="0"/>
                </a:lnTo>
                <a:lnTo>
                  <a:pt x="5993252" y="4327025"/>
                </a:lnTo>
                <a:lnTo>
                  <a:pt x="0" y="4327025"/>
                </a:lnTo>
                <a:lnTo>
                  <a:pt x="0" y="0"/>
                </a:lnTo>
                <a:close/>
              </a:path>
            </a:pathLst>
          </a:custGeom>
          <a:blipFill rotWithShape="1">
            <a:blip r:embed="rId4">
              <a:alphaModFix/>
            </a:blip>
            <a:stretch>
              <a:fillRect b="0" l="0" r="0" t="0"/>
            </a:stretch>
          </a:blipFill>
          <a:ln>
            <a:noFill/>
          </a:ln>
        </p:spPr>
      </p:sp>
      <p:sp>
        <p:nvSpPr>
          <p:cNvPr id="1723" name="Google Shape;1723;g3ee0adc8e96_6_57"/>
          <p:cNvSpPr txBox="1"/>
          <p:nvPr/>
        </p:nvSpPr>
        <p:spPr>
          <a:xfrm>
            <a:off x="2929789" y="79794"/>
            <a:ext cx="7774089" cy="361525"/>
          </a:xfrm>
          <a:prstGeom prst="rect">
            <a:avLst/>
          </a:prstGeom>
          <a:noFill/>
          <a:ln>
            <a:noFill/>
          </a:ln>
        </p:spPr>
        <p:txBody>
          <a:bodyPr anchorCtr="0" anchor="t" bIns="0" lIns="0" spcFirstLastPara="1" rIns="0" wrap="square" tIns="0">
            <a:spAutoFit/>
          </a:bodyPr>
          <a:lstStyle/>
          <a:p>
            <a:pPr indent="0" lvl="0" marL="0" marR="0" rtl="0" algn="l">
              <a:lnSpc>
                <a:spcPct val="104996"/>
              </a:lnSpc>
              <a:spcBef>
                <a:spcPts val="0"/>
              </a:spcBef>
              <a:spcAft>
                <a:spcPts val="0"/>
              </a:spcAft>
              <a:buNone/>
            </a:pPr>
            <a:r>
              <a:rPr b="1" i="0" lang="en" sz="2600" u="none" cap="none" strike="noStrike">
                <a:solidFill>
                  <a:srgbClr val="EFF1E8"/>
                </a:solidFill>
                <a:latin typeface="Montserrat"/>
                <a:ea typeface="Montserrat"/>
                <a:cs typeface="Montserrat"/>
                <a:sym typeface="Montserrat"/>
              </a:rPr>
              <a:t>LR Improvement: Ridge vs Lasso Tuning</a:t>
            </a:r>
            <a:endParaRPr sz="900"/>
          </a:p>
        </p:txBody>
      </p:sp>
      <p:sp>
        <p:nvSpPr>
          <p:cNvPr id="1724" name="Google Shape;1724;g3ee0adc8e96_6_57"/>
          <p:cNvSpPr txBox="1"/>
          <p:nvPr/>
        </p:nvSpPr>
        <p:spPr>
          <a:xfrm>
            <a:off x="396399" y="460369"/>
            <a:ext cx="9896343" cy="578457"/>
          </a:xfrm>
          <a:prstGeom prst="rect">
            <a:avLst/>
          </a:prstGeom>
          <a:noFill/>
          <a:ln>
            <a:noFill/>
          </a:ln>
        </p:spPr>
        <p:txBody>
          <a:bodyPr anchorCtr="0" anchor="t" bIns="0" lIns="0" spcFirstLastPara="1" rIns="0" wrap="square" tIns="0">
            <a:spAutoFit/>
          </a:bodyPr>
          <a:lstStyle/>
          <a:p>
            <a:pPr indent="0" lvl="0" marL="0" marR="0" rtl="0" algn="ctr">
              <a:lnSpc>
                <a:spcPct val="109996"/>
              </a:lnSpc>
              <a:spcBef>
                <a:spcPts val="0"/>
              </a:spcBef>
              <a:spcAft>
                <a:spcPts val="0"/>
              </a:spcAft>
              <a:buNone/>
            </a:pPr>
            <a:r>
              <a:rPr b="0" i="0" lang="en" sz="2000" u="none" cap="none" strike="noStrike">
                <a:solidFill>
                  <a:srgbClr val="FEFEFE"/>
                </a:solidFill>
                <a:latin typeface="Montserrat"/>
                <a:ea typeface="Montserrat"/>
                <a:cs typeface="Montserrat"/>
                <a:sym typeface="Montserrat"/>
              </a:rPr>
              <a:t>GridSearchCV — 5-fold CV on training set only, validation sealed throughout:</a:t>
            </a:r>
            <a:endParaRPr sz="900"/>
          </a:p>
          <a:p>
            <a:pPr indent="0" lvl="0" marL="0" marR="0" rtl="0" algn="ctr">
              <a:lnSpc>
                <a:spcPct val="109996"/>
              </a:lnSpc>
              <a:spcBef>
                <a:spcPts val="0"/>
              </a:spcBef>
              <a:spcAft>
                <a:spcPts val="0"/>
              </a:spcAft>
              <a:buNone/>
            </a:pPr>
            <a:r>
              <a:t/>
            </a:r>
            <a:endParaRPr b="0" i="0" sz="2000" u="none" cap="none" strike="noStrike">
              <a:solidFill>
                <a:srgbClr val="FEFEFE"/>
              </a:solidFill>
              <a:latin typeface="Montserrat"/>
              <a:ea typeface="Montserrat"/>
              <a:cs typeface="Montserrat"/>
              <a:sym typeface="Montserrat"/>
            </a:endParaRPr>
          </a:p>
        </p:txBody>
      </p:sp>
      <p:sp>
        <p:nvSpPr>
          <p:cNvPr id="1725" name="Google Shape;1725;g3ee0adc8e96_6_57"/>
          <p:cNvSpPr txBox="1"/>
          <p:nvPr/>
        </p:nvSpPr>
        <p:spPr>
          <a:xfrm>
            <a:off x="5016235" y="914369"/>
            <a:ext cx="1079765" cy="292707"/>
          </a:xfrm>
          <a:prstGeom prst="rect">
            <a:avLst/>
          </a:prstGeom>
          <a:noFill/>
          <a:ln>
            <a:noFill/>
          </a:ln>
        </p:spPr>
        <p:txBody>
          <a:bodyPr anchorCtr="0" anchor="t" bIns="0" lIns="0" spcFirstLastPara="1" rIns="0" wrap="square" tIns="0">
            <a:spAutoFit/>
          </a:bodyPr>
          <a:lstStyle/>
          <a:p>
            <a:pPr indent="0" lvl="0" marL="0" marR="0" rtl="0" algn="ctr">
              <a:lnSpc>
                <a:spcPct val="109996"/>
              </a:lnSpc>
              <a:spcBef>
                <a:spcPts val="0"/>
              </a:spcBef>
              <a:spcAft>
                <a:spcPts val="0"/>
              </a:spcAft>
              <a:buNone/>
            </a:pPr>
            <a:r>
              <a:rPr b="1" i="0" lang="en" sz="2000" u="none" cap="none" strike="noStrike">
                <a:solidFill>
                  <a:srgbClr val="FEFEFE"/>
                </a:solidFill>
                <a:latin typeface="Montserrat"/>
                <a:ea typeface="Montserrat"/>
                <a:cs typeface="Montserrat"/>
                <a:sym typeface="Montserrat"/>
              </a:rPr>
              <a:t>Results:</a:t>
            </a:r>
            <a:endParaRPr sz="900"/>
          </a:p>
        </p:txBody>
      </p:sp>
      <p:sp>
        <p:nvSpPr>
          <p:cNvPr id="1726" name="Google Shape;1726;g3ee0adc8e96_6_57"/>
          <p:cNvSpPr txBox="1"/>
          <p:nvPr/>
        </p:nvSpPr>
        <p:spPr>
          <a:xfrm>
            <a:off x="4184577" y="3107502"/>
            <a:ext cx="8007423" cy="696589"/>
          </a:xfrm>
          <a:prstGeom prst="rect">
            <a:avLst/>
          </a:prstGeom>
          <a:noFill/>
          <a:ln>
            <a:noFill/>
          </a:ln>
        </p:spPr>
        <p:txBody>
          <a:bodyPr anchorCtr="0" anchor="t" bIns="0" lIns="0" spcFirstLastPara="1" rIns="0" wrap="square" tIns="0">
            <a:spAutoFit/>
          </a:bodyPr>
          <a:lstStyle/>
          <a:p>
            <a:pPr indent="0" lvl="0" marL="0" marR="0" rtl="0" algn="l">
              <a:lnSpc>
                <a:spcPct val="110012"/>
              </a:lnSpc>
              <a:spcBef>
                <a:spcPts val="0"/>
              </a:spcBef>
              <a:spcAft>
                <a:spcPts val="0"/>
              </a:spcAft>
              <a:buNone/>
            </a:pPr>
            <a:r>
              <a:rPr b="0" i="0" lang="en" sz="1700" u="none" cap="none" strike="noStrike">
                <a:solidFill>
                  <a:srgbClr val="FFFFFF"/>
                </a:solidFill>
                <a:latin typeface="Montserrat"/>
                <a:ea typeface="Montserrat"/>
                <a:cs typeface="Montserrat"/>
                <a:sym typeface="Montserrat"/>
              </a:rPr>
              <a:t>Lasso wins - its automatic feature selection (zeroing weak coefficients) removes residual noise. R² improves from 0.01 to 0.09 with Lasso.</a:t>
            </a:r>
            <a:endParaRPr sz="900"/>
          </a:p>
          <a:p>
            <a:pPr indent="0" lvl="0" marL="0" marR="0" rtl="0" algn="l">
              <a:lnSpc>
                <a:spcPct val="110012"/>
              </a:lnSpc>
              <a:spcBef>
                <a:spcPts val="0"/>
              </a:spcBef>
              <a:spcAft>
                <a:spcPts val="0"/>
              </a:spcAft>
              <a:buNone/>
            </a:pPr>
            <a:r>
              <a:t/>
            </a:r>
            <a:endParaRPr b="0" i="0" sz="1700" u="none" cap="none" strike="noStrike">
              <a:solidFill>
                <a:srgbClr val="FFFFFF"/>
              </a:solidFill>
              <a:latin typeface="Montserrat"/>
              <a:ea typeface="Montserrat"/>
              <a:cs typeface="Montserrat"/>
              <a:sym typeface="Montserrat"/>
            </a:endParaRPr>
          </a:p>
        </p:txBody>
      </p:sp>
      <p:sp>
        <p:nvSpPr>
          <p:cNvPr id="1727" name="Google Shape;1727;g3ee0adc8e96_6_57"/>
          <p:cNvSpPr/>
          <p:nvPr/>
        </p:nvSpPr>
        <p:spPr>
          <a:xfrm>
            <a:off x="0" y="3818133"/>
            <a:ext cx="8809649" cy="3133165"/>
          </a:xfrm>
          <a:custGeom>
            <a:rect b="b" l="l" r="r" t="t"/>
            <a:pathLst>
              <a:path extrusionOk="0" h="4699748" w="13214474">
                <a:moveTo>
                  <a:pt x="0" y="0"/>
                </a:moveTo>
                <a:lnTo>
                  <a:pt x="13214474" y="0"/>
                </a:lnTo>
                <a:lnTo>
                  <a:pt x="13214474" y="4699748"/>
                </a:lnTo>
                <a:lnTo>
                  <a:pt x="0" y="4699748"/>
                </a:lnTo>
                <a:lnTo>
                  <a:pt x="0" y="0"/>
                </a:lnTo>
                <a:close/>
              </a:path>
            </a:pathLst>
          </a:custGeom>
          <a:blipFill rotWithShape="1">
            <a:blip r:embed="rId5">
              <a:alphaModFix/>
            </a:blip>
            <a:stretch>
              <a:fillRect b="0" l="0" r="0" t="0"/>
            </a:stretch>
          </a:blipFill>
          <a:ln>
            <a:noFill/>
          </a:ln>
        </p:spPr>
      </p:sp>
      <p:sp>
        <p:nvSpPr>
          <p:cNvPr id="1728" name="Google Shape;1728;g3ee0adc8e96_6_57"/>
          <p:cNvSpPr txBox="1"/>
          <p:nvPr/>
        </p:nvSpPr>
        <p:spPr>
          <a:xfrm>
            <a:off x="8809649" y="3869267"/>
            <a:ext cx="3382351" cy="2707958"/>
          </a:xfrm>
          <a:prstGeom prst="rect">
            <a:avLst/>
          </a:prstGeom>
          <a:noFill/>
          <a:ln>
            <a:noFill/>
          </a:ln>
        </p:spPr>
        <p:txBody>
          <a:bodyPr anchorCtr="0" anchor="t" bIns="0" lIns="0" spcFirstLastPara="1" rIns="0" wrap="square" tIns="0">
            <a:spAutoFit/>
          </a:bodyPr>
          <a:lstStyle/>
          <a:p>
            <a:pPr indent="0" lvl="0" marL="0" marR="0" rtl="0" algn="l">
              <a:lnSpc>
                <a:spcPct val="139983"/>
              </a:lnSpc>
              <a:spcBef>
                <a:spcPts val="0"/>
              </a:spcBef>
              <a:spcAft>
                <a:spcPts val="0"/>
              </a:spcAft>
              <a:buNone/>
            </a:pPr>
            <a:r>
              <a:rPr b="0" i="0" lang="en" sz="1600" u="none" cap="none" strike="noStrike">
                <a:solidFill>
                  <a:srgbClr val="000000"/>
                </a:solidFill>
                <a:latin typeface="Arial"/>
                <a:ea typeface="Arial"/>
                <a:cs typeface="Arial"/>
                <a:sym typeface="Arial"/>
              </a:rPr>
              <a:t>Ridge: Shrinks all coefficients toward zero, reduces variance, and retains all features</a:t>
            </a:r>
            <a:endParaRPr sz="900"/>
          </a:p>
          <a:p>
            <a:pPr indent="0" lvl="0" marL="0" marR="0" rtl="0" algn="l">
              <a:lnSpc>
                <a:spcPct val="139983"/>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0" lvl="0" marL="0" marR="0" rtl="0" algn="l">
              <a:lnSpc>
                <a:spcPct val="139980"/>
              </a:lnSpc>
              <a:spcBef>
                <a:spcPts val="0"/>
              </a:spcBef>
              <a:spcAft>
                <a:spcPts val="0"/>
              </a:spcAft>
              <a:buNone/>
            </a:pPr>
            <a:r>
              <a:rPr b="0" i="0" lang="en" sz="1400" u="none" cap="none" strike="noStrike">
                <a:solidFill>
                  <a:srgbClr val="000000"/>
                </a:solidFill>
                <a:latin typeface="Arial"/>
                <a:ea typeface="Arial"/>
                <a:cs typeface="Arial"/>
                <a:sym typeface="Arial"/>
              </a:rPr>
              <a:t>Lasso: Drives weaker coefficients to exactly zero automatic feature selection</a:t>
            </a:r>
            <a:endParaRPr sz="900"/>
          </a:p>
          <a:p>
            <a:pPr indent="0" lvl="0" marL="0" marR="0" rtl="0" algn="l">
              <a:lnSpc>
                <a:spcPct val="13998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39983"/>
              </a:lnSpc>
              <a:spcBef>
                <a:spcPts val="0"/>
              </a:spcBef>
              <a:spcAft>
                <a:spcPts val="0"/>
              </a:spcAft>
              <a:buNone/>
            </a:pPr>
            <a:r>
              <a:rPr b="0" i="0" lang="en" sz="1600" u="none" cap="none" strike="noStrike">
                <a:solidFill>
                  <a:srgbClr val="000000"/>
                </a:solidFill>
                <a:latin typeface="Arial"/>
                <a:ea typeface="Arial"/>
                <a:cs typeface="Arial"/>
                <a:sym typeface="Arial"/>
              </a:rPr>
              <a:t>Both achieve near-identical CV MAE (0.0326), the difference emerges at validation in Phase 4.</a:t>
            </a:r>
            <a:endParaRPr sz="900"/>
          </a:p>
        </p:txBody>
      </p:sp>
      <p:graphicFrame>
        <p:nvGraphicFramePr>
          <p:cNvPr id="1729" name="Google Shape;1729;g3ee0adc8e96_6_57"/>
          <p:cNvGraphicFramePr/>
          <p:nvPr/>
        </p:nvGraphicFramePr>
        <p:xfrm>
          <a:off x="6335317" y="895319"/>
          <a:ext cx="3000000" cy="3000000"/>
        </p:xfrm>
        <a:graphic>
          <a:graphicData uri="http://schemas.openxmlformats.org/drawingml/2006/table">
            <a:tbl>
              <a:tblPr>
                <a:noFill/>
                <a:tableStyleId>{45EFA893-811E-4007-9D9D-CAB5BEB4294B}</a:tableStyleId>
              </a:tblPr>
              <a:tblGrid>
                <a:gridCol w="1068900"/>
                <a:gridCol w="1068900"/>
                <a:gridCol w="1068900"/>
                <a:gridCol w="1068900"/>
                <a:gridCol w="1068900"/>
              </a:tblGrid>
              <a:tr h="72635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Model</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Best Alpha</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CV MAE</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Validation MAE ($)</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Validation R²</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72635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Ridge (L2)</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0.01</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0.0326</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$8.70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0.01</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726350">
                <a:tc>
                  <a:txBody>
                    <a:bodyPr/>
                    <a:lstStyle/>
                    <a:p>
                      <a:pPr indent="0" lvl="0" marL="0" marR="0" rtl="0" algn="l">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Lasso (L1)</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0.001</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0.0326</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$8.55</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0.093</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bl>
          </a:graphicData>
        </a:graphic>
      </p:graphicFrame>
      <p:sp>
        <p:nvSpPr>
          <p:cNvPr id="1730" name="Google Shape;1730;g3ee0adc8e96_6_57"/>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731" name="Google Shape;1731;g3ee0adc8e96_6_57"/>
          <p:cNvSpPr txBox="1"/>
          <p:nvPr>
            <p:ph idx="12" type="sldNum"/>
          </p:nvPr>
        </p:nvSpPr>
        <p:spPr>
          <a:xfrm>
            <a:off x="11301536" y="6642398"/>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sz="1500"/>
              <a:t>‹#›</a:t>
            </a:fld>
            <a:endParaRPr sz="1500"/>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1E8"/>
        </a:solidFill>
      </p:bgPr>
    </p:bg>
    <p:spTree>
      <p:nvGrpSpPr>
        <p:cNvPr id="1735" name="Shape 1735"/>
        <p:cNvGrpSpPr/>
        <p:nvPr/>
      </p:nvGrpSpPr>
      <p:grpSpPr>
        <a:xfrm>
          <a:off x="0" y="0"/>
          <a:ext cx="0" cy="0"/>
          <a:chOff x="0" y="0"/>
          <a:chExt cx="0" cy="0"/>
        </a:xfrm>
      </p:grpSpPr>
      <p:sp>
        <p:nvSpPr>
          <p:cNvPr id="1736" name="Google Shape;1736;g3ee0adc8e96_6_78"/>
          <p:cNvSpPr/>
          <p:nvPr/>
        </p:nvSpPr>
        <p:spPr>
          <a:xfrm>
            <a:off x="10824561" y="-258655"/>
            <a:ext cx="1363278" cy="1152311"/>
          </a:xfrm>
          <a:custGeom>
            <a:rect b="b" l="l" r="r" t="t"/>
            <a:pathLst>
              <a:path extrusionOk="0" h="1728467" w="2044917">
                <a:moveTo>
                  <a:pt x="0" y="0"/>
                </a:moveTo>
                <a:lnTo>
                  <a:pt x="2044916" y="0"/>
                </a:lnTo>
                <a:lnTo>
                  <a:pt x="2044916" y="1728467"/>
                </a:lnTo>
                <a:lnTo>
                  <a:pt x="0" y="1728467"/>
                </a:lnTo>
                <a:lnTo>
                  <a:pt x="0" y="0"/>
                </a:lnTo>
                <a:close/>
              </a:path>
            </a:pathLst>
          </a:custGeom>
          <a:blipFill rotWithShape="1">
            <a:blip r:embed="rId3">
              <a:alphaModFix/>
            </a:blip>
            <a:stretch>
              <a:fillRect b="0" l="0" r="0" t="0"/>
            </a:stretch>
          </a:blipFill>
          <a:ln>
            <a:noFill/>
          </a:ln>
        </p:spPr>
      </p:sp>
      <p:sp>
        <p:nvSpPr>
          <p:cNvPr id="1737" name="Google Shape;1737;g3ee0adc8e96_6_78"/>
          <p:cNvSpPr/>
          <p:nvPr/>
        </p:nvSpPr>
        <p:spPr>
          <a:xfrm>
            <a:off x="0" y="1195822"/>
            <a:ext cx="7445099" cy="3123759"/>
          </a:xfrm>
          <a:custGeom>
            <a:rect b="b" l="l" r="r" t="t"/>
            <a:pathLst>
              <a:path extrusionOk="0" h="4685639" w="11167649">
                <a:moveTo>
                  <a:pt x="0" y="0"/>
                </a:moveTo>
                <a:lnTo>
                  <a:pt x="11167649" y="0"/>
                </a:lnTo>
                <a:lnTo>
                  <a:pt x="11167649" y="4685639"/>
                </a:lnTo>
                <a:lnTo>
                  <a:pt x="0" y="4685639"/>
                </a:lnTo>
                <a:lnTo>
                  <a:pt x="0" y="0"/>
                </a:lnTo>
                <a:close/>
              </a:path>
            </a:pathLst>
          </a:custGeom>
          <a:blipFill rotWithShape="1">
            <a:blip r:embed="rId4">
              <a:alphaModFix/>
            </a:blip>
            <a:stretch>
              <a:fillRect b="0" l="0" r="0" t="0"/>
            </a:stretch>
          </a:blipFill>
          <a:ln>
            <a:noFill/>
          </a:ln>
        </p:spPr>
      </p:sp>
      <p:sp>
        <p:nvSpPr>
          <p:cNvPr id="1738" name="Google Shape;1738;g3ee0adc8e96_6_78"/>
          <p:cNvSpPr/>
          <p:nvPr/>
        </p:nvSpPr>
        <p:spPr>
          <a:xfrm>
            <a:off x="5598317" y="1052741"/>
            <a:ext cx="6593683" cy="3266840"/>
          </a:xfrm>
          <a:custGeom>
            <a:rect b="b" l="l" r="r" t="t"/>
            <a:pathLst>
              <a:path extrusionOk="0" h="4900260" w="9890524">
                <a:moveTo>
                  <a:pt x="0" y="0"/>
                </a:moveTo>
                <a:lnTo>
                  <a:pt x="9890524" y="0"/>
                </a:lnTo>
                <a:lnTo>
                  <a:pt x="9890524" y="4900260"/>
                </a:lnTo>
                <a:lnTo>
                  <a:pt x="0" y="4900260"/>
                </a:lnTo>
                <a:lnTo>
                  <a:pt x="0" y="0"/>
                </a:lnTo>
                <a:close/>
              </a:path>
            </a:pathLst>
          </a:custGeom>
          <a:blipFill rotWithShape="1">
            <a:blip r:embed="rId5">
              <a:alphaModFix/>
            </a:blip>
            <a:stretch>
              <a:fillRect b="0" l="0" r="0" t="0"/>
            </a:stretch>
          </a:blipFill>
          <a:ln>
            <a:noFill/>
          </a:ln>
        </p:spPr>
      </p:sp>
      <p:sp>
        <p:nvSpPr>
          <p:cNvPr id="1739" name="Google Shape;1739;g3ee0adc8e96_6_78"/>
          <p:cNvSpPr txBox="1"/>
          <p:nvPr/>
        </p:nvSpPr>
        <p:spPr>
          <a:xfrm>
            <a:off x="1595899" y="134885"/>
            <a:ext cx="6880332" cy="390631"/>
          </a:xfrm>
          <a:prstGeom prst="rect">
            <a:avLst/>
          </a:prstGeom>
          <a:noFill/>
          <a:ln>
            <a:noFill/>
          </a:ln>
        </p:spPr>
        <p:txBody>
          <a:bodyPr anchorCtr="0" anchor="t" bIns="0" lIns="0" spcFirstLastPara="1" rIns="0" wrap="square" tIns="0">
            <a:spAutoFit/>
          </a:bodyPr>
          <a:lstStyle/>
          <a:p>
            <a:pPr indent="0" lvl="0" marL="0" marR="0" rtl="0" algn="l">
              <a:lnSpc>
                <a:spcPct val="110002"/>
              </a:lnSpc>
              <a:spcBef>
                <a:spcPts val="0"/>
              </a:spcBef>
              <a:spcAft>
                <a:spcPts val="0"/>
              </a:spcAft>
              <a:buNone/>
            </a:pPr>
            <a:r>
              <a:rPr b="1" i="0" lang="en" sz="2800" u="none" cap="none" strike="noStrike">
                <a:solidFill>
                  <a:srgbClr val="343734"/>
                </a:solidFill>
                <a:latin typeface="Montserrat"/>
                <a:ea typeface="Montserrat"/>
                <a:cs typeface="Montserrat"/>
                <a:sym typeface="Montserrat"/>
              </a:rPr>
              <a:t>KNN Improvement: Finding Best K</a:t>
            </a:r>
            <a:endParaRPr sz="900"/>
          </a:p>
          <a:p>
            <a:pPr indent="0" lvl="0" marL="0" marR="0" rtl="0" algn="l">
              <a:lnSpc>
                <a:spcPct val="1952"/>
              </a:lnSpc>
              <a:spcBef>
                <a:spcPts val="0"/>
              </a:spcBef>
              <a:spcAft>
                <a:spcPts val="0"/>
              </a:spcAft>
              <a:buNone/>
            </a:pPr>
            <a:r>
              <a:t/>
            </a:r>
            <a:endParaRPr b="1" i="0" sz="2800" u="none" cap="none" strike="noStrike">
              <a:solidFill>
                <a:srgbClr val="343734"/>
              </a:solidFill>
              <a:latin typeface="Montserrat"/>
              <a:ea typeface="Montserrat"/>
              <a:cs typeface="Montserrat"/>
              <a:sym typeface="Montserrat"/>
            </a:endParaRPr>
          </a:p>
        </p:txBody>
      </p:sp>
      <p:sp>
        <p:nvSpPr>
          <p:cNvPr id="1740" name="Google Shape;1740;g3ee0adc8e96_6_78"/>
          <p:cNvSpPr txBox="1"/>
          <p:nvPr/>
        </p:nvSpPr>
        <p:spPr>
          <a:xfrm>
            <a:off x="235324" y="524575"/>
            <a:ext cx="5767500" cy="369300"/>
          </a:xfrm>
          <a:prstGeom prst="rect">
            <a:avLst/>
          </a:prstGeom>
          <a:noFill/>
          <a:ln>
            <a:noFill/>
          </a:ln>
        </p:spPr>
        <p:txBody>
          <a:bodyPr anchorCtr="0" anchor="t" bIns="0" lIns="0" spcFirstLastPara="1" rIns="0" wrap="square" tIns="0">
            <a:spAutoFit/>
          </a:bodyPr>
          <a:lstStyle/>
          <a:p>
            <a:pPr indent="0" lvl="0" marL="0" marR="0" rtl="0" algn="ctr">
              <a:lnSpc>
                <a:spcPct val="109988"/>
              </a:lnSpc>
              <a:spcBef>
                <a:spcPts val="0"/>
              </a:spcBef>
              <a:spcAft>
                <a:spcPts val="0"/>
              </a:spcAft>
              <a:buNone/>
            </a:pPr>
            <a:r>
              <a:rPr b="1" i="0" lang="en" sz="2400" u="none" cap="none" strike="noStrike">
                <a:solidFill>
                  <a:srgbClr val="000000"/>
                </a:solidFill>
                <a:latin typeface="Montserrat"/>
                <a:ea typeface="Montserrat"/>
                <a:cs typeface="Montserrat"/>
                <a:sym typeface="Montserrat"/>
              </a:rPr>
              <a:t>GridSearchCV over K = 3 to 30:</a:t>
            </a:r>
            <a:endParaRPr sz="900"/>
          </a:p>
        </p:txBody>
      </p:sp>
      <p:sp>
        <p:nvSpPr>
          <p:cNvPr id="1741" name="Google Shape;1741;g3ee0adc8e96_6_78"/>
          <p:cNvSpPr txBox="1"/>
          <p:nvPr/>
        </p:nvSpPr>
        <p:spPr>
          <a:xfrm>
            <a:off x="0" y="4338631"/>
            <a:ext cx="2074069" cy="341496"/>
          </a:xfrm>
          <a:prstGeom prst="rect">
            <a:avLst/>
          </a:prstGeom>
          <a:noFill/>
          <a:ln>
            <a:noFill/>
          </a:ln>
        </p:spPr>
        <p:txBody>
          <a:bodyPr anchorCtr="0" anchor="t" bIns="0" lIns="0" spcFirstLastPara="1" rIns="0" wrap="square" tIns="0">
            <a:spAutoFit/>
          </a:bodyPr>
          <a:lstStyle/>
          <a:p>
            <a:pPr indent="0" lvl="0" marL="0" marR="0" rtl="0" algn="ctr">
              <a:lnSpc>
                <a:spcPct val="109988"/>
              </a:lnSpc>
              <a:spcBef>
                <a:spcPts val="0"/>
              </a:spcBef>
              <a:spcAft>
                <a:spcPts val="0"/>
              </a:spcAft>
              <a:buNone/>
            </a:pPr>
            <a:r>
              <a:rPr b="1" i="0" lang="en" sz="2400" u="none" cap="none" strike="noStrike">
                <a:solidFill>
                  <a:srgbClr val="000000"/>
                </a:solidFill>
                <a:latin typeface="Montserrat"/>
                <a:ea typeface="Montserrat"/>
                <a:cs typeface="Montserrat"/>
                <a:sym typeface="Montserrat"/>
              </a:rPr>
              <a:t>K vs CV MAE:</a:t>
            </a:r>
            <a:endParaRPr sz="900"/>
          </a:p>
        </p:txBody>
      </p:sp>
      <p:sp>
        <p:nvSpPr>
          <p:cNvPr id="1742" name="Google Shape;1742;g3ee0adc8e96_6_78"/>
          <p:cNvSpPr txBox="1"/>
          <p:nvPr/>
        </p:nvSpPr>
        <p:spPr>
          <a:xfrm>
            <a:off x="7895881" y="4518904"/>
            <a:ext cx="4474123" cy="1992496"/>
          </a:xfrm>
          <a:prstGeom prst="rect">
            <a:avLst/>
          </a:prstGeom>
          <a:noFill/>
          <a:ln>
            <a:noFill/>
          </a:ln>
        </p:spPr>
        <p:txBody>
          <a:bodyPr anchorCtr="0" anchor="t" bIns="0" lIns="0" spcFirstLastPara="1" rIns="0" wrap="square" tIns="0">
            <a:spAutoFit/>
          </a:bodyPr>
          <a:lstStyle/>
          <a:p>
            <a:pPr indent="0" lvl="0" marL="0" marR="0" rtl="0" algn="l">
              <a:lnSpc>
                <a:spcPct val="109988"/>
              </a:lnSpc>
              <a:spcBef>
                <a:spcPts val="0"/>
              </a:spcBef>
              <a:spcAft>
                <a:spcPts val="0"/>
              </a:spcAft>
              <a:buNone/>
            </a:pPr>
            <a:r>
              <a:rPr b="1" i="0" lang="en" sz="2400" u="none" cap="none" strike="noStrike">
                <a:solidFill>
                  <a:srgbClr val="000000"/>
                </a:solidFill>
                <a:latin typeface="Montserrat"/>
                <a:ea typeface="Montserrat"/>
                <a:cs typeface="Montserrat"/>
                <a:sym typeface="Montserrat"/>
              </a:rPr>
              <a:t>K=3 wins — small K captures fine-grained local pricing clusters. As K increases, the model averages too broadly and loses local signal.</a:t>
            </a:r>
            <a:endParaRPr sz="900"/>
          </a:p>
        </p:txBody>
      </p:sp>
      <p:graphicFrame>
        <p:nvGraphicFramePr>
          <p:cNvPr id="1743" name="Google Shape;1743;g3ee0adc8e96_6_78"/>
          <p:cNvGraphicFramePr/>
          <p:nvPr/>
        </p:nvGraphicFramePr>
        <p:xfrm>
          <a:off x="0" y="4680127"/>
          <a:ext cx="3000000" cy="3000000"/>
        </p:xfrm>
        <a:graphic>
          <a:graphicData uri="http://schemas.openxmlformats.org/drawingml/2006/table">
            <a:tbl>
              <a:tblPr>
                <a:noFill/>
                <a:tableStyleId>{45EFA893-811E-4007-9D9D-CAB5BEB4294B}</a:tableStyleId>
              </a:tblPr>
              <a:tblGrid>
                <a:gridCol w="1542750"/>
                <a:gridCol w="1542750"/>
                <a:gridCol w="1542750"/>
                <a:gridCol w="1542750"/>
                <a:gridCol w="1542750"/>
              </a:tblGrid>
              <a:tr h="42280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K</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CV MAE</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52636"/>
                        </a:lnSpc>
                        <a:spcBef>
                          <a:spcPts val="0"/>
                        </a:spcBef>
                        <a:spcAft>
                          <a:spcPts val="0"/>
                        </a:spcAft>
                        <a:buNone/>
                      </a:pPr>
                      <a:r>
                        <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K</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CV MAE</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22800">
                <a:tc>
                  <a:txBody>
                    <a:bodyPr/>
                    <a:lstStyle/>
                    <a:p>
                      <a:pPr indent="0" lvl="0" marL="0" marR="0" rtl="0" algn="r">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3</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0.02188 ← Best</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52636"/>
                        </a:lnSpc>
                        <a:spcBef>
                          <a:spcPts val="0"/>
                        </a:spcBef>
                        <a:spcAft>
                          <a:spcPts val="0"/>
                        </a:spcAft>
                        <a:buNone/>
                      </a:pPr>
                      <a:r>
                        <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15</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0.02304</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22800">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5</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0.02205</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52636"/>
                        </a:lnSpc>
                        <a:spcBef>
                          <a:spcPts val="0"/>
                        </a:spcBef>
                        <a:spcAft>
                          <a:spcPts val="0"/>
                        </a:spcAft>
                        <a:buNone/>
                      </a:pPr>
                      <a:r>
                        <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20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0.02338</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22800">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7</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0.02237</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52636"/>
                        </a:lnSpc>
                        <a:spcBef>
                          <a:spcPts val="0"/>
                        </a:spcBef>
                        <a:spcAft>
                          <a:spcPts val="0"/>
                        </a:spcAft>
                        <a:buNone/>
                      </a:pPr>
                      <a:r>
                        <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25</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0.02367</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22800">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10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0.02274</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52636"/>
                        </a:lnSpc>
                        <a:spcBef>
                          <a:spcPts val="0"/>
                        </a:spcBef>
                        <a:spcAft>
                          <a:spcPts val="0"/>
                        </a:spcAft>
                        <a:buNone/>
                      </a:pPr>
                      <a:r>
                        <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30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0.0239</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bl>
          </a:graphicData>
        </a:graphic>
      </p:graphicFrame>
      <p:sp>
        <p:nvSpPr>
          <p:cNvPr id="1744" name="Google Shape;1744;g3ee0adc8e96_6_78"/>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745" name="Google Shape;1745;g3ee0adc8e96_6_78"/>
          <p:cNvSpPr txBox="1"/>
          <p:nvPr>
            <p:ph idx="12" type="sldNum"/>
          </p:nvPr>
        </p:nvSpPr>
        <p:spPr>
          <a:xfrm>
            <a:off x="11140361" y="63713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sz="1500"/>
              <a:t>‹#›</a:t>
            </a:fld>
            <a:endParaRPr sz="1500"/>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1749" name="Shape 1749"/>
        <p:cNvGrpSpPr/>
        <p:nvPr/>
      </p:nvGrpSpPr>
      <p:grpSpPr>
        <a:xfrm>
          <a:off x="0" y="0"/>
          <a:ext cx="0" cy="0"/>
          <a:chOff x="0" y="0"/>
          <a:chExt cx="0" cy="0"/>
        </a:xfrm>
      </p:grpSpPr>
      <p:sp>
        <p:nvSpPr>
          <p:cNvPr id="1750" name="Google Shape;1750;g3ee0adc8e96_6_89"/>
          <p:cNvSpPr/>
          <p:nvPr/>
        </p:nvSpPr>
        <p:spPr>
          <a:xfrm rot="10800000">
            <a:off x="11335613" y="0"/>
            <a:ext cx="856387" cy="856387"/>
          </a:xfrm>
          <a:custGeom>
            <a:rect b="b" l="l" r="r" t="t"/>
            <a:pathLst>
              <a:path extrusionOk="0" h="1284580" w="1284580">
                <a:moveTo>
                  <a:pt x="1284580" y="1284580"/>
                </a:moveTo>
                <a:lnTo>
                  <a:pt x="0" y="1284580"/>
                </a:lnTo>
                <a:lnTo>
                  <a:pt x="0" y="0"/>
                </a:lnTo>
                <a:lnTo>
                  <a:pt x="1284580" y="0"/>
                </a:lnTo>
                <a:lnTo>
                  <a:pt x="1284580" y="1284580"/>
                </a:lnTo>
                <a:close/>
              </a:path>
            </a:pathLst>
          </a:custGeom>
          <a:blipFill rotWithShape="1">
            <a:blip r:embed="rId3">
              <a:alphaModFix/>
            </a:blip>
            <a:stretch>
              <a:fillRect b="0" l="0" r="0" t="0"/>
            </a:stretch>
          </a:blipFill>
          <a:ln>
            <a:noFill/>
          </a:ln>
        </p:spPr>
      </p:sp>
      <p:sp>
        <p:nvSpPr>
          <p:cNvPr id="1751" name="Google Shape;1751;g3ee0adc8e96_6_89"/>
          <p:cNvSpPr/>
          <p:nvPr/>
        </p:nvSpPr>
        <p:spPr>
          <a:xfrm>
            <a:off x="4871079" y="3143913"/>
            <a:ext cx="7217414" cy="1820807"/>
          </a:xfrm>
          <a:custGeom>
            <a:rect b="b" l="l" r="r" t="t"/>
            <a:pathLst>
              <a:path extrusionOk="0" h="2731210" w="10826121">
                <a:moveTo>
                  <a:pt x="0" y="0"/>
                </a:moveTo>
                <a:lnTo>
                  <a:pt x="10826121" y="0"/>
                </a:lnTo>
                <a:lnTo>
                  <a:pt x="10826121" y="2731210"/>
                </a:lnTo>
                <a:lnTo>
                  <a:pt x="0" y="2731210"/>
                </a:lnTo>
                <a:lnTo>
                  <a:pt x="0" y="0"/>
                </a:lnTo>
                <a:close/>
              </a:path>
            </a:pathLst>
          </a:custGeom>
          <a:blipFill rotWithShape="1">
            <a:blip r:embed="rId4">
              <a:alphaModFix/>
            </a:blip>
            <a:stretch>
              <a:fillRect b="0" l="0" r="0" t="0"/>
            </a:stretch>
          </a:blipFill>
          <a:ln>
            <a:noFill/>
          </a:ln>
        </p:spPr>
      </p:sp>
      <p:sp>
        <p:nvSpPr>
          <p:cNvPr id="1752" name="Google Shape;1752;g3ee0adc8e96_6_89"/>
          <p:cNvSpPr txBox="1"/>
          <p:nvPr/>
        </p:nvSpPr>
        <p:spPr>
          <a:xfrm>
            <a:off x="1642687" y="31750"/>
            <a:ext cx="9435319" cy="607295"/>
          </a:xfrm>
          <a:prstGeom prst="rect">
            <a:avLst/>
          </a:prstGeom>
          <a:noFill/>
          <a:ln>
            <a:noFill/>
          </a:ln>
        </p:spPr>
        <p:txBody>
          <a:bodyPr anchorCtr="0" anchor="t" bIns="0" lIns="0" spcFirstLastPara="1" rIns="0" wrap="square" tIns="0">
            <a:spAutoFit/>
          </a:bodyPr>
          <a:lstStyle/>
          <a:p>
            <a:pPr indent="0" lvl="0" marL="0" marR="0" rtl="0" algn="l">
              <a:lnSpc>
                <a:spcPct val="110012"/>
              </a:lnSpc>
              <a:spcBef>
                <a:spcPts val="0"/>
              </a:spcBef>
              <a:spcAft>
                <a:spcPts val="0"/>
              </a:spcAft>
              <a:buNone/>
            </a:pPr>
            <a:r>
              <a:rPr b="1" i="0" lang="en" sz="4200" u="none" cap="none" strike="noStrike">
                <a:solidFill>
                  <a:srgbClr val="EFF1E8"/>
                </a:solidFill>
                <a:latin typeface="Montserrat"/>
                <a:ea typeface="Montserrat"/>
                <a:cs typeface="Montserrat"/>
                <a:sym typeface="Montserrat"/>
              </a:rPr>
              <a:t>Enhancements: 3 Experiments</a:t>
            </a:r>
            <a:endParaRPr sz="900"/>
          </a:p>
        </p:txBody>
      </p:sp>
      <p:sp>
        <p:nvSpPr>
          <p:cNvPr id="1753" name="Google Shape;1753;g3ee0adc8e96_6_89"/>
          <p:cNvSpPr txBox="1"/>
          <p:nvPr/>
        </p:nvSpPr>
        <p:spPr>
          <a:xfrm>
            <a:off x="0" y="658100"/>
            <a:ext cx="11484300" cy="369300"/>
          </a:xfrm>
          <a:prstGeom prst="rect">
            <a:avLst/>
          </a:prstGeom>
          <a:noFill/>
          <a:ln>
            <a:noFill/>
          </a:ln>
        </p:spPr>
        <p:txBody>
          <a:bodyPr anchorCtr="0" anchor="t" bIns="0" lIns="0" spcFirstLastPara="1" rIns="0" wrap="square" tIns="0">
            <a:spAutoFit/>
          </a:bodyPr>
          <a:lstStyle/>
          <a:p>
            <a:pPr indent="0" lvl="0" marL="0" marR="0" rtl="0" algn="ctr">
              <a:lnSpc>
                <a:spcPct val="109988"/>
              </a:lnSpc>
              <a:spcBef>
                <a:spcPts val="0"/>
              </a:spcBef>
              <a:spcAft>
                <a:spcPts val="0"/>
              </a:spcAft>
              <a:buNone/>
            </a:pPr>
            <a:r>
              <a:rPr b="1" i="0" lang="en" sz="2400" u="none" cap="none" strike="noStrike">
                <a:solidFill>
                  <a:srgbClr val="000000"/>
                </a:solidFill>
                <a:latin typeface="Montserrat"/>
                <a:ea typeface="Montserrat"/>
                <a:cs typeface="Montserrat"/>
                <a:sym typeface="Montserrat"/>
              </a:rPr>
              <a:t>Three targeted experiments based on identified weaknesses:</a:t>
            </a:r>
            <a:endParaRPr sz="900"/>
          </a:p>
        </p:txBody>
      </p:sp>
      <p:sp>
        <p:nvSpPr>
          <p:cNvPr id="1754" name="Google Shape;1754;g3ee0adc8e96_6_89"/>
          <p:cNvSpPr txBox="1"/>
          <p:nvPr/>
        </p:nvSpPr>
        <p:spPr>
          <a:xfrm>
            <a:off x="0" y="5195704"/>
            <a:ext cx="10820400" cy="1662296"/>
          </a:xfrm>
          <a:prstGeom prst="rect">
            <a:avLst/>
          </a:prstGeom>
          <a:noFill/>
          <a:ln>
            <a:noFill/>
          </a:ln>
        </p:spPr>
        <p:txBody>
          <a:bodyPr anchorCtr="0" anchor="t" bIns="0" lIns="0" spcFirstLastPara="1" rIns="0" wrap="square" tIns="0">
            <a:spAutoFit/>
          </a:bodyPr>
          <a:lstStyle/>
          <a:p>
            <a:pPr indent="0" lvl="0" marL="0" marR="0" rtl="0" algn="ctr">
              <a:lnSpc>
                <a:spcPct val="109988"/>
              </a:lnSpc>
              <a:spcBef>
                <a:spcPts val="0"/>
              </a:spcBef>
              <a:spcAft>
                <a:spcPts val="0"/>
              </a:spcAft>
              <a:buNone/>
            </a:pPr>
            <a:r>
              <a:rPr b="1" i="0" lang="en" sz="2400" u="none" cap="none" strike="noStrike">
                <a:solidFill>
                  <a:srgbClr val="000000"/>
                </a:solidFill>
                <a:latin typeface="Montserrat"/>
                <a:ea typeface="Montserrat"/>
                <a:cs typeface="Montserrat"/>
                <a:sym typeface="Montserrat"/>
              </a:rPr>
              <a:t>Why Exp 2 failed: Polynomial terms like quantity² reach 6.25 billion while wall² stays under 1. Ridge with small alpha (0.01) cannot control these extreme scales, the model blows up. Stronger regularisation and rescaling after expansion would be needed.</a:t>
            </a:r>
            <a:endParaRPr sz="900"/>
          </a:p>
          <a:p>
            <a:pPr indent="0" lvl="0" marL="0" marR="0" rtl="0" algn="ctr">
              <a:lnSpc>
                <a:spcPct val="109988"/>
              </a:lnSpc>
              <a:spcBef>
                <a:spcPts val="0"/>
              </a:spcBef>
              <a:spcAft>
                <a:spcPts val="0"/>
              </a:spcAft>
              <a:buNone/>
            </a:pPr>
            <a:r>
              <a:t/>
            </a:r>
            <a:endParaRPr b="1" i="0" sz="2400" u="none" cap="none" strike="noStrike">
              <a:solidFill>
                <a:srgbClr val="000000"/>
              </a:solidFill>
              <a:latin typeface="Montserrat"/>
              <a:ea typeface="Montserrat"/>
              <a:cs typeface="Montserrat"/>
              <a:sym typeface="Montserrat"/>
            </a:endParaRPr>
          </a:p>
        </p:txBody>
      </p:sp>
      <p:graphicFrame>
        <p:nvGraphicFramePr>
          <p:cNvPr id="1755" name="Google Shape;1755;g3ee0adc8e96_6_89"/>
          <p:cNvGraphicFramePr/>
          <p:nvPr/>
        </p:nvGraphicFramePr>
        <p:xfrm>
          <a:off x="73847" y="999592"/>
          <a:ext cx="3000000" cy="3000000"/>
        </p:xfrm>
        <a:graphic>
          <a:graphicData uri="http://schemas.openxmlformats.org/drawingml/2006/table">
            <a:tbl>
              <a:tblPr>
                <a:noFill/>
                <a:tableStyleId>{45EFA893-811E-4007-9D9D-CAB5BEB4294B}</a:tableStyleId>
              </a:tblPr>
              <a:tblGrid>
                <a:gridCol w="2423625"/>
                <a:gridCol w="2423625"/>
                <a:gridCol w="2423625"/>
                <a:gridCol w="2423625"/>
                <a:gridCol w="2423625"/>
              </a:tblGrid>
              <a:tr h="536075">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Experiment</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What Changed</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Val MAE ($)</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Val R²</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Outcome</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536075">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Exp 1: SelectKBest top 5</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Reduced features from 7 to 5 (removed length, Total_quantity)</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$8.67</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0.015</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Marginal gain — noise reduction minor</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536075">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Exp 2: Polynomial features</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Added degree-2 interaction terms (22 features total)</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FAILED</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−3.6×10²⁶</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Numerical overflow — underfitting exploded</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536075">
                <a:tc>
                  <a:txBody>
                    <a:bodyPr/>
                    <a:lstStyle/>
                    <a:p>
                      <a:pPr indent="0" lvl="0" marL="0" marR="0" rtl="0" algn="l">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Exp 3: Manhattan distance</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Changed KNN distance metric from Euclidean to Manhattan</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$6.38</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0.427</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b="1" lang="en" sz="1000" u="none" cap="none" strike="noStrike">
                          <a:solidFill>
                            <a:srgbClr val="000000"/>
                          </a:solidFill>
                          <a:latin typeface="Arial"/>
                          <a:ea typeface="Arial"/>
                          <a:cs typeface="Arial"/>
                          <a:sym typeface="Arial"/>
                        </a:rPr>
                        <a:t>Best — more robust to outliers in quantity</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bl>
          </a:graphicData>
        </a:graphic>
      </p:graphicFrame>
      <p:sp>
        <p:nvSpPr>
          <p:cNvPr id="1756" name="Google Shape;1756;g3ee0adc8e96_6_89"/>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757" name="Google Shape;1757;g3ee0adc8e96_6_8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sz="1500">
                <a:solidFill>
                  <a:schemeClr val="lt1"/>
                </a:solidFill>
              </a:rPr>
              <a:t>‹#›</a:t>
            </a:fld>
            <a:endParaRPr sz="1500">
              <a:solidFill>
                <a:schemeClr val="lt1"/>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1761" name="Shape 1761"/>
        <p:cNvGrpSpPr/>
        <p:nvPr/>
      </p:nvGrpSpPr>
      <p:grpSpPr>
        <a:xfrm>
          <a:off x="0" y="0"/>
          <a:ext cx="0" cy="0"/>
          <a:chOff x="0" y="0"/>
          <a:chExt cx="0" cy="0"/>
        </a:xfrm>
      </p:grpSpPr>
      <p:sp>
        <p:nvSpPr>
          <p:cNvPr id="1762" name="Google Shape;1762;g3ee0adc8e96_6_98"/>
          <p:cNvSpPr/>
          <p:nvPr/>
        </p:nvSpPr>
        <p:spPr>
          <a:xfrm rot="10800000">
            <a:off x="11506200" y="658286"/>
            <a:ext cx="459559" cy="459559"/>
          </a:xfrm>
          <a:custGeom>
            <a:rect b="b" l="l" r="r" t="t"/>
            <a:pathLst>
              <a:path extrusionOk="0" h="689339" w="689339">
                <a:moveTo>
                  <a:pt x="689339" y="689339"/>
                </a:moveTo>
                <a:lnTo>
                  <a:pt x="0" y="689339"/>
                </a:lnTo>
                <a:lnTo>
                  <a:pt x="0" y="0"/>
                </a:lnTo>
                <a:lnTo>
                  <a:pt x="689339" y="0"/>
                </a:lnTo>
                <a:lnTo>
                  <a:pt x="689339" y="689339"/>
                </a:lnTo>
                <a:close/>
              </a:path>
            </a:pathLst>
          </a:custGeom>
          <a:blipFill rotWithShape="1">
            <a:blip r:embed="rId3">
              <a:alphaModFix/>
            </a:blip>
            <a:stretch>
              <a:fillRect b="0" l="0" r="0" t="0"/>
            </a:stretch>
          </a:blipFill>
          <a:ln>
            <a:noFill/>
          </a:ln>
        </p:spPr>
      </p:sp>
      <p:sp>
        <p:nvSpPr>
          <p:cNvPr id="1763" name="Google Shape;1763;g3ee0adc8e96_6_98"/>
          <p:cNvSpPr/>
          <p:nvPr/>
        </p:nvSpPr>
        <p:spPr>
          <a:xfrm>
            <a:off x="82877" y="888066"/>
            <a:ext cx="8418517" cy="5969934"/>
          </a:xfrm>
          <a:custGeom>
            <a:rect b="b" l="l" r="r" t="t"/>
            <a:pathLst>
              <a:path extrusionOk="0" h="8954901" w="12627775">
                <a:moveTo>
                  <a:pt x="0" y="0"/>
                </a:moveTo>
                <a:lnTo>
                  <a:pt x="12627775" y="0"/>
                </a:lnTo>
                <a:lnTo>
                  <a:pt x="12627775" y="8954901"/>
                </a:lnTo>
                <a:lnTo>
                  <a:pt x="0" y="8954901"/>
                </a:lnTo>
                <a:lnTo>
                  <a:pt x="0" y="0"/>
                </a:lnTo>
                <a:close/>
              </a:path>
            </a:pathLst>
          </a:custGeom>
          <a:blipFill rotWithShape="1">
            <a:blip r:embed="rId4">
              <a:alphaModFix/>
            </a:blip>
            <a:stretch>
              <a:fillRect b="0" l="0" r="0" t="0"/>
            </a:stretch>
          </a:blipFill>
          <a:ln>
            <a:noFill/>
          </a:ln>
        </p:spPr>
      </p:sp>
      <p:sp>
        <p:nvSpPr>
          <p:cNvPr id="1764" name="Google Shape;1764;g3ee0adc8e96_6_98"/>
          <p:cNvSpPr txBox="1"/>
          <p:nvPr/>
        </p:nvSpPr>
        <p:spPr>
          <a:xfrm>
            <a:off x="0" y="38100"/>
            <a:ext cx="12686368" cy="62018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 sz="4300" u="none" cap="none" strike="noStrike">
                <a:solidFill>
                  <a:srgbClr val="EFF1E8"/>
                </a:solidFill>
                <a:latin typeface="Montserrat"/>
                <a:ea typeface="Montserrat"/>
                <a:cs typeface="Montserrat"/>
                <a:sym typeface="Montserrat"/>
              </a:rPr>
              <a:t>Error Analysis: Where the Model Fails</a:t>
            </a:r>
            <a:endParaRPr sz="900"/>
          </a:p>
        </p:txBody>
      </p:sp>
      <p:sp>
        <p:nvSpPr>
          <p:cNvPr id="1765" name="Google Shape;1765;g3ee0adc8e96_6_98"/>
          <p:cNvSpPr txBox="1"/>
          <p:nvPr/>
        </p:nvSpPr>
        <p:spPr>
          <a:xfrm>
            <a:off x="8501394" y="626536"/>
            <a:ext cx="3690606" cy="3317781"/>
          </a:xfrm>
          <a:prstGeom prst="rect">
            <a:avLst/>
          </a:prstGeom>
          <a:noFill/>
          <a:ln>
            <a:noFill/>
          </a:ln>
        </p:spPr>
        <p:txBody>
          <a:bodyPr anchorCtr="0" anchor="t" bIns="0" lIns="0" spcFirstLastPara="1" rIns="0" wrap="square" tIns="0">
            <a:spAutoFit/>
          </a:bodyPr>
          <a:lstStyle/>
          <a:p>
            <a:pPr indent="0" lvl="0" marL="0" marR="0" rtl="0" algn="l">
              <a:lnSpc>
                <a:spcPct val="140078"/>
              </a:lnSpc>
              <a:spcBef>
                <a:spcPts val="0"/>
              </a:spcBef>
              <a:spcAft>
                <a:spcPts val="0"/>
              </a:spcAft>
              <a:buNone/>
            </a:pPr>
            <a:r>
              <a:rPr b="0" i="0" lang="en" sz="1200" u="none" cap="none" strike="noStrike">
                <a:solidFill>
                  <a:srgbClr val="FFFFFF"/>
                </a:solidFill>
                <a:latin typeface="Poppins"/>
                <a:ea typeface="Poppins"/>
                <a:cs typeface="Poppins"/>
                <a:sym typeface="Poppins"/>
              </a:rPr>
              <a:t>Pattern: Error scales roughly in proportion with cost. For the 86% of assemblies priced under $20, the model is highly accurate (MAE $1.94–$5.03). For high-cost assemblies above $100 (only 0.26% of quotes), mean error is $98,  the model severely underestimates complex, expensive assemblies.</a:t>
            </a:r>
            <a:endParaRPr sz="900"/>
          </a:p>
          <a:p>
            <a:pPr indent="0" lvl="0" marL="0" marR="0" rtl="0" algn="l">
              <a:lnSpc>
                <a:spcPct val="140000"/>
              </a:lnSpc>
              <a:spcBef>
                <a:spcPts val="0"/>
              </a:spcBef>
              <a:spcAft>
                <a:spcPts val="0"/>
              </a:spcAft>
              <a:buNone/>
            </a:pPr>
            <a:r>
              <a:t/>
            </a:r>
            <a:endParaRPr b="0" i="0" sz="1200" u="none" cap="none" strike="noStrike">
              <a:solidFill>
                <a:srgbClr val="FFFFFF"/>
              </a:solidFill>
              <a:latin typeface="Poppins"/>
              <a:ea typeface="Poppins"/>
              <a:cs typeface="Poppins"/>
              <a:sym typeface="Poppins"/>
            </a:endParaRPr>
          </a:p>
          <a:p>
            <a:pPr indent="0" lvl="0" marL="0" marR="0" rtl="0" algn="l">
              <a:lnSpc>
                <a:spcPct val="140078"/>
              </a:lnSpc>
              <a:spcBef>
                <a:spcPts val="0"/>
              </a:spcBef>
              <a:spcAft>
                <a:spcPts val="0"/>
              </a:spcAft>
              <a:buNone/>
            </a:pPr>
            <a:r>
              <a:rPr b="0" i="0" lang="en" sz="1200" u="none" cap="none" strike="noStrike">
                <a:solidFill>
                  <a:srgbClr val="FFFFFF"/>
                </a:solidFill>
                <a:latin typeface="Poppins"/>
                <a:ea typeface="Poppins"/>
                <a:cs typeface="Poppins"/>
                <a:sym typeface="Poppins"/>
              </a:rPr>
              <a:t>Root cause: High-cost assemblies have rare feature combinations (very large diameter, heavy components, long length all together). KNN finds their nearest neighbours in a sparse region of feature space, the few similar training examples may not closely represent the true price.</a:t>
            </a:r>
            <a:endParaRPr sz="900"/>
          </a:p>
          <a:p>
            <a:pPr indent="0" lvl="0" marL="0" marR="0" rtl="0" algn="l">
              <a:lnSpc>
                <a:spcPct val="140000"/>
              </a:lnSpc>
              <a:spcBef>
                <a:spcPts val="0"/>
              </a:spcBef>
              <a:spcAft>
                <a:spcPts val="0"/>
              </a:spcAft>
              <a:buNone/>
            </a:pPr>
            <a:r>
              <a:t/>
            </a:r>
            <a:endParaRPr b="0" i="0" sz="1200" u="none" cap="none" strike="noStrike">
              <a:solidFill>
                <a:srgbClr val="FFFFFF"/>
              </a:solidFill>
              <a:latin typeface="Poppins"/>
              <a:ea typeface="Poppins"/>
              <a:cs typeface="Poppins"/>
              <a:sym typeface="Poppins"/>
            </a:endParaRPr>
          </a:p>
        </p:txBody>
      </p:sp>
      <p:graphicFrame>
        <p:nvGraphicFramePr>
          <p:cNvPr id="1766" name="Google Shape;1766;g3ee0adc8e96_6_98"/>
          <p:cNvGraphicFramePr/>
          <p:nvPr/>
        </p:nvGraphicFramePr>
        <p:xfrm>
          <a:off x="8501394" y="4307599"/>
          <a:ext cx="3000000" cy="3000000"/>
        </p:xfrm>
        <a:graphic>
          <a:graphicData uri="http://schemas.openxmlformats.org/drawingml/2006/table">
            <a:tbl>
              <a:tblPr>
                <a:noFill/>
                <a:tableStyleId>{45EFA893-811E-4007-9D9D-CAB5BEB4294B}</a:tableStyleId>
              </a:tblPr>
              <a:tblGrid>
                <a:gridCol w="922650"/>
                <a:gridCol w="922650"/>
                <a:gridCol w="922650"/>
                <a:gridCol w="922650"/>
              </a:tblGrid>
              <a:tr h="42505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Cost Bracket</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Quotes</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Mean Error ($)</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Median Error ($)</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2505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$0–10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3,930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$1.94</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$0.60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2505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$10–20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1,002</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$5.03</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$3.35</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2505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$20–50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931</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$11.85</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$9.54</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2505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$50–100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102</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$33.29</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$28.25</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425050">
                <a:tc>
                  <a:txBody>
                    <a:bodyPr/>
                    <a:lstStyle/>
                    <a:p>
                      <a:pPr indent="0" lvl="0" marL="0" marR="0" rtl="0" algn="l">
                        <a:lnSpc>
                          <a:spcPct val="140000"/>
                        </a:lnSpc>
                        <a:spcBef>
                          <a:spcPts val="0"/>
                        </a:spcBef>
                        <a:spcAft>
                          <a:spcPts val="0"/>
                        </a:spcAft>
                        <a:buNone/>
                      </a:pPr>
                      <a:r>
                        <a:rPr lang="en" sz="1000" u="none" cap="none" strike="noStrike">
                          <a:solidFill>
                            <a:srgbClr val="000000"/>
                          </a:solidFill>
                          <a:latin typeface="Arial"/>
                          <a:ea typeface="Arial"/>
                          <a:cs typeface="Arial"/>
                          <a:sym typeface="Arial"/>
                        </a:rPr>
                        <a:t>$100+</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78</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$98.15</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00"/>
                        </a:lnSpc>
                        <a:spcBef>
                          <a:spcPts val="0"/>
                        </a:spcBef>
                        <a:spcAft>
                          <a:spcPts val="0"/>
                        </a:spcAft>
                        <a:buNone/>
                      </a:pPr>
                      <a:r>
                        <a:rPr lang="en" sz="1000" u="none" cap="none" strike="noStrike">
                          <a:solidFill>
                            <a:srgbClr val="000000"/>
                          </a:solidFill>
                          <a:latin typeface="Arial"/>
                          <a:ea typeface="Arial"/>
                          <a:cs typeface="Arial"/>
                          <a:sym typeface="Arial"/>
                        </a:rPr>
                        <a:t>$79.62</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bl>
          </a:graphicData>
        </a:graphic>
      </p:graphicFrame>
      <p:sp>
        <p:nvSpPr>
          <p:cNvPr id="1767" name="Google Shape;1767;g3ee0adc8e96_6_98"/>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768" name="Google Shape;1768;g3ee0adc8e96_6_98"/>
          <p:cNvSpPr txBox="1"/>
          <p:nvPr>
            <p:ph idx="12" type="sldNum"/>
          </p:nvPr>
        </p:nvSpPr>
        <p:spPr>
          <a:xfrm>
            <a:off x="153886" y="21537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sz="1500">
                <a:solidFill>
                  <a:schemeClr val="lt1"/>
                </a:solidFill>
              </a:rPr>
              <a:t>‹#›</a:t>
            </a:fld>
            <a:endParaRPr sz="1500">
              <a:solidFill>
                <a:schemeClr val="lt1"/>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1772" name="Shape 1772"/>
        <p:cNvGrpSpPr/>
        <p:nvPr/>
      </p:nvGrpSpPr>
      <p:grpSpPr>
        <a:xfrm>
          <a:off x="0" y="0"/>
          <a:ext cx="0" cy="0"/>
          <a:chOff x="0" y="0"/>
          <a:chExt cx="0" cy="0"/>
        </a:xfrm>
      </p:grpSpPr>
      <p:sp>
        <p:nvSpPr>
          <p:cNvPr id="1773" name="Google Shape;1773;g3ee0adc8e96_6_106"/>
          <p:cNvSpPr/>
          <p:nvPr/>
        </p:nvSpPr>
        <p:spPr>
          <a:xfrm>
            <a:off x="700478" y="5402371"/>
            <a:ext cx="763735" cy="763735"/>
          </a:xfrm>
          <a:custGeom>
            <a:rect b="b" l="l" r="r" t="t"/>
            <a:pathLst>
              <a:path extrusionOk="0" h="1145602" w="1145602">
                <a:moveTo>
                  <a:pt x="0" y="0"/>
                </a:moveTo>
                <a:lnTo>
                  <a:pt x="1145602" y="0"/>
                </a:lnTo>
                <a:lnTo>
                  <a:pt x="1145602" y="1145602"/>
                </a:lnTo>
                <a:lnTo>
                  <a:pt x="0" y="1145602"/>
                </a:lnTo>
                <a:lnTo>
                  <a:pt x="0" y="0"/>
                </a:lnTo>
                <a:close/>
              </a:path>
            </a:pathLst>
          </a:custGeom>
          <a:blipFill rotWithShape="1">
            <a:blip r:embed="rId3">
              <a:alphaModFix/>
            </a:blip>
            <a:stretch>
              <a:fillRect b="0" l="0" r="0" t="0"/>
            </a:stretch>
          </a:blipFill>
          <a:ln>
            <a:noFill/>
          </a:ln>
        </p:spPr>
      </p:sp>
      <p:sp>
        <p:nvSpPr>
          <p:cNvPr id="1774" name="Google Shape;1774;g3ee0adc8e96_6_106"/>
          <p:cNvSpPr/>
          <p:nvPr/>
        </p:nvSpPr>
        <p:spPr>
          <a:xfrm>
            <a:off x="0" y="3367808"/>
            <a:ext cx="9800741" cy="3490192"/>
          </a:xfrm>
          <a:custGeom>
            <a:rect b="b" l="l" r="r" t="t"/>
            <a:pathLst>
              <a:path extrusionOk="0" h="5235288" w="14701112">
                <a:moveTo>
                  <a:pt x="0" y="0"/>
                </a:moveTo>
                <a:lnTo>
                  <a:pt x="14701112" y="0"/>
                </a:lnTo>
                <a:lnTo>
                  <a:pt x="14701112" y="5235288"/>
                </a:lnTo>
                <a:lnTo>
                  <a:pt x="0" y="5235288"/>
                </a:lnTo>
                <a:lnTo>
                  <a:pt x="0" y="0"/>
                </a:lnTo>
                <a:close/>
              </a:path>
            </a:pathLst>
          </a:custGeom>
          <a:blipFill rotWithShape="1">
            <a:blip r:embed="rId4">
              <a:alphaModFix/>
            </a:blip>
            <a:stretch>
              <a:fillRect b="0" l="0" r="0" t="0"/>
            </a:stretch>
          </a:blipFill>
          <a:ln>
            <a:noFill/>
          </a:ln>
        </p:spPr>
      </p:sp>
      <p:sp>
        <p:nvSpPr>
          <p:cNvPr id="1775" name="Google Shape;1775;g3ee0adc8e96_6_106"/>
          <p:cNvSpPr txBox="1"/>
          <p:nvPr/>
        </p:nvSpPr>
        <p:spPr>
          <a:xfrm>
            <a:off x="3357735" y="107343"/>
            <a:ext cx="4168973" cy="292707"/>
          </a:xfrm>
          <a:prstGeom prst="rect">
            <a:avLst/>
          </a:prstGeom>
          <a:noFill/>
          <a:ln>
            <a:noFill/>
          </a:ln>
        </p:spPr>
        <p:txBody>
          <a:bodyPr anchorCtr="0" anchor="t" bIns="0" lIns="0" spcFirstLastPara="1" rIns="0" wrap="square" tIns="0">
            <a:spAutoFit/>
          </a:bodyPr>
          <a:lstStyle/>
          <a:p>
            <a:pPr indent="0" lvl="0" marL="0" marR="0" rtl="0" algn="ctr">
              <a:lnSpc>
                <a:spcPct val="109996"/>
              </a:lnSpc>
              <a:spcBef>
                <a:spcPts val="0"/>
              </a:spcBef>
              <a:spcAft>
                <a:spcPts val="0"/>
              </a:spcAft>
              <a:buNone/>
            </a:pPr>
            <a:r>
              <a:rPr b="1" i="0" lang="en" sz="2000" u="none" cap="none" strike="noStrike">
                <a:solidFill>
                  <a:srgbClr val="FFFFFF"/>
                </a:solidFill>
                <a:latin typeface="Montserrat"/>
                <a:ea typeface="Montserrat"/>
                <a:cs typeface="Montserrat"/>
                <a:sym typeface="Montserrat"/>
              </a:rPr>
              <a:t>COMPARISON OF ML MODELS </a:t>
            </a:r>
            <a:endParaRPr sz="900"/>
          </a:p>
        </p:txBody>
      </p:sp>
      <p:sp>
        <p:nvSpPr>
          <p:cNvPr id="1776" name="Google Shape;1776;g3ee0adc8e96_6_106"/>
          <p:cNvSpPr txBox="1"/>
          <p:nvPr/>
        </p:nvSpPr>
        <p:spPr>
          <a:xfrm>
            <a:off x="0" y="433917"/>
            <a:ext cx="3357735" cy="349251"/>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0" i="0" lang="en" sz="2000" u="none" cap="none" strike="noStrike">
                <a:solidFill>
                  <a:srgbClr val="000000"/>
                </a:solidFill>
                <a:latin typeface="Poppins"/>
                <a:ea typeface="Poppins"/>
                <a:cs typeface="Poppins"/>
                <a:sym typeface="Poppins"/>
              </a:rPr>
              <a:t>Head-to-Head: LR vs KNN</a:t>
            </a:r>
            <a:endParaRPr sz="900"/>
          </a:p>
        </p:txBody>
      </p:sp>
      <p:sp>
        <p:nvSpPr>
          <p:cNvPr id="1777" name="Google Shape;1777;g3ee0adc8e96_6_106"/>
          <p:cNvSpPr txBox="1"/>
          <p:nvPr/>
        </p:nvSpPr>
        <p:spPr>
          <a:xfrm>
            <a:off x="7670590" y="590550"/>
            <a:ext cx="4300631" cy="270529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 sz="3400" u="none" cap="none" strike="noStrike">
                <a:solidFill>
                  <a:srgbClr val="FEFEFE"/>
                </a:solidFill>
                <a:latin typeface="Poppins"/>
                <a:ea typeface="Poppins"/>
                <a:cs typeface="Poppins"/>
                <a:sym typeface="Poppins"/>
              </a:rPr>
              <a:t>KNN wins on all performance metrics. LR wins on interpretability.</a:t>
            </a:r>
            <a:endParaRPr sz="900"/>
          </a:p>
          <a:p>
            <a:pPr indent="0" lvl="0" marL="0" marR="0" rtl="0" algn="ctr">
              <a:lnSpc>
                <a:spcPct val="66653"/>
              </a:lnSpc>
              <a:spcBef>
                <a:spcPts val="0"/>
              </a:spcBef>
              <a:spcAft>
                <a:spcPts val="0"/>
              </a:spcAft>
              <a:buNone/>
            </a:pPr>
            <a:r>
              <a:t/>
            </a:r>
            <a:endParaRPr b="0" i="0" sz="3400" u="none" cap="none" strike="noStrike">
              <a:solidFill>
                <a:srgbClr val="FEFEFE"/>
              </a:solidFill>
              <a:latin typeface="Poppins"/>
              <a:ea typeface="Poppins"/>
              <a:cs typeface="Poppins"/>
              <a:sym typeface="Poppins"/>
            </a:endParaRPr>
          </a:p>
        </p:txBody>
      </p:sp>
      <p:graphicFrame>
        <p:nvGraphicFramePr>
          <p:cNvPr id="1778" name="Google Shape;1778;g3ee0adc8e96_6_106"/>
          <p:cNvGraphicFramePr/>
          <p:nvPr/>
        </p:nvGraphicFramePr>
        <p:xfrm>
          <a:off x="0" y="783167"/>
          <a:ext cx="3000000" cy="3000000"/>
        </p:xfrm>
        <a:graphic>
          <a:graphicData uri="http://schemas.openxmlformats.org/drawingml/2006/table">
            <a:tbl>
              <a:tblPr>
                <a:noFill/>
                <a:tableStyleId>{45EFA893-811E-4007-9D9D-CAB5BEB4294B}</a:tableStyleId>
              </a:tblPr>
              <a:tblGrid>
                <a:gridCol w="1826550"/>
                <a:gridCol w="1826550"/>
                <a:gridCol w="1826550"/>
                <a:gridCol w="1826550"/>
              </a:tblGrid>
              <a:tr h="313975">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Metric</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LR (Lasso α=0.001)</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KNN (K=3 Manhattan)</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Winner</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313975">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Test MAE</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25"/>
                        </a:lnSpc>
                        <a:spcBef>
                          <a:spcPts val="0"/>
                        </a:spcBef>
                        <a:spcAft>
                          <a:spcPts val="0"/>
                        </a:spcAft>
                        <a:buNone/>
                      </a:pPr>
                      <a:r>
                        <a:rPr lang="en" sz="1100" u="none" cap="none" strike="noStrike">
                          <a:solidFill>
                            <a:srgbClr val="000000"/>
                          </a:solidFill>
                          <a:latin typeface="Arial"/>
                          <a:ea typeface="Arial"/>
                          <a:cs typeface="Arial"/>
                          <a:sym typeface="Arial"/>
                        </a:rPr>
                        <a:t>$7.93</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25"/>
                        </a:lnSpc>
                        <a:spcBef>
                          <a:spcPts val="0"/>
                        </a:spcBef>
                        <a:spcAft>
                          <a:spcPts val="0"/>
                        </a:spcAft>
                        <a:buNone/>
                      </a:pPr>
                      <a:r>
                        <a:rPr b="1" lang="en" sz="1100" u="none" cap="none" strike="noStrike">
                          <a:solidFill>
                            <a:srgbClr val="000000"/>
                          </a:solidFill>
                          <a:latin typeface="Arial"/>
                          <a:ea typeface="Arial"/>
                          <a:cs typeface="Arial"/>
                          <a:sym typeface="Arial"/>
                        </a:rPr>
                        <a:t>$5.75</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KNN</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313975">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Test RMSE</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25"/>
                        </a:lnSpc>
                        <a:spcBef>
                          <a:spcPts val="0"/>
                        </a:spcBef>
                        <a:spcAft>
                          <a:spcPts val="0"/>
                        </a:spcAft>
                        <a:buNone/>
                      </a:pPr>
                      <a:r>
                        <a:rPr lang="en" sz="1100" u="none" cap="none" strike="noStrike">
                          <a:solidFill>
                            <a:srgbClr val="000000"/>
                          </a:solidFill>
                          <a:latin typeface="Arial"/>
                          <a:ea typeface="Arial"/>
                          <a:cs typeface="Arial"/>
                          <a:sym typeface="Arial"/>
                        </a:rPr>
                        <a:t>$24.31</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25"/>
                        </a:lnSpc>
                        <a:spcBef>
                          <a:spcPts val="0"/>
                        </a:spcBef>
                        <a:spcAft>
                          <a:spcPts val="0"/>
                        </a:spcAft>
                        <a:buNone/>
                      </a:pPr>
                      <a:r>
                        <a:rPr b="1" lang="en" sz="1100" u="none" cap="none" strike="noStrike">
                          <a:solidFill>
                            <a:srgbClr val="000000"/>
                          </a:solidFill>
                          <a:latin typeface="Arial"/>
                          <a:ea typeface="Arial"/>
                          <a:cs typeface="Arial"/>
                          <a:sym typeface="Arial"/>
                        </a:rPr>
                        <a:t>$18.93</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KNN</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313975">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Test R²</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25"/>
                        </a:lnSpc>
                        <a:spcBef>
                          <a:spcPts val="0"/>
                        </a:spcBef>
                        <a:spcAft>
                          <a:spcPts val="0"/>
                        </a:spcAft>
                        <a:buNone/>
                      </a:pPr>
                      <a:r>
                        <a:rPr lang="en" sz="1100" u="none" cap="none" strike="noStrike">
                          <a:solidFill>
                            <a:srgbClr val="000000"/>
                          </a:solidFill>
                          <a:latin typeface="Arial"/>
                          <a:ea typeface="Arial"/>
                          <a:cs typeface="Arial"/>
                          <a:sym typeface="Arial"/>
                        </a:rPr>
                        <a:t>0.121</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25"/>
                        </a:lnSpc>
                        <a:spcBef>
                          <a:spcPts val="0"/>
                        </a:spcBef>
                        <a:spcAft>
                          <a:spcPts val="0"/>
                        </a:spcAft>
                        <a:buNone/>
                      </a:pPr>
                      <a:r>
                        <a:rPr b="1" lang="en" sz="1100" u="none" cap="none" strike="noStrike">
                          <a:solidFill>
                            <a:srgbClr val="000000"/>
                          </a:solidFill>
                          <a:latin typeface="Arial"/>
                          <a:ea typeface="Arial"/>
                          <a:cs typeface="Arial"/>
                          <a:sym typeface="Arial"/>
                        </a:rPr>
                        <a:t>0.467</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KNN</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313975">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CV R²</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25"/>
                        </a:lnSpc>
                        <a:spcBef>
                          <a:spcPts val="0"/>
                        </a:spcBef>
                        <a:spcAft>
                          <a:spcPts val="0"/>
                        </a:spcAft>
                        <a:buNone/>
                      </a:pPr>
                      <a:r>
                        <a:rPr lang="en" sz="1100" u="none" cap="none" strike="noStrike">
                          <a:solidFill>
                            <a:srgbClr val="000000"/>
                          </a:solidFill>
                          <a:latin typeface="Arial"/>
                          <a:ea typeface="Arial"/>
                          <a:cs typeface="Arial"/>
                          <a:sym typeface="Arial"/>
                        </a:rPr>
                        <a:t>0.365</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r">
                        <a:lnSpc>
                          <a:spcPct val="140025"/>
                        </a:lnSpc>
                        <a:spcBef>
                          <a:spcPts val="0"/>
                        </a:spcBef>
                        <a:spcAft>
                          <a:spcPts val="0"/>
                        </a:spcAft>
                        <a:buNone/>
                      </a:pPr>
                      <a:r>
                        <a:rPr b="1" lang="en" sz="1100" u="none" cap="none" strike="noStrike">
                          <a:solidFill>
                            <a:srgbClr val="000000"/>
                          </a:solidFill>
                          <a:latin typeface="Arial"/>
                          <a:ea typeface="Arial"/>
                          <a:cs typeface="Arial"/>
                          <a:sym typeface="Arial"/>
                        </a:rPr>
                        <a:t>0.607</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KNN</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313975">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Training speed</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Fast</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Fast</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Tie</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313975">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Interpretability</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25"/>
                        </a:lnSpc>
                        <a:spcBef>
                          <a:spcPts val="0"/>
                        </a:spcBef>
                        <a:spcAft>
                          <a:spcPts val="0"/>
                        </a:spcAft>
                        <a:buNone/>
                      </a:pPr>
                      <a:r>
                        <a:rPr b="1" lang="en" sz="1100" u="none" cap="none" strike="noStrike">
                          <a:solidFill>
                            <a:srgbClr val="000000"/>
                          </a:solidFill>
                          <a:latin typeface="Arial"/>
                          <a:ea typeface="Arial"/>
                          <a:cs typeface="Arial"/>
                          <a:sym typeface="Arial"/>
                        </a:rPr>
                        <a:t>High</a:t>
                      </a:r>
                      <a:r>
                        <a:rPr lang="en" sz="1100" u="none" cap="none" strike="noStrike">
                          <a:solidFill>
                            <a:srgbClr val="000000"/>
                          </a:solidFill>
                          <a:latin typeface="Arial"/>
                          <a:ea typeface="Arial"/>
                          <a:cs typeface="Arial"/>
                          <a:sym typeface="Arial"/>
                        </a:rPr>
                        <a:t> (SHAP)</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Low</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LR</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r h="313975">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Handles non-linearity</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No</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25"/>
                        </a:lnSpc>
                        <a:spcBef>
                          <a:spcPts val="0"/>
                        </a:spcBef>
                        <a:spcAft>
                          <a:spcPts val="0"/>
                        </a:spcAft>
                        <a:buNone/>
                      </a:pPr>
                      <a:r>
                        <a:rPr b="1" lang="en" sz="1100" u="none" cap="none" strike="noStrike">
                          <a:solidFill>
                            <a:srgbClr val="000000"/>
                          </a:solidFill>
                          <a:latin typeface="Arial"/>
                          <a:ea typeface="Arial"/>
                          <a:cs typeface="Arial"/>
                          <a:sym typeface="Arial"/>
                        </a:rPr>
                        <a:t>Yes</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c>
                  <a:txBody>
                    <a:bodyPr/>
                    <a:lstStyle/>
                    <a:p>
                      <a:pPr indent="0" lvl="0" marL="0" marR="0" rtl="0" algn="l">
                        <a:lnSpc>
                          <a:spcPct val="140025"/>
                        </a:lnSpc>
                        <a:spcBef>
                          <a:spcPts val="0"/>
                        </a:spcBef>
                        <a:spcAft>
                          <a:spcPts val="0"/>
                        </a:spcAft>
                        <a:buNone/>
                      </a:pPr>
                      <a:r>
                        <a:rPr lang="en" sz="1100" u="none" cap="none" strike="noStrike">
                          <a:solidFill>
                            <a:srgbClr val="000000"/>
                          </a:solidFill>
                          <a:latin typeface="Arial"/>
                          <a:ea typeface="Arial"/>
                          <a:cs typeface="Arial"/>
                          <a:sym typeface="Arial"/>
                        </a:rPr>
                        <a:t>KNN</a:t>
                      </a:r>
                      <a:endParaRPr sz="700" u="none" cap="none" strike="noStrike"/>
                    </a:p>
                  </a:txBody>
                  <a:tcPr marT="50800" marB="50800" marR="50800" marL="50800" anchor="ctr">
                    <a:lnL cap="flat" cmpd="sng" w="9525">
                      <a:solidFill>
                        <a:srgbClr val="2A2B2C"/>
                      </a:solidFill>
                      <a:prstDash val="solid"/>
                      <a:round/>
                      <a:headEnd len="sm" w="sm" type="none"/>
                      <a:tailEnd len="sm" w="sm" type="none"/>
                    </a:lnL>
                    <a:lnR cap="flat" cmpd="sng" w="9525">
                      <a:solidFill>
                        <a:srgbClr val="2A2B2C"/>
                      </a:solidFill>
                      <a:prstDash val="solid"/>
                      <a:round/>
                      <a:headEnd len="sm" w="sm" type="none"/>
                      <a:tailEnd len="sm" w="sm" type="none"/>
                    </a:lnR>
                    <a:lnT cap="flat" cmpd="sng" w="9525">
                      <a:solidFill>
                        <a:srgbClr val="2A2B2C"/>
                      </a:solidFill>
                      <a:prstDash val="solid"/>
                      <a:round/>
                      <a:headEnd len="sm" w="sm" type="none"/>
                      <a:tailEnd len="sm" w="sm" type="none"/>
                    </a:lnT>
                    <a:lnB cap="flat" cmpd="sng" w="9525">
                      <a:solidFill>
                        <a:srgbClr val="2A2B2C"/>
                      </a:solidFill>
                      <a:prstDash val="solid"/>
                      <a:round/>
                      <a:headEnd len="sm" w="sm" type="none"/>
                      <a:tailEnd len="sm" w="sm" type="none"/>
                    </a:lnB>
                  </a:tcPr>
                </a:tc>
              </a:tr>
            </a:tbl>
          </a:graphicData>
        </a:graphic>
      </p:graphicFrame>
      <p:sp>
        <p:nvSpPr>
          <p:cNvPr id="1779" name="Google Shape;1779;g3ee0adc8e96_6_106"/>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780" name="Google Shape;1780;g3ee0adc8e96_6_10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sz="1500">
                <a:solidFill>
                  <a:schemeClr val="lt1"/>
                </a:solidFill>
              </a:rPr>
              <a:t>‹#›</a:t>
            </a:fld>
            <a:endParaRPr sz="1500">
              <a:solidFill>
                <a:schemeClr val="lt1"/>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1784" name="Shape 1784"/>
        <p:cNvGrpSpPr/>
        <p:nvPr/>
      </p:nvGrpSpPr>
      <p:grpSpPr>
        <a:xfrm>
          <a:off x="0" y="0"/>
          <a:ext cx="0" cy="0"/>
          <a:chOff x="0" y="0"/>
          <a:chExt cx="0" cy="0"/>
        </a:xfrm>
      </p:grpSpPr>
      <p:grpSp>
        <p:nvGrpSpPr>
          <p:cNvPr id="1785" name="Google Shape;1785;g3ee0adc8e96_2_219"/>
          <p:cNvGrpSpPr/>
          <p:nvPr/>
        </p:nvGrpSpPr>
        <p:grpSpPr>
          <a:xfrm>
            <a:off x="685800" y="2888367"/>
            <a:ext cx="464821" cy="464821"/>
            <a:chOff x="0" y="0"/>
            <a:chExt cx="812800" cy="812800"/>
          </a:xfrm>
        </p:grpSpPr>
        <p:sp>
          <p:nvSpPr>
            <p:cNvPr id="1786" name="Google Shape;1786;g3ee0adc8e96_2_2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1E8"/>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1787" name="Google Shape;1787;g3ee0adc8e96_2_219"/>
            <p:cNvSpPr txBox="1"/>
            <p:nvPr/>
          </p:nvSpPr>
          <p:spPr>
            <a:xfrm>
              <a:off x="76200" y="38100"/>
              <a:ext cx="660400" cy="6985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788" name="Google Shape;1788;g3ee0adc8e96_2_219"/>
          <p:cNvGrpSpPr/>
          <p:nvPr/>
        </p:nvGrpSpPr>
        <p:grpSpPr>
          <a:xfrm>
            <a:off x="685800" y="3576005"/>
            <a:ext cx="464821" cy="464821"/>
            <a:chOff x="0" y="0"/>
            <a:chExt cx="812800" cy="812800"/>
          </a:xfrm>
        </p:grpSpPr>
        <p:sp>
          <p:nvSpPr>
            <p:cNvPr id="1789" name="Google Shape;1789;g3ee0adc8e96_2_2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1E8"/>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1790" name="Google Shape;1790;g3ee0adc8e96_2_219"/>
            <p:cNvSpPr txBox="1"/>
            <p:nvPr/>
          </p:nvSpPr>
          <p:spPr>
            <a:xfrm>
              <a:off x="76200" y="38100"/>
              <a:ext cx="660400" cy="6985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791" name="Google Shape;1791;g3ee0adc8e96_2_219"/>
          <p:cNvGrpSpPr/>
          <p:nvPr/>
        </p:nvGrpSpPr>
        <p:grpSpPr>
          <a:xfrm>
            <a:off x="685800" y="4263643"/>
            <a:ext cx="464821" cy="464821"/>
            <a:chOff x="0" y="0"/>
            <a:chExt cx="812800" cy="812800"/>
          </a:xfrm>
        </p:grpSpPr>
        <p:sp>
          <p:nvSpPr>
            <p:cNvPr id="1792" name="Google Shape;1792;g3ee0adc8e96_2_2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1E8"/>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1793" name="Google Shape;1793;g3ee0adc8e96_2_219"/>
            <p:cNvSpPr txBox="1"/>
            <p:nvPr/>
          </p:nvSpPr>
          <p:spPr>
            <a:xfrm>
              <a:off x="76200" y="38100"/>
              <a:ext cx="660400" cy="6985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794" name="Google Shape;1794;g3ee0adc8e96_2_219"/>
          <p:cNvGrpSpPr/>
          <p:nvPr/>
        </p:nvGrpSpPr>
        <p:grpSpPr>
          <a:xfrm>
            <a:off x="685800" y="4951281"/>
            <a:ext cx="464821" cy="464821"/>
            <a:chOff x="0" y="0"/>
            <a:chExt cx="812800" cy="812800"/>
          </a:xfrm>
        </p:grpSpPr>
        <p:sp>
          <p:nvSpPr>
            <p:cNvPr id="1795" name="Google Shape;1795;g3ee0adc8e96_2_2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1E8"/>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1796" name="Google Shape;1796;g3ee0adc8e96_2_219"/>
            <p:cNvSpPr txBox="1"/>
            <p:nvPr/>
          </p:nvSpPr>
          <p:spPr>
            <a:xfrm>
              <a:off x="76200" y="38100"/>
              <a:ext cx="660400" cy="6985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797" name="Google Shape;1797;g3ee0adc8e96_2_219"/>
          <p:cNvGrpSpPr/>
          <p:nvPr/>
        </p:nvGrpSpPr>
        <p:grpSpPr>
          <a:xfrm>
            <a:off x="685800" y="5638918"/>
            <a:ext cx="464821" cy="464821"/>
            <a:chOff x="0" y="0"/>
            <a:chExt cx="812800" cy="812800"/>
          </a:xfrm>
        </p:grpSpPr>
        <p:sp>
          <p:nvSpPr>
            <p:cNvPr id="1798" name="Google Shape;1798;g3ee0adc8e96_2_2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1E8"/>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1799" name="Google Shape;1799;g3ee0adc8e96_2_219"/>
            <p:cNvSpPr txBox="1"/>
            <p:nvPr/>
          </p:nvSpPr>
          <p:spPr>
            <a:xfrm>
              <a:off x="76200" y="38100"/>
              <a:ext cx="660400" cy="6985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800" name="Google Shape;1800;g3ee0adc8e96_2_219"/>
          <p:cNvSpPr/>
          <p:nvPr/>
        </p:nvSpPr>
        <p:spPr>
          <a:xfrm>
            <a:off x="10439731" y="136109"/>
            <a:ext cx="1527286" cy="1099383"/>
          </a:xfrm>
          <a:custGeom>
            <a:rect b="b" l="l" r="r" t="t"/>
            <a:pathLst>
              <a:path extrusionOk="0" h="1649074" w="2290929">
                <a:moveTo>
                  <a:pt x="0" y="0"/>
                </a:moveTo>
                <a:lnTo>
                  <a:pt x="2290928" y="0"/>
                </a:lnTo>
                <a:lnTo>
                  <a:pt x="2290928" y="1649074"/>
                </a:lnTo>
                <a:lnTo>
                  <a:pt x="0" y="1649074"/>
                </a:lnTo>
                <a:lnTo>
                  <a:pt x="0" y="0"/>
                </a:lnTo>
                <a:close/>
              </a:path>
            </a:pathLst>
          </a:custGeom>
          <a:blipFill rotWithShape="1">
            <a:blip r:embed="rId3">
              <a:alphaModFix/>
            </a:blip>
            <a:stretch>
              <a:fillRect b="0" l="0" r="0" t="0"/>
            </a:stretch>
          </a:blipFill>
          <a:ln>
            <a:noFill/>
          </a:ln>
        </p:spPr>
      </p:sp>
      <p:sp>
        <p:nvSpPr>
          <p:cNvPr id="1801" name="Google Shape;1801;g3ee0adc8e96_2_219"/>
          <p:cNvSpPr/>
          <p:nvPr/>
        </p:nvSpPr>
        <p:spPr>
          <a:xfrm>
            <a:off x="0" y="497800"/>
            <a:ext cx="7511003" cy="3998253"/>
          </a:xfrm>
          <a:custGeom>
            <a:rect b="b" l="l" r="r" t="t"/>
            <a:pathLst>
              <a:path extrusionOk="0" h="5997379" w="11266505">
                <a:moveTo>
                  <a:pt x="0" y="0"/>
                </a:moveTo>
                <a:lnTo>
                  <a:pt x="11266505" y="0"/>
                </a:lnTo>
                <a:lnTo>
                  <a:pt x="11266505" y="5997380"/>
                </a:lnTo>
                <a:lnTo>
                  <a:pt x="0" y="5997380"/>
                </a:lnTo>
                <a:lnTo>
                  <a:pt x="0" y="0"/>
                </a:lnTo>
                <a:close/>
              </a:path>
            </a:pathLst>
          </a:custGeom>
          <a:blipFill rotWithShape="1">
            <a:blip r:embed="rId4">
              <a:alphaModFix/>
            </a:blip>
            <a:stretch>
              <a:fillRect b="0" l="0" r="0" t="0"/>
            </a:stretch>
          </a:blipFill>
          <a:ln>
            <a:noFill/>
          </a:ln>
        </p:spPr>
      </p:sp>
      <p:sp>
        <p:nvSpPr>
          <p:cNvPr id="1802" name="Google Shape;1802;g3ee0adc8e96_2_219"/>
          <p:cNvSpPr/>
          <p:nvPr/>
        </p:nvSpPr>
        <p:spPr>
          <a:xfrm>
            <a:off x="5791546" y="3353188"/>
            <a:ext cx="6400454" cy="3504812"/>
          </a:xfrm>
          <a:custGeom>
            <a:rect b="b" l="l" r="r" t="t"/>
            <a:pathLst>
              <a:path extrusionOk="0" h="5257218" w="9600681">
                <a:moveTo>
                  <a:pt x="0" y="0"/>
                </a:moveTo>
                <a:lnTo>
                  <a:pt x="9600681" y="0"/>
                </a:lnTo>
                <a:lnTo>
                  <a:pt x="9600681" y="5257218"/>
                </a:lnTo>
                <a:lnTo>
                  <a:pt x="0" y="5257218"/>
                </a:lnTo>
                <a:lnTo>
                  <a:pt x="0" y="0"/>
                </a:lnTo>
                <a:close/>
              </a:path>
            </a:pathLst>
          </a:custGeom>
          <a:blipFill rotWithShape="1">
            <a:blip r:embed="rId5">
              <a:alphaModFix/>
            </a:blip>
            <a:stretch>
              <a:fillRect b="0" l="0" r="0" t="0"/>
            </a:stretch>
          </a:blipFill>
          <a:ln>
            <a:noFill/>
          </a:ln>
        </p:spPr>
      </p:sp>
      <p:sp>
        <p:nvSpPr>
          <p:cNvPr id="1803" name="Google Shape;1803;g3ee0adc8e96_2_219"/>
          <p:cNvSpPr txBox="1"/>
          <p:nvPr/>
        </p:nvSpPr>
        <p:spPr>
          <a:xfrm>
            <a:off x="1571730" y="146050"/>
            <a:ext cx="7968077" cy="678567"/>
          </a:xfrm>
          <a:prstGeom prst="rect">
            <a:avLst/>
          </a:prstGeom>
          <a:noFill/>
          <a:ln>
            <a:noFill/>
          </a:ln>
        </p:spPr>
        <p:txBody>
          <a:bodyPr anchorCtr="0" anchor="t" bIns="0" lIns="0" spcFirstLastPara="1" rIns="0" wrap="square" tIns="0">
            <a:spAutoFit/>
          </a:bodyPr>
          <a:lstStyle/>
          <a:p>
            <a:pPr indent="0" lvl="0" marL="0" marR="0" rtl="0" algn="ctr">
              <a:lnSpc>
                <a:spcPct val="109988"/>
              </a:lnSpc>
              <a:spcBef>
                <a:spcPts val="0"/>
              </a:spcBef>
              <a:spcAft>
                <a:spcPts val="0"/>
              </a:spcAft>
              <a:buNone/>
            </a:pPr>
            <a:r>
              <a:rPr b="1" i="0" lang="en" sz="2400" u="none" cap="none" strike="noStrike">
                <a:solidFill>
                  <a:srgbClr val="EFF1E8"/>
                </a:solidFill>
                <a:latin typeface="Montserrat"/>
                <a:ea typeface="Montserrat"/>
                <a:cs typeface="Montserrat"/>
                <a:sym typeface="Montserrat"/>
              </a:rPr>
              <a:t>LR Explainability: Standardised Coefficients</a:t>
            </a:r>
            <a:endParaRPr sz="900"/>
          </a:p>
          <a:p>
            <a:pPr indent="0" lvl="0" marL="0" marR="0" rtl="0" algn="ctr">
              <a:lnSpc>
                <a:spcPct val="109988"/>
              </a:lnSpc>
              <a:spcBef>
                <a:spcPts val="0"/>
              </a:spcBef>
              <a:spcAft>
                <a:spcPts val="0"/>
              </a:spcAft>
              <a:buNone/>
            </a:pPr>
            <a:r>
              <a:t/>
            </a:r>
            <a:endParaRPr b="1" i="0" sz="2400" u="none" cap="none" strike="noStrike">
              <a:solidFill>
                <a:srgbClr val="EFF1E8"/>
              </a:solidFill>
              <a:latin typeface="Montserrat"/>
              <a:ea typeface="Montserrat"/>
              <a:cs typeface="Montserrat"/>
              <a:sym typeface="Montserrat"/>
            </a:endParaRPr>
          </a:p>
        </p:txBody>
      </p:sp>
      <p:sp>
        <p:nvSpPr>
          <p:cNvPr id="1804" name="Google Shape;1804;g3ee0adc8e96_2_219"/>
          <p:cNvSpPr txBox="1"/>
          <p:nvPr/>
        </p:nvSpPr>
        <p:spPr>
          <a:xfrm>
            <a:off x="1150621" y="4851731"/>
            <a:ext cx="4645787" cy="1252008"/>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0" i="0" lang="en" sz="1200" u="none" cap="none" strike="noStrike">
                <a:solidFill>
                  <a:srgbClr val="FEFEFE"/>
                </a:solidFill>
                <a:latin typeface="Montserrat"/>
                <a:ea typeface="Montserrat"/>
                <a:cs typeface="Montserrat"/>
                <a:sym typeface="Montserrat"/>
              </a:rPr>
              <a:t>min_order_quantity has the largest magnitude — a higher minimum order threshold is associated with lower per-unit cost (bulk discount effect). All physical dimensions (diameter, wall, length, Total_weight) push cost up, consistent with business intuition.</a:t>
            </a:r>
            <a:endParaRPr sz="900"/>
          </a:p>
          <a:p>
            <a:pPr indent="0" lvl="0" marL="0" marR="0" rtl="0" algn="l">
              <a:lnSpc>
                <a:spcPct val="140011"/>
              </a:lnSpc>
              <a:spcBef>
                <a:spcPts val="0"/>
              </a:spcBef>
              <a:spcAft>
                <a:spcPts val="0"/>
              </a:spcAft>
              <a:buNone/>
            </a:pPr>
            <a:r>
              <a:t/>
            </a:r>
            <a:endParaRPr b="0" i="0" sz="1200" u="none" cap="none" strike="noStrike">
              <a:solidFill>
                <a:srgbClr val="FEFEFE"/>
              </a:solidFill>
              <a:latin typeface="Montserrat"/>
              <a:ea typeface="Montserrat"/>
              <a:cs typeface="Montserrat"/>
              <a:sym typeface="Montserrat"/>
            </a:endParaRPr>
          </a:p>
        </p:txBody>
      </p:sp>
      <p:sp>
        <p:nvSpPr>
          <p:cNvPr id="1805" name="Google Shape;1805;g3ee0adc8e96_2_219"/>
          <p:cNvSpPr txBox="1"/>
          <p:nvPr/>
        </p:nvSpPr>
        <p:spPr>
          <a:xfrm>
            <a:off x="7511003" y="1210091"/>
            <a:ext cx="4680997" cy="1712057"/>
          </a:xfrm>
          <a:prstGeom prst="rect">
            <a:avLst/>
          </a:prstGeom>
          <a:noFill/>
          <a:ln>
            <a:noFill/>
          </a:ln>
        </p:spPr>
        <p:txBody>
          <a:bodyPr anchorCtr="0" anchor="t" bIns="0" lIns="0" spcFirstLastPara="1" rIns="0" wrap="square" tIns="0">
            <a:spAutoFit/>
          </a:bodyPr>
          <a:lstStyle/>
          <a:p>
            <a:pPr indent="0" lvl="0" marL="0" marR="0" rtl="0" algn="l">
              <a:lnSpc>
                <a:spcPct val="139963"/>
              </a:lnSpc>
              <a:spcBef>
                <a:spcPts val="0"/>
              </a:spcBef>
              <a:spcAft>
                <a:spcPts val="0"/>
              </a:spcAft>
              <a:buNone/>
            </a:pPr>
            <a:r>
              <a:rPr b="0" i="0" lang="en" sz="1100" u="none" cap="none" strike="noStrike">
                <a:solidFill>
                  <a:srgbClr val="DEE6E9"/>
                </a:solidFill>
                <a:latin typeface="Montserrat"/>
                <a:ea typeface="Montserrat"/>
                <a:cs typeface="Montserrat"/>
                <a:sym typeface="Montserrat"/>
              </a:rPr>
              <a:t>Global bar plot: average absolute SHAP value per feature across all validation rows, confirming min_order_quantity and quantity as the top two drivers.</a:t>
            </a:r>
            <a:endParaRPr sz="900"/>
          </a:p>
          <a:p>
            <a:pPr indent="0" lvl="0" marL="0" marR="0" rtl="0" algn="l">
              <a:lnSpc>
                <a:spcPct val="139963"/>
              </a:lnSpc>
              <a:spcBef>
                <a:spcPts val="0"/>
              </a:spcBef>
              <a:spcAft>
                <a:spcPts val="0"/>
              </a:spcAft>
              <a:buNone/>
            </a:pPr>
            <a:r>
              <a:t/>
            </a:r>
            <a:endParaRPr b="0" i="0" sz="1100" u="none" cap="none" strike="noStrike">
              <a:solidFill>
                <a:srgbClr val="DEE6E9"/>
              </a:solidFill>
              <a:latin typeface="Montserrat"/>
              <a:ea typeface="Montserrat"/>
              <a:cs typeface="Montserrat"/>
              <a:sym typeface="Montserrat"/>
            </a:endParaRPr>
          </a:p>
          <a:p>
            <a:pPr indent="0" lvl="0" marL="0" marR="0" rtl="0" algn="l">
              <a:lnSpc>
                <a:spcPct val="139963"/>
              </a:lnSpc>
              <a:spcBef>
                <a:spcPts val="0"/>
              </a:spcBef>
              <a:spcAft>
                <a:spcPts val="0"/>
              </a:spcAft>
              <a:buNone/>
            </a:pPr>
            <a:r>
              <a:rPr b="0" i="0" lang="en" sz="1100" u="none" cap="none" strike="noStrike">
                <a:solidFill>
                  <a:srgbClr val="DEE6E9"/>
                </a:solidFill>
                <a:latin typeface="Montserrat"/>
                <a:ea typeface="Montserrat"/>
                <a:cs typeface="Montserrat"/>
                <a:sym typeface="Montserrat"/>
              </a:rPr>
              <a:t>Dot summary plot: shows both direction and magnitude. Red = high feature value, blue = low. High quantity pushes cost up while high min_order_quantity pushes cost down.</a:t>
            </a:r>
            <a:endParaRPr sz="900"/>
          </a:p>
          <a:p>
            <a:pPr indent="0" lvl="0" marL="0" marR="0" rtl="0" algn="l">
              <a:lnSpc>
                <a:spcPct val="139963"/>
              </a:lnSpc>
              <a:spcBef>
                <a:spcPts val="0"/>
              </a:spcBef>
              <a:spcAft>
                <a:spcPts val="0"/>
              </a:spcAft>
              <a:buNone/>
            </a:pPr>
            <a:r>
              <a:t/>
            </a:r>
            <a:endParaRPr b="0" i="0" sz="1100" u="none" cap="none" strike="noStrike">
              <a:solidFill>
                <a:srgbClr val="DEE6E9"/>
              </a:solidFill>
              <a:latin typeface="Montserrat"/>
              <a:ea typeface="Montserrat"/>
              <a:cs typeface="Montserrat"/>
              <a:sym typeface="Montserrat"/>
            </a:endParaRPr>
          </a:p>
          <a:p>
            <a:pPr indent="0" lvl="0" marL="0" marR="0" rtl="0" algn="l">
              <a:lnSpc>
                <a:spcPct val="139963"/>
              </a:lnSpc>
              <a:spcBef>
                <a:spcPts val="0"/>
              </a:spcBef>
              <a:spcAft>
                <a:spcPts val="0"/>
              </a:spcAft>
              <a:buNone/>
            </a:pPr>
            <a:r>
              <a:t/>
            </a:r>
            <a:endParaRPr b="0" i="0" sz="1100" u="none" cap="none" strike="noStrike">
              <a:solidFill>
                <a:srgbClr val="DEE6E9"/>
              </a:solidFill>
              <a:latin typeface="Montserrat"/>
              <a:ea typeface="Montserrat"/>
              <a:cs typeface="Montserrat"/>
              <a:sym typeface="Montserrat"/>
            </a:endParaRPr>
          </a:p>
        </p:txBody>
      </p:sp>
      <p:sp>
        <p:nvSpPr>
          <p:cNvPr id="1806" name="Google Shape;1806;g3ee0adc8e96_2_219"/>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807" name="Google Shape;1807;g3ee0adc8e96_2_219"/>
          <p:cNvSpPr txBox="1"/>
          <p:nvPr>
            <p:ph idx="12" type="sldNum"/>
          </p:nvPr>
        </p:nvSpPr>
        <p:spPr>
          <a:xfrm>
            <a:off x="11296611" y="6333298"/>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sz="1500"/>
              <a:t>‹#›</a:t>
            </a:fld>
            <a:endParaRPr sz="1500"/>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A1BD"/>
        </a:solidFill>
      </p:bgPr>
    </p:bg>
    <p:spTree>
      <p:nvGrpSpPr>
        <p:cNvPr id="1811" name="Shape 1811"/>
        <p:cNvGrpSpPr/>
        <p:nvPr/>
      </p:nvGrpSpPr>
      <p:grpSpPr>
        <a:xfrm>
          <a:off x="0" y="0"/>
          <a:ext cx="0" cy="0"/>
          <a:chOff x="0" y="0"/>
          <a:chExt cx="0" cy="0"/>
        </a:xfrm>
      </p:grpSpPr>
      <p:grpSp>
        <p:nvGrpSpPr>
          <p:cNvPr id="1812" name="Google Shape;1812;g3ee0adc8e96_2_243"/>
          <p:cNvGrpSpPr/>
          <p:nvPr/>
        </p:nvGrpSpPr>
        <p:grpSpPr>
          <a:xfrm>
            <a:off x="109561" y="1364157"/>
            <a:ext cx="2738810" cy="3238399"/>
            <a:chOff x="0" y="-38100"/>
            <a:chExt cx="1081999" cy="1279367"/>
          </a:xfrm>
        </p:grpSpPr>
        <p:sp>
          <p:nvSpPr>
            <p:cNvPr id="1813" name="Google Shape;1813;g3ee0adc8e96_2_243"/>
            <p:cNvSpPr/>
            <p:nvPr/>
          </p:nvSpPr>
          <p:spPr>
            <a:xfrm>
              <a:off x="0" y="0"/>
              <a:ext cx="1081999" cy="1241267"/>
            </a:xfrm>
            <a:custGeom>
              <a:rect b="b" l="l" r="r" t="t"/>
              <a:pathLst>
                <a:path extrusionOk="0" h="1241267" w="1081999">
                  <a:moveTo>
                    <a:pt x="96109" y="0"/>
                  </a:moveTo>
                  <a:lnTo>
                    <a:pt x="985890" y="0"/>
                  </a:lnTo>
                  <a:cubicBezTo>
                    <a:pt x="1038969" y="0"/>
                    <a:pt x="1081999" y="43030"/>
                    <a:pt x="1081999" y="96109"/>
                  </a:cubicBezTo>
                  <a:lnTo>
                    <a:pt x="1081999" y="1145158"/>
                  </a:lnTo>
                  <a:cubicBezTo>
                    <a:pt x="1081999" y="1170648"/>
                    <a:pt x="1071873" y="1195094"/>
                    <a:pt x="1053849" y="1213118"/>
                  </a:cubicBezTo>
                  <a:cubicBezTo>
                    <a:pt x="1035825" y="1231142"/>
                    <a:pt x="1011379" y="1241267"/>
                    <a:pt x="985890" y="1241267"/>
                  </a:cubicBezTo>
                  <a:lnTo>
                    <a:pt x="96109" y="1241267"/>
                  </a:lnTo>
                  <a:cubicBezTo>
                    <a:pt x="70620" y="1241267"/>
                    <a:pt x="46174" y="1231142"/>
                    <a:pt x="28150" y="1213118"/>
                  </a:cubicBezTo>
                  <a:cubicBezTo>
                    <a:pt x="10126" y="1195094"/>
                    <a:pt x="0" y="1170648"/>
                    <a:pt x="0" y="1145158"/>
                  </a:cubicBezTo>
                  <a:lnTo>
                    <a:pt x="0" y="96109"/>
                  </a:lnTo>
                  <a:cubicBezTo>
                    <a:pt x="0" y="70620"/>
                    <a:pt x="10126" y="46174"/>
                    <a:pt x="28150" y="28150"/>
                  </a:cubicBezTo>
                  <a:cubicBezTo>
                    <a:pt x="46174" y="10126"/>
                    <a:pt x="70620" y="0"/>
                    <a:pt x="96109" y="0"/>
                  </a:cubicBezTo>
                  <a:close/>
                </a:path>
              </a:pathLst>
            </a:custGeom>
            <a:solidFill>
              <a:srgbClr val="EFF1E8"/>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1814" name="Google Shape;1814;g3ee0adc8e96_2_243"/>
            <p:cNvSpPr txBox="1"/>
            <p:nvPr/>
          </p:nvSpPr>
          <p:spPr>
            <a:xfrm>
              <a:off x="0" y="-38100"/>
              <a:ext cx="1081999" cy="1279367"/>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815" name="Google Shape;1815;g3ee0adc8e96_2_243"/>
          <p:cNvGrpSpPr/>
          <p:nvPr/>
        </p:nvGrpSpPr>
        <p:grpSpPr>
          <a:xfrm>
            <a:off x="9687399" y="1364157"/>
            <a:ext cx="2549165" cy="3355568"/>
            <a:chOff x="0" y="-38100"/>
            <a:chExt cx="1007078" cy="1325657"/>
          </a:xfrm>
        </p:grpSpPr>
        <p:sp>
          <p:nvSpPr>
            <p:cNvPr id="1816" name="Google Shape;1816;g3ee0adc8e96_2_243"/>
            <p:cNvSpPr/>
            <p:nvPr/>
          </p:nvSpPr>
          <p:spPr>
            <a:xfrm>
              <a:off x="0" y="0"/>
              <a:ext cx="1007078" cy="1287557"/>
            </a:xfrm>
            <a:custGeom>
              <a:rect b="b" l="l" r="r" t="t"/>
              <a:pathLst>
                <a:path extrusionOk="0" h="1287557" w="1007078">
                  <a:moveTo>
                    <a:pt x="103259" y="0"/>
                  </a:moveTo>
                  <a:lnTo>
                    <a:pt x="903818" y="0"/>
                  </a:lnTo>
                  <a:cubicBezTo>
                    <a:pt x="960847" y="0"/>
                    <a:pt x="1007078" y="46231"/>
                    <a:pt x="1007078" y="103259"/>
                  </a:cubicBezTo>
                  <a:lnTo>
                    <a:pt x="1007078" y="1184297"/>
                  </a:lnTo>
                  <a:cubicBezTo>
                    <a:pt x="1007078" y="1211683"/>
                    <a:pt x="996199" y="1237948"/>
                    <a:pt x="976834" y="1257313"/>
                  </a:cubicBezTo>
                  <a:cubicBezTo>
                    <a:pt x="957469" y="1276677"/>
                    <a:pt x="931204" y="1287557"/>
                    <a:pt x="903818" y="1287557"/>
                  </a:cubicBezTo>
                  <a:lnTo>
                    <a:pt x="103259" y="1287557"/>
                  </a:lnTo>
                  <a:cubicBezTo>
                    <a:pt x="75873" y="1287557"/>
                    <a:pt x="49609" y="1276677"/>
                    <a:pt x="30244" y="1257313"/>
                  </a:cubicBezTo>
                  <a:cubicBezTo>
                    <a:pt x="10879" y="1237948"/>
                    <a:pt x="0" y="1211683"/>
                    <a:pt x="0" y="1184297"/>
                  </a:cubicBezTo>
                  <a:lnTo>
                    <a:pt x="0" y="103259"/>
                  </a:lnTo>
                  <a:cubicBezTo>
                    <a:pt x="0" y="75873"/>
                    <a:pt x="10879" y="49609"/>
                    <a:pt x="30244" y="30244"/>
                  </a:cubicBezTo>
                  <a:cubicBezTo>
                    <a:pt x="49609" y="10879"/>
                    <a:pt x="75873" y="0"/>
                    <a:pt x="103259" y="0"/>
                  </a:cubicBezTo>
                  <a:close/>
                </a:path>
              </a:pathLst>
            </a:custGeom>
            <a:solidFill>
              <a:srgbClr val="EFF1E8"/>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1817" name="Google Shape;1817;g3ee0adc8e96_2_243"/>
            <p:cNvSpPr txBox="1"/>
            <p:nvPr/>
          </p:nvSpPr>
          <p:spPr>
            <a:xfrm>
              <a:off x="0" y="-38100"/>
              <a:ext cx="1007078" cy="1325657"/>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818" name="Google Shape;1818;g3ee0adc8e96_2_243"/>
          <p:cNvGrpSpPr/>
          <p:nvPr/>
        </p:nvGrpSpPr>
        <p:grpSpPr>
          <a:xfrm>
            <a:off x="224" y="5753502"/>
            <a:ext cx="12192059" cy="612268"/>
            <a:chOff x="0" y="-57150"/>
            <a:chExt cx="5352089" cy="241879"/>
          </a:xfrm>
        </p:grpSpPr>
        <p:sp>
          <p:nvSpPr>
            <p:cNvPr id="1819" name="Google Shape;1819;g3ee0adc8e96_2_243"/>
            <p:cNvSpPr/>
            <p:nvPr/>
          </p:nvSpPr>
          <p:spPr>
            <a:xfrm>
              <a:off x="0" y="0"/>
              <a:ext cx="5352089" cy="184729"/>
            </a:xfrm>
            <a:custGeom>
              <a:rect b="b" l="l" r="r" t="t"/>
              <a:pathLst>
                <a:path extrusionOk="0" h="184729" w="5352089">
                  <a:moveTo>
                    <a:pt x="0" y="0"/>
                  </a:moveTo>
                  <a:lnTo>
                    <a:pt x="5352089" y="0"/>
                  </a:lnTo>
                  <a:lnTo>
                    <a:pt x="5352089" y="184729"/>
                  </a:lnTo>
                  <a:lnTo>
                    <a:pt x="0" y="184729"/>
                  </a:lnTo>
                  <a:close/>
                </a:path>
              </a:pathLst>
            </a:custGeom>
            <a:solidFill>
              <a:srgbClr val="EFF1E8"/>
            </a:solidFill>
            <a:ln>
              <a:noFill/>
            </a:ln>
          </p:spPr>
        </p:sp>
        <p:sp>
          <p:nvSpPr>
            <p:cNvPr id="1820" name="Google Shape;1820;g3ee0adc8e96_2_243"/>
            <p:cNvSpPr txBox="1"/>
            <p:nvPr/>
          </p:nvSpPr>
          <p:spPr>
            <a:xfrm>
              <a:off x="0" y="-57150"/>
              <a:ext cx="5352089" cy="241879"/>
            </a:xfrm>
            <a:prstGeom prst="rect">
              <a:avLst/>
            </a:prstGeom>
            <a:noFill/>
            <a:ln>
              <a:noFill/>
            </a:ln>
          </p:spPr>
          <p:txBody>
            <a:bodyPr anchorCtr="0" anchor="ctr" bIns="33875" lIns="33875" spcFirstLastPara="1" rIns="33875" wrap="square" tIns="33875">
              <a:noAutofit/>
            </a:bodyPr>
            <a:lstStyle/>
            <a:p>
              <a:pPr indent="0" lvl="0" marL="0" marR="0" rtl="0" algn="ctr">
                <a:lnSpc>
                  <a:spcPct val="155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821" name="Google Shape;1821;g3ee0adc8e96_2_243"/>
          <p:cNvSpPr/>
          <p:nvPr/>
        </p:nvSpPr>
        <p:spPr>
          <a:xfrm>
            <a:off x="723724" y="1630731"/>
            <a:ext cx="1788847" cy="803355"/>
          </a:xfrm>
          <a:custGeom>
            <a:rect b="b" l="l" r="r" t="t"/>
            <a:pathLst>
              <a:path extrusionOk="0" h="1205033" w="2683271">
                <a:moveTo>
                  <a:pt x="0" y="0"/>
                </a:moveTo>
                <a:lnTo>
                  <a:pt x="2683271" y="0"/>
                </a:lnTo>
                <a:lnTo>
                  <a:pt x="2683271" y="1205033"/>
                </a:lnTo>
                <a:lnTo>
                  <a:pt x="0" y="1205033"/>
                </a:lnTo>
                <a:lnTo>
                  <a:pt x="0" y="0"/>
                </a:lnTo>
                <a:close/>
              </a:path>
            </a:pathLst>
          </a:custGeom>
          <a:blipFill rotWithShape="1">
            <a:blip r:embed="rId3">
              <a:alphaModFix/>
            </a:blip>
            <a:stretch>
              <a:fillRect b="0" l="0" r="0" t="0"/>
            </a:stretch>
          </a:blipFill>
          <a:ln>
            <a:noFill/>
          </a:ln>
        </p:spPr>
      </p:sp>
      <p:grpSp>
        <p:nvGrpSpPr>
          <p:cNvPr id="1822" name="Google Shape;1822;g3ee0adc8e96_2_243"/>
          <p:cNvGrpSpPr/>
          <p:nvPr/>
        </p:nvGrpSpPr>
        <p:grpSpPr>
          <a:xfrm>
            <a:off x="3452371" y="1364157"/>
            <a:ext cx="2572673" cy="3238399"/>
            <a:chOff x="0" y="-38100"/>
            <a:chExt cx="1016365" cy="1279367"/>
          </a:xfrm>
        </p:grpSpPr>
        <p:sp>
          <p:nvSpPr>
            <p:cNvPr id="1823" name="Google Shape;1823;g3ee0adc8e96_2_243"/>
            <p:cNvSpPr/>
            <p:nvPr/>
          </p:nvSpPr>
          <p:spPr>
            <a:xfrm>
              <a:off x="0" y="0"/>
              <a:ext cx="1016365" cy="1241267"/>
            </a:xfrm>
            <a:custGeom>
              <a:rect b="b" l="l" r="r" t="t"/>
              <a:pathLst>
                <a:path extrusionOk="0" h="1241267" w="1016365">
                  <a:moveTo>
                    <a:pt x="102316" y="0"/>
                  </a:moveTo>
                  <a:lnTo>
                    <a:pt x="914049" y="0"/>
                  </a:lnTo>
                  <a:cubicBezTo>
                    <a:pt x="970557" y="0"/>
                    <a:pt x="1016365" y="45808"/>
                    <a:pt x="1016365" y="102316"/>
                  </a:cubicBezTo>
                  <a:lnTo>
                    <a:pt x="1016365" y="1138952"/>
                  </a:lnTo>
                  <a:cubicBezTo>
                    <a:pt x="1016365" y="1195459"/>
                    <a:pt x="970557" y="1241267"/>
                    <a:pt x="914049" y="1241267"/>
                  </a:cubicBezTo>
                  <a:lnTo>
                    <a:pt x="102316" y="1241267"/>
                  </a:lnTo>
                  <a:cubicBezTo>
                    <a:pt x="45808" y="1241267"/>
                    <a:pt x="0" y="1195459"/>
                    <a:pt x="0" y="1138952"/>
                  </a:cubicBezTo>
                  <a:lnTo>
                    <a:pt x="0" y="102316"/>
                  </a:lnTo>
                  <a:cubicBezTo>
                    <a:pt x="0" y="45808"/>
                    <a:pt x="45808" y="0"/>
                    <a:pt x="102316" y="0"/>
                  </a:cubicBezTo>
                  <a:close/>
                </a:path>
              </a:pathLst>
            </a:custGeom>
            <a:solidFill>
              <a:srgbClr val="EFF1E8"/>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1824" name="Google Shape;1824;g3ee0adc8e96_2_243"/>
            <p:cNvSpPr txBox="1"/>
            <p:nvPr/>
          </p:nvSpPr>
          <p:spPr>
            <a:xfrm>
              <a:off x="0" y="-38100"/>
              <a:ext cx="1016365" cy="1279367"/>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825" name="Google Shape;1825;g3ee0adc8e96_2_243"/>
          <p:cNvSpPr/>
          <p:nvPr/>
        </p:nvSpPr>
        <p:spPr>
          <a:xfrm>
            <a:off x="3911413" y="1588015"/>
            <a:ext cx="1788847" cy="803355"/>
          </a:xfrm>
          <a:custGeom>
            <a:rect b="b" l="l" r="r" t="t"/>
            <a:pathLst>
              <a:path extrusionOk="0" h="1205033" w="2683271">
                <a:moveTo>
                  <a:pt x="0" y="0"/>
                </a:moveTo>
                <a:lnTo>
                  <a:pt x="2683272" y="0"/>
                </a:lnTo>
                <a:lnTo>
                  <a:pt x="2683272" y="1205033"/>
                </a:lnTo>
                <a:lnTo>
                  <a:pt x="0" y="1205033"/>
                </a:lnTo>
                <a:lnTo>
                  <a:pt x="0" y="0"/>
                </a:lnTo>
                <a:close/>
              </a:path>
            </a:pathLst>
          </a:custGeom>
          <a:blipFill rotWithShape="1">
            <a:blip r:embed="rId3">
              <a:alphaModFix/>
            </a:blip>
            <a:stretch>
              <a:fillRect b="0" l="0" r="0" t="0"/>
            </a:stretch>
          </a:blipFill>
          <a:ln>
            <a:noFill/>
          </a:ln>
        </p:spPr>
      </p:sp>
      <p:sp>
        <p:nvSpPr>
          <p:cNvPr id="1826" name="Google Shape;1826;g3ee0adc8e96_2_243"/>
          <p:cNvSpPr/>
          <p:nvPr/>
        </p:nvSpPr>
        <p:spPr>
          <a:xfrm>
            <a:off x="9949545" y="1545298"/>
            <a:ext cx="1979084" cy="888789"/>
          </a:xfrm>
          <a:custGeom>
            <a:rect b="b" l="l" r="r" t="t"/>
            <a:pathLst>
              <a:path extrusionOk="0" h="1333183" w="2968626">
                <a:moveTo>
                  <a:pt x="0" y="0"/>
                </a:moveTo>
                <a:lnTo>
                  <a:pt x="2968626" y="0"/>
                </a:lnTo>
                <a:lnTo>
                  <a:pt x="2968626" y="1333183"/>
                </a:lnTo>
                <a:lnTo>
                  <a:pt x="0" y="1333183"/>
                </a:lnTo>
                <a:lnTo>
                  <a:pt x="0" y="0"/>
                </a:lnTo>
                <a:close/>
              </a:path>
            </a:pathLst>
          </a:custGeom>
          <a:blipFill rotWithShape="1">
            <a:blip r:embed="rId3">
              <a:alphaModFix/>
            </a:blip>
            <a:stretch>
              <a:fillRect b="0" l="0" r="0" t="0"/>
            </a:stretch>
          </a:blipFill>
          <a:ln>
            <a:noFill/>
          </a:ln>
        </p:spPr>
      </p:sp>
      <p:grpSp>
        <p:nvGrpSpPr>
          <p:cNvPr id="1827" name="Google Shape;1827;g3ee0adc8e96_2_243"/>
          <p:cNvGrpSpPr/>
          <p:nvPr/>
        </p:nvGrpSpPr>
        <p:grpSpPr>
          <a:xfrm>
            <a:off x="6437071" y="1364157"/>
            <a:ext cx="2572673" cy="3238399"/>
            <a:chOff x="0" y="-38100"/>
            <a:chExt cx="1016365" cy="1279367"/>
          </a:xfrm>
        </p:grpSpPr>
        <p:sp>
          <p:nvSpPr>
            <p:cNvPr id="1828" name="Google Shape;1828;g3ee0adc8e96_2_243"/>
            <p:cNvSpPr/>
            <p:nvPr/>
          </p:nvSpPr>
          <p:spPr>
            <a:xfrm>
              <a:off x="0" y="0"/>
              <a:ext cx="1016365" cy="1241267"/>
            </a:xfrm>
            <a:custGeom>
              <a:rect b="b" l="l" r="r" t="t"/>
              <a:pathLst>
                <a:path extrusionOk="0" h="1241267" w="1016365">
                  <a:moveTo>
                    <a:pt x="102316" y="0"/>
                  </a:moveTo>
                  <a:lnTo>
                    <a:pt x="914049" y="0"/>
                  </a:lnTo>
                  <a:cubicBezTo>
                    <a:pt x="970557" y="0"/>
                    <a:pt x="1016365" y="45808"/>
                    <a:pt x="1016365" y="102316"/>
                  </a:cubicBezTo>
                  <a:lnTo>
                    <a:pt x="1016365" y="1138952"/>
                  </a:lnTo>
                  <a:cubicBezTo>
                    <a:pt x="1016365" y="1195459"/>
                    <a:pt x="970557" y="1241267"/>
                    <a:pt x="914049" y="1241267"/>
                  </a:cubicBezTo>
                  <a:lnTo>
                    <a:pt x="102316" y="1241267"/>
                  </a:lnTo>
                  <a:cubicBezTo>
                    <a:pt x="45808" y="1241267"/>
                    <a:pt x="0" y="1195459"/>
                    <a:pt x="0" y="1138952"/>
                  </a:cubicBezTo>
                  <a:lnTo>
                    <a:pt x="0" y="102316"/>
                  </a:lnTo>
                  <a:cubicBezTo>
                    <a:pt x="0" y="45808"/>
                    <a:pt x="45808" y="0"/>
                    <a:pt x="102316" y="0"/>
                  </a:cubicBezTo>
                  <a:close/>
                </a:path>
              </a:pathLst>
            </a:custGeom>
            <a:solidFill>
              <a:srgbClr val="EFF1E8"/>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1829" name="Google Shape;1829;g3ee0adc8e96_2_243"/>
            <p:cNvSpPr txBox="1"/>
            <p:nvPr/>
          </p:nvSpPr>
          <p:spPr>
            <a:xfrm>
              <a:off x="0" y="-38100"/>
              <a:ext cx="1016365" cy="1279367"/>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830" name="Google Shape;1830;g3ee0adc8e96_2_243"/>
          <p:cNvSpPr/>
          <p:nvPr/>
        </p:nvSpPr>
        <p:spPr>
          <a:xfrm>
            <a:off x="6961798" y="1588015"/>
            <a:ext cx="1788847" cy="803355"/>
          </a:xfrm>
          <a:custGeom>
            <a:rect b="b" l="l" r="r" t="t"/>
            <a:pathLst>
              <a:path extrusionOk="0" h="1205033" w="2683271">
                <a:moveTo>
                  <a:pt x="0" y="0"/>
                </a:moveTo>
                <a:lnTo>
                  <a:pt x="2683272" y="0"/>
                </a:lnTo>
                <a:lnTo>
                  <a:pt x="2683272" y="1205033"/>
                </a:lnTo>
                <a:lnTo>
                  <a:pt x="0" y="1205033"/>
                </a:lnTo>
                <a:lnTo>
                  <a:pt x="0" y="0"/>
                </a:lnTo>
                <a:close/>
              </a:path>
            </a:pathLst>
          </a:custGeom>
          <a:blipFill rotWithShape="1">
            <a:blip r:embed="rId3">
              <a:alphaModFix/>
            </a:blip>
            <a:stretch>
              <a:fillRect b="0" l="0" r="0" t="0"/>
            </a:stretch>
          </a:blipFill>
          <a:ln>
            <a:noFill/>
          </a:ln>
        </p:spPr>
      </p:sp>
      <p:sp>
        <p:nvSpPr>
          <p:cNvPr id="1831" name="Google Shape;1831;g3ee0adc8e96_2_243"/>
          <p:cNvSpPr txBox="1"/>
          <p:nvPr/>
        </p:nvSpPr>
        <p:spPr>
          <a:xfrm>
            <a:off x="568669" y="1682287"/>
            <a:ext cx="2083603" cy="709083"/>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0" i="0" lang="en" sz="1300" u="none" cap="none" strike="noStrike">
                <a:solidFill>
                  <a:srgbClr val="000000"/>
                </a:solidFill>
                <a:latin typeface="Poppins"/>
                <a:ea typeface="Poppins"/>
                <a:cs typeface="Poppins"/>
                <a:sym typeface="Poppins"/>
              </a:rPr>
              <a:t>High-cost underestimation</a:t>
            </a:r>
            <a:endParaRPr sz="900"/>
          </a:p>
          <a:p>
            <a:pPr indent="0" lvl="0" marL="0" marR="0" rtl="0" algn="ctr">
              <a:lnSpc>
                <a:spcPct val="140020"/>
              </a:lnSpc>
              <a:spcBef>
                <a:spcPts val="0"/>
              </a:spcBef>
              <a:spcAft>
                <a:spcPts val="0"/>
              </a:spcAft>
              <a:buNone/>
            </a:pPr>
            <a:r>
              <a:t/>
            </a:r>
            <a:endParaRPr b="0" i="0" sz="1300" u="none" cap="none" strike="noStrike">
              <a:solidFill>
                <a:srgbClr val="000000"/>
              </a:solidFill>
              <a:latin typeface="Poppins"/>
              <a:ea typeface="Poppins"/>
              <a:cs typeface="Poppins"/>
              <a:sym typeface="Poppins"/>
            </a:endParaRPr>
          </a:p>
        </p:txBody>
      </p:sp>
      <p:sp>
        <p:nvSpPr>
          <p:cNvPr id="1832" name="Google Shape;1832;g3ee0adc8e96_2_243"/>
          <p:cNvSpPr txBox="1"/>
          <p:nvPr/>
        </p:nvSpPr>
        <p:spPr>
          <a:xfrm>
            <a:off x="374057" y="2483773"/>
            <a:ext cx="2398864" cy="1985058"/>
          </a:xfrm>
          <a:prstGeom prst="rect">
            <a:avLst/>
          </a:prstGeom>
          <a:noFill/>
          <a:ln>
            <a:noFill/>
          </a:ln>
        </p:spPr>
        <p:txBody>
          <a:bodyPr anchorCtr="0" anchor="t" bIns="0" lIns="0" spcFirstLastPara="1" rIns="0" wrap="square" tIns="0">
            <a:spAutoFit/>
          </a:bodyPr>
          <a:lstStyle/>
          <a:p>
            <a:pPr indent="0" lvl="0" marL="0" marR="0" rtl="0" algn="ctr">
              <a:lnSpc>
                <a:spcPct val="139967"/>
              </a:lnSpc>
              <a:spcBef>
                <a:spcPts val="0"/>
              </a:spcBef>
              <a:spcAft>
                <a:spcPts val="0"/>
              </a:spcAft>
              <a:buNone/>
            </a:pPr>
            <a:r>
              <a:rPr b="0" i="0" lang="en" sz="1200" u="none" cap="none" strike="noStrike">
                <a:solidFill>
                  <a:srgbClr val="000000"/>
                </a:solidFill>
                <a:latin typeface="Poppins"/>
                <a:ea typeface="Poppins"/>
                <a:cs typeface="Poppins"/>
                <a:sym typeface="Poppins"/>
              </a:rPr>
              <a:t>Both models underestimate assemblies priced above $50. The power back-transformation (pred ** 20) amplifies small errors in the transformed scale into very large dollar errors at the expensive end.</a:t>
            </a:r>
            <a:endParaRPr sz="900"/>
          </a:p>
          <a:p>
            <a:pPr indent="0" lvl="0" marL="0" marR="0" rtl="0" algn="ctr">
              <a:lnSpc>
                <a:spcPct val="139967"/>
              </a:lnSpc>
              <a:spcBef>
                <a:spcPts val="0"/>
              </a:spcBef>
              <a:spcAft>
                <a:spcPts val="0"/>
              </a:spcAft>
              <a:buNone/>
            </a:pPr>
            <a:r>
              <a:t/>
            </a:r>
            <a:endParaRPr b="0" i="0" sz="1200" u="none" cap="none" strike="noStrike">
              <a:solidFill>
                <a:srgbClr val="000000"/>
              </a:solidFill>
              <a:latin typeface="Poppins"/>
              <a:ea typeface="Poppins"/>
              <a:cs typeface="Poppins"/>
              <a:sym typeface="Poppins"/>
            </a:endParaRPr>
          </a:p>
        </p:txBody>
      </p:sp>
      <p:sp>
        <p:nvSpPr>
          <p:cNvPr id="1833" name="Google Shape;1833;g3ee0adc8e96_2_243"/>
          <p:cNvSpPr txBox="1"/>
          <p:nvPr/>
        </p:nvSpPr>
        <p:spPr>
          <a:xfrm>
            <a:off x="3486730" y="2483773"/>
            <a:ext cx="2270891" cy="2118783"/>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0" i="0" lang="en" sz="1300" u="none" cap="none" strike="noStrike">
                <a:solidFill>
                  <a:srgbClr val="000000"/>
                </a:solidFill>
                <a:latin typeface="Poppins"/>
                <a:ea typeface="Poppins"/>
                <a:cs typeface="Poppins"/>
                <a:sym typeface="Poppins"/>
              </a:rPr>
              <a:t>Lasso R² = 0.09 on validation. Pricing depends on non-linear interactions between features (e.g. a wide-diameter, thick-wall, long tube) that a global linear equation cannot capture.</a:t>
            </a:r>
            <a:endParaRPr sz="900"/>
          </a:p>
          <a:p>
            <a:pPr indent="0" lvl="0" marL="0" marR="0" rtl="0" algn="ctr">
              <a:lnSpc>
                <a:spcPct val="140020"/>
              </a:lnSpc>
              <a:spcBef>
                <a:spcPts val="0"/>
              </a:spcBef>
              <a:spcAft>
                <a:spcPts val="0"/>
              </a:spcAft>
              <a:buNone/>
            </a:pPr>
            <a:r>
              <a:t/>
            </a:r>
            <a:endParaRPr b="0" i="0" sz="1300" u="none" cap="none" strike="noStrike">
              <a:solidFill>
                <a:srgbClr val="000000"/>
              </a:solidFill>
              <a:latin typeface="Poppins"/>
              <a:ea typeface="Poppins"/>
              <a:cs typeface="Poppins"/>
              <a:sym typeface="Poppins"/>
            </a:endParaRPr>
          </a:p>
        </p:txBody>
      </p:sp>
      <p:sp>
        <p:nvSpPr>
          <p:cNvPr id="1834" name="Google Shape;1834;g3ee0adc8e96_2_243"/>
          <p:cNvSpPr txBox="1"/>
          <p:nvPr/>
        </p:nvSpPr>
        <p:spPr>
          <a:xfrm>
            <a:off x="6485485" y="2820458"/>
            <a:ext cx="2474049" cy="1178983"/>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0" i="0" lang="en" sz="1300" u="none" cap="none" strike="noStrike">
                <a:solidFill>
                  <a:srgbClr val="000000"/>
                </a:solidFill>
                <a:latin typeface="Poppins"/>
                <a:ea typeface="Poppins"/>
                <a:cs typeface="Poppins"/>
                <a:sym typeface="Poppins"/>
              </a:rPr>
              <a:t>With 7 features, some may be adding noise rather than signal. SelectKBest may find a cleaner 5-feature subset that generalises better.</a:t>
            </a:r>
            <a:endParaRPr sz="900"/>
          </a:p>
        </p:txBody>
      </p:sp>
      <p:sp>
        <p:nvSpPr>
          <p:cNvPr id="1835" name="Google Shape;1835;g3ee0adc8e96_2_243"/>
          <p:cNvSpPr txBox="1"/>
          <p:nvPr/>
        </p:nvSpPr>
        <p:spPr>
          <a:xfrm>
            <a:off x="9739995" y="2600942"/>
            <a:ext cx="2496569" cy="2118783"/>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0" i="0" lang="en" sz="1300" u="none" cap="none" strike="noStrike">
                <a:solidFill>
                  <a:srgbClr val="000000"/>
                </a:solidFill>
                <a:latin typeface="Poppins"/>
                <a:ea typeface="Poppins"/>
                <a:cs typeface="Poppins"/>
                <a:sym typeface="Poppins"/>
              </a:rPr>
              <a:t>The feature set contains individual measurements (diameter, wall, length) but no cross-products. A term like diameter × length represents physical cross-section area — a known cost driver not currently encoded.</a:t>
            </a:r>
            <a:endParaRPr sz="900"/>
          </a:p>
          <a:p>
            <a:pPr indent="0" lvl="0" marL="0" marR="0" rtl="0" algn="ctr">
              <a:lnSpc>
                <a:spcPct val="140020"/>
              </a:lnSpc>
              <a:spcBef>
                <a:spcPts val="0"/>
              </a:spcBef>
              <a:spcAft>
                <a:spcPts val="0"/>
              </a:spcAft>
              <a:buNone/>
            </a:pPr>
            <a:r>
              <a:t/>
            </a:r>
            <a:endParaRPr b="0" i="0" sz="1300" u="none" cap="none" strike="noStrike">
              <a:solidFill>
                <a:srgbClr val="000000"/>
              </a:solidFill>
              <a:latin typeface="Poppins"/>
              <a:ea typeface="Poppins"/>
              <a:cs typeface="Poppins"/>
              <a:sym typeface="Poppins"/>
            </a:endParaRPr>
          </a:p>
        </p:txBody>
      </p:sp>
      <p:sp>
        <p:nvSpPr>
          <p:cNvPr id="1836" name="Google Shape;1836;g3ee0adc8e96_2_243"/>
          <p:cNvSpPr txBox="1"/>
          <p:nvPr/>
        </p:nvSpPr>
        <p:spPr>
          <a:xfrm>
            <a:off x="10074097" y="1682287"/>
            <a:ext cx="1729979" cy="474133"/>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0" i="0" lang="en" sz="1300" u="none" cap="none" strike="noStrike">
                <a:solidFill>
                  <a:srgbClr val="000000"/>
                </a:solidFill>
                <a:latin typeface="Poppins"/>
                <a:ea typeface="Poppins"/>
                <a:cs typeface="Poppins"/>
                <a:sym typeface="Poppins"/>
              </a:rPr>
              <a:t> No interaction terms</a:t>
            </a:r>
            <a:endParaRPr sz="900"/>
          </a:p>
        </p:txBody>
      </p:sp>
      <p:sp>
        <p:nvSpPr>
          <p:cNvPr id="1837" name="Google Shape;1837;g3ee0adc8e96_2_243"/>
          <p:cNvSpPr txBox="1"/>
          <p:nvPr/>
        </p:nvSpPr>
        <p:spPr>
          <a:xfrm>
            <a:off x="6828086" y="1682287"/>
            <a:ext cx="1788847" cy="709083"/>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0" i="0" lang="en" sz="1300" u="none" cap="none" strike="noStrike">
                <a:solidFill>
                  <a:srgbClr val="000000"/>
                </a:solidFill>
                <a:latin typeface="Poppins"/>
                <a:ea typeface="Poppins"/>
                <a:cs typeface="Poppins"/>
                <a:sym typeface="Poppins"/>
              </a:rPr>
              <a:t>Possible feature noise</a:t>
            </a:r>
            <a:endParaRPr sz="900"/>
          </a:p>
          <a:p>
            <a:pPr indent="0" lvl="0" marL="0" marR="0" rtl="0" algn="ctr">
              <a:lnSpc>
                <a:spcPct val="140020"/>
              </a:lnSpc>
              <a:spcBef>
                <a:spcPts val="0"/>
              </a:spcBef>
              <a:spcAft>
                <a:spcPts val="0"/>
              </a:spcAft>
              <a:buNone/>
            </a:pPr>
            <a:r>
              <a:t/>
            </a:r>
            <a:endParaRPr b="0" i="0" sz="1300" u="none" cap="none" strike="noStrike">
              <a:solidFill>
                <a:srgbClr val="000000"/>
              </a:solidFill>
              <a:latin typeface="Poppins"/>
              <a:ea typeface="Poppins"/>
              <a:cs typeface="Poppins"/>
              <a:sym typeface="Poppins"/>
            </a:endParaRPr>
          </a:p>
        </p:txBody>
      </p:sp>
      <p:sp>
        <p:nvSpPr>
          <p:cNvPr id="1838" name="Google Shape;1838;g3ee0adc8e96_2_243"/>
          <p:cNvSpPr txBox="1"/>
          <p:nvPr/>
        </p:nvSpPr>
        <p:spPr>
          <a:xfrm>
            <a:off x="3844285" y="1799761"/>
            <a:ext cx="1788847" cy="474133"/>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0" i="0" lang="en" sz="1300" u="none" cap="none" strike="noStrike">
                <a:solidFill>
                  <a:srgbClr val="000000"/>
                </a:solidFill>
                <a:latin typeface="Poppins"/>
                <a:ea typeface="Poppins"/>
                <a:cs typeface="Poppins"/>
                <a:sym typeface="Poppins"/>
              </a:rPr>
              <a:t>Low linear R²</a:t>
            </a:r>
            <a:endParaRPr sz="900"/>
          </a:p>
          <a:p>
            <a:pPr indent="0" lvl="0" marL="0" marR="0" rtl="0" algn="ctr">
              <a:lnSpc>
                <a:spcPct val="140020"/>
              </a:lnSpc>
              <a:spcBef>
                <a:spcPts val="0"/>
              </a:spcBef>
              <a:spcAft>
                <a:spcPts val="0"/>
              </a:spcAft>
              <a:buNone/>
            </a:pPr>
            <a:r>
              <a:t/>
            </a:r>
            <a:endParaRPr b="0" i="0" sz="1300" u="none" cap="none" strike="noStrike">
              <a:solidFill>
                <a:srgbClr val="000000"/>
              </a:solidFill>
              <a:latin typeface="Poppins"/>
              <a:ea typeface="Poppins"/>
              <a:cs typeface="Poppins"/>
              <a:sym typeface="Poppins"/>
            </a:endParaRPr>
          </a:p>
        </p:txBody>
      </p:sp>
      <p:sp>
        <p:nvSpPr>
          <p:cNvPr id="1839" name="Google Shape;1839;g3ee0adc8e96_2_243"/>
          <p:cNvSpPr/>
          <p:nvPr/>
        </p:nvSpPr>
        <p:spPr>
          <a:xfrm>
            <a:off x="10439731" y="136109"/>
            <a:ext cx="1527286" cy="1099383"/>
          </a:xfrm>
          <a:custGeom>
            <a:rect b="b" l="l" r="r" t="t"/>
            <a:pathLst>
              <a:path extrusionOk="0" h="1649074" w="2290929">
                <a:moveTo>
                  <a:pt x="0" y="0"/>
                </a:moveTo>
                <a:lnTo>
                  <a:pt x="2290928" y="0"/>
                </a:lnTo>
                <a:lnTo>
                  <a:pt x="2290928" y="1649074"/>
                </a:lnTo>
                <a:lnTo>
                  <a:pt x="0" y="1649074"/>
                </a:lnTo>
                <a:lnTo>
                  <a:pt x="0" y="0"/>
                </a:lnTo>
                <a:close/>
              </a:path>
            </a:pathLst>
          </a:custGeom>
          <a:blipFill rotWithShape="1">
            <a:blip r:embed="rId4">
              <a:alphaModFix/>
            </a:blip>
            <a:stretch>
              <a:fillRect b="0" l="0" r="0" t="0"/>
            </a:stretch>
          </a:blipFill>
          <a:ln>
            <a:noFill/>
          </a:ln>
        </p:spPr>
      </p:sp>
      <p:sp>
        <p:nvSpPr>
          <p:cNvPr id="1840" name="Google Shape;1840;g3ee0adc8e96_2_243"/>
          <p:cNvSpPr/>
          <p:nvPr/>
        </p:nvSpPr>
        <p:spPr>
          <a:xfrm>
            <a:off x="109561" y="227865"/>
            <a:ext cx="1527286" cy="1099383"/>
          </a:xfrm>
          <a:custGeom>
            <a:rect b="b" l="l" r="r" t="t"/>
            <a:pathLst>
              <a:path extrusionOk="0" h="1649074" w="2290929">
                <a:moveTo>
                  <a:pt x="0" y="0"/>
                </a:moveTo>
                <a:lnTo>
                  <a:pt x="2290929" y="0"/>
                </a:lnTo>
                <a:lnTo>
                  <a:pt x="2290929" y="1649074"/>
                </a:lnTo>
                <a:lnTo>
                  <a:pt x="0" y="1649074"/>
                </a:lnTo>
                <a:lnTo>
                  <a:pt x="0" y="0"/>
                </a:lnTo>
                <a:close/>
              </a:path>
            </a:pathLst>
          </a:custGeom>
          <a:blipFill rotWithShape="1">
            <a:blip r:embed="rId4">
              <a:alphaModFix/>
            </a:blip>
            <a:stretch>
              <a:fillRect b="0" l="0" r="0" t="0"/>
            </a:stretch>
          </a:blipFill>
          <a:ln>
            <a:noFill/>
          </a:ln>
        </p:spPr>
      </p:sp>
      <p:sp>
        <p:nvSpPr>
          <p:cNvPr id="1841" name="Google Shape;1841;g3ee0adc8e96_2_243"/>
          <p:cNvSpPr txBox="1"/>
          <p:nvPr/>
        </p:nvSpPr>
        <p:spPr>
          <a:xfrm>
            <a:off x="2512571" y="484850"/>
            <a:ext cx="5665060" cy="292707"/>
          </a:xfrm>
          <a:prstGeom prst="rect">
            <a:avLst/>
          </a:prstGeom>
          <a:noFill/>
          <a:ln>
            <a:noFill/>
          </a:ln>
        </p:spPr>
        <p:txBody>
          <a:bodyPr anchorCtr="0" anchor="t" bIns="0" lIns="0" spcFirstLastPara="1" rIns="0" wrap="square" tIns="0">
            <a:spAutoFit/>
          </a:bodyPr>
          <a:lstStyle/>
          <a:p>
            <a:pPr indent="0" lvl="0" marL="0" marR="0" rtl="0" algn="ctr">
              <a:lnSpc>
                <a:spcPct val="109996"/>
              </a:lnSpc>
              <a:spcBef>
                <a:spcPts val="0"/>
              </a:spcBef>
              <a:spcAft>
                <a:spcPts val="0"/>
              </a:spcAft>
              <a:buNone/>
            </a:pPr>
            <a:r>
              <a:rPr b="1" i="0" lang="en" sz="2000" u="none" cap="none" strike="noStrike">
                <a:solidFill>
                  <a:srgbClr val="000000"/>
                </a:solidFill>
                <a:latin typeface="Montserrat"/>
                <a:ea typeface="Montserrat"/>
                <a:cs typeface="Montserrat"/>
                <a:sym typeface="Montserrat"/>
              </a:rPr>
              <a:t>Why KNN Outperforms Linear Regression</a:t>
            </a:r>
            <a:endParaRPr sz="900"/>
          </a:p>
        </p:txBody>
      </p:sp>
      <p:sp>
        <p:nvSpPr>
          <p:cNvPr id="1842" name="Google Shape;1842;g3ee0adc8e96_2_243"/>
          <p:cNvSpPr txBox="1"/>
          <p:nvPr/>
        </p:nvSpPr>
        <p:spPr>
          <a:xfrm>
            <a:off x="70455" y="4748213"/>
            <a:ext cx="9616944" cy="1149957"/>
          </a:xfrm>
          <a:prstGeom prst="rect">
            <a:avLst/>
          </a:prstGeom>
          <a:noFill/>
          <a:ln>
            <a:noFill/>
          </a:ln>
        </p:spPr>
        <p:txBody>
          <a:bodyPr anchorCtr="0" anchor="t" bIns="0" lIns="0" spcFirstLastPara="1" rIns="0" wrap="square" tIns="0">
            <a:spAutoFit/>
          </a:bodyPr>
          <a:lstStyle/>
          <a:p>
            <a:pPr indent="0" lvl="0" marL="0" marR="0" rtl="0" algn="l">
              <a:lnSpc>
                <a:spcPct val="109996"/>
              </a:lnSpc>
              <a:spcBef>
                <a:spcPts val="0"/>
              </a:spcBef>
              <a:spcAft>
                <a:spcPts val="0"/>
              </a:spcAft>
              <a:buNone/>
            </a:pPr>
            <a:r>
              <a:rPr b="1" i="1" lang="en" sz="2000" u="none" cap="none" strike="noStrike">
                <a:solidFill>
                  <a:srgbClr val="000000"/>
                </a:solidFill>
                <a:latin typeface="Montserrat"/>
                <a:ea typeface="Montserrat"/>
                <a:cs typeface="Montserrat"/>
                <a:sym typeface="Montserrat"/>
              </a:rPr>
              <a:t>KNN outperforms Linear Regression on every metric across every phase. The gap is large — KNN reduces MAE by 25% ($6.42 vs $8.55) and more than doubles R² (0.45 vs 0.09).</a:t>
            </a:r>
            <a:endParaRPr sz="900"/>
          </a:p>
          <a:p>
            <a:pPr indent="0" lvl="0" marL="0" marR="0" rtl="0" algn="l">
              <a:lnSpc>
                <a:spcPct val="109996"/>
              </a:lnSpc>
              <a:spcBef>
                <a:spcPts val="0"/>
              </a:spcBef>
              <a:spcAft>
                <a:spcPts val="0"/>
              </a:spcAft>
              <a:buNone/>
            </a:pPr>
            <a:r>
              <a:t/>
            </a:r>
            <a:endParaRPr b="1" i="1" sz="2000" u="none" cap="none" strike="noStrike">
              <a:solidFill>
                <a:srgbClr val="000000"/>
              </a:solidFill>
              <a:latin typeface="Montserrat"/>
              <a:ea typeface="Montserrat"/>
              <a:cs typeface="Montserrat"/>
              <a:sym typeface="Montserrat"/>
            </a:endParaRPr>
          </a:p>
        </p:txBody>
      </p:sp>
      <p:sp>
        <p:nvSpPr>
          <p:cNvPr id="1843" name="Google Shape;1843;g3ee0adc8e96_2_243"/>
          <p:cNvSpPr txBox="1"/>
          <p:nvPr>
            <p:ph idx="12" type="sldNum"/>
          </p:nvPr>
        </p:nvSpPr>
        <p:spPr>
          <a:xfrm>
            <a:off x="4368800" y="4237567"/>
            <a:ext cx="1422300" cy="243300"/>
          </a:xfrm>
          <a:prstGeom prst="rect">
            <a:avLst/>
          </a:prstGeom>
        </p:spPr>
        <p:txBody>
          <a:bodyPr anchorCtr="0" anchor="ctr" bIns="30475" lIns="60950" spcFirstLastPara="1" rIns="60950" wrap="square" tIns="304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844" name="Google Shape;1844;g3ee0adc8e96_2_24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sz="1500">
                <a:solidFill>
                  <a:schemeClr val="lt1"/>
                </a:solidFill>
              </a:rPr>
              <a:t>‹#›</a:t>
            </a:fld>
            <a:endParaRPr sz="1500">
              <a:solidFill>
                <a:schemeClr val="lt1"/>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48" name="Shape 1848"/>
        <p:cNvGrpSpPr/>
        <p:nvPr/>
      </p:nvGrpSpPr>
      <p:grpSpPr>
        <a:xfrm>
          <a:off x="0" y="0"/>
          <a:ext cx="0" cy="0"/>
          <a:chOff x="0" y="0"/>
          <a:chExt cx="0" cy="0"/>
        </a:xfrm>
      </p:grpSpPr>
      <p:sp>
        <p:nvSpPr>
          <p:cNvPr id="1849" name="Google Shape;1849;g3edf2b460e5_0_21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50" name="Google Shape;1850;g3edf2b460e5_0_214"/>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51" name="Google Shape;1851;g3edf2b460e5_0_214"/>
          <p:cNvSpPr/>
          <p:nvPr/>
        </p:nvSpPr>
        <p:spPr>
          <a:xfrm flipH="1" rot="5400000">
            <a:off x="-1410016" y="1410150"/>
            <a:ext cx="6858000" cy="4037700"/>
          </a:xfrm>
          <a:prstGeom prst="rect">
            <a:avLst/>
          </a:prstGeom>
          <a:gradFill>
            <a:gsLst>
              <a:gs pos="0">
                <a:srgbClr val="000000"/>
              </a:gs>
              <a:gs pos="8000">
                <a:srgbClr val="000000"/>
              </a:gs>
              <a:gs pos="100000">
                <a:srgbClr val="0F4761"/>
              </a:gs>
            </a:gsLst>
            <a:lin ang="300012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52" name="Google Shape;1852;g3edf2b460e5_0_214"/>
          <p:cNvSpPr/>
          <p:nvPr/>
        </p:nvSpPr>
        <p:spPr>
          <a:xfrm flipH="1" rot="5400000">
            <a:off x="-1410016" y="1420288"/>
            <a:ext cx="6858000" cy="4037700"/>
          </a:xfrm>
          <a:prstGeom prst="rect">
            <a:avLst/>
          </a:prstGeom>
          <a:gradFill>
            <a:gsLst>
              <a:gs pos="0">
                <a:srgbClr val="000000">
                  <a:alpha val="0"/>
                </a:srgbClr>
              </a:gs>
              <a:gs pos="99000">
                <a:srgbClr val="156082">
                  <a:alpha val="45882"/>
                </a:srgbClr>
              </a:gs>
              <a:gs pos="100000">
                <a:srgbClr val="156082">
                  <a:alpha val="45882"/>
                </a:srgbClr>
              </a:gs>
            </a:gsLst>
            <a:lin ang="180000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53" name="Google Shape;1853;g3edf2b460e5_0_214"/>
          <p:cNvSpPr/>
          <p:nvPr/>
        </p:nvSpPr>
        <p:spPr>
          <a:xfrm flipH="1" rot="5400000">
            <a:off x="767983" y="3588145"/>
            <a:ext cx="2502000" cy="4037700"/>
          </a:xfrm>
          <a:prstGeom prst="rect">
            <a:avLst/>
          </a:prstGeom>
          <a:gradFill>
            <a:gsLst>
              <a:gs pos="0">
                <a:srgbClr val="156082">
                  <a:alpha val="29019"/>
                </a:srgbClr>
              </a:gs>
              <a:gs pos="2000">
                <a:srgbClr val="156082">
                  <a:alpha val="29019"/>
                </a:srgbClr>
              </a:gs>
              <a:gs pos="100000">
                <a:srgbClr val="000000">
                  <a:alpha val="30196"/>
                </a:srgbClr>
              </a:gs>
            </a:gsLst>
            <a:lin ang="7799903"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54" name="Google Shape;1854;g3edf2b460e5_0_214"/>
          <p:cNvSpPr/>
          <p:nvPr/>
        </p:nvSpPr>
        <p:spPr>
          <a:xfrm rot="-967356">
            <a:off x="-500907" y="968177"/>
            <a:ext cx="3897638" cy="4176045"/>
          </a:xfrm>
          <a:custGeom>
            <a:rect b="b" l="l" r="r" t="t"/>
            <a:pathLst>
              <a:path extrusionOk="0" h="4178958" w="3900357">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3137"/>
                </a:srgbClr>
              </a:gs>
            </a:gsLst>
            <a:lin ang="180000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55" name="Google Shape;1855;g3edf2b460e5_0_214"/>
          <p:cNvSpPr/>
          <p:nvPr/>
        </p:nvSpPr>
        <p:spPr>
          <a:xfrm flipH="1" rot="5400000">
            <a:off x="-1354426" y="1344475"/>
            <a:ext cx="6787500" cy="4078500"/>
          </a:xfrm>
          <a:prstGeom prst="rect">
            <a:avLst/>
          </a:prstGeom>
          <a:gradFill>
            <a:gsLst>
              <a:gs pos="0">
                <a:srgbClr val="000000">
                  <a:alpha val="0"/>
                </a:srgbClr>
              </a:gs>
              <a:gs pos="99000">
                <a:srgbClr val="43B0E1">
                  <a:alpha val="10980"/>
                </a:srgbClr>
              </a:gs>
              <a:gs pos="100000">
                <a:srgbClr val="43B0E1">
                  <a:alpha val="10980"/>
                </a:srgbClr>
              </a:gs>
            </a:gsLst>
            <a:lin ang="7200017"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56" name="Google Shape;1856;g3edf2b460e5_0_214"/>
          <p:cNvSpPr txBox="1"/>
          <p:nvPr/>
        </p:nvSpPr>
        <p:spPr>
          <a:xfrm>
            <a:off x="466722" y="586855"/>
            <a:ext cx="3201300" cy="3387600"/>
          </a:xfrm>
          <a:prstGeom prst="rect">
            <a:avLst/>
          </a:prstGeom>
          <a:noFill/>
          <a:ln>
            <a:noFill/>
          </a:ln>
        </p:spPr>
        <p:txBody>
          <a:bodyPr anchorCtr="0" anchor="b" bIns="45700" lIns="91425" spcFirstLastPara="1" rIns="91425" wrap="square" tIns="45700">
            <a:normAutofit lnSpcReduction="20000"/>
          </a:bodyPr>
          <a:lstStyle/>
          <a:p>
            <a:pPr indent="0" lvl="0" marL="0" marR="0" rtl="0" algn="r">
              <a:lnSpc>
                <a:spcPct val="90000"/>
              </a:lnSpc>
              <a:spcBef>
                <a:spcPts val="0"/>
              </a:spcBef>
              <a:spcAft>
                <a:spcPts val="0"/>
              </a:spcAft>
              <a:buNone/>
            </a:pPr>
            <a:r>
              <a:rPr b="0" i="0" lang="en" sz="4000" u="none" cap="none" strike="noStrike">
                <a:solidFill>
                  <a:schemeClr val="lt1"/>
                </a:solidFill>
                <a:latin typeface="Arial"/>
                <a:ea typeface="Arial"/>
                <a:cs typeface="Arial"/>
                <a:sym typeface="Arial"/>
              </a:rPr>
              <a:t>Machine Learning Algorithms</a:t>
            </a:r>
            <a:r>
              <a:rPr b="1" i="0" lang="en" sz="4000" u="none" cap="none" strike="noStrike">
                <a:solidFill>
                  <a:schemeClr val="lt1"/>
                </a:solidFill>
                <a:latin typeface="Play"/>
                <a:ea typeface="Play"/>
                <a:cs typeface="Play"/>
                <a:sym typeface="Play"/>
              </a:rPr>
              <a:t> -</a:t>
            </a:r>
            <a:r>
              <a:rPr b="1" i="0" lang="en" sz="4000" u="none" cap="none" strike="noStrike">
                <a:solidFill>
                  <a:srgbClr val="FFFFFF"/>
                </a:solidFill>
                <a:latin typeface="Play"/>
                <a:ea typeface="Play"/>
                <a:cs typeface="Play"/>
                <a:sym typeface="Play"/>
              </a:rPr>
              <a:t> </a:t>
            </a:r>
            <a:r>
              <a:rPr b="1" lang="en" sz="4000">
                <a:solidFill>
                  <a:srgbClr val="FFFFFF"/>
                </a:solidFill>
                <a:latin typeface="Play"/>
                <a:ea typeface="Play"/>
                <a:cs typeface="Play"/>
                <a:sym typeface="Play"/>
              </a:rPr>
              <a:t>Takal Ebrahimkhel</a:t>
            </a:r>
            <a:endParaRPr b="1" i="0" sz="4000" u="none" cap="none" strike="noStrike">
              <a:solidFill>
                <a:srgbClr val="FFFFFF"/>
              </a:solidFill>
              <a:latin typeface="Play"/>
              <a:ea typeface="Play"/>
              <a:cs typeface="Play"/>
              <a:sym typeface="Play"/>
            </a:endParaRPr>
          </a:p>
          <a:p>
            <a:pPr indent="0" lvl="0" marL="0" marR="0" rtl="0" algn="r">
              <a:lnSpc>
                <a:spcPct val="90000"/>
              </a:lnSpc>
              <a:spcBef>
                <a:spcPts val="600"/>
              </a:spcBef>
              <a:spcAft>
                <a:spcPts val="0"/>
              </a:spcAft>
              <a:buNone/>
            </a:pPr>
            <a:br>
              <a:rPr b="1" i="0" lang="en" sz="4000" u="none" cap="none" strike="noStrike">
                <a:solidFill>
                  <a:srgbClr val="FFFFFF"/>
                </a:solidFill>
                <a:latin typeface="Play"/>
                <a:ea typeface="Play"/>
                <a:cs typeface="Play"/>
                <a:sym typeface="Play"/>
              </a:rPr>
            </a:br>
            <a:endParaRPr b="1" i="0" sz="4000" u="none" cap="none" strike="noStrike">
              <a:solidFill>
                <a:srgbClr val="FFFFFF"/>
              </a:solidFill>
              <a:latin typeface="Play"/>
              <a:ea typeface="Play"/>
              <a:cs typeface="Play"/>
              <a:sym typeface="Play"/>
            </a:endParaRPr>
          </a:p>
        </p:txBody>
      </p:sp>
      <p:sp>
        <p:nvSpPr>
          <p:cNvPr id="1857" name="Google Shape;1857;g3edf2b460e5_0_214"/>
          <p:cNvSpPr txBox="1"/>
          <p:nvPr>
            <p:ph idx="12" type="sldNum"/>
          </p:nvPr>
        </p:nvSpPr>
        <p:spPr>
          <a:xfrm>
            <a:off x="11704320" y="6455664"/>
            <a:ext cx="448200" cy="3651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sz="1100">
                <a:solidFill>
                  <a:srgbClr val="7F7F7F"/>
                </a:solidFill>
              </a:rPr>
              <a:t>‹#›</a:t>
            </a:fld>
            <a:endParaRPr sz="1100">
              <a:solidFill>
                <a:srgbClr val="7F7F7F"/>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1" name="Shape 1861"/>
        <p:cNvGrpSpPr/>
        <p:nvPr/>
      </p:nvGrpSpPr>
      <p:grpSpPr>
        <a:xfrm>
          <a:off x="0" y="0"/>
          <a:ext cx="0" cy="0"/>
          <a:chOff x="0" y="0"/>
          <a:chExt cx="0" cy="0"/>
        </a:xfrm>
      </p:grpSpPr>
      <p:sp>
        <p:nvSpPr>
          <p:cNvPr id="1862" name="Google Shape;1862;g3ea9527e202_2_259"/>
          <p:cNvSpPr txBox="1"/>
          <p:nvPr/>
        </p:nvSpPr>
        <p:spPr>
          <a:xfrm>
            <a:off x="430000" y="250000"/>
            <a:ext cx="1500000" cy="279900"/>
          </a:xfrm>
          <a:prstGeom prst="rect">
            <a:avLst/>
          </a:prstGeom>
          <a:no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 sz="1200" u="none" cap="none" strike="noStrike">
                <a:solidFill>
                  <a:srgbClr val="2E86C1"/>
                </a:solidFill>
                <a:latin typeface="Arial"/>
                <a:ea typeface="Arial"/>
                <a:cs typeface="Arial"/>
                <a:sym typeface="Arial"/>
              </a:rPr>
              <a:t>Task 7</a:t>
            </a:r>
            <a:endParaRPr/>
          </a:p>
        </p:txBody>
      </p:sp>
      <p:sp>
        <p:nvSpPr>
          <p:cNvPr id="1863" name="Google Shape;1863;g3ea9527e202_2_259"/>
          <p:cNvSpPr txBox="1"/>
          <p:nvPr/>
        </p:nvSpPr>
        <p:spPr>
          <a:xfrm>
            <a:off x="430000" y="560000"/>
            <a:ext cx="7599900" cy="519900"/>
          </a:xfrm>
          <a:prstGeom prst="rect">
            <a:avLst/>
          </a:prstGeom>
          <a:no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 sz="3000" u="none" cap="none" strike="noStrike">
                <a:solidFill>
                  <a:srgbClr val="111827"/>
                </a:solidFill>
                <a:latin typeface="Arial"/>
                <a:ea typeface="Arial"/>
                <a:cs typeface="Arial"/>
                <a:sym typeface="Arial"/>
              </a:rPr>
              <a:t>Model Selection</a:t>
            </a:r>
            <a:endParaRPr/>
          </a:p>
        </p:txBody>
      </p:sp>
      <p:sp>
        <p:nvSpPr>
          <p:cNvPr id="1864" name="Google Shape;1864;g3ea9527e202_2_259"/>
          <p:cNvSpPr txBox="1"/>
          <p:nvPr/>
        </p:nvSpPr>
        <p:spPr>
          <a:xfrm>
            <a:off x="430000" y="1120000"/>
            <a:ext cx="7599900" cy="440100"/>
          </a:xfrm>
          <a:prstGeom prst="rect">
            <a:avLst/>
          </a:prstGeom>
          <a:no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 sz="1500" u="none" cap="none" strike="noStrike">
                <a:solidFill>
                  <a:schemeClr val="dk1"/>
                </a:solidFill>
              </a:rPr>
              <a:t>XGBoost is the primary model; GradientBoostingRegressor is the secondary benchmark.</a:t>
            </a:r>
            <a:endParaRPr>
              <a:solidFill>
                <a:schemeClr val="dk1"/>
              </a:solidFill>
            </a:endParaRPr>
          </a:p>
        </p:txBody>
      </p:sp>
      <p:sp>
        <p:nvSpPr>
          <p:cNvPr id="1865" name="Google Shape;1865;g3ea9527e202_2_259"/>
          <p:cNvSpPr txBox="1"/>
          <p:nvPr/>
        </p:nvSpPr>
        <p:spPr>
          <a:xfrm>
            <a:off x="700000" y="5150000"/>
            <a:ext cx="7899900" cy="549900"/>
          </a:xfrm>
          <a:prstGeom prst="rect">
            <a:avLst/>
          </a:prstGeom>
          <a:solidFill>
            <a:srgbClr val="2E86C1"/>
          </a:solidFill>
          <a:ln cap="flat" cmpd="sng" w="9525">
            <a:solidFill>
              <a:srgbClr val="2E86C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 sz="1550" u="none" cap="none" strike="noStrike">
                <a:solidFill>
                  <a:srgbClr val="FFFFFF"/>
                </a:solidFill>
                <a:latin typeface="Arial"/>
                <a:ea typeface="Arial"/>
                <a:cs typeface="Arial"/>
                <a:sym typeface="Arial"/>
              </a:rPr>
              <a:t>Main choice: XGBoost Regressor</a:t>
            </a:r>
            <a:endParaRPr/>
          </a:p>
        </p:txBody>
      </p:sp>
      <p:grpSp>
        <p:nvGrpSpPr>
          <p:cNvPr id="1866" name="Google Shape;1866;g3ea9527e202_2_259"/>
          <p:cNvGrpSpPr/>
          <p:nvPr/>
        </p:nvGrpSpPr>
        <p:grpSpPr>
          <a:xfrm>
            <a:off x="700000" y="1880836"/>
            <a:ext cx="7700100" cy="3068401"/>
            <a:chOff x="0" y="15724"/>
            <a:chExt cx="7700100" cy="3068401"/>
          </a:xfrm>
        </p:grpSpPr>
        <p:sp>
          <p:nvSpPr>
            <p:cNvPr id="1867" name="Google Shape;1867;g3ea9527e202_2_259"/>
            <p:cNvSpPr/>
            <p:nvPr/>
          </p:nvSpPr>
          <p:spPr>
            <a:xfrm>
              <a:off x="0" y="15724"/>
              <a:ext cx="7700100" cy="579000"/>
            </a:xfrm>
            <a:prstGeom prst="roundRect">
              <a:avLst>
                <a:gd fmla="val 16667"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g3ea9527e202_2_259"/>
            <p:cNvSpPr txBox="1"/>
            <p:nvPr/>
          </p:nvSpPr>
          <p:spPr>
            <a:xfrm>
              <a:off x="28272" y="43996"/>
              <a:ext cx="7643400" cy="522600"/>
            </a:xfrm>
            <a:prstGeom prst="rect">
              <a:avLst/>
            </a:prstGeom>
            <a:no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000000"/>
                </a:buClr>
                <a:buSzPts val="1500"/>
                <a:buFont typeface="Arial"/>
                <a:buNone/>
              </a:pPr>
              <a:r>
                <a:rPr b="0" i="0" lang="en" sz="1500" u="none" cap="none" strike="noStrike">
                  <a:solidFill>
                    <a:schemeClr val="lt1"/>
                  </a:solidFill>
                  <a:latin typeface="Arial"/>
                  <a:ea typeface="Arial"/>
                  <a:cs typeface="Arial"/>
                  <a:sym typeface="Arial"/>
                </a:rPr>
                <a:t>• Business problem: predict continuous tube assembly cost from supplier, geometry, date, and BOM features.</a:t>
              </a:r>
              <a:endParaRPr b="0" i="0" sz="1500" u="none" cap="none" strike="noStrike">
                <a:solidFill>
                  <a:schemeClr val="lt1"/>
                </a:solidFill>
                <a:latin typeface="Arial"/>
                <a:ea typeface="Arial"/>
                <a:cs typeface="Arial"/>
                <a:sym typeface="Arial"/>
              </a:endParaRPr>
            </a:p>
          </p:txBody>
        </p:sp>
        <p:sp>
          <p:nvSpPr>
            <p:cNvPr id="1869" name="Google Shape;1869;g3ea9527e202_2_259"/>
            <p:cNvSpPr/>
            <p:nvPr/>
          </p:nvSpPr>
          <p:spPr>
            <a:xfrm>
              <a:off x="0" y="638074"/>
              <a:ext cx="7700100" cy="579000"/>
            </a:xfrm>
            <a:prstGeom prst="roundRect">
              <a:avLst>
                <a:gd fmla="val 16667"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g3ea9527e202_2_259"/>
            <p:cNvSpPr txBox="1"/>
            <p:nvPr/>
          </p:nvSpPr>
          <p:spPr>
            <a:xfrm>
              <a:off x="28272" y="666346"/>
              <a:ext cx="7643400" cy="522600"/>
            </a:xfrm>
            <a:prstGeom prst="rect">
              <a:avLst/>
            </a:prstGeom>
            <a:no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000000"/>
                </a:buClr>
                <a:buSzPts val="1500"/>
                <a:buFont typeface="Arial"/>
                <a:buNone/>
              </a:pPr>
              <a:r>
                <a:rPr b="0" i="0" lang="en" sz="1500" u="none" cap="none" strike="noStrike">
                  <a:solidFill>
                    <a:schemeClr val="lt1"/>
                  </a:solidFill>
                  <a:latin typeface="Arial"/>
                  <a:ea typeface="Arial"/>
                  <a:cs typeface="Arial"/>
                  <a:sym typeface="Arial"/>
                </a:rPr>
                <a:t>• Algorithms considered: Dummy baseline, Linear/Ridge, Random Forest, GradientBoostingRegressor, XGBoost.</a:t>
              </a:r>
              <a:endParaRPr b="0" i="0" sz="1500" u="none" cap="none" strike="noStrike">
                <a:solidFill>
                  <a:schemeClr val="lt1"/>
                </a:solidFill>
                <a:latin typeface="Arial"/>
                <a:ea typeface="Arial"/>
                <a:cs typeface="Arial"/>
                <a:sym typeface="Arial"/>
              </a:endParaRPr>
            </a:p>
          </p:txBody>
        </p:sp>
        <p:sp>
          <p:nvSpPr>
            <p:cNvPr id="1871" name="Google Shape;1871;g3ea9527e202_2_259"/>
            <p:cNvSpPr/>
            <p:nvPr/>
          </p:nvSpPr>
          <p:spPr>
            <a:xfrm>
              <a:off x="0" y="1260425"/>
              <a:ext cx="7700100" cy="579000"/>
            </a:xfrm>
            <a:prstGeom prst="roundRect">
              <a:avLst>
                <a:gd fmla="val 16667"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g3ea9527e202_2_259"/>
            <p:cNvSpPr txBox="1"/>
            <p:nvPr/>
          </p:nvSpPr>
          <p:spPr>
            <a:xfrm>
              <a:off x="28272" y="1288697"/>
              <a:ext cx="7643400" cy="522600"/>
            </a:xfrm>
            <a:prstGeom prst="rect">
              <a:avLst/>
            </a:prstGeom>
            <a:no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000000"/>
                </a:buClr>
                <a:buSzPts val="1500"/>
                <a:buFont typeface="Arial"/>
                <a:buNone/>
              </a:pPr>
              <a:r>
                <a:rPr b="0" i="0" lang="en" sz="1500" u="none" cap="none" strike="noStrike">
                  <a:solidFill>
                    <a:schemeClr val="lt1"/>
                  </a:solidFill>
                  <a:latin typeface="Arial"/>
                  <a:ea typeface="Arial"/>
                  <a:cs typeface="Arial"/>
                  <a:sym typeface="Arial"/>
                </a:rPr>
                <a:t>• Chosen main algorithm: XGBoost Regressor for nonlinear tabular regression and regularized boosted trees.</a:t>
              </a:r>
              <a:endParaRPr b="0" i="0" sz="1500" u="none" cap="none" strike="noStrike">
                <a:solidFill>
                  <a:schemeClr val="lt1"/>
                </a:solidFill>
                <a:latin typeface="Arial"/>
                <a:ea typeface="Arial"/>
                <a:cs typeface="Arial"/>
                <a:sym typeface="Arial"/>
              </a:endParaRPr>
            </a:p>
          </p:txBody>
        </p:sp>
        <p:sp>
          <p:nvSpPr>
            <p:cNvPr id="1873" name="Google Shape;1873;g3ea9527e202_2_259"/>
            <p:cNvSpPr/>
            <p:nvPr/>
          </p:nvSpPr>
          <p:spPr>
            <a:xfrm>
              <a:off x="0" y="1882775"/>
              <a:ext cx="7700100" cy="579000"/>
            </a:xfrm>
            <a:prstGeom prst="roundRect">
              <a:avLst>
                <a:gd fmla="val 16667"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g3ea9527e202_2_259"/>
            <p:cNvSpPr txBox="1"/>
            <p:nvPr/>
          </p:nvSpPr>
          <p:spPr>
            <a:xfrm>
              <a:off x="28272" y="1911047"/>
              <a:ext cx="7643400" cy="522600"/>
            </a:xfrm>
            <a:prstGeom prst="rect">
              <a:avLst/>
            </a:prstGeom>
            <a:no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000000"/>
                </a:buClr>
                <a:buSzPts val="1500"/>
                <a:buFont typeface="Arial"/>
                <a:buNone/>
              </a:pPr>
              <a:r>
                <a:rPr b="0" i="0" lang="en" sz="1500" u="none" cap="none" strike="noStrike">
                  <a:solidFill>
                    <a:schemeClr val="lt1"/>
                  </a:solidFill>
                  <a:latin typeface="Arial"/>
                  <a:ea typeface="Arial"/>
                  <a:cs typeface="Arial"/>
                  <a:sym typeface="Arial"/>
                </a:rPr>
                <a:t>• Secondary algorithm: GradientBoostingRegressor for a strong scikit-learn comparison model.</a:t>
              </a:r>
              <a:endParaRPr b="0" i="0" sz="1500" u="none" cap="none" strike="noStrike">
                <a:solidFill>
                  <a:schemeClr val="lt1"/>
                </a:solidFill>
                <a:latin typeface="Arial"/>
                <a:ea typeface="Arial"/>
                <a:cs typeface="Arial"/>
                <a:sym typeface="Arial"/>
              </a:endParaRPr>
            </a:p>
          </p:txBody>
        </p:sp>
        <p:sp>
          <p:nvSpPr>
            <p:cNvPr id="1875" name="Google Shape;1875;g3ea9527e202_2_259"/>
            <p:cNvSpPr/>
            <p:nvPr/>
          </p:nvSpPr>
          <p:spPr>
            <a:xfrm>
              <a:off x="0" y="2505125"/>
              <a:ext cx="7700100" cy="579000"/>
            </a:xfrm>
            <a:prstGeom prst="roundRect">
              <a:avLst>
                <a:gd fmla="val 16667"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g3ea9527e202_2_259"/>
            <p:cNvSpPr txBox="1"/>
            <p:nvPr/>
          </p:nvSpPr>
          <p:spPr>
            <a:xfrm>
              <a:off x="28272" y="2533397"/>
              <a:ext cx="7643400" cy="522600"/>
            </a:xfrm>
            <a:prstGeom prst="rect">
              <a:avLst/>
            </a:prstGeom>
            <a:no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000000"/>
                </a:buClr>
                <a:buSzPts val="1500"/>
                <a:buFont typeface="Arial"/>
                <a:buNone/>
              </a:pPr>
              <a:r>
                <a:rPr b="0" i="0" lang="en" sz="1500" u="none" cap="none" strike="noStrike">
                  <a:solidFill>
                    <a:schemeClr val="lt1"/>
                  </a:solidFill>
                  <a:latin typeface="Arial"/>
                  <a:ea typeface="Arial"/>
                  <a:cs typeface="Arial"/>
                  <a:sym typeface="Arial"/>
                </a:rPr>
                <a:t>• Selection logic: choose the model with strongest validation performance, especially RMSE and RMSLE.</a:t>
              </a:r>
              <a:endParaRPr b="0" i="0" sz="1500" u="none" cap="none" strike="noStrike">
                <a:solidFill>
                  <a:schemeClr val="lt1"/>
                </a:solidFill>
                <a:latin typeface="Arial"/>
                <a:ea typeface="Arial"/>
                <a:cs typeface="Arial"/>
                <a:sym typeface="Arial"/>
              </a:endParaRPr>
            </a:p>
          </p:txBody>
        </p:sp>
      </p:grpSp>
      <p:sp>
        <p:nvSpPr>
          <p:cNvPr id="1877" name="Google Shape;1877;g3ea9527e202_2_259"/>
          <p:cNvSpPr txBox="1"/>
          <p:nvPr/>
        </p:nvSpPr>
        <p:spPr>
          <a:xfrm>
            <a:off x="7679028" y="6254848"/>
            <a:ext cx="1667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Takal Ebrahimkhel</a:t>
            </a:r>
            <a:endParaRPr/>
          </a:p>
        </p:txBody>
      </p:sp>
      <p:sp>
        <p:nvSpPr>
          <p:cNvPr id="1878" name="Google Shape;1878;g3ea9527e202_2_25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2" name="Shape 1882"/>
        <p:cNvGrpSpPr/>
        <p:nvPr/>
      </p:nvGrpSpPr>
      <p:grpSpPr>
        <a:xfrm>
          <a:off x="0" y="0"/>
          <a:ext cx="0" cy="0"/>
          <a:chOff x="0" y="0"/>
          <a:chExt cx="0" cy="0"/>
        </a:xfrm>
      </p:grpSpPr>
      <p:sp>
        <p:nvSpPr>
          <p:cNvPr id="1883" name="Google Shape;1883;g3ee2e5faae5_3_123"/>
          <p:cNvSpPr/>
          <p:nvPr/>
        </p:nvSpPr>
        <p:spPr>
          <a:xfrm>
            <a:off x="1069848" y="3228142"/>
            <a:ext cx="9738300" cy="12345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84" name="Google Shape;1884;g3ee2e5faae5_3_123"/>
          <p:cNvSpPr/>
          <p:nvPr/>
        </p:nvSpPr>
        <p:spPr>
          <a:xfrm>
            <a:off x="0" y="0"/>
            <a:ext cx="12191700" cy="164700"/>
          </a:xfrm>
          <a:prstGeom prst="rect">
            <a:avLst/>
          </a:prstGeom>
          <a:solidFill>
            <a:srgbClr val="0F766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85" name="Google Shape;1885;g3ee2e5faae5_3_123"/>
          <p:cNvSpPr txBox="1"/>
          <p:nvPr/>
        </p:nvSpPr>
        <p:spPr>
          <a:xfrm>
            <a:off x="566928" y="347472"/>
            <a:ext cx="7955400" cy="502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1" i="0" lang="en" sz="2500" u="none" cap="none" strike="noStrike">
                <a:solidFill>
                  <a:srgbClr val="0C293E"/>
                </a:solidFill>
                <a:latin typeface="Arial"/>
                <a:ea typeface="Arial"/>
                <a:cs typeface="Arial"/>
                <a:sym typeface="Arial"/>
              </a:rPr>
              <a:t>System Architecture Diagram</a:t>
            </a:r>
            <a:endParaRPr/>
          </a:p>
        </p:txBody>
      </p:sp>
      <p:sp>
        <p:nvSpPr>
          <p:cNvPr id="1886" name="Google Shape;1886;g3ee2e5faae5_3_123"/>
          <p:cNvSpPr txBox="1"/>
          <p:nvPr/>
        </p:nvSpPr>
        <p:spPr>
          <a:xfrm>
            <a:off x="585216" y="850392"/>
            <a:ext cx="8778300" cy="3291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250" u="none" cap="none" strike="noStrike">
                <a:solidFill>
                  <a:schemeClr val="dk1"/>
                </a:solidFill>
                <a:latin typeface="Arial"/>
                <a:ea typeface="Arial"/>
                <a:cs typeface="Arial"/>
                <a:sym typeface="Arial"/>
              </a:rPr>
              <a:t>Workflow from final data table to validated cost prediction</a:t>
            </a:r>
            <a:endParaRPr>
              <a:solidFill>
                <a:schemeClr val="dk1"/>
              </a:solidFill>
            </a:endParaRPr>
          </a:p>
        </p:txBody>
      </p:sp>
      <p:sp>
        <p:nvSpPr>
          <p:cNvPr id="1887" name="Google Shape;1887;g3ee2e5faae5_3_123"/>
          <p:cNvSpPr/>
          <p:nvPr/>
        </p:nvSpPr>
        <p:spPr>
          <a:xfrm>
            <a:off x="9646920" y="411480"/>
            <a:ext cx="1965900" cy="3291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050" u="none" cap="none" strike="noStrike">
                <a:solidFill>
                  <a:srgbClr val="0F766E"/>
                </a:solidFill>
                <a:latin typeface="Arial"/>
                <a:ea typeface="Arial"/>
                <a:cs typeface="Arial"/>
                <a:sym typeface="Arial"/>
              </a:rPr>
              <a:t>Task 7</a:t>
            </a:r>
            <a:endParaRPr/>
          </a:p>
        </p:txBody>
      </p:sp>
      <p:sp>
        <p:nvSpPr>
          <p:cNvPr id="1888" name="Google Shape;1888;g3ee2e5faae5_3_123"/>
          <p:cNvSpPr txBox="1"/>
          <p:nvPr/>
        </p:nvSpPr>
        <p:spPr>
          <a:xfrm>
            <a:off x="566928" y="6446520"/>
            <a:ext cx="1920300" cy="2013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100000"/>
              </a:lnSpc>
              <a:spcBef>
                <a:spcPts val="0"/>
              </a:spcBef>
              <a:spcAft>
                <a:spcPts val="0"/>
              </a:spcAft>
              <a:buNone/>
            </a:pPr>
            <a:r>
              <a:rPr b="1" i="0" lang="en" sz="850" u="none" cap="none" strike="noStrike">
                <a:solidFill>
                  <a:srgbClr val="5D6C7C"/>
                </a:solidFill>
                <a:latin typeface="Arial"/>
                <a:ea typeface="Arial"/>
                <a:cs typeface="Arial"/>
                <a:sym typeface="Arial"/>
              </a:rPr>
              <a:t>Task 7</a:t>
            </a:r>
            <a:endParaRPr/>
          </a:p>
        </p:txBody>
      </p:sp>
      <p:sp>
        <p:nvSpPr>
          <p:cNvPr id="1889" name="Google Shape;1889;g3ee2e5faae5_3_123"/>
          <p:cNvSpPr txBox="1"/>
          <p:nvPr/>
        </p:nvSpPr>
        <p:spPr>
          <a:xfrm>
            <a:off x="7182545" y="6310445"/>
            <a:ext cx="2011800" cy="201300"/>
          </a:xfrm>
          <a:prstGeom prst="rect">
            <a:avLst/>
          </a:prstGeom>
          <a:noFill/>
          <a:ln>
            <a:noFill/>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0" i="0" lang="en" sz="1350" u="none" cap="none" strike="noStrike">
                <a:solidFill>
                  <a:schemeClr val="dk1"/>
                </a:solidFill>
                <a:latin typeface="Arial"/>
                <a:ea typeface="Arial"/>
                <a:cs typeface="Arial"/>
                <a:sym typeface="Arial"/>
              </a:rPr>
              <a:t>Takal Ebrahimkhel</a:t>
            </a:r>
            <a:endParaRPr sz="1900">
              <a:solidFill>
                <a:schemeClr val="dk1"/>
              </a:solidFill>
            </a:endParaRPr>
          </a:p>
        </p:txBody>
      </p:sp>
      <p:sp>
        <p:nvSpPr>
          <p:cNvPr id="1890" name="Google Shape;1890;g3ee2e5faae5_3_123"/>
          <p:cNvSpPr/>
          <p:nvPr/>
        </p:nvSpPr>
        <p:spPr>
          <a:xfrm>
            <a:off x="594360" y="1828800"/>
            <a:ext cx="1600200" cy="7773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891" name="Google Shape;1891;g3ee2e5faae5_3_123"/>
          <p:cNvSpPr txBox="1"/>
          <p:nvPr/>
        </p:nvSpPr>
        <p:spPr>
          <a:xfrm>
            <a:off x="667512" y="1965960"/>
            <a:ext cx="1453800" cy="201300"/>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lnSpc>
                <a:spcPct val="100000"/>
              </a:lnSpc>
              <a:spcBef>
                <a:spcPts val="0"/>
              </a:spcBef>
              <a:spcAft>
                <a:spcPts val="0"/>
              </a:spcAft>
              <a:buNone/>
            </a:pPr>
            <a:r>
              <a:rPr b="1" i="0" lang="en" sz="1150" u="none" cap="none" strike="noStrike">
                <a:solidFill>
                  <a:srgbClr val="0C293E"/>
                </a:solidFill>
                <a:latin typeface="Arial"/>
                <a:ea typeface="Arial"/>
                <a:cs typeface="Arial"/>
                <a:sym typeface="Arial"/>
              </a:rPr>
              <a:t>Final_DF.csv</a:t>
            </a:r>
            <a:endParaRPr/>
          </a:p>
        </p:txBody>
      </p:sp>
      <p:sp>
        <p:nvSpPr>
          <p:cNvPr id="1892" name="Google Shape;1892;g3ee2e5faae5_3_123"/>
          <p:cNvSpPr txBox="1"/>
          <p:nvPr/>
        </p:nvSpPr>
        <p:spPr>
          <a:xfrm>
            <a:off x="667512" y="2212848"/>
            <a:ext cx="1453800" cy="255900"/>
          </a:xfrm>
          <a:prstGeom prst="rect">
            <a:avLst/>
          </a:prstGeom>
          <a:noFill/>
          <a:ln>
            <a:noFill/>
          </a:ln>
        </p:spPr>
        <p:txBody>
          <a:bodyPr anchorCtr="0" anchor="t" bIns="45700" lIns="91425" spcFirstLastPara="1" rIns="91425" wrap="square" tIns="45700">
            <a:normAutofit fontScale="92500"/>
          </a:bodyPr>
          <a:lstStyle/>
          <a:p>
            <a:pPr indent="0" lvl="0" marL="0" marR="0" rtl="0" algn="ctr">
              <a:lnSpc>
                <a:spcPct val="100000"/>
              </a:lnSpc>
              <a:spcBef>
                <a:spcPts val="0"/>
              </a:spcBef>
              <a:spcAft>
                <a:spcPts val="0"/>
              </a:spcAft>
              <a:buNone/>
            </a:pPr>
            <a:r>
              <a:rPr b="0" i="0" lang="en" sz="850" u="none" cap="none" strike="noStrike">
                <a:solidFill>
                  <a:schemeClr val="dk1"/>
                </a:solidFill>
                <a:latin typeface="Arial"/>
                <a:ea typeface="Arial"/>
                <a:cs typeface="Arial"/>
                <a:sym typeface="Arial"/>
              </a:rPr>
              <a:t>Cleaned merged quote table</a:t>
            </a:r>
            <a:endParaRPr>
              <a:solidFill>
                <a:schemeClr val="dk1"/>
              </a:solidFill>
            </a:endParaRPr>
          </a:p>
        </p:txBody>
      </p:sp>
      <p:sp>
        <p:nvSpPr>
          <p:cNvPr id="1893" name="Google Shape;1893;g3ee2e5faae5_3_123"/>
          <p:cNvSpPr/>
          <p:nvPr/>
        </p:nvSpPr>
        <p:spPr>
          <a:xfrm>
            <a:off x="2176272" y="2075688"/>
            <a:ext cx="347400" cy="255900"/>
          </a:xfrm>
          <a:prstGeom prst="rightArrow">
            <a:avLst>
              <a:gd fmla="val 50000" name="adj1"/>
              <a:gd fmla="val 50000" name="adj2"/>
            </a:avLst>
          </a:prstGeom>
          <a:solidFill>
            <a:srgbClr val="0F766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894" name="Google Shape;1894;g3ee2e5faae5_3_123"/>
          <p:cNvSpPr/>
          <p:nvPr/>
        </p:nvSpPr>
        <p:spPr>
          <a:xfrm>
            <a:off x="2450592" y="1828800"/>
            <a:ext cx="1600200" cy="7773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895" name="Google Shape;1895;g3ee2e5faae5_3_123"/>
          <p:cNvSpPr txBox="1"/>
          <p:nvPr/>
        </p:nvSpPr>
        <p:spPr>
          <a:xfrm>
            <a:off x="2523744" y="1965960"/>
            <a:ext cx="1453800" cy="201300"/>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lnSpc>
                <a:spcPct val="100000"/>
              </a:lnSpc>
              <a:spcBef>
                <a:spcPts val="0"/>
              </a:spcBef>
              <a:spcAft>
                <a:spcPts val="0"/>
              </a:spcAft>
              <a:buNone/>
            </a:pPr>
            <a:r>
              <a:rPr b="1" i="0" lang="en" sz="1150" u="none" cap="none" strike="noStrike">
                <a:solidFill>
                  <a:srgbClr val="0C293E"/>
                </a:solidFill>
                <a:latin typeface="Arial"/>
                <a:ea typeface="Arial"/>
                <a:cs typeface="Arial"/>
                <a:sym typeface="Arial"/>
              </a:rPr>
              <a:t>Preprocess</a:t>
            </a:r>
            <a:endParaRPr/>
          </a:p>
        </p:txBody>
      </p:sp>
      <p:sp>
        <p:nvSpPr>
          <p:cNvPr id="1896" name="Google Shape;1896;g3ee2e5faae5_3_123"/>
          <p:cNvSpPr txBox="1"/>
          <p:nvPr/>
        </p:nvSpPr>
        <p:spPr>
          <a:xfrm>
            <a:off x="2523744" y="2212848"/>
            <a:ext cx="1453800" cy="2559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None/>
            </a:pPr>
            <a:r>
              <a:rPr b="0" i="0" lang="en" sz="850" u="none" cap="none" strike="noStrike">
                <a:solidFill>
                  <a:schemeClr val="dk1"/>
                </a:solidFill>
                <a:latin typeface="Arial"/>
                <a:ea typeface="Arial"/>
                <a:cs typeface="Arial"/>
                <a:sym typeface="Arial"/>
              </a:rPr>
              <a:t>Impute + one-hot encode</a:t>
            </a:r>
            <a:endParaRPr>
              <a:solidFill>
                <a:schemeClr val="dk1"/>
              </a:solidFill>
            </a:endParaRPr>
          </a:p>
        </p:txBody>
      </p:sp>
      <p:sp>
        <p:nvSpPr>
          <p:cNvPr id="1897" name="Google Shape;1897;g3ee2e5faae5_3_123"/>
          <p:cNvSpPr/>
          <p:nvPr/>
        </p:nvSpPr>
        <p:spPr>
          <a:xfrm>
            <a:off x="4032504" y="2075688"/>
            <a:ext cx="347400" cy="255900"/>
          </a:xfrm>
          <a:prstGeom prst="rightArrow">
            <a:avLst>
              <a:gd fmla="val 50000" name="adj1"/>
              <a:gd fmla="val 50000" name="adj2"/>
            </a:avLst>
          </a:prstGeom>
          <a:solidFill>
            <a:srgbClr val="0F766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898" name="Google Shape;1898;g3ee2e5faae5_3_123"/>
          <p:cNvSpPr/>
          <p:nvPr/>
        </p:nvSpPr>
        <p:spPr>
          <a:xfrm>
            <a:off x="4306824" y="1828800"/>
            <a:ext cx="1600200" cy="7773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899" name="Google Shape;1899;g3ee2e5faae5_3_123"/>
          <p:cNvSpPr txBox="1"/>
          <p:nvPr/>
        </p:nvSpPr>
        <p:spPr>
          <a:xfrm>
            <a:off x="4379976" y="1965960"/>
            <a:ext cx="1453800" cy="201300"/>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lnSpc>
                <a:spcPct val="100000"/>
              </a:lnSpc>
              <a:spcBef>
                <a:spcPts val="0"/>
              </a:spcBef>
              <a:spcAft>
                <a:spcPts val="0"/>
              </a:spcAft>
              <a:buNone/>
            </a:pPr>
            <a:r>
              <a:rPr b="1" i="0" lang="en" sz="1150" u="none" cap="none" strike="noStrike">
                <a:solidFill>
                  <a:srgbClr val="0C293E"/>
                </a:solidFill>
                <a:latin typeface="Arial"/>
                <a:ea typeface="Arial"/>
                <a:cs typeface="Arial"/>
                <a:sym typeface="Arial"/>
              </a:rPr>
              <a:t>70/15/15 split</a:t>
            </a:r>
            <a:endParaRPr/>
          </a:p>
        </p:txBody>
      </p:sp>
      <p:sp>
        <p:nvSpPr>
          <p:cNvPr id="1900" name="Google Shape;1900;g3ee2e5faae5_3_123"/>
          <p:cNvSpPr txBox="1"/>
          <p:nvPr/>
        </p:nvSpPr>
        <p:spPr>
          <a:xfrm>
            <a:off x="4379976" y="2212848"/>
            <a:ext cx="1453800" cy="2559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None/>
            </a:pPr>
            <a:r>
              <a:rPr b="0" i="0" lang="en" sz="850" u="none" cap="none" strike="noStrike">
                <a:solidFill>
                  <a:schemeClr val="dk1"/>
                </a:solidFill>
                <a:latin typeface="Arial"/>
                <a:ea typeface="Arial"/>
                <a:cs typeface="Arial"/>
                <a:sym typeface="Arial"/>
              </a:rPr>
              <a:t>Train, validate, final test</a:t>
            </a:r>
            <a:endParaRPr>
              <a:solidFill>
                <a:schemeClr val="dk1"/>
              </a:solidFill>
            </a:endParaRPr>
          </a:p>
        </p:txBody>
      </p:sp>
      <p:sp>
        <p:nvSpPr>
          <p:cNvPr id="1901" name="Google Shape;1901;g3ee2e5faae5_3_123"/>
          <p:cNvSpPr/>
          <p:nvPr/>
        </p:nvSpPr>
        <p:spPr>
          <a:xfrm>
            <a:off x="5888736" y="2075688"/>
            <a:ext cx="347400" cy="255900"/>
          </a:xfrm>
          <a:prstGeom prst="rightArrow">
            <a:avLst>
              <a:gd fmla="val 50000" name="adj1"/>
              <a:gd fmla="val 50000" name="adj2"/>
            </a:avLst>
          </a:prstGeom>
          <a:solidFill>
            <a:srgbClr val="0F766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902" name="Google Shape;1902;g3ee2e5faae5_3_123"/>
          <p:cNvSpPr/>
          <p:nvPr/>
        </p:nvSpPr>
        <p:spPr>
          <a:xfrm>
            <a:off x="6163056" y="1828800"/>
            <a:ext cx="1600200" cy="7773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903" name="Google Shape;1903;g3ee2e5faae5_3_123"/>
          <p:cNvSpPr txBox="1"/>
          <p:nvPr/>
        </p:nvSpPr>
        <p:spPr>
          <a:xfrm>
            <a:off x="6236208" y="1965960"/>
            <a:ext cx="1453800" cy="201300"/>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lnSpc>
                <a:spcPct val="100000"/>
              </a:lnSpc>
              <a:spcBef>
                <a:spcPts val="0"/>
              </a:spcBef>
              <a:spcAft>
                <a:spcPts val="0"/>
              </a:spcAft>
              <a:buNone/>
            </a:pPr>
            <a:r>
              <a:rPr b="1" i="0" lang="en" sz="1150" u="none" cap="none" strike="noStrike">
                <a:solidFill>
                  <a:srgbClr val="0C293E"/>
                </a:solidFill>
                <a:latin typeface="Arial"/>
                <a:ea typeface="Arial"/>
                <a:cs typeface="Arial"/>
                <a:sym typeface="Arial"/>
              </a:rPr>
              <a:t>Modeling</a:t>
            </a:r>
            <a:endParaRPr/>
          </a:p>
        </p:txBody>
      </p:sp>
      <p:sp>
        <p:nvSpPr>
          <p:cNvPr id="1904" name="Google Shape;1904;g3ee2e5faae5_3_123"/>
          <p:cNvSpPr txBox="1"/>
          <p:nvPr/>
        </p:nvSpPr>
        <p:spPr>
          <a:xfrm>
            <a:off x="6236208" y="2212848"/>
            <a:ext cx="1453800" cy="255900"/>
          </a:xfrm>
          <a:prstGeom prst="rect">
            <a:avLst/>
          </a:prstGeom>
          <a:noFill/>
          <a:ln>
            <a:noFill/>
          </a:ln>
        </p:spPr>
        <p:txBody>
          <a:bodyPr anchorCtr="0" anchor="t" bIns="45700" lIns="91425" spcFirstLastPara="1" rIns="91425" wrap="square" tIns="45700">
            <a:normAutofit fontScale="92500"/>
          </a:bodyPr>
          <a:lstStyle/>
          <a:p>
            <a:pPr indent="0" lvl="0" marL="0" marR="0" rtl="0" algn="ctr">
              <a:lnSpc>
                <a:spcPct val="100000"/>
              </a:lnSpc>
              <a:spcBef>
                <a:spcPts val="0"/>
              </a:spcBef>
              <a:spcAft>
                <a:spcPts val="0"/>
              </a:spcAft>
              <a:buNone/>
            </a:pPr>
            <a:r>
              <a:rPr b="0" i="0" lang="en" sz="850" u="none" cap="none" strike="noStrike">
                <a:solidFill>
                  <a:schemeClr val="dk1"/>
                </a:solidFill>
                <a:latin typeface="Arial"/>
                <a:ea typeface="Arial"/>
                <a:cs typeface="Arial"/>
                <a:sym typeface="Arial"/>
              </a:rPr>
              <a:t>XGBoost + GBR + baseline</a:t>
            </a:r>
            <a:endParaRPr>
              <a:solidFill>
                <a:schemeClr val="dk1"/>
              </a:solidFill>
            </a:endParaRPr>
          </a:p>
        </p:txBody>
      </p:sp>
      <p:sp>
        <p:nvSpPr>
          <p:cNvPr id="1905" name="Google Shape;1905;g3ee2e5faae5_3_123"/>
          <p:cNvSpPr/>
          <p:nvPr/>
        </p:nvSpPr>
        <p:spPr>
          <a:xfrm>
            <a:off x="7744968" y="2075688"/>
            <a:ext cx="347400" cy="255900"/>
          </a:xfrm>
          <a:prstGeom prst="rightArrow">
            <a:avLst>
              <a:gd fmla="val 50000" name="adj1"/>
              <a:gd fmla="val 50000" name="adj2"/>
            </a:avLst>
          </a:prstGeom>
          <a:solidFill>
            <a:srgbClr val="0F766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906" name="Google Shape;1906;g3ee2e5faae5_3_123"/>
          <p:cNvSpPr/>
          <p:nvPr/>
        </p:nvSpPr>
        <p:spPr>
          <a:xfrm>
            <a:off x="8019288" y="1828800"/>
            <a:ext cx="1600200" cy="7773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907" name="Google Shape;1907;g3ee2e5faae5_3_123"/>
          <p:cNvSpPr txBox="1"/>
          <p:nvPr/>
        </p:nvSpPr>
        <p:spPr>
          <a:xfrm>
            <a:off x="8092440" y="1965960"/>
            <a:ext cx="1453800" cy="201300"/>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lnSpc>
                <a:spcPct val="100000"/>
              </a:lnSpc>
              <a:spcBef>
                <a:spcPts val="0"/>
              </a:spcBef>
              <a:spcAft>
                <a:spcPts val="0"/>
              </a:spcAft>
              <a:buNone/>
            </a:pPr>
            <a:r>
              <a:rPr b="1" i="0" lang="en" sz="1150" u="none" cap="none" strike="noStrike">
                <a:solidFill>
                  <a:srgbClr val="0C293E"/>
                </a:solidFill>
                <a:latin typeface="Arial"/>
                <a:ea typeface="Arial"/>
                <a:cs typeface="Arial"/>
                <a:sym typeface="Arial"/>
              </a:rPr>
              <a:t>Evaluation</a:t>
            </a:r>
            <a:endParaRPr/>
          </a:p>
        </p:txBody>
      </p:sp>
      <p:sp>
        <p:nvSpPr>
          <p:cNvPr id="1908" name="Google Shape;1908;g3ee2e5faae5_3_123"/>
          <p:cNvSpPr txBox="1"/>
          <p:nvPr/>
        </p:nvSpPr>
        <p:spPr>
          <a:xfrm>
            <a:off x="8092440" y="2212848"/>
            <a:ext cx="1453800" cy="255900"/>
          </a:xfrm>
          <a:prstGeom prst="rect">
            <a:avLst/>
          </a:prstGeom>
          <a:noFill/>
          <a:ln>
            <a:noFill/>
          </a:ln>
        </p:spPr>
        <p:txBody>
          <a:bodyPr anchorCtr="0" anchor="t" bIns="45700" lIns="91425" spcFirstLastPara="1" rIns="91425" wrap="square" tIns="45700">
            <a:normAutofit fontScale="85000"/>
          </a:bodyPr>
          <a:lstStyle/>
          <a:p>
            <a:pPr indent="0" lvl="0" marL="0" marR="0" rtl="0" algn="ctr">
              <a:lnSpc>
                <a:spcPct val="100000"/>
              </a:lnSpc>
              <a:spcBef>
                <a:spcPts val="0"/>
              </a:spcBef>
              <a:spcAft>
                <a:spcPts val="0"/>
              </a:spcAft>
              <a:buNone/>
            </a:pPr>
            <a:r>
              <a:rPr b="0" i="0" lang="en" sz="850" u="none" cap="none" strike="noStrike">
                <a:solidFill>
                  <a:schemeClr val="dk1"/>
                </a:solidFill>
                <a:latin typeface="Arial"/>
                <a:ea typeface="Arial"/>
                <a:cs typeface="Arial"/>
                <a:sym typeface="Arial"/>
              </a:rPr>
              <a:t>Metrics, SHAP, error analysis</a:t>
            </a:r>
            <a:endParaRPr>
              <a:solidFill>
                <a:schemeClr val="dk1"/>
              </a:solidFill>
            </a:endParaRPr>
          </a:p>
        </p:txBody>
      </p:sp>
      <p:sp>
        <p:nvSpPr>
          <p:cNvPr id="1909" name="Google Shape;1909;g3ee2e5faae5_3_123"/>
          <p:cNvSpPr/>
          <p:nvPr/>
        </p:nvSpPr>
        <p:spPr>
          <a:xfrm>
            <a:off x="9601200" y="2075688"/>
            <a:ext cx="347400" cy="255900"/>
          </a:xfrm>
          <a:prstGeom prst="rightArrow">
            <a:avLst>
              <a:gd fmla="val 50000" name="adj1"/>
              <a:gd fmla="val 50000" name="adj2"/>
            </a:avLst>
          </a:prstGeom>
          <a:solidFill>
            <a:srgbClr val="0F766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910" name="Google Shape;1910;g3ee2e5faae5_3_123"/>
          <p:cNvSpPr/>
          <p:nvPr/>
        </p:nvSpPr>
        <p:spPr>
          <a:xfrm>
            <a:off x="9875520" y="1828800"/>
            <a:ext cx="1600200" cy="7773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911" name="Google Shape;1911;g3ee2e5faae5_3_123"/>
          <p:cNvSpPr txBox="1"/>
          <p:nvPr/>
        </p:nvSpPr>
        <p:spPr>
          <a:xfrm>
            <a:off x="9948672" y="1965960"/>
            <a:ext cx="1453800" cy="201300"/>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lnSpc>
                <a:spcPct val="100000"/>
              </a:lnSpc>
              <a:spcBef>
                <a:spcPts val="0"/>
              </a:spcBef>
              <a:spcAft>
                <a:spcPts val="0"/>
              </a:spcAft>
              <a:buNone/>
            </a:pPr>
            <a:r>
              <a:rPr b="1" i="0" lang="en" sz="1150" u="none" cap="none" strike="noStrike">
                <a:solidFill>
                  <a:srgbClr val="0C293E"/>
                </a:solidFill>
                <a:latin typeface="Arial"/>
                <a:ea typeface="Arial"/>
                <a:cs typeface="Arial"/>
                <a:sym typeface="Arial"/>
              </a:rPr>
              <a:t>Business use</a:t>
            </a:r>
            <a:endParaRPr/>
          </a:p>
        </p:txBody>
      </p:sp>
      <p:sp>
        <p:nvSpPr>
          <p:cNvPr id="1912" name="Google Shape;1912;g3ee2e5faae5_3_123"/>
          <p:cNvSpPr txBox="1"/>
          <p:nvPr/>
        </p:nvSpPr>
        <p:spPr>
          <a:xfrm>
            <a:off x="9948672" y="2212848"/>
            <a:ext cx="1453800" cy="255900"/>
          </a:xfrm>
          <a:prstGeom prst="rect">
            <a:avLst/>
          </a:prstGeom>
          <a:noFill/>
          <a:ln>
            <a:noFill/>
          </a:ln>
        </p:spPr>
        <p:txBody>
          <a:bodyPr anchorCtr="0" anchor="t" bIns="45700" lIns="91425" spcFirstLastPara="1" rIns="91425" wrap="square" tIns="45700">
            <a:normAutofit fontScale="85000"/>
          </a:bodyPr>
          <a:lstStyle/>
          <a:p>
            <a:pPr indent="0" lvl="0" marL="0" marR="0" rtl="0" algn="ctr">
              <a:lnSpc>
                <a:spcPct val="100000"/>
              </a:lnSpc>
              <a:spcBef>
                <a:spcPts val="0"/>
              </a:spcBef>
              <a:spcAft>
                <a:spcPts val="0"/>
              </a:spcAft>
              <a:buNone/>
            </a:pPr>
            <a:r>
              <a:rPr b="0" i="0" lang="en" sz="850" u="none" cap="none" strike="noStrike">
                <a:solidFill>
                  <a:schemeClr val="dk1"/>
                </a:solidFill>
                <a:latin typeface="Arial"/>
                <a:ea typeface="Arial"/>
                <a:cs typeface="Arial"/>
                <a:sym typeface="Arial"/>
              </a:rPr>
              <a:t>Quote benchmark + risk flags</a:t>
            </a:r>
            <a:endParaRPr>
              <a:solidFill>
                <a:schemeClr val="dk1"/>
              </a:solidFill>
            </a:endParaRPr>
          </a:p>
        </p:txBody>
      </p:sp>
      <p:sp>
        <p:nvSpPr>
          <p:cNvPr id="1913" name="Google Shape;1913;g3ee2e5faae5_3_123"/>
          <p:cNvSpPr txBox="1"/>
          <p:nvPr/>
        </p:nvSpPr>
        <p:spPr>
          <a:xfrm>
            <a:off x="1399032" y="3355848"/>
            <a:ext cx="9409200" cy="2559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100000"/>
              </a:lnSpc>
              <a:spcBef>
                <a:spcPts val="0"/>
              </a:spcBef>
              <a:spcAft>
                <a:spcPts val="0"/>
              </a:spcAft>
              <a:buNone/>
            </a:pPr>
            <a:r>
              <a:rPr b="1" i="0" lang="en" sz="1150" u="none" cap="none" strike="noStrike">
                <a:solidFill>
                  <a:srgbClr val="0C293E"/>
                </a:solidFill>
                <a:latin typeface="Arial"/>
                <a:ea typeface="Arial"/>
                <a:cs typeface="Arial"/>
                <a:sym typeface="Arial"/>
              </a:rPr>
              <a:t>Data and model governance layer</a:t>
            </a:r>
            <a:endParaRPr/>
          </a:p>
        </p:txBody>
      </p:sp>
      <p:sp>
        <p:nvSpPr>
          <p:cNvPr id="1914" name="Google Shape;1914;g3ee2e5faae5_3_123"/>
          <p:cNvSpPr txBox="1"/>
          <p:nvPr/>
        </p:nvSpPr>
        <p:spPr>
          <a:xfrm>
            <a:off x="1399032" y="3677332"/>
            <a:ext cx="9327000" cy="6585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100000"/>
              </a:lnSpc>
              <a:spcBef>
                <a:spcPts val="0"/>
              </a:spcBef>
              <a:spcAft>
                <a:spcPts val="0"/>
              </a:spcAft>
              <a:buNone/>
            </a:pPr>
            <a:r>
              <a:rPr b="0" i="0" lang="en" sz="1220" u="none" cap="none" strike="noStrike">
                <a:solidFill>
                  <a:srgbClr val="16222D"/>
                </a:solidFill>
                <a:latin typeface="Arial"/>
                <a:ea typeface="Arial"/>
                <a:cs typeface="Arial"/>
                <a:sym typeface="Arial"/>
              </a:rPr>
              <a:t>Validation set controls model selection; test set remains untouched until final reporting.</a:t>
            </a:r>
            <a:endParaRPr/>
          </a:p>
          <a:p>
            <a:pPr indent="0" lvl="0" marL="0" marR="0" rtl="0" algn="l">
              <a:lnSpc>
                <a:spcPct val="100000"/>
              </a:lnSpc>
              <a:spcBef>
                <a:spcPts val="400"/>
              </a:spcBef>
              <a:spcAft>
                <a:spcPts val="0"/>
              </a:spcAft>
              <a:buNone/>
            </a:pPr>
            <a:r>
              <a:rPr b="0" i="0" lang="en" sz="1220" u="none" cap="none" strike="noStrike">
                <a:solidFill>
                  <a:srgbClr val="16222D"/>
                </a:solidFill>
                <a:latin typeface="Arial"/>
                <a:ea typeface="Arial"/>
                <a:cs typeface="Arial"/>
                <a:sym typeface="Arial"/>
              </a:rPr>
              <a:t>Saved outputs include metric tables, predictions, feature importance, SHAP values, plots, and a model bundle.</a:t>
            </a:r>
            <a:endParaRPr/>
          </a:p>
          <a:p>
            <a:pPr indent="0" lvl="0" marL="0" marR="0" rtl="0" algn="l">
              <a:lnSpc>
                <a:spcPct val="100000"/>
              </a:lnSpc>
              <a:spcBef>
                <a:spcPts val="400"/>
              </a:spcBef>
              <a:spcAft>
                <a:spcPts val="0"/>
              </a:spcAft>
              <a:buNone/>
            </a:pPr>
            <a:r>
              <a:rPr b="0" i="0" lang="en" sz="1220" u="none" cap="none" strike="noStrike">
                <a:solidFill>
                  <a:srgbClr val="16222D"/>
                </a:solidFill>
                <a:latin typeface="Arial"/>
                <a:ea typeface="Arial"/>
                <a:cs typeface="Arial"/>
                <a:sym typeface="Arial"/>
              </a:rPr>
              <a:t>The system is designed to support procurement quote benchmarking, not to replace domain review for rare high-cost assemblies.</a:t>
            </a:r>
            <a:endParaRPr/>
          </a:p>
        </p:txBody>
      </p:sp>
      <p:sp>
        <p:nvSpPr>
          <p:cNvPr id="1915" name="Google Shape;1915;g3ee2e5faae5_3_123"/>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9" name="Shape 1919"/>
        <p:cNvGrpSpPr/>
        <p:nvPr/>
      </p:nvGrpSpPr>
      <p:grpSpPr>
        <a:xfrm>
          <a:off x="0" y="0"/>
          <a:ext cx="0" cy="0"/>
          <a:chOff x="0" y="0"/>
          <a:chExt cx="0" cy="0"/>
        </a:xfrm>
      </p:grpSpPr>
      <p:sp>
        <p:nvSpPr>
          <p:cNvPr id="1920" name="Google Shape;1920;g3ee2e5faae5_3_246"/>
          <p:cNvSpPr/>
          <p:nvPr/>
        </p:nvSpPr>
        <p:spPr>
          <a:xfrm>
            <a:off x="0" y="0"/>
            <a:ext cx="12191700" cy="164700"/>
          </a:xfrm>
          <a:prstGeom prst="rect">
            <a:avLst/>
          </a:prstGeom>
          <a:solidFill>
            <a:srgbClr val="0F766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21" name="Google Shape;1921;g3ee2e5faae5_3_246"/>
          <p:cNvSpPr txBox="1"/>
          <p:nvPr/>
        </p:nvSpPr>
        <p:spPr>
          <a:xfrm>
            <a:off x="566928" y="347472"/>
            <a:ext cx="7955400" cy="502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1" i="0" lang="en" sz="2500" u="none" cap="none" strike="noStrike">
                <a:solidFill>
                  <a:srgbClr val="0C293E"/>
                </a:solidFill>
                <a:latin typeface="Arial"/>
                <a:ea typeface="Arial"/>
                <a:cs typeface="Arial"/>
                <a:sym typeface="Arial"/>
              </a:rPr>
              <a:t>Evaluation Metrics Definition</a:t>
            </a:r>
            <a:endParaRPr/>
          </a:p>
        </p:txBody>
      </p:sp>
      <p:sp>
        <p:nvSpPr>
          <p:cNvPr id="1922" name="Google Shape;1922;g3ee2e5faae5_3_246"/>
          <p:cNvSpPr txBox="1"/>
          <p:nvPr/>
        </p:nvSpPr>
        <p:spPr>
          <a:xfrm>
            <a:off x="585216" y="850392"/>
            <a:ext cx="8778300" cy="3291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250" u="none" cap="none" strike="noStrike">
                <a:solidFill>
                  <a:schemeClr val="dk1"/>
                </a:solidFill>
                <a:latin typeface="Arial"/>
                <a:ea typeface="Arial"/>
                <a:cs typeface="Arial"/>
                <a:sym typeface="Arial"/>
              </a:rPr>
              <a:t>How prediction quality is measured for tube assembly cost</a:t>
            </a:r>
            <a:endParaRPr>
              <a:solidFill>
                <a:schemeClr val="dk1"/>
              </a:solidFill>
            </a:endParaRPr>
          </a:p>
        </p:txBody>
      </p:sp>
      <p:sp>
        <p:nvSpPr>
          <p:cNvPr id="1923" name="Google Shape;1923;g3ee2e5faae5_3_246"/>
          <p:cNvSpPr/>
          <p:nvPr/>
        </p:nvSpPr>
        <p:spPr>
          <a:xfrm>
            <a:off x="9646920" y="411480"/>
            <a:ext cx="1965900" cy="3291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050" u="none" cap="none" strike="noStrike">
                <a:solidFill>
                  <a:srgbClr val="0F766E"/>
                </a:solidFill>
                <a:latin typeface="Arial"/>
                <a:ea typeface="Arial"/>
                <a:cs typeface="Arial"/>
                <a:sym typeface="Arial"/>
              </a:rPr>
              <a:t>Task 7</a:t>
            </a:r>
            <a:endParaRPr/>
          </a:p>
        </p:txBody>
      </p:sp>
      <p:sp>
        <p:nvSpPr>
          <p:cNvPr id="1924" name="Google Shape;1924;g3ee2e5faae5_3_246"/>
          <p:cNvSpPr txBox="1"/>
          <p:nvPr/>
        </p:nvSpPr>
        <p:spPr>
          <a:xfrm>
            <a:off x="566928" y="6446520"/>
            <a:ext cx="1920300" cy="2013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100000"/>
              </a:lnSpc>
              <a:spcBef>
                <a:spcPts val="0"/>
              </a:spcBef>
              <a:spcAft>
                <a:spcPts val="0"/>
              </a:spcAft>
              <a:buNone/>
            </a:pPr>
            <a:r>
              <a:rPr b="1" i="0" lang="en" sz="850" u="none" cap="none" strike="noStrike">
                <a:solidFill>
                  <a:srgbClr val="5D6C7C"/>
                </a:solidFill>
                <a:latin typeface="Arial"/>
                <a:ea typeface="Arial"/>
                <a:cs typeface="Arial"/>
                <a:sym typeface="Arial"/>
              </a:rPr>
              <a:t>Task 7</a:t>
            </a:r>
            <a:endParaRPr/>
          </a:p>
        </p:txBody>
      </p:sp>
      <p:sp>
        <p:nvSpPr>
          <p:cNvPr id="1925" name="Google Shape;1925;g3ee2e5faae5_3_246"/>
          <p:cNvSpPr/>
          <p:nvPr/>
        </p:nvSpPr>
        <p:spPr>
          <a:xfrm>
            <a:off x="777240" y="1417320"/>
            <a:ext cx="10652700" cy="7131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26" name="Google Shape;1926;g3ee2e5faae5_3_246"/>
          <p:cNvSpPr txBox="1"/>
          <p:nvPr/>
        </p:nvSpPr>
        <p:spPr>
          <a:xfrm>
            <a:off x="960120" y="1581912"/>
            <a:ext cx="914400" cy="255900"/>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l">
              <a:lnSpc>
                <a:spcPct val="100000"/>
              </a:lnSpc>
              <a:spcBef>
                <a:spcPts val="0"/>
              </a:spcBef>
              <a:spcAft>
                <a:spcPts val="0"/>
              </a:spcAft>
              <a:buNone/>
            </a:pPr>
            <a:r>
              <a:rPr b="1" i="0" lang="en" sz="1500" u="none" cap="none" strike="noStrike">
                <a:solidFill>
                  <a:srgbClr val="0F766E"/>
                </a:solidFill>
                <a:latin typeface="Arial"/>
                <a:ea typeface="Arial"/>
                <a:cs typeface="Arial"/>
                <a:sym typeface="Arial"/>
              </a:rPr>
              <a:t>MAE</a:t>
            </a:r>
            <a:endParaRPr/>
          </a:p>
        </p:txBody>
      </p:sp>
      <p:sp>
        <p:nvSpPr>
          <p:cNvPr id="1927" name="Google Shape;1927;g3ee2e5faae5_3_246"/>
          <p:cNvSpPr txBox="1"/>
          <p:nvPr/>
        </p:nvSpPr>
        <p:spPr>
          <a:xfrm>
            <a:off x="1874519" y="1554480"/>
            <a:ext cx="9098400" cy="2925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260" u="none" cap="none" strike="noStrike">
                <a:solidFill>
                  <a:srgbClr val="16222D"/>
                </a:solidFill>
                <a:latin typeface="Arial"/>
                <a:ea typeface="Arial"/>
                <a:cs typeface="Arial"/>
                <a:sym typeface="Arial"/>
              </a:rPr>
              <a:t>Average absolute dollar error. Easy for procurement stakeholders to interpret.</a:t>
            </a:r>
            <a:endParaRPr/>
          </a:p>
        </p:txBody>
      </p:sp>
      <p:sp>
        <p:nvSpPr>
          <p:cNvPr id="1928" name="Google Shape;1928;g3ee2e5faae5_3_246"/>
          <p:cNvSpPr/>
          <p:nvPr/>
        </p:nvSpPr>
        <p:spPr>
          <a:xfrm>
            <a:off x="777240" y="2258568"/>
            <a:ext cx="10652700" cy="7131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29" name="Google Shape;1929;g3ee2e5faae5_3_246"/>
          <p:cNvSpPr txBox="1"/>
          <p:nvPr/>
        </p:nvSpPr>
        <p:spPr>
          <a:xfrm>
            <a:off x="960120" y="2423160"/>
            <a:ext cx="914400" cy="255900"/>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l">
              <a:lnSpc>
                <a:spcPct val="100000"/>
              </a:lnSpc>
              <a:spcBef>
                <a:spcPts val="0"/>
              </a:spcBef>
              <a:spcAft>
                <a:spcPts val="0"/>
              </a:spcAft>
              <a:buNone/>
            </a:pPr>
            <a:r>
              <a:rPr b="1" i="0" lang="en" sz="1500" u="none" cap="none" strike="noStrike">
                <a:solidFill>
                  <a:srgbClr val="0F766E"/>
                </a:solidFill>
                <a:latin typeface="Arial"/>
                <a:ea typeface="Arial"/>
                <a:cs typeface="Arial"/>
                <a:sym typeface="Arial"/>
              </a:rPr>
              <a:t>RMSE</a:t>
            </a:r>
            <a:endParaRPr/>
          </a:p>
        </p:txBody>
      </p:sp>
      <p:sp>
        <p:nvSpPr>
          <p:cNvPr id="1930" name="Google Shape;1930;g3ee2e5faae5_3_246"/>
          <p:cNvSpPr txBox="1"/>
          <p:nvPr/>
        </p:nvSpPr>
        <p:spPr>
          <a:xfrm>
            <a:off x="1874519" y="2395728"/>
            <a:ext cx="9098400" cy="2925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260" u="none" cap="none" strike="noStrike">
                <a:solidFill>
                  <a:srgbClr val="16222D"/>
                </a:solidFill>
                <a:latin typeface="Arial"/>
                <a:ea typeface="Arial"/>
                <a:cs typeface="Arial"/>
                <a:sym typeface="Arial"/>
              </a:rPr>
              <a:t>Penalizes large errors more strongly. Primary metric because high-cost quote misses matter.</a:t>
            </a:r>
            <a:endParaRPr/>
          </a:p>
        </p:txBody>
      </p:sp>
      <p:sp>
        <p:nvSpPr>
          <p:cNvPr id="1931" name="Google Shape;1931;g3ee2e5faae5_3_246"/>
          <p:cNvSpPr/>
          <p:nvPr/>
        </p:nvSpPr>
        <p:spPr>
          <a:xfrm>
            <a:off x="777240" y="3099816"/>
            <a:ext cx="10652700" cy="7131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32" name="Google Shape;1932;g3ee2e5faae5_3_246"/>
          <p:cNvSpPr txBox="1"/>
          <p:nvPr/>
        </p:nvSpPr>
        <p:spPr>
          <a:xfrm>
            <a:off x="960120" y="3264408"/>
            <a:ext cx="914400" cy="255900"/>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l">
              <a:lnSpc>
                <a:spcPct val="100000"/>
              </a:lnSpc>
              <a:spcBef>
                <a:spcPts val="0"/>
              </a:spcBef>
              <a:spcAft>
                <a:spcPts val="0"/>
              </a:spcAft>
              <a:buNone/>
            </a:pPr>
            <a:r>
              <a:rPr b="1" i="0" lang="en" sz="1500" u="none" cap="none" strike="noStrike">
                <a:solidFill>
                  <a:srgbClr val="0F766E"/>
                </a:solidFill>
                <a:latin typeface="Arial"/>
                <a:ea typeface="Arial"/>
                <a:cs typeface="Arial"/>
                <a:sym typeface="Arial"/>
              </a:rPr>
              <a:t>R2</a:t>
            </a:r>
            <a:endParaRPr/>
          </a:p>
        </p:txBody>
      </p:sp>
      <p:sp>
        <p:nvSpPr>
          <p:cNvPr id="1933" name="Google Shape;1933;g3ee2e5faae5_3_246"/>
          <p:cNvSpPr txBox="1"/>
          <p:nvPr/>
        </p:nvSpPr>
        <p:spPr>
          <a:xfrm>
            <a:off x="1874519" y="3236976"/>
            <a:ext cx="9098400" cy="2925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260" u="none" cap="none" strike="noStrike">
                <a:solidFill>
                  <a:srgbClr val="16222D"/>
                </a:solidFill>
                <a:latin typeface="Arial"/>
                <a:ea typeface="Arial"/>
                <a:cs typeface="Arial"/>
                <a:sym typeface="Arial"/>
              </a:rPr>
              <a:t>Share of cost variance explained by the model on unseen data.</a:t>
            </a:r>
            <a:endParaRPr/>
          </a:p>
        </p:txBody>
      </p:sp>
      <p:sp>
        <p:nvSpPr>
          <p:cNvPr id="1934" name="Google Shape;1934;g3ee2e5faae5_3_246"/>
          <p:cNvSpPr/>
          <p:nvPr/>
        </p:nvSpPr>
        <p:spPr>
          <a:xfrm>
            <a:off x="777240" y="3941064"/>
            <a:ext cx="10652700" cy="7131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35" name="Google Shape;1935;g3ee2e5faae5_3_246"/>
          <p:cNvSpPr txBox="1"/>
          <p:nvPr/>
        </p:nvSpPr>
        <p:spPr>
          <a:xfrm>
            <a:off x="960120" y="4105656"/>
            <a:ext cx="914400" cy="255900"/>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l">
              <a:lnSpc>
                <a:spcPct val="100000"/>
              </a:lnSpc>
              <a:spcBef>
                <a:spcPts val="0"/>
              </a:spcBef>
              <a:spcAft>
                <a:spcPts val="0"/>
              </a:spcAft>
              <a:buNone/>
            </a:pPr>
            <a:r>
              <a:rPr b="1" i="0" lang="en" sz="1500" u="none" cap="none" strike="noStrike">
                <a:solidFill>
                  <a:srgbClr val="0F766E"/>
                </a:solidFill>
                <a:latin typeface="Arial"/>
                <a:ea typeface="Arial"/>
                <a:cs typeface="Arial"/>
                <a:sym typeface="Arial"/>
              </a:rPr>
              <a:t>RMSLE</a:t>
            </a:r>
            <a:endParaRPr/>
          </a:p>
        </p:txBody>
      </p:sp>
      <p:sp>
        <p:nvSpPr>
          <p:cNvPr id="1936" name="Google Shape;1936;g3ee2e5faae5_3_246"/>
          <p:cNvSpPr txBox="1"/>
          <p:nvPr/>
        </p:nvSpPr>
        <p:spPr>
          <a:xfrm>
            <a:off x="1874519" y="4078224"/>
            <a:ext cx="9098400" cy="2925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260" u="none" cap="none" strike="noStrike">
                <a:solidFill>
                  <a:srgbClr val="16222D"/>
                </a:solidFill>
                <a:latin typeface="Arial"/>
                <a:ea typeface="Arial"/>
                <a:cs typeface="Arial"/>
                <a:sym typeface="Arial"/>
              </a:rPr>
              <a:t>Relative-error metric for skewed positive cost data; useful when prices vary widely.</a:t>
            </a:r>
            <a:endParaRPr/>
          </a:p>
        </p:txBody>
      </p:sp>
      <p:sp>
        <p:nvSpPr>
          <p:cNvPr id="1937" name="Google Shape;1937;g3ee2e5faae5_3_246"/>
          <p:cNvSpPr/>
          <p:nvPr/>
        </p:nvSpPr>
        <p:spPr>
          <a:xfrm>
            <a:off x="777240" y="4782312"/>
            <a:ext cx="10652700" cy="7131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38" name="Google Shape;1938;g3ee2e5faae5_3_246"/>
          <p:cNvSpPr txBox="1"/>
          <p:nvPr/>
        </p:nvSpPr>
        <p:spPr>
          <a:xfrm>
            <a:off x="960120" y="4946904"/>
            <a:ext cx="914400" cy="255900"/>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l">
              <a:lnSpc>
                <a:spcPct val="100000"/>
              </a:lnSpc>
              <a:spcBef>
                <a:spcPts val="0"/>
              </a:spcBef>
              <a:spcAft>
                <a:spcPts val="0"/>
              </a:spcAft>
              <a:buNone/>
            </a:pPr>
            <a:r>
              <a:rPr b="1" i="0" lang="en" sz="1500" u="none" cap="none" strike="noStrike">
                <a:solidFill>
                  <a:srgbClr val="0F766E"/>
                </a:solidFill>
                <a:latin typeface="Arial"/>
                <a:ea typeface="Arial"/>
                <a:cs typeface="Arial"/>
                <a:sym typeface="Arial"/>
              </a:rPr>
              <a:t>MAPE</a:t>
            </a:r>
            <a:endParaRPr/>
          </a:p>
        </p:txBody>
      </p:sp>
      <p:sp>
        <p:nvSpPr>
          <p:cNvPr id="1939" name="Google Shape;1939;g3ee2e5faae5_3_246"/>
          <p:cNvSpPr txBox="1"/>
          <p:nvPr/>
        </p:nvSpPr>
        <p:spPr>
          <a:xfrm>
            <a:off x="1874519" y="4919472"/>
            <a:ext cx="9098400" cy="2925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260" u="none" cap="none" strike="noStrike">
                <a:solidFill>
                  <a:srgbClr val="16222D"/>
                </a:solidFill>
                <a:latin typeface="Arial"/>
                <a:ea typeface="Arial"/>
                <a:cs typeface="Arial"/>
                <a:sym typeface="Arial"/>
              </a:rPr>
              <a:t>Average percentage error; helpful for business communication but unstable near very small costs.</a:t>
            </a:r>
            <a:endParaRPr/>
          </a:p>
        </p:txBody>
      </p:sp>
      <p:sp>
        <p:nvSpPr>
          <p:cNvPr id="1940" name="Google Shape;1940;g3ee2e5faae5_3_246"/>
          <p:cNvSpPr txBox="1"/>
          <p:nvPr/>
        </p:nvSpPr>
        <p:spPr>
          <a:xfrm>
            <a:off x="7182545" y="6310445"/>
            <a:ext cx="2011800" cy="201300"/>
          </a:xfrm>
          <a:prstGeom prst="rect">
            <a:avLst/>
          </a:prstGeom>
          <a:noFill/>
          <a:ln>
            <a:noFill/>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0" i="0" lang="en" sz="1350" u="none" cap="none" strike="noStrike">
                <a:solidFill>
                  <a:schemeClr val="dk1"/>
                </a:solidFill>
                <a:latin typeface="Arial"/>
                <a:ea typeface="Arial"/>
                <a:cs typeface="Arial"/>
                <a:sym typeface="Arial"/>
              </a:rPr>
              <a:t>Takal Ebrahimkhel</a:t>
            </a:r>
            <a:endParaRPr sz="1900">
              <a:solidFill>
                <a:schemeClr val="dk1"/>
              </a:solidFill>
            </a:endParaRPr>
          </a:p>
        </p:txBody>
      </p:sp>
      <p:sp>
        <p:nvSpPr>
          <p:cNvPr id="1941" name="Google Shape;1941;g3ee2e5faae5_3_24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
        <p:nvSpPr>
          <p:cNvPr id="1942" name="Google Shape;1942;g3ee2e5faae5_3_246"/>
          <p:cNvSpPr txBox="1"/>
          <p:nvPr/>
        </p:nvSpPr>
        <p:spPr>
          <a:xfrm>
            <a:off x="777250" y="5664700"/>
            <a:ext cx="10235700" cy="32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rPr>
              <a:t>Mean Absolute Error (MAE), Root Mean Squared Error (RMSE), R-Squared (R2), Root Mean Squared Log Error (RMSLE), Mean Absolute Percentage Error (MAPE)</a:t>
            </a:r>
            <a:endParaRPr sz="1300">
              <a:solidFill>
                <a:schemeClr val="dk1"/>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6" name="Shape 1946"/>
        <p:cNvGrpSpPr/>
        <p:nvPr/>
      </p:nvGrpSpPr>
      <p:grpSpPr>
        <a:xfrm>
          <a:off x="0" y="0"/>
          <a:ext cx="0" cy="0"/>
          <a:chOff x="0" y="0"/>
          <a:chExt cx="0" cy="0"/>
        </a:xfrm>
      </p:grpSpPr>
      <p:sp>
        <p:nvSpPr>
          <p:cNvPr id="1947" name="Google Shape;1947;g3ee2e5faae5_3_358"/>
          <p:cNvSpPr/>
          <p:nvPr/>
        </p:nvSpPr>
        <p:spPr>
          <a:xfrm>
            <a:off x="0" y="0"/>
            <a:ext cx="12191700" cy="164700"/>
          </a:xfrm>
          <a:prstGeom prst="rect">
            <a:avLst/>
          </a:prstGeom>
          <a:solidFill>
            <a:srgbClr val="0F766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48" name="Google Shape;1948;g3ee2e5faae5_3_358"/>
          <p:cNvSpPr txBox="1"/>
          <p:nvPr/>
        </p:nvSpPr>
        <p:spPr>
          <a:xfrm>
            <a:off x="566928" y="347472"/>
            <a:ext cx="7955400" cy="502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1" i="0" lang="en" sz="2500" u="none" cap="none" strike="noStrike">
                <a:solidFill>
                  <a:srgbClr val="0C293E"/>
                </a:solidFill>
                <a:latin typeface="Arial"/>
                <a:ea typeface="Arial"/>
                <a:cs typeface="Arial"/>
                <a:sym typeface="Arial"/>
              </a:rPr>
              <a:t>Experimental Plan</a:t>
            </a:r>
            <a:endParaRPr/>
          </a:p>
        </p:txBody>
      </p:sp>
      <p:sp>
        <p:nvSpPr>
          <p:cNvPr id="1949" name="Google Shape;1949;g3ee2e5faae5_3_358"/>
          <p:cNvSpPr txBox="1"/>
          <p:nvPr/>
        </p:nvSpPr>
        <p:spPr>
          <a:xfrm>
            <a:off x="585216" y="850392"/>
            <a:ext cx="8778300" cy="3291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250" u="none" cap="none" strike="noStrike">
                <a:solidFill>
                  <a:srgbClr val="5D6C7C"/>
                </a:solidFill>
                <a:latin typeface="Arial"/>
                <a:ea typeface="Arial"/>
                <a:cs typeface="Arial"/>
                <a:sym typeface="Arial"/>
              </a:rPr>
              <a:t>Reproducible comparison, tuning, feature selection, and final testing</a:t>
            </a:r>
            <a:endParaRPr/>
          </a:p>
        </p:txBody>
      </p:sp>
      <p:sp>
        <p:nvSpPr>
          <p:cNvPr id="1950" name="Google Shape;1950;g3ee2e5faae5_3_358"/>
          <p:cNvSpPr/>
          <p:nvPr/>
        </p:nvSpPr>
        <p:spPr>
          <a:xfrm>
            <a:off x="9646920" y="411480"/>
            <a:ext cx="1965900" cy="3291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050" u="none" cap="none" strike="noStrike">
                <a:solidFill>
                  <a:srgbClr val="0F766E"/>
                </a:solidFill>
                <a:latin typeface="Arial"/>
                <a:ea typeface="Arial"/>
                <a:cs typeface="Arial"/>
                <a:sym typeface="Arial"/>
              </a:rPr>
              <a:t>Task 7</a:t>
            </a:r>
            <a:endParaRPr/>
          </a:p>
        </p:txBody>
      </p:sp>
      <p:sp>
        <p:nvSpPr>
          <p:cNvPr id="1951" name="Google Shape;1951;g3ee2e5faae5_3_358"/>
          <p:cNvSpPr txBox="1"/>
          <p:nvPr/>
        </p:nvSpPr>
        <p:spPr>
          <a:xfrm>
            <a:off x="566928" y="6446520"/>
            <a:ext cx="1920300" cy="2013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100000"/>
              </a:lnSpc>
              <a:spcBef>
                <a:spcPts val="0"/>
              </a:spcBef>
              <a:spcAft>
                <a:spcPts val="0"/>
              </a:spcAft>
              <a:buNone/>
            </a:pPr>
            <a:r>
              <a:rPr b="1" i="0" lang="en" sz="850" u="none" cap="none" strike="noStrike">
                <a:solidFill>
                  <a:srgbClr val="5D6C7C"/>
                </a:solidFill>
                <a:latin typeface="Arial"/>
                <a:ea typeface="Arial"/>
                <a:cs typeface="Arial"/>
                <a:sym typeface="Arial"/>
              </a:rPr>
              <a:t>Task 7</a:t>
            </a:r>
            <a:endParaRPr/>
          </a:p>
        </p:txBody>
      </p:sp>
      <p:pic>
        <p:nvPicPr>
          <p:cNvPr descr="split_strategy.png" id="1952" name="Google Shape;1952;g3ee2e5faae5_3_358"/>
          <p:cNvPicPr preferRelativeResize="0"/>
          <p:nvPr/>
        </p:nvPicPr>
        <p:blipFill rotWithShape="1">
          <a:blip r:embed="rId3">
            <a:alphaModFix/>
          </a:blip>
          <a:srcRect b="0" l="0" r="0" t="0"/>
          <a:stretch/>
        </p:blipFill>
        <p:spPr>
          <a:xfrm>
            <a:off x="129940" y="1905666"/>
            <a:ext cx="3893422" cy="3229549"/>
          </a:xfrm>
          <a:prstGeom prst="rect">
            <a:avLst/>
          </a:prstGeom>
          <a:noFill/>
          <a:ln>
            <a:noFill/>
          </a:ln>
        </p:spPr>
      </p:pic>
      <p:sp>
        <p:nvSpPr>
          <p:cNvPr id="1953" name="Google Shape;1953;g3ee2e5faae5_3_358"/>
          <p:cNvSpPr/>
          <p:nvPr/>
        </p:nvSpPr>
        <p:spPr>
          <a:xfrm>
            <a:off x="4160520" y="1417320"/>
            <a:ext cx="3429000" cy="42063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54" name="Google Shape;1954;g3ee2e5faae5_3_358"/>
          <p:cNvSpPr txBox="1"/>
          <p:nvPr/>
        </p:nvSpPr>
        <p:spPr>
          <a:xfrm>
            <a:off x="4325112" y="1527048"/>
            <a:ext cx="3099900" cy="2559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100000"/>
              </a:lnSpc>
              <a:spcBef>
                <a:spcPts val="0"/>
              </a:spcBef>
              <a:spcAft>
                <a:spcPts val="0"/>
              </a:spcAft>
              <a:buNone/>
            </a:pPr>
            <a:r>
              <a:rPr b="1" i="0" lang="en" sz="1150" u="none" cap="none" strike="noStrike">
                <a:solidFill>
                  <a:srgbClr val="0C293E"/>
                </a:solidFill>
                <a:latin typeface="Arial"/>
                <a:ea typeface="Arial"/>
                <a:cs typeface="Arial"/>
                <a:sym typeface="Arial"/>
              </a:rPr>
              <a:t>Modeling sequence</a:t>
            </a:r>
            <a:endParaRPr/>
          </a:p>
        </p:txBody>
      </p:sp>
      <p:sp>
        <p:nvSpPr>
          <p:cNvPr id="1955" name="Google Shape;1955;g3ee2e5faae5_3_358"/>
          <p:cNvSpPr txBox="1"/>
          <p:nvPr/>
        </p:nvSpPr>
        <p:spPr>
          <a:xfrm>
            <a:off x="4434840" y="1874519"/>
            <a:ext cx="2926200" cy="2971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220" u="none" cap="none" strike="noStrike">
                <a:solidFill>
                  <a:srgbClr val="16222D"/>
                </a:solidFill>
                <a:latin typeface="Arial"/>
                <a:ea typeface="Arial"/>
                <a:cs typeface="Arial"/>
                <a:sym typeface="Arial"/>
              </a:rPr>
              <a:t>1. Train median baseline</a:t>
            </a:r>
            <a:endParaRPr/>
          </a:p>
          <a:p>
            <a:pPr indent="0" lvl="0" marL="0" marR="0" rtl="0" algn="l">
              <a:lnSpc>
                <a:spcPct val="100000"/>
              </a:lnSpc>
              <a:spcBef>
                <a:spcPts val="400"/>
              </a:spcBef>
              <a:spcAft>
                <a:spcPts val="0"/>
              </a:spcAft>
              <a:buNone/>
            </a:pPr>
            <a:r>
              <a:rPr b="0" i="0" lang="en" sz="1220" u="none" cap="none" strike="noStrike">
                <a:solidFill>
                  <a:srgbClr val="16222D"/>
                </a:solidFill>
                <a:latin typeface="Arial"/>
                <a:ea typeface="Arial"/>
                <a:cs typeface="Arial"/>
                <a:sym typeface="Arial"/>
              </a:rPr>
              <a:t>2. Train GBR and XGBoost baselines</a:t>
            </a:r>
            <a:endParaRPr/>
          </a:p>
          <a:p>
            <a:pPr indent="0" lvl="0" marL="0" marR="0" rtl="0" algn="l">
              <a:lnSpc>
                <a:spcPct val="100000"/>
              </a:lnSpc>
              <a:spcBef>
                <a:spcPts val="400"/>
              </a:spcBef>
              <a:spcAft>
                <a:spcPts val="0"/>
              </a:spcAft>
              <a:buNone/>
            </a:pPr>
            <a:r>
              <a:rPr b="0" i="0" lang="en" sz="1220" u="none" cap="none" strike="noStrike">
                <a:solidFill>
                  <a:srgbClr val="16222D"/>
                </a:solidFill>
                <a:latin typeface="Arial"/>
                <a:ea typeface="Arial"/>
                <a:cs typeface="Arial"/>
                <a:sym typeface="Arial"/>
              </a:rPr>
              <a:t>3. Tune GBR and XGBoost with RandomizedSearchCV</a:t>
            </a:r>
            <a:endParaRPr/>
          </a:p>
          <a:p>
            <a:pPr indent="0" lvl="0" marL="0" marR="0" rtl="0" algn="l">
              <a:lnSpc>
                <a:spcPct val="100000"/>
              </a:lnSpc>
              <a:spcBef>
                <a:spcPts val="400"/>
              </a:spcBef>
              <a:spcAft>
                <a:spcPts val="0"/>
              </a:spcAft>
              <a:buNone/>
            </a:pPr>
            <a:r>
              <a:rPr b="0" i="0" lang="en" sz="1220" u="none" cap="none" strike="noStrike">
                <a:solidFill>
                  <a:srgbClr val="16222D"/>
                </a:solidFill>
                <a:latin typeface="Arial"/>
                <a:ea typeface="Arial"/>
                <a:cs typeface="Arial"/>
                <a:sym typeface="Arial"/>
              </a:rPr>
              <a:t>4. Select final model on validation RMSE</a:t>
            </a:r>
            <a:endParaRPr/>
          </a:p>
          <a:p>
            <a:pPr indent="0" lvl="0" marL="0" marR="0" rtl="0" algn="l">
              <a:lnSpc>
                <a:spcPct val="100000"/>
              </a:lnSpc>
              <a:spcBef>
                <a:spcPts val="400"/>
              </a:spcBef>
              <a:spcAft>
                <a:spcPts val="0"/>
              </a:spcAft>
              <a:buNone/>
            </a:pPr>
            <a:r>
              <a:rPr b="0" i="0" lang="en" sz="1220" u="none" cap="none" strike="noStrike">
                <a:solidFill>
                  <a:srgbClr val="16222D"/>
                </a:solidFill>
                <a:latin typeface="Arial"/>
                <a:ea typeface="Arial"/>
                <a:cs typeface="Arial"/>
                <a:sym typeface="Arial"/>
              </a:rPr>
              <a:t>5. Evaluate once on untouched test set</a:t>
            </a:r>
            <a:endParaRPr/>
          </a:p>
        </p:txBody>
      </p:sp>
      <p:sp>
        <p:nvSpPr>
          <p:cNvPr id="1956" name="Google Shape;1956;g3ee2e5faae5_3_358"/>
          <p:cNvSpPr/>
          <p:nvPr/>
        </p:nvSpPr>
        <p:spPr>
          <a:xfrm>
            <a:off x="7909560" y="1417320"/>
            <a:ext cx="3474600" cy="42063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57" name="Google Shape;1957;g3ee2e5faae5_3_358"/>
          <p:cNvSpPr txBox="1"/>
          <p:nvPr/>
        </p:nvSpPr>
        <p:spPr>
          <a:xfrm>
            <a:off x="8074152" y="1527048"/>
            <a:ext cx="3145500" cy="2559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100000"/>
              </a:lnSpc>
              <a:spcBef>
                <a:spcPts val="0"/>
              </a:spcBef>
              <a:spcAft>
                <a:spcPts val="0"/>
              </a:spcAft>
              <a:buNone/>
            </a:pPr>
            <a:r>
              <a:rPr b="1" i="0" lang="en" sz="1150" u="none" cap="none" strike="noStrike">
                <a:solidFill>
                  <a:srgbClr val="0C293E"/>
                </a:solidFill>
                <a:latin typeface="Arial"/>
                <a:ea typeface="Arial"/>
                <a:cs typeface="Arial"/>
                <a:sym typeface="Arial"/>
              </a:rPr>
              <a:t>Enhancement checks</a:t>
            </a:r>
            <a:endParaRPr/>
          </a:p>
        </p:txBody>
      </p:sp>
      <p:sp>
        <p:nvSpPr>
          <p:cNvPr id="1958" name="Google Shape;1958;g3ee2e5faae5_3_358"/>
          <p:cNvSpPr txBox="1"/>
          <p:nvPr/>
        </p:nvSpPr>
        <p:spPr>
          <a:xfrm>
            <a:off x="8183879" y="1874519"/>
            <a:ext cx="2880300" cy="27432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220" u="none" cap="none" strike="noStrike">
                <a:solidFill>
                  <a:srgbClr val="16222D"/>
                </a:solidFill>
                <a:latin typeface="Arial"/>
                <a:ea typeface="Arial"/>
                <a:cs typeface="Arial"/>
                <a:sym typeface="Arial"/>
              </a:rPr>
              <a:t>Feature importance ranking</a:t>
            </a:r>
            <a:endParaRPr/>
          </a:p>
          <a:p>
            <a:pPr indent="0" lvl="0" marL="0" marR="0" rtl="0" algn="l">
              <a:lnSpc>
                <a:spcPct val="100000"/>
              </a:lnSpc>
              <a:spcBef>
                <a:spcPts val="400"/>
              </a:spcBef>
              <a:spcAft>
                <a:spcPts val="0"/>
              </a:spcAft>
              <a:buNone/>
            </a:pPr>
            <a:r>
              <a:rPr b="0" i="0" lang="en" sz="1220" u="none" cap="none" strike="noStrike">
                <a:solidFill>
                  <a:srgbClr val="16222D"/>
                </a:solidFill>
                <a:latin typeface="Arial"/>
                <a:ea typeface="Arial"/>
                <a:cs typeface="Arial"/>
                <a:sym typeface="Arial"/>
              </a:rPr>
              <a:t>Top-30 feature-selection experiment</a:t>
            </a:r>
            <a:endParaRPr/>
          </a:p>
          <a:p>
            <a:pPr indent="0" lvl="0" marL="0" marR="0" rtl="0" algn="l">
              <a:lnSpc>
                <a:spcPct val="100000"/>
              </a:lnSpc>
              <a:spcBef>
                <a:spcPts val="400"/>
              </a:spcBef>
              <a:spcAft>
                <a:spcPts val="0"/>
              </a:spcAft>
              <a:buNone/>
            </a:pPr>
            <a:r>
              <a:rPr b="0" i="0" lang="en" sz="1220" u="none" cap="none" strike="noStrike">
                <a:solidFill>
                  <a:srgbClr val="16222D"/>
                </a:solidFill>
                <a:latin typeface="Arial"/>
                <a:ea typeface="Arial"/>
                <a:cs typeface="Arial"/>
                <a:sym typeface="Arial"/>
              </a:rPr>
              <a:t>Residual and cost-band error analysis</a:t>
            </a:r>
            <a:endParaRPr/>
          </a:p>
          <a:p>
            <a:pPr indent="0" lvl="0" marL="0" marR="0" rtl="0" algn="l">
              <a:lnSpc>
                <a:spcPct val="100000"/>
              </a:lnSpc>
              <a:spcBef>
                <a:spcPts val="400"/>
              </a:spcBef>
              <a:spcAft>
                <a:spcPts val="0"/>
              </a:spcAft>
              <a:buNone/>
            </a:pPr>
            <a:r>
              <a:rPr b="0" i="0" lang="en" sz="1220" u="none" cap="none" strike="noStrike">
                <a:solidFill>
                  <a:srgbClr val="16222D"/>
                </a:solidFill>
                <a:latin typeface="Arial"/>
                <a:ea typeface="Arial"/>
                <a:cs typeface="Arial"/>
                <a:sym typeface="Arial"/>
              </a:rPr>
              <a:t>SHAP global and directional explanation</a:t>
            </a:r>
            <a:endParaRPr/>
          </a:p>
          <a:p>
            <a:pPr indent="0" lvl="0" marL="0" marR="0" rtl="0" algn="l">
              <a:lnSpc>
                <a:spcPct val="100000"/>
              </a:lnSpc>
              <a:spcBef>
                <a:spcPts val="400"/>
              </a:spcBef>
              <a:spcAft>
                <a:spcPts val="0"/>
              </a:spcAft>
              <a:buNone/>
            </a:pPr>
            <a:r>
              <a:rPr b="0" i="0" lang="en" sz="1220" u="none" cap="none" strike="noStrike">
                <a:solidFill>
                  <a:srgbClr val="16222D"/>
                </a:solidFill>
                <a:latin typeface="Arial"/>
                <a:ea typeface="Arial"/>
                <a:cs typeface="Arial"/>
                <a:sym typeface="Arial"/>
              </a:rPr>
              <a:t>Business-impact translation</a:t>
            </a:r>
            <a:endParaRPr/>
          </a:p>
        </p:txBody>
      </p:sp>
      <p:sp>
        <p:nvSpPr>
          <p:cNvPr id="1959" name="Google Shape;1959;g3ee2e5faae5_3_358"/>
          <p:cNvSpPr txBox="1"/>
          <p:nvPr/>
        </p:nvSpPr>
        <p:spPr>
          <a:xfrm>
            <a:off x="7182545" y="6310445"/>
            <a:ext cx="2011800" cy="201300"/>
          </a:xfrm>
          <a:prstGeom prst="rect">
            <a:avLst/>
          </a:prstGeom>
          <a:noFill/>
          <a:ln>
            <a:noFill/>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0" i="0" lang="en" sz="1350" u="none" cap="none" strike="noStrike">
                <a:solidFill>
                  <a:schemeClr val="dk1"/>
                </a:solidFill>
                <a:latin typeface="Arial"/>
                <a:ea typeface="Arial"/>
                <a:cs typeface="Arial"/>
                <a:sym typeface="Arial"/>
              </a:rPr>
              <a:t>Takal Ebrahimkhel</a:t>
            </a:r>
            <a:endParaRPr sz="1900">
              <a:solidFill>
                <a:schemeClr val="dk1"/>
              </a:solidFill>
            </a:endParaRPr>
          </a:p>
        </p:txBody>
      </p:sp>
      <p:sp>
        <p:nvSpPr>
          <p:cNvPr id="1960" name="Google Shape;1960;g3ee2e5faae5_3_35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4" name="Shape 1964"/>
        <p:cNvGrpSpPr/>
        <p:nvPr/>
      </p:nvGrpSpPr>
      <p:grpSpPr>
        <a:xfrm>
          <a:off x="0" y="0"/>
          <a:ext cx="0" cy="0"/>
          <a:chOff x="0" y="0"/>
          <a:chExt cx="0" cy="0"/>
        </a:xfrm>
      </p:grpSpPr>
      <p:sp>
        <p:nvSpPr>
          <p:cNvPr id="1965" name="Google Shape;1965;g3ee2e5faae5_3_462"/>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Play"/>
              <a:buNone/>
            </a:pPr>
            <a:r>
              <a:t/>
            </a:r>
            <a:endParaRPr/>
          </a:p>
        </p:txBody>
      </p:sp>
      <p:sp>
        <p:nvSpPr>
          <p:cNvPr id="1966" name="Google Shape;1966;g3ee2e5faae5_3_462"/>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1000"/>
              </a:spcBef>
              <a:spcAft>
                <a:spcPts val="0"/>
              </a:spcAft>
              <a:buClr>
                <a:srgbClr val="757575"/>
              </a:buClr>
              <a:buSzPts val="2400"/>
              <a:buNone/>
            </a:pPr>
            <a:r>
              <a:t/>
            </a:r>
            <a:endParaRPr/>
          </a:p>
        </p:txBody>
      </p:sp>
      <p:sp>
        <p:nvSpPr>
          <p:cNvPr id="1967" name="Google Shape;1967;g3ee2e5faae5_3_462"/>
          <p:cNvSpPr/>
          <p:nvPr/>
        </p:nvSpPr>
        <p:spPr>
          <a:xfrm>
            <a:off x="0" y="0"/>
            <a:ext cx="12191700" cy="164700"/>
          </a:xfrm>
          <a:prstGeom prst="rect">
            <a:avLst/>
          </a:prstGeom>
          <a:solidFill>
            <a:srgbClr val="0F766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68" name="Google Shape;1968;g3ee2e5faae5_3_462"/>
          <p:cNvSpPr txBox="1"/>
          <p:nvPr/>
        </p:nvSpPr>
        <p:spPr>
          <a:xfrm>
            <a:off x="566928" y="347472"/>
            <a:ext cx="7955400" cy="502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1" i="0" lang="en" sz="2500" u="none" cap="none" strike="noStrike">
                <a:solidFill>
                  <a:srgbClr val="0C293E"/>
                </a:solidFill>
                <a:latin typeface="Arial"/>
                <a:ea typeface="Arial"/>
                <a:cs typeface="Arial"/>
                <a:sym typeface="Arial"/>
              </a:rPr>
              <a:t>Implementation Setup</a:t>
            </a:r>
            <a:endParaRPr/>
          </a:p>
        </p:txBody>
      </p:sp>
      <p:sp>
        <p:nvSpPr>
          <p:cNvPr id="1969" name="Google Shape;1969;g3ee2e5faae5_3_462"/>
          <p:cNvSpPr txBox="1"/>
          <p:nvPr/>
        </p:nvSpPr>
        <p:spPr>
          <a:xfrm>
            <a:off x="585216" y="850392"/>
            <a:ext cx="8778300" cy="3291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250" u="none" cap="none" strike="noStrike">
                <a:solidFill>
                  <a:srgbClr val="5D6C7C"/>
                </a:solidFill>
                <a:latin typeface="Arial"/>
                <a:ea typeface="Arial"/>
                <a:cs typeface="Arial"/>
                <a:sym typeface="Arial"/>
              </a:rPr>
              <a:t>Final_DF.csv import, preprocessing, and required 70/15/15 validation setup</a:t>
            </a:r>
            <a:endParaRPr/>
          </a:p>
        </p:txBody>
      </p:sp>
      <p:sp>
        <p:nvSpPr>
          <p:cNvPr id="1970" name="Google Shape;1970;g3ee2e5faae5_3_462"/>
          <p:cNvSpPr/>
          <p:nvPr/>
        </p:nvSpPr>
        <p:spPr>
          <a:xfrm>
            <a:off x="9646920" y="411480"/>
            <a:ext cx="1965900" cy="3291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050" u="none" cap="none" strike="noStrike">
                <a:solidFill>
                  <a:srgbClr val="0F766E"/>
                </a:solidFill>
                <a:latin typeface="Arial"/>
                <a:ea typeface="Arial"/>
                <a:cs typeface="Arial"/>
                <a:sym typeface="Arial"/>
              </a:rPr>
              <a:t>Tasks 8-9</a:t>
            </a:r>
            <a:endParaRPr/>
          </a:p>
        </p:txBody>
      </p:sp>
      <p:sp>
        <p:nvSpPr>
          <p:cNvPr id="1971" name="Google Shape;1971;g3ee2e5faae5_3_462"/>
          <p:cNvSpPr txBox="1"/>
          <p:nvPr/>
        </p:nvSpPr>
        <p:spPr>
          <a:xfrm>
            <a:off x="566928" y="6446520"/>
            <a:ext cx="1920300" cy="2013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100000"/>
              </a:lnSpc>
              <a:spcBef>
                <a:spcPts val="0"/>
              </a:spcBef>
              <a:spcAft>
                <a:spcPts val="0"/>
              </a:spcAft>
              <a:buNone/>
            </a:pPr>
            <a:r>
              <a:rPr b="1" i="0" lang="en" sz="850" u="none" cap="none" strike="noStrike">
                <a:solidFill>
                  <a:srgbClr val="5D6C7C"/>
                </a:solidFill>
                <a:latin typeface="Arial"/>
                <a:ea typeface="Arial"/>
                <a:cs typeface="Arial"/>
                <a:sym typeface="Arial"/>
              </a:rPr>
              <a:t>Tasks 8-9</a:t>
            </a:r>
            <a:endParaRPr/>
          </a:p>
        </p:txBody>
      </p:sp>
      <p:pic>
        <p:nvPicPr>
          <p:cNvPr descr="01_split_preprocess.png" id="1972" name="Google Shape;1972;g3ee2e5faae5_3_462"/>
          <p:cNvPicPr preferRelativeResize="0"/>
          <p:nvPr/>
        </p:nvPicPr>
        <p:blipFill rotWithShape="1">
          <a:blip r:embed="rId3">
            <a:alphaModFix/>
          </a:blip>
          <a:srcRect b="0" l="0" r="0" t="0"/>
          <a:stretch/>
        </p:blipFill>
        <p:spPr>
          <a:xfrm>
            <a:off x="621792" y="1417320"/>
            <a:ext cx="5577840" cy="3611880"/>
          </a:xfrm>
          <a:prstGeom prst="rect">
            <a:avLst/>
          </a:prstGeom>
          <a:noFill/>
          <a:ln>
            <a:noFill/>
          </a:ln>
        </p:spPr>
      </p:pic>
      <p:sp>
        <p:nvSpPr>
          <p:cNvPr id="1973" name="Google Shape;1973;g3ee2e5faae5_3_462"/>
          <p:cNvSpPr/>
          <p:nvPr/>
        </p:nvSpPr>
        <p:spPr>
          <a:xfrm>
            <a:off x="6446520" y="1417320"/>
            <a:ext cx="4892100" cy="36120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74" name="Google Shape;1974;g3ee2e5faae5_3_462"/>
          <p:cNvSpPr txBox="1"/>
          <p:nvPr/>
        </p:nvSpPr>
        <p:spPr>
          <a:xfrm>
            <a:off x="6611112" y="1527048"/>
            <a:ext cx="4563000" cy="2559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1" i="0" lang="en" sz="1450" u="none" cap="none" strike="noStrike">
                <a:solidFill>
                  <a:srgbClr val="0C293E"/>
                </a:solidFill>
                <a:latin typeface="Arial"/>
                <a:ea typeface="Arial"/>
                <a:cs typeface="Arial"/>
                <a:sym typeface="Arial"/>
              </a:rPr>
              <a:t>Why this matters</a:t>
            </a:r>
            <a:endParaRPr sz="1700"/>
          </a:p>
        </p:txBody>
      </p:sp>
      <p:sp>
        <p:nvSpPr>
          <p:cNvPr id="1975" name="Google Shape;1975;g3ee2e5faae5_3_462"/>
          <p:cNvSpPr txBox="1"/>
          <p:nvPr/>
        </p:nvSpPr>
        <p:spPr>
          <a:xfrm>
            <a:off x="6720840" y="1874519"/>
            <a:ext cx="4343400" cy="26517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510" u="none" cap="none" strike="noStrike">
                <a:solidFill>
                  <a:srgbClr val="16222D"/>
                </a:solidFill>
                <a:latin typeface="Arial"/>
                <a:ea typeface="Arial"/>
                <a:cs typeface="Arial"/>
                <a:sym typeface="Arial"/>
              </a:rPr>
              <a:t>Rows used: 30,213</a:t>
            </a:r>
            <a:endParaRPr sz="1700"/>
          </a:p>
          <a:p>
            <a:pPr indent="0" lvl="0" marL="0" marR="0" rtl="0" algn="l">
              <a:lnSpc>
                <a:spcPct val="100000"/>
              </a:lnSpc>
              <a:spcBef>
                <a:spcPts val="400"/>
              </a:spcBef>
              <a:spcAft>
                <a:spcPts val="0"/>
              </a:spcAft>
              <a:buNone/>
            </a:pPr>
            <a:r>
              <a:rPr b="0" i="0" lang="en" sz="1510" u="none" cap="none" strike="noStrike">
                <a:solidFill>
                  <a:srgbClr val="16222D"/>
                </a:solidFill>
                <a:latin typeface="Arial"/>
                <a:ea typeface="Arial"/>
                <a:cs typeface="Arial"/>
                <a:sym typeface="Arial"/>
              </a:rPr>
              <a:t>Train / validation / test rows: 21,149 / 4,532 / 4,532</a:t>
            </a:r>
            <a:endParaRPr sz="1700"/>
          </a:p>
          <a:p>
            <a:pPr indent="0" lvl="0" marL="0" marR="0" rtl="0" algn="l">
              <a:lnSpc>
                <a:spcPct val="100000"/>
              </a:lnSpc>
              <a:spcBef>
                <a:spcPts val="400"/>
              </a:spcBef>
              <a:spcAft>
                <a:spcPts val="0"/>
              </a:spcAft>
              <a:buNone/>
            </a:pPr>
            <a:r>
              <a:rPr b="0" i="0" lang="en" sz="1510" u="none" cap="none" strike="noStrike">
                <a:solidFill>
                  <a:srgbClr val="16222D"/>
                </a:solidFill>
                <a:latin typeface="Arial"/>
                <a:ea typeface="Arial"/>
                <a:cs typeface="Arial"/>
                <a:sym typeface="Arial"/>
              </a:rPr>
              <a:t>The test set is not used for tuning.</a:t>
            </a:r>
            <a:endParaRPr sz="1700"/>
          </a:p>
          <a:p>
            <a:pPr indent="0" lvl="0" marL="0" marR="0" rtl="0" algn="l">
              <a:lnSpc>
                <a:spcPct val="100000"/>
              </a:lnSpc>
              <a:spcBef>
                <a:spcPts val="400"/>
              </a:spcBef>
              <a:spcAft>
                <a:spcPts val="0"/>
              </a:spcAft>
              <a:buNone/>
            </a:pPr>
            <a:r>
              <a:rPr b="0" i="0" lang="en" sz="1510" u="none" cap="none" strike="noStrike">
                <a:solidFill>
                  <a:srgbClr val="16222D"/>
                </a:solidFill>
                <a:latin typeface="Arial"/>
                <a:ea typeface="Arial"/>
                <a:cs typeface="Arial"/>
                <a:sym typeface="Arial"/>
              </a:rPr>
              <a:t>Categorical variables are one-hot encoded; numeric variables are median-imputed.</a:t>
            </a:r>
            <a:endParaRPr sz="1700"/>
          </a:p>
          <a:p>
            <a:pPr indent="0" lvl="0" marL="0" marR="0" rtl="0" algn="l">
              <a:lnSpc>
                <a:spcPct val="100000"/>
              </a:lnSpc>
              <a:spcBef>
                <a:spcPts val="400"/>
              </a:spcBef>
              <a:spcAft>
                <a:spcPts val="0"/>
              </a:spcAft>
              <a:buNone/>
            </a:pPr>
            <a:r>
              <a:rPr b="0" i="0" lang="en" sz="1510" u="none" cap="none" strike="noStrike">
                <a:solidFill>
                  <a:srgbClr val="16222D"/>
                </a:solidFill>
                <a:latin typeface="Arial"/>
                <a:ea typeface="Arial"/>
                <a:cs typeface="Arial"/>
                <a:sym typeface="Arial"/>
              </a:rPr>
              <a:t>Log-cost modeling improves stability for skewed positive prices.</a:t>
            </a:r>
            <a:endParaRPr sz="1700"/>
          </a:p>
        </p:txBody>
      </p:sp>
      <p:sp>
        <p:nvSpPr>
          <p:cNvPr id="1976" name="Google Shape;1976;g3ee2e5faae5_3_462"/>
          <p:cNvSpPr txBox="1"/>
          <p:nvPr/>
        </p:nvSpPr>
        <p:spPr>
          <a:xfrm>
            <a:off x="7182545" y="6310445"/>
            <a:ext cx="2011800" cy="201300"/>
          </a:xfrm>
          <a:prstGeom prst="rect">
            <a:avLst/>
          </a:prstGeom>
          <a:noFill/>
          <a:ln>
            <a:noFill/>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0" i="0" lang="en" sz="1350" u="none" cap="none" strike="noStrike">
                <a:solidFill>
                  <a:schemeClr val="dk1"/>
                </a:solidFill>
                <a:latin typeface="Arial"/>
                <a:ea typeface="Arial"/>
                <a:cs typeface="Arial"/>
                <a:sym typeface="Arial"/>
              </a:rPr>
              <a:t>Takal Ebrahimkhel</a:t>
            </a:r>
            <a:endParaRPr sz="1900">
              <a:solidFill>
                <a:schemeClr val="dk1"/>
              </a:solidFill>
            </a:endParaRPr>
          </a:p>
        </p:txBody>
      </p:sp>
      <p:sp>
        <p:nvSpPr>
          <p:cNvPr id="1977" name="Google Shape;1977;g3ee2e5faae5_3_46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1" name="Shape 1981"/>
        <p:cNvGrpSpPr/>
        <p:nvPr/>
      </p:nvGrpSpPr>
      <p:grpSpPr>
        <a:xfrm>
          <a:off x="0" y="0"/>
          <a:ext cx="0" cy="0"/>
          <a:chOff x="0" y="0"/>
          <a:chExt cx="0" cy="0"/>
        </a:xfrm>
      </p:grpSpPr>
      <p:sp>
        <p:nvSpPr>
          <p:cNvPr id="1982" name="Google Shape;1982;g3ee2e5faae5_3_565"/>
          <p:cNvSpPr/>
          <p:nvPr/>
        </p:nvSpPr>
        <p:spPr>
          <a:xfrm>
            <a:off x="0" y="0"/>
            <a:ext cx="12191700" cy="164700"/>
          </a:xfrm>
          <a:prstGeom prst="rect">
            <a:avLst/>
          </a:prstGeom>
          <a:solidFill>
            <a:srgbClr val="0F766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83" name="Google Shape;1983;g3ee2e5faae5_3_565"/>
          <p:cNvSpPr txBox="1"/>
          <p:nvPr/>
        </p:nvSpPr>
        <p:spPr>
          <a:xfrm>
            <a:off x="566928" y="347472"/>
            <a:ext cx="7955400" cy="502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1" i="0" lang="en" sz="2500" u="none" cap="none" strike="noStrike">
                <a:solidFill>
                  <a:srgbClr val="0C293E"/>
                </a:solidFill>
                <a:latin typeface="Arial"/>
                <a:ea typeface="Arial"/>
                <a:cs typeface="Arial"/>
                <a:sym typeface="Arial"/>
              </a:rPr>
              <a:t>Implemented Models and Validation Results</a:t>
            </a:r>
            <a:endParaRPr/>
          </a:p>
        </p:txBody>
      </p:sp>
      <p:sp>
        <p:nvSpPr>
          <p:cNvPr id="1984" name="Google Shape;1984;g3ee2e5faae5_3_565"/>
          <p:cNvSpPr txBox="1"/>
          <p:nvPr/>
        </p:nvSpPr>
        <p:spPr>
          <a:xfrm>
            <a:off x="585216" y="850392"/>
            <a:ext cx="8778300" cy="3291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250" u="none" cap="none" strike="noStrike">
                <a:solidFill>
                  <a:srgbClr val="5D6C7C"/>
                </a:solidFill>
                <a:latin typeface="Arial"/>
                <a:ea typeface="Arial"/>
                <a:cs typeface="Arial"/>
                <a:sym typeface="Arial"/>
              </a:rPr>
              <a:t>Baseline, secondary model, and primary XGBoost comparison</a:t>
            </a:r>
            <a:endParaRPr/>
          </a:p>
        </p:txBody>
      </p:sp>
      <p:sp>
        <p:nvSpPr>
          <p:cNvPr id="1985" name="Google Shape;1985;g3ee2e5faae5_3_565"/>
          <p:cNvSpPr txBox="1"/>
          <p:nvPr/>
        </p:nvSpPr>
        <p:spPr>
          <a:xfrm>
            <a:off x="566928" y="6446520"/>
            <a:ext cx="1920300" cy="2013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100000"/>
              </a:lnSpc>
              <a:spcBef>
                <a:spcPts val="0"/>
              </a:spcBef>
              <a:spcAft>
                <a:spcPts val="0"/>
              </a:spcAft>
              <a:buNone/>
            </a:pPr>
            <a:r>
              <a:rPr b="1" i="0" lang="en" sz="850" u="none" cap="none" strike="noStrike">
                <a:solidFill>
                  <a:srgbClr val="5D6C7C"/>
                </a:solidFill>
                <a:latin typeface="Arial"/>
                <a:ea typeface="Arial"/>
                <a:cs typeface="Arial"/>
                <a:sym typeface="Arial"/>
              </a:rPr>
              <a:t>Tasks 8-9</a:t>
            </a:r>
            <a:endParaRPr/>
          </a:p>
        </p:txBody>
      </p:sp>
      <p:pic>
        <p:nvPicPr>
          <p:cNvPr descr="validation_metrics_table.png" id="1986" name="Google Shape;1986;g3ee2e5faae5_3_565"/>
          <p:cNvPicPr preferRelativeResize="0"/>
          <p:nvPr/>
        </p:nvPicPr>
        <p:blipFill rotWithShape="1">
          <a:blip r:embed="rId3">
            <a:alphaModFix/>
          </a:blip>
          <a:srcRect b="0" l="0" r="0" t="0"/>
          <a:stretch/>
        </p:blipFill>
        <p:spPr>
          <a:xfrm>
            <a:off x="97375" y="1244825"/>
            <a:ext cx="7379298" cy="3398601"/>
          </a:xfrm>
          <a:prstGeom prst="rect">
            <a:avLst/>
          </a:prstGeom>
          <a:noFill/>
          <a:ln>
            <a:noFill/>
          </a:ln>
        </p:spPr>
      </p:pic>
      <p:pic>
        <p:nvPicPr>
          <p:cNvPr descr="model_performance_comparison.png" id="1987" name="Google Shape;1987;g3ee2e5faae5_3_565"/>
          <p:cNvPicPr preferRelativeResize="0"/>
          <p:nvPr/>
        </p:nvPicPr>
        <p:blipFill rotWithShape="1">
          <a:blip r:embed="rId4">
            <a:alphaModFix/>
          </a:blip>
          <a:srcRect b="0" l="0" r="0" t="0"/>
          <a:stretch/>
        </p:blipFill>
        <p:spPr>
          <a:xfrm>
            <a:off x="7606825" y="347487"/>
            <a:ext cx="4464742" cy="3087325"/>
          </a:xfrm>
          <a:prstGeom prst="rect">
            <a:avLst/>
          </a:prstGeom>
          <a:noFill/>
          <a:ln>
            <a:noFill/>
          </a:ln>
        </p:spPr>
      </p:pic>
      <p:sp>
        <p:nvSpPr>
          <p:cNvPr id="1988" name="Google Shape;1988;g3ee2e5faae5_3_565"/>
          <p:cNvSpPr/>
          <p:nvPr/>
        </p:nvSpPr>
        <p:spPr>
          <a:xfrm>
            <a:off x="97365" y="4037615"/>
            <a:ext cx="1965900" cy="7131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89" name="Google Shape;1989;g3ee2e5faae5_3_565"/>
          <p:cNvSpPr txBox="1"/>
          <p:nvPr/>
        </p:nvSpPr>
        <p:spPr>
          <a:xfrm>
            <a:off x="207093" y="4147343"/>
            <a:ext cx="1746600" cy="255900"/>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lnSpc>
                <a:spcPct val="100000"/>
              </a:lnSpc>
              <a:spcBef>
                <a:spcPts val="0"/>
              </a:spcBef>
              <a:spcAft>
                <a:spcPts val="0"/>
              </a:spcAft>
              <a:buNone/>
            </a:pPr>
            <a:r>
              <a:rPr b="1" i="0" lang="en" sz="1600" u="none" cap="none" strike="noStrike">
                <a:solidFill>
                  <a:srgbClr val="0F766E"/>
                </a:solidFill>
                <a:latin typeface="Arial"/>
                <a:ea typeface="Arial"/>
                <a:cs typeface="Arial"/>
                <a:sym typeface="Arial"/>
              </a:rPr>
              <a:t>11.55</a:t>
            </a:r>
            <a:endParaRPr/>
          </a:p>
        </p:txBody>
      </p:sp>
      <p:sp>
        <p:nvSpPr>
          <p:cNvPr id="1990" name="Google Shape;1990;g3ee2e5faae5_3_565"/>
          <p:cNvSpPr txBox="1"/>
          <p:nvPr/>
        </p:nvSpPr>
        <p:spPr>
          <a:xfrm>
            <a:off x="188805" y="4449095"/>
            <a:ext cx="1783200" cy="183000"/>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None/>
            </a:pPr>
            <a:r>
              <a:rPr b="0" i="0" lang="en" sz="1123" u="none" cap="none" strike="noStrike">
                <a:solidFill>
                  <a:srgbClr val="5D6C7C"/>
                </a:solidFill>
                <a:latin typeface="Arial"/>
                <a:ea typeface="Arial"/>
                <a:cs typeface="Arial"/>
                <a:sym typeface="Arial"/>
              </a:rPr>
              <a:t>Best validation RMSE</a:t>
            </a:r>
            <a:endParaRPr sz="1590"/>
          </a:p>
        </p:txBody>
      </p:sp>
      <p:sp>
        <p:nvSpPr>
          <p:cNvPr id="1991" name="Google Shape;1991;g3ee2e5faae5_3_565"/>
          <p:cNvSpPr/>
          <p:nvPr/>
        </p:nvSpPr>
        <p:spPr>
          <a:xfrm>
            <a:off x="2291925" y="4037615"/>
            <a:ext cx="1965900" cy="7131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92" name="Google Shape;1992;g3ee2e5faae5_3_565"/>
          <p:cNvSpPr txBox="1"/>
          <p:nvPr/>
        </p:nvSpPr>
        <p:spPr>
          <a:xfrm>
            <a:off x="2401653" y="4147343"/>
            <a:ext cx="1746600" cy="255900"/>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lnSpc>
                <a:spcPct val="100000"/>
              </a:lnSpc>
              <a:spcBef>
                <a:spcPts val="0"/>
              </a:spcBef>
              <a:spcAft>
                <a:spcPts val="0"/>
              </a:spcAft>
              <a:buNone/>
            </a:pPr>
            <a:r>
              <a:rPr b="1" i="0" lang="en" sz="1600" u="none" cap="none" strike="noStrike">
                <a:solidFill>
                  <a:srgbClr val="0F766E"/>
                </a:solidFill>
                <a:latin typeface="Arial"/>
                <a:ea typeface="Arial"/>
                <a:cs typeface="Arial"/>
                <a:sym typeface="Arial"/>
              </a:rPr>
              <a:t>0.842</a:t>
            </a:r>
            <a:endParaRPr/>
          </a:p>
        </p:txBody>
      </p:sp>
      <p:sp>
        <p:nvSpPr>
          <p:cNvPr id="1993" name="Google Shape;1993;g3ee2e5faae5_3_565"/>
          <p:cNvSpPr txBox="1"/>
          <p:nvPr/>
        </p:nvSpPr>
        <p:spPr>
          <a:xfrm>
            <a:off x="2383365" y="4449095"/>
            <a:ext cx="1783200" cy="183000"/>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None/>
            </a:pPr>
            <a:r>
              <a:rPr b="0" i="0" lang="en" sz="1123" u="none" cap="none" strike="noStrike">
                <a:solidFill>
                  <a:srgbClr val="5D6C7C"/>
                </a:solidFill>
                <a:latin typeface="Arial"/>
                <a:ea typeface="Arial"/>
                <a:cs typeface="Arial"/>
                <a:sym typeface="Arial"/>
              </a:rPr>
              <a:t>Best validation R2</a:t>
            </a:r>
            <a:endParaRPr sz="1590"/>
          </a:p>
        </p:txBody>
      </p:sp>
      <p:sp>
        <p:nvSpPr>
          <p:cNvPr id="1994" name="Google Shape;1994;g3ee2e5faae5_3_565"/>
          <p:cNvSpPr/>
          <p:nvPr/>
        </p:nvSpPr>
        <p:spPr>
          <a:xfrm>
            <a:off x="4486485" y="4037615"/>
            <a:ext cx="1965900" cy="7131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95" name="Google Shape;1995;g3ee2e5faae5_3_565"/>
          <p:cNvSpPr txBox="1"/>
          <p:nvPr/>
        </p:nvSpPr>
        <p:spPr>
          <a:xfrm>
            <a:off x="4596213" y="4147343"/>
            <a:ext cx="1746600" cy="255900"/>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lnSpc>
                <a:spcPct val="100000"/>
              </a:lnSpc>
              <a:spcBef>
                <a:spcPts val="0"/>
              </a:spcBef>
              <a:spcAft>
                <a:spcPts val="0"/>
              </a:spcAft>
              <a:buNone/>
            </a:pPr>
            <a:r>
              <a:rPr b="1" i="0" lang="en" sz="1600" u="none" cap="none" strike="noStrike">
                <a:solidFill>
                  <a:srgbClr val="B45309"/>
                </a:solidFill>
                <a:latin typeface="Arial"/>
                <a:ea typeface="Arial"/>
                <a:cs typeface="Arial"/>
                <a:sym typeface="Arial"/>
              </a:rPr>
              <a:t>29.96</a:t>
            </a:r>
            <a:endParaRPr/>
          </a:p>
        </p:txBody>
      </p:sp>
      <p:sp>
        <p:nvSpPr>
          <p:cNvPr id="1996" name="Google Shape;1996;g3ee2e5faae5_3_565"/>
          <p:cNvSpPr txBox="1"/>
          <p:nvPr/>
        </p:nvSpPr>
        <p:spPr>
          <a:xfrm>
            <a:off x="4577925" y="4449095"/>
            <a:ext cx="1783200" cy="183000"/>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None/>
            </a:pPr>
            <a:r>
              <a:rPr b="0" i="0" lang="en" sz="1223" u="none" cap="none" strike="noStrike">
                <a:solidFill>
                  <a:srgbClr val="5D6C7C"/>
                </a:solidFill>
                <a:latin typeface="Arial"/>
                <a:ea typeface="Arial"/>
                <a:cs typeface="Arial"/>
                <a:sym typeface="Arial"/>
              </a:rPr>
              <a:t>Baseline RMSE</a:t>
            </a:r>
            <a:endParaRPr sz="1690"/>
          </a:p>
        </p:txBody>
      </p:sp>
      <p:sp>
        <p:nvSpPr>
          <p:cNvPr id="1997" name="Google Shape;1997;g3ee2e5faae5_3_565"/>
          <p:cNvSpPr/>
          <p:nvPr/>
        </p:nvSpPr>
        <p:spPr>
          <a:xfrm>
            <a:off x="6681045" y="4037615"/>
            <a:ext cx="1965900" cy="7131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98" name="Google Shape;1998;g3ee2e5faae5_3_565"/>
          <p:cNvSpPr txBox="1"/>
          <p:nvPr/>
        </p:nvSpPr>
        <p:spPr>
          <a:xfrm>
            <a:off x="6790773" y="4147343"/>
            <a:ext cx="1746600" cy="255900"/>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lnSpc>
                <a:spcPct val="100000"/>
              </a:lnSpc>
              <a:spcBef>
                <a:spcPts val="0"/>
              </a:spcBef>
              <a:spcAft>
                <a:spcPts val="0"/>
              </a:spcAft>
              <a:buNone/>
            </a:pPr>
            <a:r>
              <a:rPr b="1" i="0" lang="en" sz="1600" u="none" cap="none" strike="noStrike">
                <a:solidFill>
                  <a:srgbClr val="0F766E"/>
                </a:solidFill>
                <a:latin typeface="Arial"/>
                <a:ea typeface="Arial"/>
                <a:cs typeface="Arial"/>
                <a:sym typeface="Arial"/>
              </a:rPr>
              <a:t>XGBoost</a:t>
            </a:r>
            <a:endParaRPr/>
          </a:p>
        </p:txBody>
      </p:sp>
      <p:sp>
        <p:nvSpPr>
          <p:cNvPr id="1999" name="Google Shape;1999;g3ee2e5faae5_3_565"/>
          <p:cNvSpPr txBox="1"/>
          <p:nvPr/>
        </p:nvSpPr>
        <p:spPr>
          <a:xfrm>
            <a:off x="6772485" y="4449095"/>
            <a:ext cx="1783200" cy="183000"/>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None/>
            </a:pPr>
            <a:r>
              <a:rPr b="0" i="0" lang="en" sz="1223" u="none" cap="none" strike="noStrike">
                <a:solidFill>
                  <a:srgbClr val="5D6C7C"/>
                </a:solidFill>
                <a:latin typeface="Arial"/>
                <a:ea typeface="Arial"/>
                <a:cs typeface="Arial"/>
                <a:sym typeface="Arial"/>
              </a:rPr>
              <a:t>Selected model</a:t>
            </a:r>
            <a:endParaRPr sz="1690"/>
          </a:p>
        </p:txBody>
      </p:sp>
      <p:sp>
        <p:nvSpPr>
          <p:cNvPr id="2000" name="Google Shape;2000;g3ee2e5faae5_3_565"/>
          <p:cNvSpPr txBox="1"/>
          <p:nvPr/>
        </p:nvSpPr>
        <p:spPr>
          <a:xfrm>
            <a:off x="7182545" y="6310445"/>
            <a:ext cx="2011800" cy="201300"/>
          </a:xfrm>
          <a:prstGeom prst="rect">
            <a:avLst/>
          </a:prstGeom>
          <a:noFill/>
          <a:ln>
            <a:noFill/>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0" i="0" lang="en" sz="1350" u="none" cap="none" strike="noStrike">
                <a:solidFill>
                  <a:schemeClr val="dk1"/>
                </a:solidFill>
                <a:latin typeface="Arial"/>
                <a:ea typeface="Arial"/>
                <a:cs typeface="Arial"/>
                <a:sym typeface="Arial"/>
              </a:rPr>
              <a:t>Takal Ebrahimkhel</a:t>
            </a:r>
            <a:endParaRPr sz="1900">
              <a:solidFill>
                <a:schemeClr val="dk1"/>
              </a:solidFill>
            </a:endParaRPr>
          </a:p>
        </p:txBody>
      </p:sp>
      <p:sp>
        <p:nvSpPr>
          <p:cNvPr id="2001" name="Google Shape;2001;g3ee2e5faae5_3_56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
        <p:nvSpPr>
          <p:cNvPr id="2002" name="Google Shape;2002;g3ee2e5faae5_3_565"/>
          <p:cNvSpPr txBox="1"/>
          <p:nvPr/>
        </p:nvSpPr>
        <p:spPr>
          <a:xfrm>
            <a:off x="252350" y="5002475"/>
            <a:ext cx="11192400" cy="10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rPr>
              <a:t>This slide shows the main validation results. The median baseline has a validation RMSE of about 29.96, which shows the error level if we do not learn meaningful pricing relationships. The tuned XGBoost model is best with validation RMSE of about 11.55 and validation R squared of about 0.842. The XGBoost baseline is also strong, but tuning improves it further. GradientBoostingRegressor is useful as the secondary benchmark, but it does not match XGBoost on the validation set. Therefore, the validation evidence supports choosing tuned XGBoost for final testing.</a:t>
            </a:r>
            <a:endParaRPr sz="1500">
              <a:solidFill>
                <a:schemeClr val="dk1"/>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6" name="Shape 2006"/>
        <p:cNvGrpSpPr/>
        <p:nvPr/>
      </p:nvGrpSpPr>
      <p:grpSpPr>
        <a:xfrm>
          <a:off x="0" y="0"/>
          <a:ext cx="0" cy="0"/>
          <a:chOff x="0" y="0"/>
          <a:chExt cx="0" cy="0"/>
        </a:xfrm>
      </p:grpSpPr>
      <p:sp>
        <p:nvSpPr>
          <p:cNvPr id="2007" name="Google Shape;2007;g3ee2e5faae5_3_678"/>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Play"/>
              <a:buNone/>
            </a:pPr>
            <a:r>
              <a:t/>
            </a:r>
            <a:endParaRPr/>
          </a:p>
        </p:txBody>
      </p:sp>
      <p:sp>
        <p:nvSpPr>
          <p:cNvPr id="2008" name="Google Shape;2008;g3ee2e5faae5_3_678"/>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1000"/>
              </a:spcBef>
              <a:spcAft>
                <a:spcPts val="0"/>
              </a:spcAft>
              <a:buClr>
                <a:srgbClr val="757575"/>
              </a:buClr>
              <a:buSzPts val="2400"/>
              <a:buNone/>
            </a:pPr>
            <a:r>
              <a:t/>
            </a:r>
            <a:endParaRPr/>
          </a:p>
        </p:txBody>
      </p:sp>
      <p:sp>
        <p:nvSpPr>
          <p:cNvPr id="2009" name="Google Shape;2009;g3ee2e5faae5_3_678"/>
          <p:cNvSpPr/>
          <p:nvPr/>
        </p:nvSpPr>
        <p:spPr>
          <a:xfrm>
            <a:off x="0" y="0"/>
            <a:ext cx="12191700" cy="164700"/>
          </a:xfrm>
          <a:prstGeom prst="rect">
            <a:avLst/>
          </a:prstGeom>
          <a:solidFill>
            <a:srgbClr val="0F766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10" name="Google Shape;2010;g3ee2e5faae5_3_678"/>
          <p:cNvSpPr txBox="1"/>
          <p:nvPr/>
        </p:nvSpPr>
        <p:spPr>
          <a:xfrm>
            <a:off x="566928" y="347472"/>
            <a:ext cx="7955400" cy="502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1" i="0" lang="en" sz="2500" u="none" cap="none" strike="noStrike">
                <a:solidFill>
                  <a:srgbClr val="0C293E"/>
                </a:solidFill>
                <a:latin typeface="Arial"/>
                <a:ea typeface="Arial"/>
                <a:cs typeface="Arial"/>
                <a:sym typeface="Arial"/>
              </a:rPr>
              <a:t>Hyperparameter Tuning</a:t>
            </a:r>
            <a:endParaRPr/>
          </a:p>
        </p:txBody>
      </p:sp>
      <p:sp>
        <p:nvSpPr>
          <p:cNvPr id="2011" name="Google Shape;2011;g3ee2e5faae5_3_678"/>
          <p:cNvSpPr txBox="1"/>
          <p:nvPr/>
        </p:nvSpPr>
        <p:spPr>
          <a:xfrm>
            <a:off x="585216" y="850392"/>
            <a:ext cx="8778300" cy="3291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250" u="none" cap="none" strike="noStrike">
                <a:solidFill>
                  <a:srgbClr val="5D6C7C"/>
                </a:solidFill>
                <a:latin typeface="Arial"/>
                <a:ea typeface="Arial"/>
                <a:cs typeface="Arial"/>
                <a:sym typeface="Arial"/>
              </a:rPr>
              <a:t>RandomizedSearchCV improves the primary model before final selection</a:t>
            </a:r>
            <a:endParaRPr/>
          </a:p>
        </p:txBody>
      </p:sp>
      <p:sp>
        <p:nvSpPr>
          <p:cNvPr id="2012" name="Google Shape;2012;g3ee2e5faae5_3_678"/>
          <p:cNvSpPr/>
          <p:nvPr/>
        </p:nvSpPr>
        <p:spPr>
          <a:xfrm>
            <a:off x="9646920" y="411480"/>
            <a:ext cx="1965900" cy="3291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050" u="none" cap="none" strike="noStrike">
                <a:solidFill>
                  <a:srgbClr val="0F766E"/>
                </a:solidFill>
                <a:latin typeface="Arial"/>
                <a:ea typeface="Arial"/>
                <a:cs typeface="Arial"/>
                <a:sym typeface="Arial"/>
              </a:rPr>
              <a:t>Tasks 8-9</a:t>
            </a:r>
            <a:endParaRPr/>
          </a:p>
        </p:txBody>
      </p:sp>
      <p:sp>
        <p:nvSpPr>
          <p:cNvPr id="2013" name="Google Shape;2013;g3ee2e5faae5_3_678"/>
          <p:cNvSpPr txBox="1"/>
          <p:nvPr/>
        </p:nvSpPr>
        <p:spPr>
          <a:xfrm>
            <a:off x="566928" y="6446520"/>
            <a:ext cx="1920300" cy="2013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100000"/>
              </a:lnSpc>
              <a:spcBef>
                <a:spcPts val="0"/>
              </a:spcBef>
              <a:spcAft>
                <a:spcPts val="0"/>
              </a:spcAft>
              <a:buNone/>
            </a:pPr>
            <a:r>
              <a:rPr b="1" i="0" lang="en" sz="850" u="none" cap="none" strike="noStrike">
                <a:solidFill>
                  <a:srgbClr val="5D6C7C"/>
                </a:solidFill>
                <a:latin typeface="Arial"/>
                <a:ea typeface="Arial"/>
                <a:cs typeface="Arial"/>
                <a:sym typeface="Arial"/>
              </a:rPr>
              <a:t>Tasks 8-9</a:t>
            </a:r>
            <a:endParaRPr/>
          </a:p>
        </p:txBody>
      </p:sp>
      <p:pic>
        <p:nvPicPr>
          <p:cNvPr descr="02_tuning.png" id="2014" name="Google Shape;2014;g3ee2e5faae5_3_678"/>
          <p:cNvPicPr preferRelativeResize="0"/>
          <p:nvPr/>
        </p:nvPicPr>
        <p:blipFill rotWithShape="1">
          <a:blip r:embed="rId3">
            <a:alphaModFix/>
          </a:blip>
          <a:srcRect b="0" l="0" r="0" t="0"/>
          <a:stretch/>
        </p:blipFill>
        <p:spPr>
          <a:xfrm>
            <a:off x="640080" y="1325880"/>
            <a:ext cx="5440680" cy="3428999"/>
          </a:xfrm>
          <a:prstGeom prst="rect">
            <a:avLst/>
          </a:prstGeom>
          <a:noFill/>
          <a:ln>
            <a:noFill/>
          </a:ln>
        </p:spPr>
      </p:pic>
      <p:sp>
        <p:nvSpPr>
          <p:cNvPr id="2015" name="Google Shape;2015;g3ee2e5faae5_3_678"/>
          <p:cNvSpPr/>
          <p:nvPr/>
        </p:nvSpPr>
        <p:spPr>
          <a:xfrm>
            <a:off x="6446520" y="1325880"/>
            <a:ext cx="4846200" cy="34290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16" name="Google Shape;2016;g3ee2e5faae5_3_678"/>
          <p:cNvSpPr txBox="1"/>
          <p:nvPr/>
        </p:nvSpPr>
        <p:spPr>
          <a:xfrm>
            <a:off x="6611112" y="1435607"/>
            <a:ext cx="4517100" cy="2559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100000"/>
              </a:lnSpc>
              <a:spcBef>
                <a:spcPts val="0"/>
              </a:spcBef>
              <a:spcAft>
                <a:spcPts val="0"/>
              </a:spcAft>
              <a:buNone/>
            </a:pPr>
            <a:r>
              <a:rPr b="1" i="0" lang="en" sz="1150" u="none" cap="none" strike="noStrike">
                <a:solidFill>
                  <a:srgbClr val="0C293E"/>
                </a:solidFill>
                <a:latin typeface="Arial"/>
                <a:ea typeface="Arial"/>
                <a:cs typeface="Arial"/>
                <a:sym typeface="Arial"/>
              </a:rPr>
              <a:t>Best XGBoost parameters</a:t>
            </a:r>
            <a:endParaRPr/>
          </a:p>
        </p:txBody>
      </p:sp>
      <p:sp>
        <p:nvSpPr>
          <p:cNvPr id="2017" name="Google Shape;2017;g3ee2e5faae5_3_678"/>
          <p:cNvSpPr txBox="1"/>
          <p:nvPr/>
        </p:nvSpPr>
        <p:spPr>
          <a:xfrm>
            <a:off x="6720840" y="1783080"/>
            <a:ext cx="4251900" cy="19203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320" u="none" cap="none" strike="noStrike">
                <a:solidFill>
                  <a:srgbClr val="16222D"/>
                </a:solidFill>
                <a:latin typeface="Arial"/>
                <a:ea typeface="Arial"/>
                <a:cs typeface="Arial"/>
                <a:sym typeface="Arial"/>
              </a:rPr>
              <a:t>n_estimators = 314</a:t>
            </a:r>
            <a:endParaRPr/>
          </a:p>
          <a:p>
            <a:pPr indent="0" lvl="0" marL="0" marR="0" rtl="0" algn="l">
              <a:lnSpc>
                <a:spcPct val="100000"/>
              </a:lnSpc>
              <a:spcBef>
                <a:spcPts val="400"/>
              </a:spcBef>
              <a:spcAft>
                <a:spcPts val="0"/>
              </a:spcAft>
              <a:buNone/>
            </a:pPr>
            <a:r>
              <a:rPr b="0" i="0" lang="en" sz="1320" u="none" cap="none" strike="noStrike">
                <a:solidFill>
                  <a:srgbClr val="16222D"/>
                </a:solidFill>
                <a:latin typeface="Arial"/>
                <a:ea typeface="Arial"/>
                <a:cs typeface="Arial"/>
                <a:sym typeface="Arial"/>
              </a:rPr>
              <a:t>max_depth = 7</a:t>
            </a:r>
            <a:endParaRPr/>
          </a:p>
          <a:p>
            <a:pPr indent="0" lvl="0" marL="0" marR="0" rtl="0" algn="l">
              <a:lnSpc>
                <a:spcPct val="100000"/>
              </a:lnSpc>
              <a:spcBef>
                <a:spcPts val="400"/>
              </a:spcBef>
              <a:spcAft>
                <a:spcPts val="0"/>
              </a:spcAft>
              <a:buNone/>
            </a:pPr>
            <a:r>
              <a:rPr b="0" i="0" lang="en" sz="1320" u="none" cap="none" strike="noStrike">
                <a:solidFill>
                  <a:srgbClr val="16222D"/>
                </a:solidFill>
                <a:latin typeface="Arial"/>
                <a:ea typeface="Arial"/>
                <a:cs typeface="Arial"/>
                <a:sym typeface="Arial"/>
              </a:rPr>
              <a:t>learning_rate = 0.082</a:t>
            </a:r>
            <a:endParaRPr/>
          </a:p>
          <a:p>
            <a:pPr indent="0" lvl="0" marL="0" marR="0" rtl="0" algn="l">
              <a:lnSpc>
                <a:spcPct val="100000"/>
              </a:lnSpc>
              <a:spcBef>
                <a:spcPts val="400"/>
              </a:spcBef>
              <a:spcAft>
                <a:spcPts val="0"/>
              </a:spcAft>
              <a:buNone/>
            </a:pPr>
            <a:r>
              <a:rPr b="0" i="0" lang="en" sz="1320" u="none" cap="none" strike="noStrike">
                <a:solidFill>
                  <a:srgbClr val="16222D"/>
                </a:solidFill>
                <a:latin typeface="Arial"/>
                <a:ea typeface="Arial"/>
                <a:cs typeface="Arial"/>
                <a:sym typeface="Arial"/>
              </a:rPr>
              <a:t>subsample = 0.986</a:t>
            </a:r>
            <a:endParaRPr/>
          </a:p>
          <a:p>
            <a:pPr indent="0" lvl="0" marL="0" marR="0" rtl="0" algn="l">
              <a:lnSpc>
                <a:spcPct val="100000"/>
              </a:lnSpc>
              <a:spcBef>
                <a:spcPts val="400"/>
              </a:spcBef>
              <a:spcAft>
                <a:spcPts val="0"/>
              </a:spcAft>
              <a:buNone/>
            </a:pPr>
            <a:r>
              <a:rPr b="0" i="0" lang="en" sz="1320" u="none" cap="none" strike="noStrike">
                <a:solidFill>
                  <a:srgbClr val="16222D"/>
                </a:solidFill>
                <a:latin typeface="Arial"/>
                <a:ea typeface="Arial"/>
                <a:cs typeface="Arial"/>
                <a:sym typeface="Arial"/>
              </a:rPr>
              <a:t>colsample_bytree = 0.995</a:t>
            </a:r>
            <a:endParaRPr/>
          </a:p>
          <a:p>
            <a:pPr indent="0" lvl="0" marL="0" marR="0" rtl="0" algn="l">
              <a:lnSpc>
                <a:spcPct val="100000"/>
              </a:lnSpc>
              <a:spcBef>
                <a:spcPts val="400"/>
              </a:spcBef>
              <a:spcAft>
                <a:spcPts val="0"/>
              </a:spcAft>
              <a:buNone/>
            </a:pPr>
            <a:r>
              <a:rPr b="0" i="0" lang="en" sz="1320" u="none" cap="none" strike="noStrike">
                <a:solidFill>
                  <a:srgbClr val="16222D"/>
                </a:solidFill>
                <a:latin typeface="Arial"/>
                <a:ea typeface="Arial"/>
                <a:cs typeface="Arial"/>
                <a:sym typeface="Arial"/>
              </a:rPr>
              <a:t>reg_lambda = 0.663</a:t>
            </a:r>
            <a:endParaRPr/>
          </a:p>
        </p:txBody>
      </p:sp>
      <p:sp>
        <p:nvSpPr>
          <p:cNvPr id="2018" name="Google Shape;2018;g3ee2e5faae5_3_678"/>
          <p:cNvSpPr txBox="1"/>
          <p:nvPr/>
        </p:nvSpPr>
        <p:spPr>
          <a:xfrm>
            <a:off x="6720840" y="3454400"/>
            <a:ext cx="4251900" cy="914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 sz="1078" u="none" cap="none" strike="noStrike">
                <a:solidFill>
                  <a:srgbClr val="16222D"/>
                </a:solidFill>
                <a:latin typeface="Arial"/>
                <a:ea typeface="Arial"/>
                <a:cs typeface="Arial"/>
                <a:sym typeface="Arial"/>
              </a:rPr>
              <a:t>Tuning searches realistic combinations instead of relying on defaults.</a:t>
            </a:r>
            <a:endParaRPr sz="1290"/>
          </a:p>
          <a:p>
            <a:pPr indent="0" lvl="0" marL="0" marR="0" rtl="0" algn="l">
              <a:lnSpc>
                <a:spcPct val="100000"/>
              </a:lnSpc>
              <a:spcBef>
                <a:spcPts val="400"/>
              </a:spcBef>
              <a:spcAft>
                <a:spcPts val="0"/>
              </a:spcAft>
              <a:buNone/>
            </a:pPr>
            <a:r>
              <a:rPr b="0" i="0" lang="en" sz="1078" u="none" cap="none" strike="noStrike">
                <a:solidFill>
                  <a:srgbClr val="16222D"/>
                </a:solidFill>
                <a:latin typeface="Arial"/>
                <a:ea typeface="Arial"/>
                <a:cs typeface="Arial"/>
                <a:sym typeface="Arial"/>
              </a:rPr>
              <a:t>Validation RMSE chooses the model because high-dollar misses matter.</a:t>
            </a:r>
            <a:endParaRPr sz="1290"/>
          </a:p>
          <a:p>
            <a:pPr indent="0" lvl="0" marL="0" marR="0" rtl="0" algn="l">
              <a:lnSpc>
                <a:spcPct val="100000"/>
              </a:lnSpc>
              <a:spcBef>
                <a:spcPts val="400"/>
              </a:spcBef>
              <a:spcAft>
                <a:spcPts val="0"/>
              </a:spcAft>
              <a:buNone/>
            </a:pPr>
            <a:r>
              <a:rPr b="0" i="0" lang="en" sz="1078" u="none" cap="none" strike="noStrike">
                <a:solidFill>
                  <a:srgbClr val="16222D"/>
                </a:solidFill>
                <a:latin typeface="Arial"/>
                <a:ea typeface="Arial"/>
                <a:cs typeface="Arial"/>
                <a:sym typeface="Arial"/>
              </a:rPr>
              <a:t>The tuned model beats untuned XGBoost by about 1.02 RMSE points.</a:t>
            </a:r>
            <a:endParaRPr sz="1290"/>
          </a:p>
        </p:txBody>
      </p:sp>
      <p:sp>
        <p:nvSpPr>
          <p:cNvPr id="2019" name="Google Shape;2019;g3ee2e5faae5_3_678"/>
          <p:cNvSpPr txBox="1"/>
          <p:nvPr/>
        </p:nvSpPr>
        <p:spPr>
          <a:xfrm>
            <a:off x="7182545" y="6310445"/>
            <a:ext cx="2011800" cy="201300"/>
          </a:xfrm>
          <a:prstGeom prst="rect">
            <a:avLst/>
          </a:prstGeom>
          <a:noFill/>
          <a:ln>
            <a:noFill/>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0" i="0" lang="en" sz="1350" u="none" cap="none" strike="noStrike">
                <a:solidFill>
                  <a:schemeClr val="dk1"/>
                </a:solidFill>
                <a:latin typeface="Arial"/>
                <a:ea typeface="Arial"/>
                <a:cs typeface="Arial"/>
                <a:sym typeface="Arial"/>
              </a:rPr>
              <a:t>Takal Ebrahimkhel</a:t>
            </a:r>
            <a:endParaRPr sz="1900">
              <a:solidFill>
                <a:schemeClr val="dk1"/>
              </a:solidFill>
            </a:endParaRPr>
          </a:p>
        </p:txBody>
      </p:sp>
      <p:sp>
        <p:nvSpPr>
          <p:cNvPr id="2020" name="Google Shape;2020;g3ee2e5faae5_3_67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
        <p:nvSpPr>
          <p:cNvPr id="2021" name="Google Shape;2021;g3ee2e5faae5_3_678"/>
          <p:cNvSpPr txBox="1"/>
          <p:nvPr/>
        </p:nvSpPr>
        <p:spPr>
          <a:xfrm>
            <a:off x="640075" y="4969650"/>
            <a:ext cx="93201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 used RandomizedSearchCV to test combinations of tree count, learning rate, depth, subsampling, column sampling, and regularization. The best XGBoost configuration used 314 trees, max depth 7, learning rate about 0.082, and high subsampling and column sampling. Tuning matters because default parameters may either underfit or overfit the cost data. In this run, the tuned XGBoost model improved validation RMSE from about 12.58 to 11.55, which is a meaningful improvement for quote prediction.</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5" name="Shape 2025"/>
        <p:cNvGrpSpPr/>
        <p:nvPr/>
      </p:nvGrpSpPr>
      <p:grpSpPr>
        <a:xfrm>
          <a:off x="0" y="0"/>
          <a:ext cx="0" cy="0"/>
          <a:chOff x="0" y="0"/>
          <a:chExt cx="0" cy="0"/>
        </a:xfrm>
      </p:grpSpPr>
      <p:sp>
        <p:nvSpPr>
          <p:cNvPr id="2026" name="Google Shape;2026;g3ee2e5faae5_3_782"/>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Play"/>
              <a:buNone/>
            </a:pPr>
            <a:r>
              <a:t/>
            </a:r>
            <a:endParaRPr/>
          </a:p>
        </p:txBody>
      </p:sp>
      <p:sp>
        <p:nvSpPr>
          <p:cNvPr id="2027" name="Google Shape;2027;g3ee2e5faae5_3_782"/>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1000"/>
              </a:spcBef>
              <a:spcAft>
                <a:spcPts val="0"/>
              </a:spcAft>
              <a:buClr>
                <a:srgbClr val="757575"/>
              </a:buClr>
              <a:buSzPts val="2400"/>
              <a:buNone/>
            </a:pPr>
            <a:r>
              <a:t/>
            </a:r>
            <a:endParaRPr/>
          </a:p>
        </p:txBody>
      </p:sp>
      <p:sp>
        <p:nvSpPr>
          <p:cNvPr id="2028" name="Google Shape;2028;g3ee2e5faae5_3_782"/>
          <p:cNvSpPr/>
          <p:nvPr/>
        </p:nvSpPr>
        <p:spPr>
          <a:xfrm>
            <a:off x="0" y="0"/>
            <a:ext cx="12191700" cy="164700"/>
          </a:xfrm>
          <a:prstGeom prst="rect">
            <a:avLst/>
          </a:prstGeom>
          <a:solidFill>
            <a:srgbClr val="0F766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29" name="Google Shape;2029;g3ee2e5faae5_3_782"/>
          <p:cNvSpPr txBox="1"/>
          <p:nvPr/>
        </p:nvSpPr>
        <p:spPr>
          <a:xfrm>
            <a:off x="566928" y="347472"/>
            <a:ext cx="7955400" cy="502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1" i="0" lang="en" sz="2500" u="none" cap="none" strike="noStrike">
                <a:solidFill>
                  <a:srgbClr val="0C293E"/>
                </a:solidFill>
                <a:latin typeface="Arial"/>
                <a:ea typeface="Arial"/>
                <a:cs typeface="Arial"/>
                <a:sym typeface="Arial"/>
              </a:rPr>
              <a:t>Feature Selection and Cost Drivers</a:t>
            </a:r>
            <a:endParaRPr/>
          </a:p>
        </p:txBody>
      </p:sp>
      <p:sp>
        <p:nvSpPr>
          <p:cNvPr id="2030" name="Google Shape;2030;g3ee2e5faae5_3_782"/>
          <p:cNvSpPr txBox="1"/>
          <p:nvPr/>
        </p:nvSpPr>
        <p:spPr>
          <a:xfrm>
            <a:off x="585216" y="850392"/>
            <a:ext cx="8778300" cy="3291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250" u="none" cap="none" strike="noStrike">
                <a:solidFill>
                  <a:srgbClr val="5D6C7C"/>
                </a:solidFill>
                <a:latin typeface="Arial"/>
                <a:ea typeface="Arial"/>
                <a:cs typeface="Arial"/>
                <a:sym typeface="Arial"/>
              </a:rPr>
              <a:t>Important features connect model behavior to manufacturing logic</a:t>
            </a:r>
            <a:endParaRPr/>
          </a:p>
        </p:txBody>
      </p:sp>
      <p:sp>
        <p:nvSpPr>
          <p:cNvPr id="2031" name="Google Shape;2031;g3ee2e5faae5_3_782"/>
          <p:cNvSpPr/>
          <p:nvPr/>
        </p:nvSpPr>
        <p:spPr>
          <a:xfrm>
            <a:off x="9646920" y="411480"/>
            <a:ext cx="1965900" cy="3291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050" u="none" cap="none" strike="noStrike">
                <a:solidFill>
                  <a:srgbClr val="0F766E"/>
                </a:solidFill>
                <a:latin typeface="Arial"/>
                <a:ea typeface="Arial"/>
                <a:cs typeface="Arial"/>
                <a:sym typeface="Arial"/>
              </a:rPr>
              <a:t>Tasks 8-9</a:t>
            </a:r>
            <a:endParaRPr/>
          </a:p>
        </p:txBody>
      </p:sp>
      <p:pic>
        <p:nvPicPr>
          <p:cNvPr descr="top_feature_importance.png" id="2032" name="Google Shape;2032;g3ee2e5faae5_3_782"/>
          <p:cNvPicPr preferRelativeResize="0"/>
          <p:nvPr/>
        </p:nvPicPr>
        <p:blipFill rotWithShape="1">
          <a:blip r:embed="rId3">
            <a:alphaModFix/>
          </a:blip>
          <a:srcRect b="0" l="0" r="0" t="0"/>
          <a:stretch/>
        </p:blipFill>
        <p:spPr>
          <a:xfrm>
            <a:off x="621792" y="1234440"/>
            <a:ext cx="5486401" cy="4343400"/>
          </a:xfrm>
          <a:prstGeom prst="rect">
            <a:avLst/>
          </a:prstGeom>
          <a:noFill/>
          <a:ln>
            <a:noFill/>
          </a:ln>
        </p:spPr>
      </p:pic>
      <p:pic>
        <p:nvPicPr>
          <p:cNvPr descr="03_feature_selection.png" id="2033" name="Google Shape;2033;g3ee2e5faae5_3_782"/>
          <p:cNvPicPr preferRelativeResize="0"/>
          <p:nvPr/>
        </p:nvPicPr>
        <p:blipFill rotWithShape="1">
          <a:blip r:embed="rId4">
            <a:alphaModFix/>
          </a:blip>
          <a:srcRect b="0" l="0" r="0" t="0"/>
          <a:stretch/>
        </p:blipFill>
        <p:spPr>
          <a:xfrm>
            <a:off x="6400800" y="1234440"/>
            <a:ext cx="4800600" cy="2331720"/>
          </a:xfrm>
          <a:prstGeom prst="rect">
            <a:avLst/>
          </a:prstGeom>
          <a:noFill/>
          <a:ln>
            <a:noFill/>
          </a:ln>
        </p:spPr>
      </p:pic>
      <p:sp>
        <p:nvSpPr>
          <p:cNvPr id="2034" name="Google Shape;2034;g3ee2e5faae5_3_782"/>
          <p:cNvSpPr/>
          <p:nvPr/>
        </p:nvSpPr>
        <p:spPr>
          <a:xfrm>
            <a:off x="6400800" y="3886200"/>
            <a:ext cx="4800600" cy="16917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35" name="Google Shape;2035;g3ee2e5faae5_3_782"/>
          <p:cNvSpPr txBox="1"/>
          <p:nvPr/>
        </p:nvSpPr>
        <p:spPr>
          <a:xfrm>
            <a:off x="6565392" y="3949866"/>
            <a:ext cx="4471500" cy="2559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100000"/>
              </a:lnSpc>
              <a:spcBef>
                <a:spcPts val="0"/>
              </a:spcBef>
              <a:spcAft>
                <a:spcPts val="0"/>
              </a:spcAft>
              <a:buNone/>
            </a:pPr>
            <a:r>
              <a:rPr b="1" i="0" lang="en" sz="1150" u="none" cap="none" strike="noStrike">
                <a:solidFill>
                  <a:srgbClr val="0C293E"/>
                </a:solidFill>
                <a:latin typeface="Arial"/>
                <a:ea typeface="Arial"/>
                <a:cs typeface="Arial"/>
                <a:sym typeface="Arial"/>
              </a:rPr>
              <a:t>Interpretation</a:t>
            </a:r>
            <a:endParaRPr/>
          </a:p>
        </p:txBody>
      </p:sp>
      <p:sp>
        <p:nvSpPr>
          <p:cNvPr id="2036" name="Google Shape;2036;g3ee2e5faae5_3_782"/>
          <p:cNvSpPr txBox="1"/>
          <p:nvPr/>
        </p:nvSpPr>
        <p:spPr>
          <a:xfrm>
            <a:off x="6652195" y="4205768"/>
            <a:ext cx="4297800" cy="96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 sz="1018" u="none" cap="none" strike="noStrike">
                <a:solidFill>
                  <a:srgbClr val="16222D"/>
                </a:solidFill>
                <a:latin typeface="Arial"/>
                <a:ea typeface="Arial"/>
                <a:cs typeface="Arial"/>
                <a:sym typeface="Arial"/>
              </a:rPr>
              <a:t>Minimum order quantity and quantity reflect pricing brackets and volume effects.</a:t>
            </a:r>
            <a:endParaRPr sz="1290"/>
          </a:p>
          <a:p>
            <a:pPr indent="0" lvl="0" marL="0" marR="0" rtl="0" algn="l">
              <a:lnSpc>
                <a:spcPct val="100000"/>
              </a:lnSpc>
              <a:spcBef>
                <a:spcPts val="400"/>
              </a:spcBef>
              <a:spcAft>
                <a:spcPts val="0"/>
              </a:spcAft>
              <a:buNone/>
            </a:pPr>
            <a:r>
              <a:rPr b="0" i="0" lang="en" sz="1018" u="none" cap="none" strike="noStrike">
                <a:solidFill>
                  <a:srgbClr val="16222D"/>
                </a:solidFill>
                <a:latin typeface="Arial"/>
                <a:ea typeface="Arial"/>
                <a:cs typeface="Arial"/>
                <a:sym typeface="Arial"/>
              </a:rPr>
              <a:t>Total weight, diameter, and length reflect material and production effort.</a:t>
            </a:r>
            <a:endParaRPr sz="1290"/>
          </a:p>
          <a:p>
            <a:pPr indent="0" lvl="0" marL="0" marR="0" rtl="0" algn="l">
              <a:lnSpc>
                <a:spcPct val="100000"/>
              </a:lnSpc>
              <a:spcBef>
                <a:spcPts val="400"/>
              </a:spcBef>
              <a:spcAft>
                <a:spcPts val="0"/>
              </a:spcAft>
              <a:buNone/>
            </a:pPr>
            <a:r>
              <a:rPr b="0" i="0" lang="en" sz="1018" u="none" cap="none" strike="noStrike">
                <a:solidFill>
                  <a:srgbClr val="16222D"/>
                </a:solidFill>
                <a:latin typeface="Arial"/>
                <a:ea typeface="Arial"/>
                <a:cs typeface="Arial"/>
                <a:sym typeface="Arial"/>
              </a:rPr>
              <a:t>Supplier and end-form indicators capture process and commercial differences.</a:t>
            </a:r>
            <a:endParaRPr sz="1290"/>
          </a:p>
          <a:p>
            <a:pPr indent="0" lvl="0" marL="0" marR="0" rtl="0" algn="l">
              <a:lnSpc>
                <a:spcPct val="100000"/>
              </a:lnSpc>
              <a:spcBef>
                <a:spcPts val="400"/>
              </a:spcBef>
              <a:spcAft>
                <a:spcPts val="0"/>
              </a:spcAft>
              <a:buNone/>
            </a:pPr>
            <a:r>
              <a:rPr b="0" i="0" lang="en" sz="1018" u="none" cap="none" strike="noStrike">
                <a:solidFill>
                  <a:srgbClr val="16222D"/>
                </a:solidFill>
                <a:latin typeface="Arial"/>
                <a:ea typeface="Arial"/>
                <a:cs typeface="Arial"/>
                <a:sym typeface="Arial"/>
              </a:rPr>
              <a:t>Top-30 feature selection was tested but full tuned XGBoost performed best.</a:t>
            </a:r>
            <a:endParaRPr sz="1290"/>
          </a:p>
        </p:txBody>
      </p:sp>
      <p:sp>
        <p:nvSpPr>
          <p:cNvPr id="2037" name="Google Shape;2037;g3ee2e5faae5_3_782"/>
          <p:cNvSpPr txBox="1"/>
          <p:nvPr/>
        </p:nvSpPr>
        <p:spPr>
          <a:xfrm>
            <a:off x="8035520" y="6446495"/>
            <a:ext cx="2011800" cy="201300"/>
          </a:xfrm>
          <a:prstGeom prst="rect">
            <a:avLst/>
          </a:prstGeom>
          <a:noFill/>
          <a:ln>
            <a:noFill/>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0" i="0" lang="en" sz="1350" u="none" cap="none" strike="noStrike">
                <a:solidFill>
                  <a:schemeClr val="dk1"/>
                </a:solidFill>
                <a:latin typeface="Arial"/>
                <a:ea typeface="Arial"/>
                <a:cs typeface="Arial"/>
                <a:sym typeface="Arial"/>
              </a:rPr>
              <a:t>Takal Ebrahimkhel</a:t>
            </a:r>
            <a:endParaRPr sz="1900">
              <a:solidFill>
                <a:schemeClr val="dk1"/>
              </a:solidFill>
            </a:endParaRPr>
          </a:p>
        </p:txBody>
      </p:sp>
      <p:sp>
        <p:nvSpPr>
          <p:cNvPr id="2038" name="Google Shape;2038;g3ee2e5faae5_3_78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
        <p:nvSpPr>
          <p:cNvPr id="2039" name="Google Shape;2039;g3ee2e5faae5_3_782"/>
          <p:cNvSpPr txBox="1"/>
          <p:nvPr/>
        </p:nvSpPr>
        <p:spPr>
          <a:xfrm>
            <a:off x="952500" y="5805400"/>
            <a:ext cx="6596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a:t>
            </a:r>
            <a:r>
              <a:rPr lang="en"/>
              <a:t>he broader feature set captures critical interactions that a smaller subset misses, justifying the inclusion of the full feature set.</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3" name="Shape 2043"/>
        <p:cNvGrpSpPr/>
        <p:nvPr/>
      </p:nvGrpSpPr>
      <p:grpSpPr>
        <a:xfrm>
          <a:off x="0" y="0"/>
          <a:ext cx="0" cy="0"/>
          <a:chOff x="0" y="0"/>
          <a:chExt cx="0" cy="0"/>
        </a:xfrm>
      </p:grpSpPr>
      <p:sp>
        <p:nvSpPr>
          <p:cNvPr id="2044" name="Google Shape;2044;g3ee2e5faae5_3_886"/>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Play"/>
              <a:buNone/>
            </a:pPr>
            <a:r>
              <a:t/>
            </a:r>
            <a:endParaRPr/>
          </a:p>
        </p:txBody>
      </p:sp>
      <p:sp>
        <p:nvSpPr>
          <p:cNvPr id="2045" name="Google Shape;2045;g3ee2e5faae5_3_886"/>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1000"/>
              </a:spcBef>
              <a:spcAft>
                <a:spcPts val="0"/>
              </a:spcAft>
              <a:buClr>
                <a:srgbClr val="757575"/>
              </a:buClr>
              <a:buSzPts val="2400"/>
              <a:buNone/>
            </a:pPr>
            <a:r>
              <a:t/>
            </a:r>
            <a:endParaRPr/>
          </a:p>
        </p:txBody>
      </p:sp>
      <p:sp>
        <p:nvSpPr>
          <p:cNvPr id="2046" name="Google Shape;2046;g3ee2e5faae5_3_886"/>
          <p:cNvSpPr/>
          <p:nvPr/>
        </p:nvSpPr>
        <p:spPr>
          <a:xfrm>
            <a:off x="0" y="0"/>
            <a:ext cx="12191700" cy="164700"/>
          </a:xfrm>
          <a:prstGeom prst="rect">
            <a:avLst/>
          </a:prstGeom>
          <a:solidFill>
            <a:srgbClr val="0F766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47" name="Google Shape;2047;g3ee2e5faae5_3_886"/>
          <p:cNvSpPr txBox="1"/>
          <p:nvPr/>
        </p:nvSpPr>
        <p:spPr>
          <a:xfrm>
            <a:off x="566928" y="347472"/>
            <a:ext cx="7955400" cy="502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1" i="0" lang="en" sz="2500" u="none" cap="none" strike="noStrike">
                <a:solidFill>
                  <a:srgbClr val="0C293E"/>
                </a:solidFill>
                <a:latin typeface="Arial"/>
                <a:ea typeface="Arial"/>
                <a:cs typeface="Arial"/>
                <a:sym typeface="Arial"/>
              </a:rPr>
              <a:t>SHAP Explainability</a:t>
            </a:r>
            <a:endParaRPr/>
          </a:p>
        </p:txBody>
      </p:sp>
      <p:sp>
        <p:nvSpPr>
          <p:cNvPr id="2048" name="Google Shape;2048;g3ee2e5faae5_3_886"/>
          <p:cNvSpPr txBox="1"/>
          <p:nvPr/>
        </p:nvSpPr>
        <p:spPr>
          <a:xfrm>
            <a:off x="585216" y="850392"/>
            <a:ext cx="8778300" cy="3291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250" u="none" cap="none" strike="noStrike">
                <a:solidFill>
                  <a:srgbClr val="5D6C7C"/>
                </a:solidFill>
                <a:latin typeface="Arial"/>
                <a:ea typeface="Arial"/>
                <a:cs typeface="Arial"/>
                <a:sym typeface="Arial"/>
              </a:rPr>
              <a:t>Global feature effects for the final XGBoost model</a:t>
            </a:r>
            <a:endParaRPr/>
          </a:p>
        </p:txBody>
      </p:sp>
      <p:sp>
        <p:nvSpPr>
          <p:cNvPr id="2049" name="Google Shape;2049;g3ee2e5faae5_3_886"/>
          <p:cNvSpPr/>
          <p:nvPr/>
        </p:nvSpPr>
        <p:spPr>
          <a:xfrm>
            <a:off x="9646920" y="411480"/>
            <a:ext cx="1965900" cy="3291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050" u="none" cap="none" strike="noStrike">
                <a:solidFill>
                  <a:srgbClr val="0F766E"/>
                </a:solidFill>
                <a:latin typeface="Arial"/>
                <a:ea typeface="Arial"/>
                <a:cs typeface="Arial"/>
                <a:sym typeface="Arial"/>
              </a:rPr>
              <a:t>Tasks 8-9</a:t>
            </a:r>
            <a:endParaRPr/>
          </a:p>
        </p:txBody>
      </p:sp>
      <p:pic>
        <p:nvPicPr>
          <p:cNvPr descr="shap_global_importance.png" id="2050" name="Google Shape;2050;g3ee2e5faae5_3_886"/>
          <p:cNvPicPr preferRelativeResize="0"/>
          <p:nvPr/>
        </p:nvPicPr>
        <p:blipFill rotWithShape="1">
          <a:blip r:embed="rId3">
            <a:alphaModFix/>
          </a:blip>
          <a:srcRect b="0" l="0" r="0" t="0"/>
          <a:stretch/>
        </p:blipFill>
        <p:spPr>
          <a:xfrm>
            <a:off x="548640" y="1234440"/>
            <a:ext cx="5349240" cy="4251960"/>
          </a:xfrm>
          <a:prstGeom prst="rect">
            <a:avLst/>
          </a:prstGeom>
          <a:noFill/>
          <a:ln>
            <a:noFill/>
          </a:ln>
        </p:spPr>
      </p:pic>
      <p:pic>
        <p:nvPicPr>
          <p:cNvPr descr="shap_beeswarm.png" id="2051" name="Google Shape;2051;g3ee2e5faae5_3_886"/>
          <p:cNvPicPr preferRelativeResize="0"/>
          <p:nvPr/>
        </p:nvPicPr>
        <p:blipFill rotWithShape="1">
          <a:blip r:embed="rId4">
            <a:alphaModFix/>
          </a:blip>
          <a:srcRect b="0" l="0" r="0" t="0"/>
          <a:stretch/>
        </p:blipFill>
        <p:spPr>
          <a:xfrm>
            <a:off x="6126480" y="1234440"/>
            <a:ext cx="5349239" cy="4251959"/>
          </a:xfrm>
          <a:prstGeom prst="rect">
            <a:avLst/>
          </a:prstGeom>
          <a:noFill/>
          <a:ln>
            <a:noFill/>
          </a:ln>
        </p:spPr>
      </p:pic>
      <p:sp>
        <p:nvSpPr>
          <p:cNvPr id="2052" name="Google Shape;2052;g3ee2e5faae5_3_886"/>
          <p:cNvSpPr txBox="1"/>
          <p:nvPr/>
        </p:nvSpPr>
        <p:spPr>
          <a:xfrm>
            <a:off x="8311945" y="6437795"/>
            <a:ext cx="2011800" cy="201300"/>
          </a:xfrm>
          <a:prstGeom prst="rect">
            <a:avLst/>
          </a:prstGeom>
          <a:noFill/>
          <a:ln>
            <a:noFill/>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0" i="0" lang="en" sz="1350" u="none" cap="none" strike="noStrike">
                <a:solidFill>
                  <a:schemeClr val="dk1"/>
                </a:solidFill>
                <a:latin typeface="Arial"/>
                <a:ea typeface="Arial"/>
                <a:cs typeface="Arial"/>
                <a:sym typeface="Arial"/>
              </a:rPr>
              <a:t>Takal Ebrahimkhel</a:t>
            </a:r>
            <a:endParaRPr sz="1900">
              <a:solidFill>
                <a:schemeClr val="dk1"/>
              </a:solidFill>
            </a:endParaRPr>
          </a:p>
        </p:txBody>
      </p:sp>
      <p:sp>
        <p:nvSpPr>
          <p:cNvPr id="2053" name="Google Shape;2053;g3ee2e5faae5_3_886"/>
          <p:cNvSpPr txBox="1"/>
          <p:nvPr>
            <p:ph idx="12" type="sldNum"/>
          </p:nvPr>
        </p:nvSpPr>
        <p:spPr>
          <a:xfrm>
            <a:off x="10477500" y="6355900"/>
            <a:ext cx="870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
        <p:nvSpPr>
          <p:cNvPr id="2054" name="Google Shape;2054;g3ee2e5faae5_3_886"/>
          <p:cNvSpPr txBox="1"/>
          <p:nvPr/>
        </p:nvSpPr>
        <p:spPr>
          <a:xfrm>
            <a:off x="217750" y="5421925"/>
            <a:ext cx="109401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t>This slide presents the SHAP analysis. SHAP explains how each feature contributes to the model's prediction, which makes the XGBoost model less of a black box. The global bar chart shows that minimum order quantity is the strongest contributor, followed by total weight, annual usage, diameter, length, quantity, and bracket pricing. The beeswarm plot adds direction and spread, showing how individual validation rows are affected. This is important for stakeholders because we can explain why a predicted cost is high or low instead of only reporting a number.</a:t>
            </a:r>
            <a:endParaRPr sz="1300"/>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8" name="Shape 2058"/>
        <p:cNvGrpSpPr/>
        <p:nvPr/>
      </p:nvGrpSpPr>
      <p:grpSpPr>
        <a:xfrm>
          <a:off x="0" y="0"/>
          <a:ext cx="0" cy="0"/>
          <a:chOff x="0" y="0"/>
          <a:chExt cx="0" cy="0"/>
        </a:xfrm>
      </p:grpSpPr>
      <p:sp>
        <p:nvSpPr>
          <p:cNvPr id="2059" name="Google Shape;2059;g3ee2e5faae5_3_987"/>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Play"/>
              <a:buNone/>
            </a:pPr>
            <a:r>
              <a:t/>
            </a:r>
            <a:endParaRPr/>
          </a:p>
        </p:txBody>
      </p:sp>
      <p:sp>
        <p:nvSpPr>
          <p:cNvPr id="2060" name="Google Shape;2060;g3ee2e5faae5_3_987"/>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1000"/>
              </a:spcBef>
              <a:spcAft>
                <a:spcPts val="0"/>
              </a:spcAft>
              <a:buClr>
                <a:srgbClr val="757575"/>
              </a:buClr>
              <a:buSzPts val="2400"/>
              <a:buNone/>
            </a:pPr>
            <a:r>
              <a:t/>
            </a:r>
            <a:endParaRPr/>
          </a:p>
        </p:txBody>
      </p:sp>
      <p:sp>
        <p:nvSpPr>
          <p:cNvPr id="2061" name="Google Shape;2061;g3ee2e5faae5_3_987"/>
          <p:cNvSpPr/>
          <p:nvPr/>
        </p:nvSpPr>
        <p:spPr>
          <a:xfrm>
            <a:off x="0" y="0"/>
            <a:ext cx="12191700" cy="164700"/>
          </a:xfrm>
          <a:prstGeom prst="rect">
            <a:avLst/>
          </a:prstGeom>
          <a:solidFill>
            <a:srgbClr val="0F766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62" name="Google Shape;2062;g3ee2e5faae5_3_987"/>
          <p:cNvSpPr txBox="1"/>
          <p:nvPr/>
        </p:nvSpPr>
        <p:spPr>
          <a:xfrm>
            <a:off x="566928" y="347472"/>
            <a:ext cx="7955400" cy="502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1" i="0" lang="en" sz="2500" u="none" cap="none" strike="noStrike">
                <a:solidFill>
                  <a:srgbClr val="0C293E"/>
                </a:solidFill>
                <a:latin typeface="Arial"/>
                <a:ea typeface="Arial"/>
                <a:cs typeface="Arial"/>
                <a:sym typeface="Arial"/>
              </a:rPr>
              <a:t>SHAP Code and Dependence Check</a:t>
            </a:r>
            <a:endParaRPr/>
          </a:p>
        </p:txBody>
      </p:sp>
      <p:sp>
        <p:nvSpPr>
          <p:cNvPr id="2063" name="Google Shape;2063;g3ee2e5faae5_3_987"/>
          <p:cNvSpPr txBox="1"/>
          <p:nvPr/>
        </p:nvSpPr>
        <p:spPr>
          <a:xfrm>
            <a:off x="585216" y="850392"/>
            <a:ext cx="8778300" cy="3291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250" u="none" cap="none" strike="noStrike">
                <a:solidFill>
                  <a:srgbClr val="5D6C7C"/>
                </a:solidFill>
                <a:latin typeface="Arial"/>
                <a:ea typeface="Arial"/>
                <a:cs typeface="Arial"/>
                <a:sym typeface="Arial"/>
              </a:rPr>
              <a:t>Notebook implementation behind the explainability result</a:t>
            </a:r>
            <a:endParaRPr/>
          </a:p>
        </p:txBody>
      </p:sp>
      <p:sp>
        <p:nvSpPr>
          <p:cNvPr id="2064" name="Google Shape;2064;g3ee2e5faae5_3_987"/>
          <p:cNvSpPr/>
          <p:nvPr/>
        </p:nvSpPr>
        <p:spPr>
          <a:xfrm>
            <a:off x="9646920" y="411480"/>
            <a:ext cx="1965900" cy="3291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050" u="none" cap="none" strike="noStrike">
                <a:solidFill>
                  <a:srgbClr val="0F766E"/>
                </a:solidFill>
                <a:latin typeface="Arial"/>
                <a:ea typeface="Arial"/>
                <a:cs typeface="Arial"/>
                <a:sym typeface="Arial"/>
              </a:rPr>
              <a:t>Tasks 8-9</a:t>
            </a:r>
            <a:endParaRPr/>
          </a:p>
        </p:txBody>
      </p:sp>
      <p:sp>
        <p:nvSpPr>
          <p:cNvPr id="2065" name="Google Shape;2065;g3ee2e5faae5_3_987"/>
          <p:cNvSpPr txBox="1"/>
          <p:nvPr/>
        </p:nvSpPr>
        <p:spPr>
          <a:xfrm>
            <a:off x="566928" y="6446520"/>
            <a:ext cx="1920300" cy="2013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100000"/>
              </a:lnSpc>
              <a:spcBef>
                <a:spcPts val="0"/>
              </a:spcBef>
              <a:spcAft>
                <a:spcPts val="0"/>
              </a:spcAft>
              <a:buNone/>
            </a:pPr>
            <a:r>
              <a:rPr b="1" i="0" lang="en" sz="850" u="none" cap="none" strike="noStrike">
                <a:solidFill>
                  <a:srgbClr val="5D6C7C"/>
                </a:solidFill>
                <a:latin typeface="Arial"/>
                <a:ea typeface="Arial"/>
                <a:cs typeface="Arial"/>
                <a:sym typeface="Arial"/>
              </a:rPr>
              <a:t>Tasks 8-9</a:t>
            </a:r>
            <a:endParaRPr/>
          </a:p>
        </p:txBody>
      </p:sp>
      <p:pic>
        <p:nvPicPr>
          <p:cNvPr descr="04_shap.png" id="2066" name="Google Shape;2066;g3ee2e5faae5_3_987"/>
          <p:cNvPicPr preferRelativeResize="0"/>
          <p:nvPr/>
        </p:nvPicPr>
        <p:blipFill rotWithShape="1">
          <a:blip r:embed="rId3">
            <a:alphaModFix/>
          </a:blip>
          <a:srcRect b="0" l="0" r="0" t="0"/>
          <a:stretch/>
        </p:blipFill>
        <p:spPr>
          <a:xfrm>
            <a:off x="566928" y="1380554"/>
            <a:ext cx="5303520" cy="2971800"/>
          </a:xfrm>
          <a:prstGeom prst="rect">
            <a:avLst/>
          </a:prstGeom>
          <a:noFill/>
          <a:ln>
            <a:noFill/>
          </a:ln>
        </p:spPr>
      </p:pic>
      <p:pic>
        <p:nvPicPr>
          <p:cNvPr descr="shap_dependence_top_feature.png" id="2067" name="Google Shape;2067;g3ee2e5faae5_3_987"/>
          <p:cNvPicPr preferRelativeResize="0"/>
          <p:nvPr/>
        </p:nvPicPr>
        <p:blipFill rotWithShape="1">
          <a:blip r:embed="rId4">
            <a:alphaModFix/>
          </a:blip>
          <a:srcRect b="0" l="0" r="0" t="0"/>
          <a:stretch/>
        </p:blipFill>
        <p:spPr>
          <a:xfrm>
            <a:off x="6263640" y="1325880"/>
            <a:ext cx="5074920" cy="3337560"/>
          </a:xfrm>
          <a:prstGeom prst="rect">
            <a:avLst/>
          </a:prstGeom>
          <a:noFill/>
          <a:ln>
            <a:noFill/>
          </a:ln>
        </p:spPr>
      </p:pic>
      <p:sp>
        <p:nvSpPr>
          <p:cNvPr id="2068" name="Google Shape;2068;g3ee2e5faae5_3_987"/>
          <p:cNvSpPr/>
          <p:nvPr/>
        </p:nvSpPr>
        <p:spPr>
          <a:xfrm>
            <a:off x="822960" y="4740170"/>
            <a:ext cx="10287000" cy="7863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69" name="Google Shape;2069;g3ee2e5faae5_3_987"/>
          <p:cNvSpPr txBox="1"/>
          <p:nvPr/>
        </p:nvSpPr>
        <p:spPr>
          <a:xfrm>
            <a:off x="1051560" y="5005369"/>
            <a:ext cx="9829800" cy="255900"/>
          </a:xfrm>
          <a:prstGeom prst="rect">
            <a:avLst/>
          </a:prstGeom>
          <a:noFill/>
          <a:ln>
            <a:noFill/>
          </a:ln>
        </p:spPr>
        <p:txBody>
          <a:bodyPr anchorCtr="0" anchor="t" bIns="45700" lIns="91425" spcFirstLastPara="1" rIns="91425" wrap="square" tIns="45700">
            <a:normAutofit fontScale="77500"/>
          </a:bodyPr>
          <a:lstStyle/>
          <a:p>
            <a:pPr indent="0" lvl="0" marL="0" marR="0" rtl="0" algn="l">
              <a:lnSpc>
                <a:spcPct val="100000"/>
              </a:lnSpc>
              <a:spcBef>
                <a:spcPts val="0"/>
              </a:spcBef>
              <a:spcAft>
                <a:spcPts val="0"/>
              </a:spcAft>
              <a:buNone/>
            </a:pPr>
            <a:r>
              <a:rPr b="0" i="0" lang="en" sz="1220" u="none" cap="none" strike="noStrike">
                <a:solidFill>
                  <a:srgbClr val="16222D"/>
                </a:solidFill>
                <a:latin typeface="Arial"/>
                <a:ea typeface="Arial"/>
                <a:cs typeface="Arial"/>
                <a:sym typeface="Arial"/>
              </a:rPr>
              <a:t>The dependence check shows how the top feature changes model output direction on the log-cost scale; this supports root-cause analysis of individual high or low predictions.</a:t>
            </a:r>
            <a:endParaRPr/>
          </a:p>
        </p:txBody>
      </p:sp>
      <p:sp>
        <p:nvSpPr>
          <p:cNvPr id="2070" name="Google Shape;2070;g3ee2e5faae5_3_987"/>
          <p:cNvSpPr txBox="1"/>
          <p:nvPr/>
        </p:nvSpPr>
        <p:spPr>
          <a:xfrm>
            <a:off x="7182545" y="6310445"/>
            <a:ext cx="2011800" cy="201300"/>
          </a:xfrm>
          <a:prstGeom prst="rect">
            <a:avLst/>
          </a:prstGeom>
          <a:noFill/>
          <a:ln>
            <a:noFill/>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0" i="0" lang="en" sz="1350" u="none" cap="none" strike="noStrike">
                <a:solidFill>
                  <a:schemeClr val="dk1"/>
                </a:solidFill>
                <a:latin typeface="Arial"/>
                <a:ea typeface="Arial"/>
                <a:cs typeface="Arial"/>
                <a:sym typeface="Arial"/>
              </a:rPr>
              <a:t>Takal Ebrahimkhel</a:t>
            </a:r>
            <a:endParaRPr sz="1900">
              <a:solidFill>
                <a:schemeClr val="dk1"/>
              </a:solidFill>
            </a:endParaRPr>
          </a:p>
        </p:txBody>
      </p:sp>
      <p:sp>
        <p:nvSpPr>
          <p:cNvPr id="2071" name="Google Shape;2071;g3ee2e5faae5_3_98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5" name="Shape 2075"/>
        <p:cNvGrpSpPr/>
        <p:nvPr/>
      </p:nvGrpSpPr>
      <p:grpSpPr>
        <a:xfrm>
          <a:off x="0" y="0"/>
          <a:ext cx="0" cy="0"/>
          <a:chOff x="0" y="0"/>
          <a:chExt cx="0" cy="0"/>
        </a:xfrm>
      </p:grpSpPr>
      <p:sp>
        <p:nvSpPr>
          <p:cNvPr id="2076" name="Google Shape;2076;g3ee2e5faae5_3_1090"/>
          <p:cNvSpPr/>
          <p:nvPr/>
        </p:nvSpPr>
        <p:spPr>
          <a:xfrm>
            <a:off x="0" y="0"/>
            <a:ext cx="12191700" cy="164700"/>
          </a:xfrm>
          <a:prstGeom prst="rect">
            <a:avLst/>
          </a:prstGeom>
          <a:solidFill>
            <a:srgbClr val="0F766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77" name="Google Shape;2077;g3ee2e5faae5_3_1090"/>
          <p:cNvSpPr txBox="1"/>
          <p:nvPr/>
        </p:nvSpPr>
        <p:spPr>
          <a:xfrm>
            <a:off x="566928" y="347472"/>
            <a:ext cx="7955400" cy="502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1" i="0" lang="en" sz="2500" u="none" cap="none" strike="noStrike">
                <a:solidFill>
                  <a:srgbClr val="0C293E"/>
                </a:solidFill>
                <a:latin typeface="Arial"/>
                <a:ea typeface="Arial"/>
                <a:cs typeface="Arial"/>
                <a:sym typeface="Arial"/>
              </a:rPr>
              <a:t>Final Test Evaluation</a:t>
            </a:r>
            <a:endParaRPr/>
          </a:p>
        </p:txBody>
      </p:sp>
      <p:sp>
        <p:nvSpPr>
          <p:cNvPr id="2078" name="Google Shape;2078;g3ee2e5faae5_3_1090"/>
          <p:cNvSpPr txBox="1"/>
          <p:nvPr/>
        </p:nvSpPr>
        <p:spPr>
          <a:xfrm>
            <a:off x="585216" y="850392"/>
            <a:ext cx="8778300" cy="3291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250" u="none" cap="none" strike="noStrike">
                <a:solidFill>
                  <a:srgbClr val="5D6C7C"/>
                </a:solidFill>
                <a:latin typeface="Arial"/>
                <a:ea typeface="Arial"/>
                <a:cs typeface="Arial"/>
                <a:sym typeface="Arial"/>
              </a:rPr>
              <a:t>Performance on the untouched 15% test set</a:t>
            </a:r>
            <a:endParaRPr/>
          </a:p>
        </p:txBody>
      </p:sp>
      <p:sp>
        <p:nvSpPr>
          <p:cNvPr id="2079" name="Google Shape;2079;g3ee2e5faae5_3_1090"/>
          <p:cNvSpPr/>
          <p:nvPr/>
        </p:nvSpPr>
        <p:spPr>
          <a:xfrm>
            <a:off x="9646920" y="411480"/>
            <a:ext cx="1965900" cy="3291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050" u="none" cap="none" strike="noStrike">
                <a:solidFill>
                  <a:srgbClr val="0F766E"/>
                </a:solidFill>
                <a:latin typeface="Arial"/>
                <a:ea typeface="Arial"/>
                <a:cs typeface="Arial"/>
                <a:sym typeface="Arial"/>
              </a:rPr>
              <a:t>Tasks 8-9</a:t>
            </a:r>
            <a:endParaRPr/>
          </a:p>
        </p:txBody>
      </p:sp>
      <p:sp>
        <p:nvSpPr>
          <p:cNvPr id="2080" name="Google Shape;2080;g3ee2e5faae5_3_1090"/>
          <p:cNvSpPr txBox="1"/>
          <p:nvPr/>
        </p:nvSpPr>
        <p:spPr>
          <a:xfrm>
            <a:off x="566928" y="6446520"/>
            <a:ext cx="1920300" cy="2013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100000"/>
              </a:lnSpc>
              <a:spcBef>
                <a:spcPts val="0"/>
              </a:spcBef>
              <a:spcAft>
                <a:spcPts val="0"/>
              </a:spcAft>
              <a:buNone/>
            </a:pPr>
            <a:r>
              <a:rPr b="1" i="0" lang="en" sz="850" u="none" cap="none" strike="noStrike">
                <a:solidFill>
                  <a:srgbClr val="5D6C7C"/>
                </a:solidFill>
                <a:latin typeface="Arial"/>
                <a:ea typeface="Arial"/>
                <a:cs typeface="Arial"/>
                <a:sym typeface="Arial"/>
              </a:rPr>
              <a:t>Tasks 8-9</a:t>
            </a:r>
            <a:endParaRPr/>
          </a:p>
        </p:txBody>
      </p:sp>
      <p:pic>
        <p:nvPicPr>
          <p:cNvPr descr="test_metrics_table.png" id="2081" name="Google Shape;2081;g3ee2e5faae5_3_1090"/>
          <p:cNvPicPr preferRelativeResize="0"/>
          <p:nvPr/>
        </p:nvPicPr>
        <p:blipFill rotWithShape="1">
          <a:blip r:embed="rId3">
            <a:alphaModFix/>
          </a:blip>
          <a:srcRect b="0" l="0" r="0" t="0"/>
          <a:stretch/>
        </p:blipFill>
        <p:spPr>
          <a:xfrm>
            <a:off x="231644" y="1426274"/>
            <a:ext cx="5117597" cy="2057590"/>
          </a:xfrm>
          <a:prstGeom prst="rect">
            <a:avLst/>
          </a:prstGeom>
          <a:noFill/>
          <a:ln>
            <a:noFill/>
          </a:ln>
        </p:spPr>
      </p:pic>
      <p:pic>
        <p:nvPicPr>
          <p:cNvPr descr="actual_vs_predicted_test.png" id="2082" name="Google Shape;2082;g3ee2e5faae5_3_1090"/>
          <p:cNvPicPr preferRelativeResize="0"/>
          <p:nvPr/>
        </p:nvPicPr>
        <p:blipFill rotWithShape="1">
          <a:blip r:embed="rId4">
            <a:alphaModFix/>
          </a:blip>
          <a:srcRect b="0" l="0" r="0" t="0"/>
          <a:stretch/>
        </p:blipFill>
        <p:spPr>
          <a:xfrm>
            <a:off x="5349240" y="1143000"/>
            <a:ext cx="3931921" cy="3886199"/>
          </a:xfrm>
          <a:prstGeom prst="rect">
            <a:avLst/>
          </a:prstGeom>
          <a:noFill/>
          <a:ln>
            <a:noFill/>
          </a:ln>
        </p:spPr>
      </p:pic>
      <p:sp>
        <p:nvSpPr>
          <p:cNvPr id="2083" name="Google Shape;2083;g3ee2e5faae5_3_1090"/>
          <p:cNvSpPr/>
          <p:nvPr/>
        </p:nvSpPr>
        <p:spPr>
          <a:xfrm>
            <a:off x="9464040" y="1234440"/>
            <a:ext cx="1920300" cy="37947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84" name="Google Shape;2084;g3ee2e5faae5_3_1090"/>
          <p:cNvSpPr txBox="1"/>
          <p:nvPr/>
        </p:nvSpPr>
        <p:spPr>
          <a:xfrm>
            <a:off x="9628632" y="1344168"/>
            <a:ext cx="1591200" cy="2559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100000"/>
              </a:lnSpc>
              <a:spcBef>
                <a:spcPts val="0"/>
              </a:spcBef>
              <a:spcAft>
                <a:spcPts val="0"/>
              </a:spcAft>
              <a:buNone/>
            </a:pPr>
            <a:r>
              <a:rPr b="1" i="0" lang="en" sz="1150" u="none" cap="none" strike="noStrike">
                <a:solidFill>
                  <a:srgbClr val="0C293E"/>
                </a:solidFill>
                <a:latin typeface="Arial"/>
                <a:ea typeface="Arial"/>
                <a:cs typeface="Arial"/>
                <a:sym typeface="Arial"/>
              </a:rPr>
              <a:t>Final scores</a:t>
            </a:r>
            <a:endParaRPr/>
          </a:p>
        </p:txBody>
      </p:sp>
      <p:sp>
        <p:nvSpPr>
          <p:cNvPr id="2085" name="Google Shape;2085;g3ee2e5faae5_3_1090"/>
          <p:cNvSpPr/>
          <p:nvPr/>
        </p:nvSpPr>
        <p:spPr>
          <a:xfrm>
            <a:off x="9646920" y="1783080"/>
            <a:ext cx="1554600" cy="7131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86" name="Google Shape;2086;g3ee2e5faae5_3_1090"/>
          <p:cNvSpPr txBox="1"/>
          <p:nvPr/>
        </p:nvSpPr>
        <p:spPr>
          <a:xfrm>
            <a:off x="9756648" y="1892807"/>
            <a:ext cx="1335000" cy="255900"/>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lnSpc>
                <a:spcPct val="100000"/>
              </a:lnSpc>
              <a:spcBef>
                <a:spcPts val="0"/>
              </a:spcBef>
              <a:spcAft>
                <a:spcPts val="0"/>
              </a:spcAft>
              <a:buNone/>
            </a:pPr>
            <a:r>
              <a:rPr b="1" i="0" lang="en" sz="1600" u="none" cap="none" strike="noStrike">
                <a:solidFill>
                  <a:srgbClr val="0F766E"/>
                </a:solidFill>
                <a:latin typeface="Arial"/>
                <a:ea typeface="Arial"/>
                <a:cs typeface="Arial"/>
                <a:sym typeface="Arial"/>
              </a:rPr>
              <a:t>$2.46</a:t>
            </a:r>
            <a:endParaRPr/>
          </a:p>
        </p:txBody>
      </p:sp>
      <p:sp>
        <p:nvSpPr>
          <p:cNvPr id="2087" name="Google Shape;2087;g3ee2e5faae5_3_1090"/>
          <p:cNvSpPr txBox="1"/>
          <p:nvPr/>
        </p:nvSpPr>
        <p:spPr>
          <a:xfrm>
            <a:off x="9738360" y="2194560"/>
            <a:ext cx="1371600" cy="183000"/>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ctr">
              <a:lnSpc>
                <a:spcPct val="100000"/>
              </a:lnSpc>
              <a:spcBef>
                <a:spcPts val="0"/>
              </a:spcBef>
              <a:spcAft>
                <a:spcPts val="0"/>
              </a:spcAft>
              <a:buNone/>
            </a:pPr>
            <a:r>
              <a:rPr b="0" i="0" lang="en" sz="850" u="none" cap="none" strike="noStrike">
                <a:solidFill>
                  <a:srgbClr val="5D6C7C"/>
                </a:solidFill>
                <a:latin typeface="Arial"/>
                <a:ea typeface="Arial"/>
                <a:cs typeface="Arial"/>
                <a:sym typeface="Arial"/>
              </a:rPr>
              <a:t>MAE</a:t>
            </a:r>
            <a:endParaRPr/>
          </a:p>
        </p:txBody>
      </p:sp>
      <p:sp>
        <p:nvSpPr>
          <p:cNvPr id="2088" name="Google Shape;2088;g3ee2e5faae5_3_1090"/>
          <p:cNvSpPr/>
          <p:nvPr/>
        </p:nvSpPr>
        <p:spPr>
          <a:xfrm>
            <a:off x="9646920" y="2651760"/>
            <a:ext cx="1554600" cy="7131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89" name="Google Shape;2089;g3ee2e5faae5_3_1090"/>
          <p:cNvSpPr txBox="1"/>
          <p:nvPr/>
        </p:nvSpPr>
        <p:spPr>
          <a:xfrm>
            <a:off x="9756648" y="2761488"/>
            <a:ext cx="1335000" cy="255900"/>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lnSpc>
                <a:spcPct val="100000"/>
              </a:lnSpc>
              <a:spcBef>
                <a:spcPts val="0"/>
              </a:spcBef>
              <a:spcAft>
                <a:spcPts val="0"/>
              </a:spcAft>
              <a:buNone/>
            </a:pPr>
            <a:r>
              <a:rPr b="1" i="0" lang="en" sz="1600" u="none" cap="none" strike="noStrike">
                <a:solidFill>
                  <a:srgbClr val="B45309"/>
                </a:solidFill>
                <a:latin typeface="Arial"/>
                <a:ea typeface="Arial"/>
                <a:cs typeface="Arial"/>
                <a:sym typeface="Arial"/>
              </a:rPr>
              <a:t>$11.00</a:t>
            </a:r>
            <a:endParaRPr/>
          </a:p>
        </p:txBody>
      </p:sp>
      <p:sp>
        <p:nvSpPr>
          <p:cNvPr id="2090" name="Google Shape;2090;g3ee2e5faae5_3_1090"/>
          <p:cNvSpPr txBox="1"/>
          <p:nvPr/>
        </p:nvSpPr>
        <p:spPr>
          <a:xfrm>
            <a:off x="9738360" y="3063240"/>
            <a:ext cx="1371600" cy="183000"/>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ctr">
              <a:lnSpc>
                <a:spcPct val="100000"/>
              </a:lnSpc>
              <a:spcBef>
                <a:spcPts val="0"/>
              </a:spcBef>
              <a:spcAft>
                <a:spcPts val="0"/>
              </a:spcAft>
              <a:buNone/>
            </a:pPr>
            <a:r>
              <a:rPr b="0" i="0" lang="en" sz="850" u="none" cap="none" strike="noStrike">
                <a:solidFill>
                  <a:srgbClr val="5D6C7C"/>
                </a:solidFill>
                <a:latin typeface="Arial"/>
                <a:ea typeface="Arial"/>
                <a:cs typeface="Arial"/>
                <a:sym typeface="Arial"/>
              </a:rPr>
              <a:t>RMSE</a:t>
            </a:r>
            <a:endParaRPr/>
          </a:p>
        </p:txBody>
      </p:sp>
      <p:sp>
        <p:nvSpPr>
          <p:cNvPr id="2091" name="Google Shape;2091;g3ee2e5faae5_3_1090"/>
          <p:cNvSpPr/>
          <p:nvPr/>
        </p:nvSpPr>
        <p:spPr>
          <a:xfrm>
            <a:off x="9646920" y="3520440"/>
            <a:ext cx="1554600" cy="7131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92" name="Google Shape;2092;g3ee2e5faae5_3_1090"/>
          <p:cNvSpPr txBox="1"/>
          <p:nvPr/>
        </p:nvSpPr>
        <p:spPr>
          <a:xfrm>
            <a:off x="9756648" y="3630168"/>
            <a:ext cx="1335000" cy="255900"/>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lnSpc>
                <a:spcPct val="100000"/>
              </a:lnSpc>
              <a:spcBef>
                <a:spcPts val="0"/>
              </a:spcBef>
              <a:spcAft>
                <a:spcPts val="0"/>
              </a:spcAft>
              <a:buNone/>
            </a:pPr>
            <a:r>
              <a:rPr b="1" i="0" lang="en" sz="1600" u="none" cap="none" strike="noStrike">
                <a:solidFill>
                  <a:srgbClr val="0F766E"/>
                </a:solidFill>
                <a:latin typeface="Arial"/>
                <a:ea typeface="Arial"/>
                <a:cs typeface="Arial"/>
                <a:sym typeface="Arial"/>
              </a:rPr>
              <a:t>0.849</a:t>
            </a:r>
            <a:endParaRPr/>
          </a:p>
        </p:txBody>
      </p:sp>
      <p:sp>
        <p:nvSpPr>
          <p:cNvPr id="2093" name="Google Shape;2093;g3ee2e5faae5_3_1090"/>
          <p:cNvSpPr txBox="1"/>
          <p:nvPr/>
        </p:nvSpPr>
        <p:spPr>
          <a:xfrm>
            <a:off x="9738360" y="3931920"/>
            <a:ext cx="1371600" cy="183000"/>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ctr">
              <a:lnSpc>
                <a:spcPct val="100000"/>
              </a:lnSpc>
              <a:spcBef>
                <a:spcPts val="0"/>
              </a:spcBef>
              <a:spcAft>
                <a:spcPts val="0"/>
              </a:spcAft>
              <a:buNone/>
            </a:pPr>
            <a:r>
              <a:rPr b="0" i="0" lang="en" sz="850" u="none" cap="none" strike="noStrike">
                <a:solidFill>
                  <a:srgbClr val="5D6C7C"/>
                </a:solidFill>
                <a:latin typeface="Arial"/>
                <a:ea typeface="Arial"/>
                <a:cs typeface="Arial"/>
                <a:sym typeface="Arial"/>
              </a:rPr>
              <a:t>R2</a:t>
            </a:r>
            <a:endParaRPr/>
          </a:p>
        </p:txBody>
      </p:sp>
      <p:sp>
        <p:nvSpPr>
          <p:cNvPr id="2094" name="Google Shape;2094;g3ee2e5faae5_3_1090"/>
          <p:cNvSpPr/>
          <p:nvPr/>
        </p:nvSpPr>
        <p:spPr>
          <a:xfrm>
            <a:off x="9646920" y="4389120"/>
            <a:ext cx="1554600" cy="713100"/>
          </a:xfrm>
          <a:prstGeom prst="roundRect">
            <a:avLst>
              <a:gd fmla="val 16667" name="adj"/>
            </a:avLst>
          </a:prstGeom>
          <a:solidFill>
            <a:srgbClr val="FFFFFF"/>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95" name="Google Shape;2095;g3ee2e5faae5_3_1090"/>
          <p:cNvSpPr txBox="1"/>
          <p:nvPr/>
        </p:nvSpPr>
        <p:spPr>
          <a:xfrm>
            <a:off x="9756648" y="4498848"/>
            <a:ext cx="1335000" cy="255900"/>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lnSpc>
                <a:spcPct val="100000"/>
              </a:lnSpc>
              <a:spcBef>
                <a:spcPts val="0"/>
              </a:spcBef>
              <a:spcAft>
                <a:spcPts val="0"/>
              </a:spcAft>
              <a:buNone/>
            </a:pPr>
            <a:r>
              <a:rPr b="1" i="0" lang="en" sz="1600" u="none" cap="none" strike="noStrike">
                <a:solidFill>
                  <a:srgbClr val="0F766E"/>
                </a:solidFill>
                <a:latin typeface="Arial"/>
                <a:ea typeface="Arial"/>
                <a:cs typeface="Arial"/>
                <a:sym typeface="Arial"/>
              </a:rPr>
              <a:t>0.214</a:t>
            </a:r>
            <a:endParaRPr/>
          </a:p>
        </p:txBody>
      </p:sp>
      <p:sp>
        <p:nvSpPr>
          <p:cNvPr id="2096" name="Google Shape;2096;g3ee2e5faae5_3_1090"/>
          <p:cNvSpPr txBox="1"/>
          <p:nvPr/>
        </p:nvSpPr>
        <p:spPr>
          <a:xfrm>
            <a:off x="9738360" y="4800600"/>
            <a:ext cx="1371600" cy="183000"/>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ctr">
              <a:lnSpc>
                <a:spcPct val="100000"/>
              </a:lnSpc>
              <a:spcBef>
                <a:spcPts val="0"/>
              </a:spcBef>
              <a:spcAft>
                <a:spcPts val="0"/>
              </a:spcAft>
              <a:buNone/>
            </a:pPr>
            <a:r>
              <a:rPr b="0" i="0" lang="en" sz="850" u="none" cap="none" strike="noStrike">
                <a:solidFill>
                  <a:srgbClr val="5D6C7C"/>
                </a:solidFill>
                <a:latin typeface="Arial"/>
                <a:ea typeface="Arial"/>
                <a:cs typeface="Arial"/>
                <a:sym typeface="Arial"/>
              </a:rPr>
              <a:t>RMSLE</a:t>
            </a:r>
            <a:endParaRPr/>
          </a:p>
        </p:txBody>
      </p:sp>
      <p:sp>
        <p:nvSpPr>
          <p:cNvPr id="2097" name="Google Shape;2097;g3ee2e5faae5_3_1090"/>
          <p:cNvSpPr txBox="1"/>
          <p:nvPr/>
        </p:nvSpPr>
        <p:spPr>
          <a:xfrm>
            <a:off x="7182545" y="6310445"/>
            <a:ext cx="2011800" cy="201300"/>
          </a:xfrm>
          <a:prstGeom prst="rect">
            <a:avLst/>
          </a:prstGeom>
          <a:noFill/>
          <a:ln>
            <a:noFill/>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0" i="0" lang="en" sz="1350" u="none" cap="none" strike="noStrike">
                <a:solidFill>
                  <a:schemeClr val="dk1"/>
                </a:solidFill>
                <a:latin typeface="Arial"/>
                <a:ea typeface="Arial"/>
                <a:cs typeface="Arial"/>
                <a:sym typeface="Arial"/>
              </a:rPr>
              <a:t>Takal Ebrahimkhel</a:t>
            </a:r>
            <a:endParaRPr sz="1900">
              <a:solidFill>
                <a:schemeClr val="dk1"/>
              </a:solidFill>
            </a:endParaRPr>
          </a:p>
        </p:txBody>
      </p:sp>
      <p:sp>
        <p:nvSpPr>
          <p:cNvPr id="2098" name="Google Shape;2098;g3ee2e5faae5_3_109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
        <p:nvSpPr>
          <p:cNvPr id="2099" name="Google Shape;2099;g3ee2e5faae5_3_1090"/>
          <p:cNvSpPr txBox="1"/>
          <p:nvPr/>
        </p:nvSpPr>
        <p:spPr>
          <a:xfrm>
            <a:off x="208250" y="3833400"/>
            <a:ext cx="4958100" cy="1693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The tuned XGBoost model achieved a test MAE of about 2 dollars and 46 cents, RMSE of about 11 dollars, R squared of about 0.849, and RMSLE of about 0.214. </a:t>
            </a:r>
            <a:endParaRPr/>
          </a:p>
          <a:p>
            <a:pPr indent="-317500" lvl="0" marL="457200" rtl="0" algn="l">
              <a:spcBef>
                <a:spcPts val="0"/>
              </a:spcBef>
              <a:spcAft>
                <a:spcPts val="0"/>
              </a:spcAft>
              <a:buSzPts val="1400"/>
              <a:buChar char="-"/>
            </a:pPr>
            <a:r>
              <a:rPr lang="en"/>
              <a:t>The actual-versus-predicted plot shows that most predictions follow the diagonal pattern, which means predicted costs generally track actual costs well.</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3" name="Shape 2103"/>
        <p:cNvGrpSpPr/>
        <p:nvPr/>
      </p:nvGrpSpPr>
      <p:grpSpPr>
        <a:xfrm>
          <a:off x="0" y="0"/>
          <a:ext cx="0" cy="0"/>
          <a:chOff x="0" y="0"/>
          <a:chExt cx="0" cy="0"/>
        </a:xfrm>
      </p:grpSpPr>
      <p:sp>
        <p:nvSpPr>
          <p:cNvPr id="2104" name="Google Shape;2104;g3ee2e5faae5_3_1205"/>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Play"/>
              <a:buNone/>
            </a:pPr>
            <a:r>
              <a:t/>
            </a:r>
            <a:endParaRPr/>
          </a:p>
        </p:txBody>
      </p:sp>
      <p:sp>
        <p:nvSpPr>
          <p:cNvPr id="2105" name="Google Shape;2105;g3ee2e5faae5_3_1205"/>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1000"/>
              </a:spcBef>
              <a:spcAft>
                <a:spcPts val="0"/>
              </a:spcAft>
              <a:buClr>
                <a:srgbClr val="757575"/>
              </a:buClr>
              <a:buSzPts val="2400"/>
              <a:buNone/>
            </a:pPr>
            <a:r>
              <a:t/>
            </a:r>
            <a:endParaRPr/>
          </a:p>
        </p:txBody>
      </p:sp>
      <p:sp>
        <p:nvSpPr>
          <p:cNvPr id="2106" name="Google Shape;2106;g3ee2e5faae5_3_1205"/>
          <p:cNvSpPr/>
          <p:nvPr/>
        </p:nvSpPr>
        <p:spPr>
          <a:xfrm>
            <a:off x="0" y="0"/>
            <a:ext cx="12191700" cy="164700"/>
          </a:xfrm>
          <a:prstGeom prst="rect">
            <a:avLst/>
          </a:prstGeom>
          <a:solidFill>
            <a:srgbClr val="0F766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07" name="Google Shape;2107;g3ee2e5faae5_3_1205"/>
          <p:cNvSpPr txBox="1"/>
          <p:nvPr/>
        </p:nvSpPr>
        <p:spPr>
          <a:xfrm>
            <a:off x="566928" y="347472"/>
            <a:ext cx="7955400" cy="502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1" i="0" lang="en" sz="2500" u="none" cap="none" strike="noStrike">
                <a:solidFill>
                  <a:srgbClr val="0C293E"/>
                </a:solidFill>
                <a:latin typeface="Arial"/>
                <a:ea typeface="Arial"/>
                <a:cs typeface="Arial"/>
                <a:sym typeface="Arial"/>
              </a:rPr>
              <a:t>Error and Limitation Analysis</a:t>
            </a:r>
            <a:endParaRPr/>
          </a:p>
        </p:txBody>
      </p:sp>
      <p:sp>
        <p:nvSpPr>
          <p:cNvPr id="2108" name="Google Shape;2108;g3ee2e5faae5_3_1205"/>
          <p:cNvSpPr txBox="1"/>
          <p:nvPr/>
        </p:nvSpPr>
        <p:spPr>
          <a:xfrm>
            <a:off x="585216" y="850392"/>
            <a:ext cx="8778300" cy="3291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250" u="none" cap="none" strike="noStrike">
                <a:solidFill>
                  <a:srgbClr val="5D6C7C"/>
                </a:solidFill>
                <a:latin typeface="Arial"/>
                <a:ea typeface="Arial"/>
                <a:cs typeface="Arial"/>
                <a:sym typeface="Arial"/>
              </a:rPr>
              <a:t>Where the final model is strongest and weakest</a:t>
            </a:r>
            <a:endParaRPr/>
          </a:p>
        </p:txBody>
      </p:sp>
      <p:sp>
        <p:nvSpPr>
          <p:cNvPr id="2109" name="Google Shape;2109;g3ee2e5faae5_3_1205"/>
          <p:cNvSpPr/>
          <p:nvPr/>
        </p:nvSpPr>
        <p:spPr>
          <a:xfrm>
            <a:off x="9646920" y="411480"/>
            <a:ext cx="1965900" cy="3291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050" u="none" cap="none" strike="noStrike">
                <a:solidFill>
                  <a:srgbClr val="0F766E"/>
                </a:solidFill>
                <a:latin typeface="Arial"/>
                <a:ea typeface="Arial"/>
                <a:cs typeface="Arial"/>
                <a:sym typeface="Arial"/>
              </a:rPr>
              <a:t>Tasks 8-9</a:t>
            </a:r>
            <a:endParaRPr/>
          </a:p>
        </p:txBody>
      </p:sp>
      <p:sp>
        <p:nvSpPr>
          <p:cNvPr id="2110" name="Google Shape;2110;g3ee2e5faae5_3_1205"/>
          <p:cNvSpPr txBox="1"/>
          <p:nvPr/>
        </p:nvSpPr>
        <p:spPr>
          <a:xfrm>
            <a:off x="566928" y="6446520"/>
            <a:ext cx="1920300" cy="2013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100000"/>
              </a:lnSpc>
              <a:spcBef>
                <a:spcPts val="0"/>
              </a:spcBef>
              <a:spcAft>
                <a:spcPts val="0"/>
              </a:spcAft>
              <a:buNone/>
            </a:pPr>
            <a:r>
              <a:rPr b="1" i="0" lang="en" sz="850" u="none" cap="none" strike="noStrike">
                <a:solidFill>
                  <a:srgbClr val="5D6C7C"/>
                </a:solidFill>
                <a:latin typeface="Arial"/>
                <a:ea typeface="Arial"/>
                <a:cs typeface="Arial"/>
                <a:sym typeface="Arial"/>
              </a:rPr>
              <a:t>Tasks 8-9</a:t>
            </a:r>
            <a:endParaRPr/>
          </a:p>
        </p:txBody>
      </p:sp>
      <p:pic>
        <p:nvPicPr>
          <p:cNvPr descr="residual_diagnostics.png" id="2111" name="Google Shape;2111;g3ee2e5faae5_3_1205"/>
          <p:cNvPicPr preferRelativeResize="0"/>
          <p:nvPr/>
        </p:nvPicPr>
        <p:blipFill rotWithShape="1">
          <a:blip r:embed="rId3">
            <a:alphaModFix/>
          </a:blip>
          <a:srcRect b="0" l="0" r="0" t="0"/>
          <a:stretch/>
        </p:blipFill>
        <p:spPr>
          <a:xfrm>
            <a:off x="594360" y="1234440"/>
            <a:ext cx="5714998" cy="2971799"/>
          </a:xfrm>
          <a:prstGeom prst="rect">
            <a:avLst/>
          </a:prstGeom>
          <a:noFill/>
          <a:ln>
            <a:noFill/>
          </a:ln>
        </p:spPr>
      </p:pic>
      <p:pic>
        <p:nvPicPr>
          <p:cNvPr descr="error_by_cost_band.png" id="2112" name="Google Shape;2112;g3ee2e5faae5_3_1205"/>
          <p:cNvPicPr preferRelativeResize="0"/>
          <p:nvPr/>
        </p:nvPicPr>
        <p:blipFill rotWithShape="1">
          <a:blip r:embed="rId4">
            <a:alphaModFix/>
          </a:blip>
          <a:srcRect b="0" l="0" r="0" t="0"/>
          <a:stretch/>
        </p:blipFill>
        <p:spPr>
          <a:xfrm>
            <a:off x="6537960" y="1234440"/>
            <a:ext cx="4800599" cy="2971800"/>
          </a:xfrm>
          <a:prstGeom prst="rect">
            <a:avLst/>
          </a:prstGeom>
          <a:noFill/>
          <a:ln>
            <a:noFill/>
          </a:ln>
        </p:spPr>
      </p:pic>
      <p:sp>
        <p:nvSpPr>
          <p:cNvPr id="2113" name="Google Shape;2113;g3ee2e5faae5_3_1205"/>
          <p:cNvSpPr/>
          <p:nvPr/>
        </p:nvSpPr>
        <p:spPr>
          <a:xfrm>
            <a:off x="822960" y="4526280"/>
            <a:ext cx="10241400" cy="9144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14" name="Google Shape;2114;g3ee2e5faae5_3_1205"/>
          <p:cNvSpPr txBox="1"/>
          <p:nvPr/>
        </p:nvSpPr>
        <p:spPr>
          <a:xfrm>
            <a:off x="1051560" y="4736592"/>
            <a:ext cx="9829800" cy="502800"/>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l">
              <a:lnSpc>
                <a:spcPct val="100000"/>
              </a:lnSpc>
              <a:spcBef>
                <a:spcPts val="0"/>
              </a:spcBef>
              <a:spcAft>
                <a:spcPts val="0"/>
              </a:spcAft>
              <a:buNone/>
            </a:pPr>
            <a:r>
              <a:rPr b="0" i="0" lang="en" sz="1130" u="none" cap="none" strike="noStrike">
                <a:solidFill>
                  <a:srgbClr val="16222D"/>
                </a:solidFill>
                <a:latin typeface="Arial"/>
                <a:ea typeface="Arial"/>
                <a:cs typeface="Arial"/>
                <a:sym typeface="Arial"/>
              </a:rPr>
              <a:t>Low-cost rows dominate the data and are predicted most accurately.</a:t>
            </a:r>
            <a:endParaRPr/>
          </a:p>
          <a:p>
            <a:pPr indent="0" lvl="0" marL="0" marR="0" rtl="0" algn="l">
              <a:lnSpc>
                <a:spcPct val="100000"/>
              </a:lnSpc>
              <a:spcBef>
                <a:spcPts val="400"/>
              </a:spcBef>
              <a:spcAft>
                <a:spcPts val="0"/>
              </a:spcAft>
              <a:buNone/>
            </a:pPr>
            <a:r>
              <a:rPr b="0" i="0" lang="en" sz="1130" u="none" cap="none" strike="noStrike">
                <a:solidFill>
                  <a:srgbClr val="16222D"/>
                </a:solidFill>
                <a:latin typeface="Arial"/>
                <a:ea typeface="Arial"/>
                <a:cs typeface="Arial"/>
                <a:sym typeface="Arial"/>
              </a:rPr>
              <a:t>Errors increase for $50+ and especially $100+ assemblies because these examples are rarer and more variable.</a:t>
            </a:r>
            <a:endParaRPr/>
          </a:p>
          <a:p>
            <a:pPr indent="0" lvl="0" marL="0" marR="0" rtl="0" algn="l">
              <a:lnSpc>
                <a:spcPct val="100000"/>
              </a:lnSpc>
              <a:spcBef>
                <a:spcPts val="400"/>
              </a:spcBef>
              <a:spcAft>
                <a:spcPts val="0"/>
              </a:spcAft>
              <a:buNone/>
            </a:pPr>
            <a:r>
              <a:rPr b="0" i="0" lang="en" sz="1130" u="none" cap="none" strike="noStrike">
                <a:solidFill>
                  <a:srgbClr val="16222D"/>
                </a:solidFill>
                <a:latin typeface="Arial"/>
                <a:ea typeface="Arial"/>
                <a:cs typeface="Arial"/>
                <a:sym typeface="Arial"/>
              </a:rPr>
              <a:t>Recommendation: flag high-cost predictions for human review instead of fully automating them.</a:t>
            </a:r>
            <a:endParaRPr/>
          </a:p>
        </p:txBody>
      </p:sp>
      <p:sp>
        <p:nvSpPr>
          <p:cNvPr id="2115" name="Google Shape;2115;g3ee2e5faae5_3_1205"/>
          <p:cNvSpPr txBox="1"/>
          <p:nvPr/>
        </p:nvSpPr>
        <p:spPr>
          <a:xfrm>
            <a:off x="7182545" y="6310445"/>
            <a:ext cx="2011800" cy="201300"/>
          </a:xfrm>
          <a:prstGeom prst="rect">
            <a:avLst/>
          </a:prstGeom>
          <a:noFill/>
          <a:ln>
            <a:noFill/>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0" i="0" lang="en" sz="1350" u="none" cap="none" strike="noStrike">
                <a:solidFill>
                  <a:schemeClr val="dk1"/>
                </a:solidFill>
                <a:latin typeface="Arial"/>
                <a:ea typeface="Arial"/>
                <a:cs typeface="Arial"/>
                <a:sym typeface="Arial"/>
              </a:rPr>
              <a:t>Takal Ebrahimkhel</a:t>
            </a:r>
            <a:endParaRPr sz="1900">
              <a:solidFill>
                <a:schemeClr val="dk1"/>
              </a:solidFill>
            </a:endParaRPr>
          </a:p>
        </p:txBody>
      </p:sp>
      <p:sp>
        <p:nvSpPr>
          <p:cNvPr id="2116" name="Google Shape;2116;g3ee2e5faae5_3_120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0" name="Shape 2120"/>
        <p:cNvGrpSpPr/>
        <p:nvPr/>
      </p:nvGrpSpPr>
      <p:grpSpPr>
        <a:xfrm>
          <a:off x="0" y="0"/>
          <a:ext cx="0" cy="0"/>
          <a:chOff x="0" y="0"/>
          <a:chExt cx="0" cy="0"/>
        </a:xfrm>
      </p:grpSpPr>
      <p:sp>
        <p:nvSpPr>
          <p:cNvPr id="2121" name="Google Shape;2121;g3ee2e5faae5_3_1308"/>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Play"/>
              <a:buNone/>
            </a:pPr>
            <a:r>
              <a:t/>
            </a:r>
            <a:endParaRPr/>
          </a:p>
        </p:txBody>
      </p:sp>
      <p:sp>
        <p:nvSpPr>
          <p:cNvPr id="2122" name="Google Shape;2122;g3ee2e5faae5_3_1308"/>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1000"/>
              </a:spcBef>
              <a:spcAft>
                <a:spcPts val="0"/>
              </a:spcAft>
              <a:buClr>
                <a:srgbClr val="757575"/>
              </a:buClr>
              <a:buSzPts val="2400"/>
              <a:buNone/>
            </a:pPr>
            <a:r>
              <a:t/>
            </a:r>
            <a:endParaRPr/>
          </a:p>
        </p:txBody>
      </p:sp>
      <p:sp>
        <p:nvSpPr>
          <p:cNvPr id="2123" name="Google Shape;2123;g3ee2e5faae5_3_1308"/>
          <p:cNvSpPr/>
          <p:nvPr/>
        </p:nvSpPr>
        <p:spPr>
          <a:xfrm>
            <a:off x="0" y="0"/>
            <a:ext cx="12191700" cy="164700"/>
          </a:xfrm>
          <a:prstGeom prst="rect">
            <a:avLst/>
          </a:prstGeom>
          <a:solidFill>
            <a:srgbClr val="0F766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24" name="Google Shape;2124;g3ee2e5faae5_3_1308"/>
          <p:cNvSpPr txBox="1"/>
          <p:nvPr/>
        </p:nvSpPr>
        <p:spPr>
          <a:xfrm>
            <a:off x="566928" y="347472"/>
            <a:ext cx="7955400" cy="502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1" i="0" lang="en" sz="2500" u="none" cap="none" strike="noStrike">
                <a:solidFill>
                  <a:srgbClr val="0C293E"/>
                </a:solidFill>
                <a:latin typeface="Arial"/>
                <a:ea typeface="Arial"/>
                <a:cs typeface="Arial"/>
                <a:sym typeface="Arial"/>
              </a:rPr>
              <a:t>Enhancement Log and Final Model Choice</a:t>
            </a:r>
            <a:endParaRPr/>
          </a:p>
        </p:txBody>
      </p:sp>
      <p:sp>
        <p:nvSpPr>
          <p:cNvPr id="2125" name="Google Shape;2125;g3ee2e5faae5_3_1308"/>
          <p:cNvSpPr txBox="1"/>
          <p:nvPr/>
        </p:nvSpPr>
        <p:spPr>
          <a:xfrm>
            <a:off x="585216" y="850392"/>
            <a:ext cx="8778300" cy="3291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0" i="0" lang="en" sz="1250" u="none" cap="none" strike="noStrike">
                <a:solidFill>
                  <a:srgbClr val="5D6C7C"/>
                </a:solidFill>
                <a:latin typeface="Arial"/>
                <a:ea typeface="Arial"/>
                <a:cs typeface="Arial"/>
                <a:sym typeface="Arial"/>
              </a:rPr>
              <a:t>Documented experiments used to improve and select the model</a:t>
            </a:r>
            <a:endParaRPr/>
          </a:p>
        </p:txBody>
      </p:sp>
      <p:sp>
        <p:nvSpPr>
          <p:cNvPr id="2126" name="Google Shape;2126;g3ee2e5faae5_3_1308"/>
          <p:cNvSpPr/>
          <p:nvPr/>
        </p:nvSpPr>
        <p:spPr>
          <a:xfrm>
            <a:off x="9646920" y="411480"/>
            <a:ext cx="1965900" cy="3291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050" u="none" cap="none" strike="noStrike">
                <a:solidFill>
                  <a:srgbClr val="0F766E"/>
                </a:solidFill>
                <a:latin typeface="Arial"/>
                <a:ea typeface="Arial"/>
                <a:cs typeface="Arial"/>
                <a:sym typeface="Arial"/>
              </a:rPr>
              <a:t>Tasks 8-9</a:t>
            </a:r>
            <a:endParaRPr/>
          </a:p>
        </p:txBody>
      </p:sp>
      <p:sp>
        <p:nvSpPr>
          <p:cNvPr id="2127" name="Google Shape;2127;g3ee2e5faae5_3_1308"/>
          <p:cNvSpPr txBox="1"/>
          <p:nvPr/>
        </p:nvSpPr>
        <p:spPr>
          <a:xfrm>
            <a:off x="566928" y="6446520"/>
            <a:ext cx="1920300" cy="2013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100000"/>
              </a:lnSpc>
              <a:spcBef>
                <a:spcPts val="0"/>
              </a:spcBef>
              <a:spcAft>
                <a:spcPts val="0"/>
              </a:spcAft>
              <a:buNone/>
            </a:pPr>
            <a:r>
              <a:rPr b="1" i="0" lang="en" sz="850" u="none" cap="none" strike="noStrike">
                <a:solidFill>
                  <a:srgbClr val="5D6C7C"/>
                </a:solidFill>
                <a:latin typeface="Arial"/>
                <a:ea typeface="Arial"/>
                <a:cs typeface="Arial"/>
                <a:sym typeface="Arial"/>
              </a:rPr>
              <a:t>Tasks 8-9</a:t>
            </a:r>
            <a:endParaRPr/>
          </a:p>
        </p:txBody>
      </p:sp>
      <p:pic>
        <p:nvPicPr>
          <p:cNvPr descr="enhancement_log_table.png" id="2128" name="Google Shape;2128;g3ee2e5faae5_3_1308"/>
          <p:cNvPicPr preferRelativeResize="0"/>
          <p:nvPr/>
        </p:nvPicPr>
        <p:blipFill rotWithShape="1">
          <a:blip r:embed="rId3">
            <a:alphaModFix/>
          </a:blip>
          <a:srcRect b="0" l="0" r="0" t="0"/>
          <a:stretch/>
        </p:blipFill>
        <p:spPr>
          <a:xfrm>
            <a:off x="658368" y="1234440"/>
            <a:ext cx="7315200" cy="2514600"/>
          </a:xfrm>
          <a:prstGeom prst="rect">
            <a:avLst/>
          </a:prstGeom>
          <a:noFill/>
          <a:ln>
            <a:noFill/>
          </a:ln>
        </p:spPr>
      </p:pic>
      <p:pic>
        <p:nvPicPr>
          <p:cNvPr descr="cross_validation_table.png" id="2129" name="Google Shape;2129;g3ee2e5faae5_3_1308"/>
          <p:cNvPicPr preferRelativeResize="0"/>
          <p:nvPr/>
        </p:nvPicPr>
        <p:blipFill rotWithShape="1">
          <a:blip r:embed="rId4">
            <a:alphaModFix/>
          </a:blip>
          <a:srcRect b="0" l="0" r="0" t="0"/>
          <a:stretch/>
        </p:blipFill>
        <p:spPr>
          <a:xfrm>
            <a:off x="8275320" y="1234440"/>
            <a:ext cx="2971799" cy="2514599"/>
          </a:xfrm>
          <a:prstGeom prst="rect">
            <a:avLst/>
          </a:prstGeom>
          <a:noFill/>
          <a:ln>
            <a:noFill/>
          </a:ln>
        </p:spPr>
      </p:pic>
      <p:sp>
        <p:nvSpPr>
          <p:cNvPr id="2130" name="Google Shape;2130;g3ee2e5faae5_3_1308"/>
          <p:cNvSpPr/>
          <p:nvPr/>
        </p:nvSpPr>
        <p:spPr>
          <a:xfrm>
            <a:off x="914400" y="4160520"/>
            <a:ext cx="10058400" cy="1143000"/>
          </a:xfrm>
          <a:prstGeom prst="roundRect">
            <a:avLst>
              <a:gd fmla="val 16667" name="adj"/>
            </a:avLst>
          </a:prstGeom>
          <a:solidFill>
            <a:srgbClr val="F4F8FA"/>
          </a:solidFill>
          <a:ln cap="flat" cmpd="sng" w="9525">
            <a:solidFill>
              <a:srgbClr val="CDD6D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31" name="Google Shape;2131;g3ee2e5faae5_3_1308"/>
          <p:cNvSpPr txBox="1"/>
          <p:nvPr/>
        </p:nvSpPr>
        <p:spPr>
          <a:xfrm>
            <a:off x="1078992" y="4270248"/>
            <a:ext cx="9729300" cy="2559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1" i="0" lang="en" sz="1350" u="none" cap="none" strike="noStrike">
                <a:solidFill>
                  <a:srgbClr val="0C293E"/>
                </a:solidFill>
                <a:latin typeface="Arial"/>
                <a:ea typeface="Arial"/>
                <a:cs typeface="Arial"/>
                <a:sym typeface="Arial"/>
              </a:rPr>
              <a:t>Final decision</a:t>
            </a:r>
            <a:endParaRPr sz="1600"/>
          </a:p>
        </p:txBody>
      </p:sp>
      <p:sp>
        <p:nvSpPr>
          <p:cNvPr id="2132" name="Google Shape;2132;g3ee2e5faae5_3_1308"/>
          <p:cNvSpPr txBox="1"/>
          <p:nvPr/>
        </p:nvSpPr>
        <p:spPr>
          <a:xfrm>
            <a:off x="1188720" y="4572000"/>
            <a:ext cx="9509700" cy="5028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0" i="0" lang="en" sz="1226" u="none" cap="none" strike="noStrike">
                <a:solidFill>
                  <a:srgbClr val="16222D"/>
                </a:solidFill>
                <a:latin typeface="Arial"/>
                <a:ea typeface="Arial"/>
                <a:cs typeface="Arial"/>
                <a:sym typeface="Arial"/>
              </a:rPr>
              <a:t>Tuned XGBoost is selected because it has the lowest validation RMSE and strong final test performance.</a:t>
            </a:r>
            <a:endParaRPr sz="1380"/>
          </a:p>
          <a:p>
            <a:pPr indent="0" lvl="0" marL="0" marR="0" rtl="0" algn="l">
              <a:lnSpc>
                <a:spcPct val="80000"/>
              </a:lnSpc>
              <a:spcBef>
                <a:spcPts val="400"/>
              </a:spcBef>
              <a:spcAft>
                <a:spcPts val="0"/>
              </a:spcAft>
              <a:buNone/>
            </a:pPr>
            <a:r>
              <a:rPr b="0" i="0" lang="en" sz="1226" u="none" cap="none" strike="noStrike">
                <a:solidFill>
                  <a:srgbClr val="16222D"/>
                </a:solidFill>
                <a:latin typeface="Arial"/>
                <a:ea typeface="Arial"/>
                <a:cs typeface="Arial"/>
                <a:sym typeface="Arial"/>
              </a:rPr>
              <a:t>The top-30 feature model was useful as a feature-selection experiment, but it lost accuracy.</a:t>
            </a:r>
            <a:endParaRPr sz="1380"/>
          </a:p>
          <a:p>
            <a:pPr indent="0" lvl="0" marL="0" marR="0" rtl="0" algn="l">
              <a:lnSpc>
                <a:spcPct val="80000"/>
              </a:lnSpc>
              <a:spcBef>
                <a:spcPts val="400"/>
              </a:spcBef>
              <a:spcAft>
                <a:spcPts val="0"/>
              </a:spcAft>
              <a:buNone/>
            </a:pPr>
            <a:r>
              <a:rPr b="0" i="0" lang="en" sz="1226" u="none" cap="none" strike="noStrike">
                <a:solidFill>
                  <a:srgbClr val="16222D"/>
                </a:solidFill>
                <a:latin typeface="Arial"/>
                <a:ea typeface="Arial"/>
                <a:cs typeface="Arial"/>
                <a:sym typeface="Arial"/>
              </a:rPr>
              <a:t>Cross-validation checks stability on training folds before the final test report.</a:t>
            </a:r>
            <a:endParaRPr sz="1380"/>
          </a:p>
        </p:txBody>
      </p:sp>
      <p:sp>
        <p:nvSpPr>
          <p:cNvPr id="2133" name="Google Shape;2133;g3ee2e5faae5_3_1308"/>
          <p:cNvSpPr txBox="1"/>
          <p:nvPr/>
        </p:nvSpPr>
        <p:spPr>
          <a:xfrm>
            <a:off x="7182545" y="6310445"/>
            <a:ext cx="2011800" cy="201300"/>
          </a:xfrm>
          <a:prstGeom prst="rect">
            <a:avLst/>
          </a:prstGeom>
          <a:noFill/>
          <a:ln>
            <a:noFill/>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0" i="0" lang="en" sz="1350" u="none" cap="none" strike="noStrike">
                <a:solidFill>
                  <a:schemeClr val="dk1"/>
                </a:solidFill>
                <a:latin typeface="Arial"/>
                <a:ea typeface="Arial"/>
                <a:cs typeface="Arial"/>
                <a:sym typeface="Arial"/>
              </a:rPr>
              <a:t>Takal Ebrahimkhel</a:t>
            </a:r>
            <a:endParaRPr sz="1900">
              <a:solidFill>
                <a:schemeClr val="dk1"/>
              </a:solidFill>
            </a:endParaRPr>
          </a:p>
        </p:txBody>
      </p:sp>
      <p:sp>
        <p:nvSpPr>
          <p:cNvPr id="2134" name="Google Shape;2134;g3ee2e5faae5_3_130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38" name="Shape 2138"/>
        <p:cNvGrpSpPr/>
        <p:nvPr/>
      </p:nvGrpSpPr>
      <p:grpSpPr>
        <a:xfrm>
          <a:off x="0" y="0"/>
          <a:ext cx="0" cy="0"/>
          <a:chOff x="0" y="0"/>
          <a:chExt cx="0" cy="0"/>
        </a:xfrm>
      </p:grpSpPr>
      <p:sp>
        <p:nvSpPr>
          <p:cNvPr id="2139" name="Google Shape;2139;g3edf2b460e5_0_22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40" name="Google Shape;2140;g3edf2b460e5_0_226"/>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41" name="Google Shape;2141;g3edf2b460e5_0_226"/>
          <p:cNvSpPr/>
          <p:nvPr/>
        </p:nvSpPr>
        <p:spPr>
          <a:xfrm flipH="1" rot="5400000">
            <a:off x="-1410016" y="1410150"/>
            <a:ext cx="6858000" cy="4037700"/>
          </a:xfrm>
          <a:prstGeom prst="rect">
            <a:avLst/>
          </a:prstGeom>
          <a:gradFill>
            <a:gsLst>
              <a:gs pos="0">
                <a:srgbClr val="000000"/>
              </a:gs>
              <a:gs pos="8000">
                <a:srgbClr val="000000"/>
              </a:gs>
              <a:gs pos="100000">
                <a:srgbClr val="0F4761"/>
              </a:gs>
            </a:gsLst>
            <a:lin ang="300012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42" name="Google Shape;2142;g3edf2b460e5_0_226"/>
          <p:cNvSpPr/>
          <p:nvPr/>
        </p:nvSpPr>
        <p:spPr>
          <a:xfrm flipH="1" rot="5400000">
            <a:off x="-1410016" y="1420288"/>
            <a:ext cx="6858000" cy="4037700"/>
          </a:xfrm>
          <a:prstGeom prst="rect">
            <a:avLst/>
          </a:prstGeom>
          <a:gradFill>
            <a:gsLst>
              <a:gs pos="0">
                <a:srgbClr val="000000">
                  <a:alpha val="0"/>
                </a:srgbClr>
              </a:gs>
              <a:gs pos="99000">
                <a:srgbClr val="156082">
                  <a:alpha val="45882"/>
                </a:srgbClr>
              </a:gs>
              <a:gs pos="100000">
                <a:srgbClr val="156082">
                  <a:alpha val="45882"/>
                </a:srgbClr>
              </a:gs>
            </a:gsLst>
            <a:lin ang="180000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43" name="Google Shape;2143;g3edf2b460e5_0_226"/>
          <p:cNvSpPr/>
          <p:nvPr/>
        </p:nvSpPr>
        <p:spPr>
          <a:xfrm flipH="1" rot="5400000">
            <a:off x="767983" y="3588145"/>
            <a:ext cx="2502000" cy="4037700"/>
          </a:xfrm>
          <a:prstGeom prst="rect">
            <a:avLst/>
          </a:prstGeom>
          <a:gradFill>
            <a:gsLst>
              <a:gs pos="0">
                <a:srgbClr val="156082">
                  <a:alpha val="29019"/>
                </a:srgbClr>
              </a:gs>
              <a:gs pos="2000">
                <a:srgbClr val="156082">
                  <a:alpha val="29019"/>
                </a:srgbClr>
              </a:gs>
              <a:gs pos="100000">
                <a:srgbClr val="000000">
                  <a:alpha val="30196"/>
                </a:srgbClr>
              </a:gs>
            </a:gsLst>
            <a:lin ang="7799903"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44" name="Google Shape;2144;g3edf2b460e5_0_226"/>
          <p:cNvSpPr/>
          <p:nvPr/>
        </p:nvSpPr>
        <p:spPr>
          <a:xfrm rot="-967356">
            <a:off x="-500907" y="968177"/>
            <a:ext cx="3897638" cy="4176045"/>
          </a:xfrm>
          <a:custGeom>
            <a:rect b="b" l="l" r="r" t="t"/>
            <a:pathLst>
              <a:path extrusionOk="0" h="4178958" w="3900357">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3137"/>
                </a:srgbClr>
              </a:gs>
            </a:gsLst>
            <a:lin ang="180000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45" name="Google Shape;2145;g3edf2b460e5_0_226"/>
          <p:cNvSpPr/>
          <p:nvPr/>
        </p:nvSpPr>
        <p:spPr>
          <a:xfrm flipH="1" rot="5400000">
            <a:off x="-1354426" y="1344475"/>
            <a:ext cx="6787500" cy="4078500"/>
          </a:xfrm>
          <a:prstGeom prst="rect">
            <a:avLst/>
          </a:prstGeom>
          <a:gradFill>
            <a:gsLst>
              <a:gs pos="0">
                <a:srgbClr val="000000">
                  <a:alpha val="0"/>
                </a:srgbClr>
              </a:gs>
              <a:gs pos="99000">
                <a:srgbClr val="43B0E1">
                  <a:alpha val="10980"/>
                </a:srgbClr>
              </a:gs>
              <a:gs pos="100000">
                <a:srgbClr val="43B0E1">
                  <a:alpha val="10980"/>
                </a:srgbClr>
              </a:gs>
            </a:gsLst>
            <a:lin ang="7200017"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46" name="Google Shape;2146;g3edf2b460e5_0_226"/>
          <p:cNvSpPr txBox="1"/>
          <p:nvPr/>
        </p:nvSpPr>
        <p:spPr>
          <a:xfrm>
            <a:off x="466722" y="586855"/>
            <a:ext cx="3201300" cy="3387600"/>
          </a:xfrm>
          <a:prstGeom prst="rect">
            <a:avLst/>
          </a:prstGeom>
          <a:noFill/>
          <a:ln>
            <a:noFill/>
          </a:ln>
        </p:spPr>
        <p:txBody>
          <a:bodyPr anchorCtr="0" anchor="b" bIns="45700" lIns="91425" spcFirstLastPara="1" rIns="91425" wrap="square" tIns="45700">
            <a:normAutofit lnSpcReduction="20000"/>
          </a:bodyPr>
          <a:lstStyle/>
          <a:p>
            <a:pPr indent="0" lvl="0" marL="0" marR="0" rtl="0" algn="r">
              <a:lnSpc>
                <a:spcPct val="90000"/>
              </a:lnSpc>
              <a:spcBef>
                <a:spcPts val="0"/>
              </a:spcBef>
              <a:spcAft>
                <a:spcPts val="0"/>
              </a:spcAft>
              <a:buNone/>
            </a:pPr>
            <a:r>
              <a:rPr b="0" i="0" lang="en" sz="4000" u="none" cap="none" strike="noStrike">
                <a:solidFill>
                  <a:schemeClr val="lt1"/>
                </a:solidFill>
                <a:latin typeface="Arial"/>
                <a:ea typeface="Arial"/>
                <a:cs typeface="Arial"/>
                <a:sym typeface="Arial"/>
              </a:rPr>
              <a:t>Machine Learning Algorithms</a:t>
            </a:r>
            <a:r>
              <a:rPr b="1" i="0" lang="en" sz="4000" u="none" cap="none" strike="noStrike">
                <a:solidFill>
                  <a:schemeClr val="lt1"/>
                </a:solidFill>
                <a:latin typeface="Play"/>
                <a:ea typeface="Play"/>
                <a:cs typeface="Play"/>
                <a:sym typeface="Play"/>
              </a:rPr>
              <a:t> -</a:t>
            </a:r>
            <a:r>
              <a:rPr b="1" i="0" lang="en" sz="4000" u="none" cap="none" strike="noStrike">
                <a:solidFill>
                  <a:srgbClr val="FFFFFF"/>
                </a:solidFill>
                <a:latin typeface="Play"/>
                <a:ea typeface="Play"/>
                <a:cs typeface="Play"/>
                <a:sym typeface="Play"/>
              </a:rPr>
              <a:t> </a:t>
            </a:r>
            <a:r>
              <a:rPr b="1" lang="en" sz="4000">
                <a:solidFill>
                  <a:srgbClr val="FFFFFF"/>
                </a:solidFill>
                <a:latin typeface="Play"/>
                <a:ea typeface="Play"/>
                <a:cs typeface="Play"/>
                <a:sym typeface="Play"/>
              </a:rPr>
              <a:t>Antonios Stefanakis</a:t>
            </a:r>
            <a:endParaRPr b="1" i="0" sz="4000" u="none" cap="none" strike="noStrike">
              <a:solidFill>
                <a:srgbClr val="FFFFFF"/>
              </a:solidFill>
              <a:latin typeface="Play"/>
              <a:ea typeface="Play"/>
              <a:cs typeface="Play"/>
              <a:sym typeface="Play"/>
            </a:endParaRPr>
          </a:p>
          <a:p>
            <a:pPr indent="0" lvl="0" marL="0" marR="0" rtl="0" algn="r">
              <a:lnSpc>
                <a:spcPct val="90000"/>
              </a:lnSpc>
              <a:spcBef>
                <a:spcPts val="600"/>
              </a:spcBef>
              <a:spcAft>
                <a:spcPts val="0"/>
              </a:spcAft>
              <a:buNone/>
            </a:pPr>
            <a:br>
              <a:rPr b="1" i="0" lang="en" sz="4000" u="none" cap="none" strike="noStrike">
                <a:solidFill>
                  <a:srgbClr val="FFFFFF"/>
                </a:solidFill>
                <a:latin typeface="Play"/>
                <a:ea typeface="Play"/>
                <a:cs typeface="Play"/>
                <a:sym typeface="Play"/>
              </a:rPr>
            </a:br>
            <a:endParaRPr b="1" i="0" sz="4000" u="none" cap="none" strike="noStrike">
              <a:solidFill>
                <a:srgbClr val="FFFFFF"/>
              </a:solidFill>
              <a:latin typeface="Play"/>
              <a:ea typeface="Play"/>
              <a:cs typeface="Play"/>
              <a:sym typeface="Play"/>
            </a:endParaRPr>
          </a:p>
        </p:txBody>
      </p:sp>
      <p:sp>
        <p:nvSpPr>
          <p:cNvPr id="2147" name="Google Shape;2147;g3edf2b460e5_0_226"/>
          <p:cNvSpPr txBox="1"/>
          <p:nvPr>
            <p:ph idx="12" type="sldNum"/>
          </p:nvPr>
        </p:nvSpPr>
        <p:spPr>
          <a:xfrm>
            <a:off x="11704320" y="6455664"/>
            <a:ext cx="448200" cy="3651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sz="1100">
                <a:solidFill>
                  <a:srgbClr val="7F7F7F"/>
                </a:solidFill>
              </a:rPr>
              <a:t>‹#›</a:t>
            </a:fld>
            <a:endParaRPr sz="1100">
              <a:solidFill>
                <a:srgbClr val="7F7F7F"/>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2" name="Shape 2152"/>
        <p:cNvGrpSpPr/>
        <p:nvPr/>
      </p:nvGrpSpPr>
      <p:grpSpPr>
        <a:xfrm>
          <a:off x="0" y="0"/>
          <a:ext cx="0" cy="0"/>
          <a:chOff x="0" y="0"/>
          <a:chExt cx="0" cy="0"/>
        </a:xfrm>
      </p:grpSpPr>
      <p:sp>
        <p:nvSpPr>
          <p:cNvPr id="2153" name="Google Shape;2153;g3a890b03b1b_2_0"/>
          <p:cNvSpPr txBox="1"/>
          <p:nvPr>
            <p:ph type="title"/>
          </p:nvPr>
        </p:nvSpPr>
        <p:spPr>
          <a:xfrm>
            <a:off x="9488100" y="591550"/>
            <a:ext cx="18657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 sz="2500">
                <a:solidFill>
                  <a:srgbClr val="249C91"/>
                </a:solidFill>
                <a:latin typeface="Arial"/>
                <a:ea typeface="Arial"/>
                <a:cs typeface="Arial"/>
                <a:sym typeface="Arial"/>
              </a:rPr>
              <a:t>Model Selection</a:t>
            </a:r>
            <a:r>
              <a:rPr lang="en" sz="2000">
                <a:solidFill>
                  <a:schemeClr val="accent6"/>
                </a:solidFill>
                <a:latin typeface="Arial"/>
                <a:ea typeface="Arial"/>
                <a:cs typeface="Arial"/>
                <a:sym typeface="Arial"/>
              </a:rPr>
              <a:t> </a:t>
            </a:r>
            <a:endParaRPr sz="5300">
              <a:solidFill>
                <a:schemeClr val="accent6"/>
              </a:solidFill>
            </a:endParaRPr>
          </a:p>
        </p:txBody>
      </p:sp>
      <p:sp>
        <p:nvSpPr>
          <p:cNvPr id="2154" name="Google Shape;2154;g3a890b03b1b_2_0"/>
          <p:cNvSpPr txBox="1"/>
          <p:nvPr>
            <p:ph idx="1" type="body"/>
          </p:nvPr>
        </p:nvSpPr>
        <p:spPr>
          <a:xfrm>
            <a:off x="281850" y="3008275"/>
            <a:ext cx="10515600" cy="31740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 sz="1550"/>
              <a:t>Reasoning for Selection</a:t>
            </a:r>
            <a:endParaRPr b="1" sz="1550"/>
          </a:p>
          <a:p>
            <a:pPr indent="-311150" lvl="0" marL="457200" rtl="0" algn="l">
              <a:lnSpc>
                <a:spcPct val="115000"/>
              </a:lnSpc>
              <a:spcBef>
                <a:spcPts val="800"/>
              </a:spcBef>
              <a:spcAft>
                <a:spcPts val="0"/>
              </a:spcAft>
              <a:buSzPts val="1300"/>
              <a:buChar char="●"/>
            </a:pPr>
            <a:r>
              <a:rPr b="1" lang="en" sz="1300"/>
              <a:t>Handling Non-Linearity:</a:t>
            </a:r>
            <a:r>
              <a:rPr lang="en" sz="1300"/>
              <a:t> Manufacturing cost data involves complex, non-linear interactions between tube geometry (diameter, wall thickness, length) and component types. Tree-based ensemble methods very good at capturing these interactions without forcing manual mathematical transformations.</a:t>
            </a:r>
            <a:endParaRPr sz="1300"/>
          </a:p>
          <a:p>
            <a:pPr indent="0" lvl="0" marL="457200" rtl="0" algn="l">
              <a:lnSpc>
                <a:spcPct val="115000"/>
              </a:lnSpc>
              <a:spcBef>
                <a:spcPts val="0"/>
              </a:spcBef>
              <a:spcAft>
                <a:spcPts val="0"/>
              </a:spcAft>
              <a:buClr>
                <a:schemeClr val="dk1"/>
              </a:buClr>
              <a:buSzPts val="1100"/>
              <a:buFont typeface="Arial"/>
              <a:buNone/>
            </a:pPr>
            <a:r>
              <a:rPr lang="en" sz="1300"/>
              <a:t> </a:t>
            </a:r>
            <a:endParaRPr sz="1300"/>
          </a:p>
          <a:p>
            <a:pPr indent="-323850" lvl="0" marL="457200" rtl="0" algn="l">
              <a:lnSpc>
                <a:spcPct val="115000"/>
              </a:lnSpc>
              <a:spcBef>
                <a:spcPts val="800"/>
              </a:spcBef>
              <a:spcAft>
                <a:spcPts val="0"/>
              </a:spcAft>
              <a:buSzPts val="1500"/>
              <a:buChar char="●"/>
            </a:pPr>
            <a:r>
              <a:rPr b="1" lang="en" sz="1300"/>
              <a:t>Robustness to Extreme Outliers:</a:t>
            </a:r>
            <a:r>
              <a:rPr lang="en" sz="1300"/>
              <a:t> Data exploration revealed a skewed cost distribution with extreme outliers up to $1000. To prevent these from distorting the predictions, a target log-transformation was applied, successfully stabilizing the variance and ensuring robust model performance.</a:t>
            </a:r>
            <a:endParaRPr sz="1500"/>
          </a:p>
          <a:p>
            <a:pPr indent="0" lvl="0" marL="457200" rtl="0" algn="l">
              <a:lnSpc>
                <a:spcPct val="115000"/>
              </a:lnSpc>
              <a:spcBef>
                <a:spcPts val="0"/>
              </a:spcBef>
              <a:spcAft>
                <a:spcPts val="0"/>
              </a:spcAft>
              <a:buClr>
                <a:schemeClr val="dk1"/>
              </a:buClr>
              <a:buSzPts val="1100"/>
              <a:buFont typeface="Arial"/>
              <a:buNone/>
            </a:pPr>
            <a:r>
              <a:rPr lang="en" sz="1300"/>
              <a:t> </a:t>
            </a:r>
            <a:endParaRPr sz="1300"/>
          </a:p>
          <a:p>
            <a:pPr indent="-311150" lvl="0" marL="457200" rtl="0" algn="l">
              <a:lnSpc>
                <a:spcPct val="115000"/>
              </a:lnSpc>
              <a:spcBef>
                <a:spcPts val="800"/>
              </a:spcBef>
              <a:spcAft>
                <a:spcPts val="0"/>
              </a:spcAft>
              <a:buSzPts val="1300"/>
              <a:buChar char="●"/>
            </a:pPr>
            <a:r>
              <a:rPr b="1" lang="en" sz="1300"/>
              <a:t>Native Feature Importance:</a:t>
            </a:r>
            <a:r>
              <a:rPr lang="en" sz="1300"/>
              <a:t> Both algorithms provide transparent feature importance scores.</a:t>
            </a:r>
            <a:endParaRPr/>
          </a:p>
        </p:txBody>
      </p:sp>
      <p:sp>
        <p:nvSpPr>
          <p:cNvPr id="2155" name="Google Shape;2155;g3a890b03b1b_2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156" name="Google Shape;2156;g3a890b03b1b_2_0"/>
          <p:cNvSpPr txBox="1"/>
          <p:nvPr/>
        </p:nvSpPr>
        <p:spPr>
          <a:xfrm>
            <a:off x="281850" y="524500"/>
            <a:ext cx="7512000" cy="230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750">
                <a:solidFill>
                  <a:schemeClr val="dk1"/>
                </a:solidFill>
              </a:rPr>
              <a:t>ML Problem:</a:t>
            </a:r>
            <a:endParaRPr b="1" sz="1750">
              <a:solidFill>
                <a:schemeClr val="dk1"/>
              </a:solidFill>
            </a:endParaRPr>
          </a:p>
          <a:p>
            <a:pPr indent="-298450" lvl="0" marL="457200" rtl="0" algn="l">
              <a:lnSpc>
                <a:spcPct val="115000"/>
              </a:lnSpc>
              <a:spcBef>
                <a:spcPts val="800"/>
              </a:spcBef>
              <a:spcAft>
                <a:spcPts val="0"/>
              </a:spcAft>
              <a:buClr>
                <a:schemeClr val="dk1"/>
              </a:buClr>
              <a:buSzPts val="1100"/>
              <a:buChar char="●"/>
            </a:pPr>
            <a:r>
              <a:rPr lang="en" sz="1500">
                <a:solidFill>
                  <a:schemeClr val="dk1"/>
                </a:solidFill>
              </a:rPr>
              <a:t>A </a:t>
            </a:r>
            <a:r>
              <a:rPr b="1" lang="en" sz="1500">
                <a:solidFill>
                  <a:schemeClr val="dk1"/>
                </a:solidFill>
              </a:rPr>
              <a:t>Regression</a:t>
            </a:r>
            <a:r>
              <a:rPr lang="en" sz="1500">
                <a:solidFill>
                  <a:schemeClr val="dk1"/>
                </a:solidFill>
              </a:rPr>
              <a:t> problem aimed at predicting the continuous target variable </a:t>
            </a:r>
            <a:r>
              <a:rPr lang="en">
                <a:solidFill>
                  <a:schemeClr val="dk1"/>
                </a:solidFill>
              </a:rPr>
              <a:t>cost</a:t>
            </a:r>
            <a:r>
              <a:rPr lang="en" sz="1500">
                <a:solidFill>
                  <a:schemeClr val="dk1"/>
                </a:solidFill>
              </a:rPr>
              <a:t> (unit price of tube assemblies for the Caterpillar supply chain).</a:t>
            </a:r>
            <a:endParaRPr sz="1500">
              <a:solidFill>
                <a:schemeClr val="dk1"/>
              </a:solidFill>
            </a:endParaRPr>
          </a:p>
          <a:p>
            <a:pPr indent="0" lvl="0" marL="457200" rtl="0" algn="l">
              <a:lnSpc>
                <a:spcPct val="115000"/>
              </a:lnSpc>
              <a:spcBef>
                <a:spcPts val="0"/>
              </a:spcBef>
              <a:spcAft>
                <a:spcPts val="0"/>
              </a:spcAft>
              <a:buNone/>
            </a:pPr>
            <a:r>
              <a:t/>
            </a:r>
            <a:endParaRPr sz="15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750">
                <a:solidFill>
                  <a:schemeClr val="dk1"/>
                </a:solidFill>
              </a:rPr>
              <a:t>Selected Models</a:t>
            </a:r>
            <a:endParaRPr b="1" sz="1750">
              <a:solidFill>
                <a:schemeClr val="dk1"/>
              </a:solidFill>
            </a:endParaRPr>
          </a:p>
          <a:p>
            <a:pPr indent="-323850" lvl="0" marL="457200" rtl="0" algn="l">
              <a:lnSpc>
                <a:spcPct val="115000"/>
              </a:lnSpc>
              <a:spcBef>
                <a:spcPts val="800"/>
              </a:spcBef>
              <a:spcAft>
                <a:spcPts val="0"/>
              </a:spcAft>
              <a:buClr>
                <a:schemeClr val="dk1"/>
              </a:buClr>
              <a:buSzPts val="1500"/>
              <a:buChar char="●"/>
            </a:pPr>
            <a:r>
              <a:rPr b="1" lang="en" sz="1500">
                <a:solidFill>
                  <a:schemeClr val="dk1"/>
                </a:solidFill>
              </a:rPr>
              <a:t>Random Forest Regressor</a:t>
            </a:r>
            <a:r>
              <a:rPr lang="en" sz="1500">
                <a:solidFill>
                  <a:schemeClr val="dk1"/>
                </a:solidFill>
              </a:rPr>
              <a:t> (Primary Model)</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Extra Trees Regressor</a:t>
            </a:r>
            <a:endParaRPr b="1" sz="1500">
              <a:solidFill>
                <a:schemeClr val="dk1"/>
              </a:solidFill>
            </a:endParaRPr>
          </a:p>
          <a:p>
            <a:pPr indent="0" lvl="0" marL="0" rtl="0" algn="l">
              <a:spcBef>
                <a:spcPts val="0"/>
              </a:spcBef>
              <a:spcAft>
                <a:spcPts val="0"/>
              </a:spcAft>
              <a:buNone/>
            </a:pPr>
            <a:r>
              <a:t/>
            </a:r>
            <a:endParaRPr sz="2800">
              <a:solidFill>
                <a:schemeClr val="dk1"/>
              </a:solidFill>
            </a:endParaRPr>
          </a:p>
        </p:txBody>
      </p:sp>
      <p:sp>
        <p:nvSpPr>
          <p:cNvPr id="2157" name="Google Shape;2157;g3a890b03b1b_2_0"/>
          <p:cNvSpPr txBox="1"/>
          <p:nvPr/>
        </p:nvSpPr>
        <p:spPr>
          <a:xfrm>
            <a:off x="9448800" y="0"/>
            <a:ext cx="2743200" cy="45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00">
                <a:solidFill>
                  <a:srgbClr val="C2C2C2"/>
                </a:solidFill>
              </a:rPr>
              <a:t>Antonios Stefanakis</a:t>
            </a:r>
            <a:endParaRPr sz="2200">
              <a:solidFill>
                <a:srgbClr val="C2C2C2"/>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2" name="Shape 2162"/>
        <p:cNvGrpSpPr/>
        <p:nvPr/>
      </p:nvGrpSpPr>
      <p:grpSpPr>
        <a:xfrm>
          <a:off x="0" y="0"/>
          <a:ext cx="0" cy="0"/>
          <a:chOff x="0" y="0"/>
          <a:chExt cx="0" cy="0"/>
        </a:xfrm>
      </p:grpSpPr>
      <p:sp>
        <p:nvSpPr>
          <p:cNvPr id="2163" name="Google Shape;2163;g3a890b03b1b_2_7"/>
          <p:cNvSpPr txBox="1"/>
          <p:nvPr>
            <p:ph idx="12" type="sldNum"/>
          </p:nvPr>
        </p:nvSpPr>
        <p:spPr>
          <a:xfrm>
            <a:off x="88014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
              <a:t>103</a:t>
            </a:r>
            <a:endParaRPr/>
          </a:p>
        </p:txBody>
      </p:sp>
      <p:pic>
        <p:nvPicPr>
          <p:cNvPr id="2164" name="Google Shape;2164;g3a890b03b1b_2_7" title="2.png"/>
          <p:cNvPicPr preferRelativeResize="0"/>
          <p:nvPr/>
        </p:nvPicPr>
        <p:blipFill rotWithShape="1">
          <a:blip r:embed="rId3">
            <a:alphaModFix/>
          </a:blip>
          <a:srcRect b="24122" l="0" r="51758" t="0"/>
          <a:stretch/>
        </p:blipFill>
        <p:spPr>
          <a:xfrm>
            <a:off x="0" y="112425"/>
            <a:ext cx="4904899" cy="4558025"/>
          </a:xfrm>
          <a:prstGeom prst="rect">
            <a:avLst/>
          </a:prstGeom>
          <a:noFill/>
          <a:ln>
            <a:noFill/>
          </a:ln>
        </p:spPr>
      </p:pic>
      <p:sp>
        <p:nvSpPr>
          <p:cNvPr id="2165" name="Google Shape;2165;g3a890b03b1b_2_7"/>
          <p:cNvSpPr txBox="1"/>
          <p:nvPr/>
        </p:nvSpPr>
        <p:spPr>
          <a:xfrm>
            <a:off x="6433075" y="450098"/>
            <a:ext cx="370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800">
                <a:solidFill>
                  <a:srgbClr val="00FF00"/>
                </a:solidFill>
              </a:rPr>
              <a:t>System Architecture</a:t>
            </a:r>
            <a:endParaRPr b="1" sz="2800">
              <a:solidFill>
                <a:srgbClr val="00FF00"/>
              </a:solidFill>
            </a:endParaRPr>
          </a:p>
        </p:txBody>
      </p:sp>
      <p:sp>
        <p:nvSpPr>
          <p:cNvPr id="2166" name="Google Shape;2166;g3a890b03b1b_2_7"/>
          <p:cNvSpPr txBox="1"/>
          <p:nvPr/>
        </p:nvSpPr>
        <p:spPr>
          <a:xfrm>
            <a:off x="9192000" y="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C2C2C2"/>
                </a:solidFill>
              </a:rPr>
              <a:t>Antonios Stefanakis</a:t>
            </a:r>
            <a:endParaRPr sz="2200">
              <a:solidFill>
                <a:srgbClr val="C2C2C2"/>
              </a:solidFill>
            </a:endParaRPr>
          </a:p>
        </p:txBody>
      </p:sp>
      <p:sp>
        <p:nvSpPr>
          <p:cNvPr id="2167" name="Google Shape;2167;g3a890b03b1b_2_7"/>
          <p:cNvSpPr/>
          <p:nvPr/>
        </p:nvSpPr>
        <p:spPr>
          <a:xfrm>
            <a:off x="182900" y="4852725"/>
            <a:ext cx="4722000" cy="1868700"/>
          </a:xfrm>
          <a:prstGeom prst="roundRect">
            <a:avLst>
              <a:gd fmla="val 16667"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8" name="Google Shape;2168;g3a890b03b1b_2_7"/>
          <p:cNvSpPr txBox="1"/>
          <p:nvPr/>
        </p:nvSpPr>
        <p:spPr>
          <a:xfrm>
            <a:off x="1077361" y="4792575"/>
            <a:ext cx="3095700" cy="44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Roboto"/>
                <a:ea typeface="Roboto"/>
                <a:cs typeface="Roboto"/>
                <a:sym typeface="Roboto"/>
              </a:rPr>
              <a:t>[ PREPROCESSING PIPELINE ]</a:t>
            </a:r>
            <a:endParaRPr b="1" sz="1600">
              <a:solidFill>
                <a:schemeClr val="lt1"/>
              </a:solidFill>
              <a:latin typeface="Roboto"/>
              <a:ea typeface="Roboto"/>
              <a:cs typeface="Roboto"/>
              <a:sym typeface="Roboto"/>
            </a:endParaRPr>
          </a:p>
        </p:txBody>
      </p:sp>
      <p:sp>
        <p:nvSpPr>
          <p:cNvPr id="2169" name="Google Shape;2169;g3a890b03b1b_2_7"/>
          <p:cNvSpPr txBox="1"/>
          <p:nvPr/>
        </p:nvSpPr>
        <p:spPr>
          <a:xfrm>
            <a:off x="50075" y="5100250"/>
            <a:ext cx="4905000" cy="16212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b="1" lang="en" sz="1200">
                <a:solidFill>
                  <a:schemeClr val="dk1"/>
                </a:solidFill>
              </a:rPr>
              <a:t>Data partitioning i</a:t>
            </a:r>
            <a:r>
              <a:rPr lang="en" sz="1200">
                <a:solidFill>
                  <a:schemeClr val="dk1"/>
                </a:solidFill>
              </a:rPr>
              <a:t>nto an 70% Training set, a 15% Validation set and a 15% Testing set</a:t>
            </a:r>
            <a:endParaRPr sz="1200">
              <a:solidFill>
                <a:schemeClr val="dk1"/>
              </a:solidFill>
            </a:endParaRPr>
          </a:p>
          <a:p>
            <a:pPr indent="0" lvl="0" marL="457200" rtl="0" algn="l">
              <a:spcBef>
                <a:spcPts val="0"/>
              </a:spcBef>
              <a:spcAft>
                <a:spcPts val="0"/>
              </a:spcAft>
              <a:buNone/>
            </a:pPr>
            <a:r>
              <a:t/>
            </a:r>
            <a:endParaRPr sz="1200">
              <a:solidFill>
                <a:schemeClr val="dk1"/>
              </a:solidFill>
            </a:endParaRPr>
          </a:p>
          <a:p>
            <a:pPr indent="-304800" lvl="0" marL="457200" rtl="0" algn="l">
              <a:spcBef>
                <a:spcPts val="0"/>
              </a:spcBef>
              <a:spcAft>
                <a:spcPts val="0"/>
              </a:spcAft>
              <a:buSzPts val="1200"/>
              <a:buChar char="●"/>
            </a:pPr>
            <a:r>
              <a:rPr b="1" lang="en" sz="1200">
                <a:solidFill>
                  <a:schemeClr val="dk1"/>
                </a:solidFill>
              </a:rPr>
              <a:t>Feature normalization </a:t>
            </a:r>
            <a:r>
              <a:rPr lang="en" sz="1200">
                <a:solidFill>
                  <a:schemeClr val="dk1"/>
                </a:solidFill>
              </a:rPr>
              <a:t>of continuous metrics (diameter, wall, length) using Standard Scaling</a:t>
            </a:r>
            <a:endParaRPr sz="1200">
              <a:solidFill>
                <a:schemeClr val="dk1"/>
              </a:solidFill>
            </a:endParaRPr>
          </a:p>
          <a:p>
            <a:pPr indent="0" lvl="0" marL="457200" rtl="0" algn="l">
              <a:spcBef>
                <a:spcPts val="0"/>
              </a:spcBef>
              <a:spcAft>
                <a:spcPts val="0"/>
              </a:spcAft>
              <a:buNone/>
            </a:pPr>
            <a:r>
              <a:t/>
            </a:r>
            <a:endParaRPr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Target Transformation: </a:t>
            </a:r>
            <a:r>
              <a:rPr lang="en" sz="1200">
                <a:solidFill>
                  <a:schemeClr val="dk1"/>
                </a:solidFill>
              </a:rPr>
              <a:t>Apply log-transformation to the cost variable to create cost_transformed</a:t>
            </a:r>
            <a:endParaRPr sz="1200">
              <a:solidFill>
                <a:schemeClr val="dk1"/>
              </a:solidFill>
            </a:endParaRPr>
          </a:p>
        </p:txBody>
      </p:sp>
      <p:sp>
        <p:nvSpPr>
          <p:cNvPr id="2170" name="Google Shape;2170;g3a890b03b1b_2_7"/>
          <p:cNvSpPr/>
          <p:nvPr/>
        </p:nvSpPr>
        <p:spPr>
          <a:xfrm>
            <a:off x="2256875" y="4635150"/>
            <a:ext cx="491400" cy="217800"/>
          </a:xfrm>
          <a:prstGeom prst="downArrow">
            <a:avLst>
              <a:gd fmla="val 50000" name="adj1"/>
              <a:gd fmla="val 50000" name="adj2"/>
            </a:avLst>
          </a:prstGeom>
          <a:solidFill>
            <a:srgbClr val="11537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1" name="Google Shape;2171;g3a890b03b1b_2_7"/>
          <p:cNvSpPr/>
          <p:nvPr/>
        </p:nvSpPr>
        <p:spPr>
          <a:xfrm>
            <a:off x="5482675" y="4852725"/>
            <a:ext cx="5610600" cy="1868700"/>
          </a:xfrm>
          <a:prstGeom prst="roundRect">
            <a:avLst>
              <a:gd fmla="val 16667" name="adj"/>
            </a:avLst>
          </a:prstGeom>
          <a:solidFill>
            <a:srgbClr val="1F887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2" name="Google Shape;2172;g3a890b03b1b_2_7"/>
          <p:cNvSpPr txBox="1"/>
          <p:nvPr/>
        </p:nvSpPr>
        <p:spPr>
          <a:xfrm>
            <a:off x="5773226" y="4818096"/>
            <a:ext cx="5029500" cy="44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Roboto"/>
                <a:ea typeface="Roboto"/>
                <a:cs typeface="Roboto"/>
                <a:sym typeface="Roboto"/>
              </a:rPr>
              <a:t>[ MODELING &amp; HYPERPARAMETER TUNING LAYER ]</a:t>
            </a:r>
            <a:endParaRPr b="1" sz="1600">
              <a:solidFill>
                <a:schemeClr val="lt1"/>
              </a:solidFill>
              <a:latin typeface="Roboto"/>
              <a:ea typeface="Roboto"/>
              <a:cs typeface="Roboto"/>
              <a:sym typeface="Roboto"/>
            </a:endParaRPr>
          </a:p>
        </p:txBody>
      </p:sp>
      <p:sp>
        <p:nvSpPr>
          <p:cNvPr id="2173" name="Google Shape;2173;g3a890b03b1b_2_7"/>
          <p:cNvSpPr txBox="1"/>
          <p:nvPr/>
        </p:nvSpPr>
        <p:spPr>
          <a:xfrm>
            <a:off x="5364575" y="5102925"/>
            <a:ext cx="5438100" cy="16212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lang="en" sz="1100">
                <a:solidFill>
                  <a:schemeClr val="dk1"/>
                </a:solidFill>
              </a:rPr>
              <a:t>Training of parallel bagging tree ensemble models: </a:t>
            </a:r>
            <a:r>
              <a:rPr b="1" lang="en" sz="1100">
                <a:solidFill>
                  <a:schemeClr val="dk1"/>
                </a:solidFill>
              </a:rPr>
              <a:t>Random Forest Regressor</a:t>
            </a:r>
            <a:r>
              <a:rPr lang="en" sz="1100">
                <a:solidFill>
                  <a:schemeClr val="dk1"/>
                </a:solidFill>
              </a:rPr>
              <a:t> (Primary) and </a:t>
            </a:r>
            <a:r>
              <a:rPr b="1" lang="en" sz="1100">
                <a:solidFill>
                  <a:schemeClr val="dk1"/>
                </a:solidFill>
              </a:rPr>
              <a:t>Extra Trees Regressor</a:t>
            </a:r>
            <a:r>
              <a:rPr lang="en" sz="1100">
                <a:solidFill>
                  <a:schemeClr val="dk1"/>
                </a:solidFill>
              </a:rPr>
              <a:t> (Benchmark).</a:t>
            </a:r>
            <a:endParaRPr sz="1200">
              <a:solidFill>
                <a:schemeClr val="dk1"/>
              </a:solidFill>
            </a:endParaRPr>
          </a:p>
          <a:p>
            <a:pPr indent="0" lvl="0" marL="457200" rtl="0" algn="l">
              <a:spcBef>
                <a:spcPts val="0"/>
              </a:spcBef>
              <a:spcAft>
                <a:spcPts val="0"/>
              </a:spcAft>
              <a:buNone/>
            </a:pPr>
            <a:r>
              <a:t/>
            </a:r>
            <a:endParaRPr sz="1200">
              <a:solidFill>
                <a:schemeClr val="dk1"/>
              </a:solidFill>
            </a:endParaRPr>
          </a:p>
          <a:p>
            <a:pPr indent="-304800" lvl="0" marL="457200" rtl="0" algn="l">
              <a:spcBef>
                <a:spcPts val="0"/>
              </a:spcBef>
              <a:spcAft>
                <a:spcPts val="0"/>
              </a:spcAft>
              <a:buSzPts val="1200"/>
              <a:buChar char="●"/>
            </a:pPr>
            <a:r>
              <a:rPr b="1" lang="en" sz="1200">
                <a:solidFill>
                  <a:schemeClr val="dk1"/>
                </a:solidFill>
              </a:rPr>
              <a:t>Implementation of an internal 5-Fold Cross-Validation scheme within the training set to prevent overfitting.</a:t>
            </a:r>
            <a:endParaRPr sz="1200">
              <a:solidFill>
                <a:schemeClr val="dk1"/>
              </a:solidFill>
            </a:endParaRPr>
          </a:p>
          <a:p>
            <a:pPr indent="0" lvl="0" marL="457200" rtl="0" algn="l">
              <a:spcBef>
                <a:spcPts val="0"/>
              </a:spcBef>
              <a:spcAft>
                <a:spcPts val="0"/>
              </a:spcAft>
              <a:buNone/>
            </a:pPr>
            <a:r>
              <a:t/>
            </a:r>
            <a:endParaRPr sz="1200">
              <a:solidFill>
                <a:schemeClr val="dk1"/>
              </a:solidFill>
            </a:endParaRPr>
          </a:p>
          <a:p>
            <a:pPr indent="-304800" lvl="0" marL="457200" rtl="0" algn="l">
              <a:spcBef>
                <a:spcPts val="0"/>
              </a:spcBef>
              <a:spcAft>
                <a:spcPts val="0"/>
              </a:spcAft>
              <a:buSzPts val="1200"/>
              <a:buChar char="●"/>
            </a:pPr>
            <a:r>
              <a:rPr b="1" lang="en" sz="1200">
                <a:solidFill>
                  <a:schemeClr val="dk1"/>
                </a:solidFill>
              </a:rPr>
              <a:t>Optimization of tree parameters </a:t>
            </a:r>
            <a:r>
              <a:rPr lang="en" sz="1200">
                <a:solidFill>
                  <a:schemeClr val="dk1"/>
                </a:solidFill>
              </a:rPr>
              <a:t>c</a:t>
            </a:r>
            <a:r>
              <a:rPr lang="en" sz="1200">
                <a:solidFill>
                  <a:schemeClr val="dk1"/>
                </a:solidFill>
              </a:rPr>
              <a:t>ost_transformed</a:t>
            </a:r>
            <a:endParaRPr sz="1200">
              <a:solidFill>
                <a:schemeClr val="dk1"/>
              </a:solidFill>
            </a:endParaRPr>
          </a:p>
        </p:txBody>
      </p:sp>
      <p:sp>
        <p:nvSpPr>
          <p:cNvPr id="2174" name="Google Shape;2174;g3a890b03b1b_2_7"/>
          <p:cNvSpPr/>
          <p:nvPr/>
        </p:nvSpPr>
        <p:spPr>
          <a:xfrm>
            <a:off x="5482675" y="2769638"/>
            <a:ext cx="5610600" cy="18687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5" name="Google Shape;2175;g3a890b03b1b_2_7"/>
          <p:cNvSpPr txBox="1"/>
          <p:nvPr/>
        </p:nvSpPr>
        <p:spPr>
          <a:xfrm>
            <a:off x="6339625" y="2745636"/>
            <a:ext cx="3896700" cy="44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lt1"/>
                </a:solidFill>
                <a:latin typeface="Roboto"/>
                <a:ea typeface="Roboto"/>
                <a:cs typeface="Roboto"/>
                <a:sym typeface="Roboto"/>
              </a:rPr>
              <a:t>[ EVALUATION &amp; VALIDATION LAYER ]</a:t>
            </a:r>
            <a:endParaRPr b="1" sz="1700">
              <a:solidFill>
                <a:schemeClr val="lt1"/>
              </a:solidFill>
              <a:latin typeface="Roboto"/>
              <a:ea typeface="Roboto"/>
              <a:cs typeface="Roboto"/>
              <a:sym typeface="Roboto"/>
            </a:endParaRPr>
          </a:p>
        </p:txBody>
      </p:sp>
      <p:sp>
        <p:nvSpPr>
          <p:cNvPr id="2176" name="Google Shape;2176;g3a890b03b1b_2_7"/>
          <p:cNvSpPr txBox="1"/>
          <p:nvPr/>
        </p:nvSpPr>
        <p:spPr>
          <a:xfrm>
            <a:off x="5375278" y="3110591"/>
            <a:ext cx="4905000" cy="13830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Char char="●"/>
            </a:pPr>
            <a:r>
              <a:rPr lang="en" sz="1300">
                <a:solidFill>
                  <a:schemeClr val="dk1"/>
                </a:solidFill>
              </a:rPr>
              <a:t>Mathematical tracking of standard regression errors: </a:t>
            </a:r>
            <a:r>
              <a:rPr b="1" lang="en" sz="1300">
                <a:solidFill>
                  <a:schemeClr val="dk1"/>
                </a:solidFill>
              </a:rPr>
              <a:t>MAE, RMSE, </a:t>
            </a:r>
            <a:r>
              <a:rPr lang="en" sz="1300">
                <a:solidFill>
                  <a:schemeClr val="dk1"/>
                </a:solidFill>
              </a:rPr>
              <a:t>and </a:t>
            </a:r>
            <a:r>
              <a:rPr b="1" lang="en" sz="1300">
                <a:solidFill>
                  <a:schemeClr val="dk1"/>
                </a:solidFill>
                <a:latin typeface="Poppins"/>
                <a:ea typeface="Poppins"/>
                <a:cs typeface="Poppins"/>
                <a:sym typeface="Poppins"/>
              </a:rPr>
              <a:t>R²</a:t>
            </a:r>
            <a:r>
              <a:rPr b="1" lang="en" sz="900">
                <a:solidFill>
                  <a:schemeClr val="dk1"/>
                </a:solidFill>
              </a:rPr>
              <a:t> </a:t>
            </a:r>
            <a:r>
              <a:rPr lang="en" sz="1300">
                <a:solidFill>
                  <a:schemeClr val="dk1"/>
                </a:solidFill>
              </a:rPr>
              <a:t>Score.</a:t>
            </a:r>
            <a:endParaRPr sz="1300">
              <a:solidFill>
                <a:schemeClr val="dk1"/>
              </a:solidFill>
            </a:endParaRPr>
          </a:p>
          <a:p>
            <a:pPr indent="0" lvl="0" marL="457200" rtl="0" algn="l">
              <a:spcBef>
                <a:spcPts val="0"/>
              </a:spcBef>
              <a:spcAft>
                <a:spcPts val="0"/>
              </a:spcAft>
              <a:buNone/>
            </a:pPr>
            <a:r>
              <a:t/>
            </a:r>
            <a:endParaRPr sz="1300">
              <a:solidFill>
                <a:schemeClr val="dk1"/>
              </a:solidFill>
            </a:endParaRPr>
          </a:p>
          <a:p>
            <a:pPr indent="-311150" lvl="0" marL="457200" rtl="0" algn="l">
              <a:spcBef>
                <a:spcPts val="0"/>
              </a:spcBef>
              <a:spcAft>
                <a:spcPts val="0"/>
              </a:spcAft>
              <a:buSzPts val="1300"/>
              <a:buChar char="●"/>
            </a:pPr>
            <a:r>
              <a:rPr b="1" lang="en" sz="1300">
                <a:solidFill>
                  <a:schemeClr val="dk1"/>
                </a:solidFill>
              </a:rPr>
              <a:t>Integration of RMSLE </a:t>
            </a:r>
            <a:r>
              <a:rPr lang="en" sz="1300">
                <a:solidFill>
                  <a:schemeClr val="dk1"/>
                </a:solidFill>
              </a:rPr>
              <a:t>(Root Mean Squared Logarithmic Error) to safely evaluate relative percentage-based pricing errors.</a:t>
            </a:r>
            <a:endParaRPr sz="1300">
              <a:solidFill>
                <a:schemeClr val="dk1"/>
              </a:solidFill>
            </a:endParaRPr>
          </a:p>
          <a:p>
            <a:pPr indent="0" lvl="0" marL="45720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
        <p:nvSpPr>
          <p:cNvPr id="2177" name="Google Shape;2177;g3a890b03b1b_2_7"/>
          <p:cNvSpPr/>
          <p:nvPr/>
        </p:nvSpPr>
        <p:spPr>
          <a:xfrm>
            <a:off x="5482675" y="1256413"/>
            <a:ext cx="5610600" cy="1333200"/>
          </a:xfrm>
          <a:prstGeom prst="roundRect">
            <a:avLst>
              <a:gd fmla="val 16667"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8" name="Google Shape;2178;g3a890b03b1b_2_7"/>
          <p:cNvSpPr txBox="1"/>
          <p:nvPr/>
        </p:nvSpPr>
        <p:spPr>
          <a:xfrm>
            <a:off x="6214075" y="1267127"/>
            <a:ext cx="4147800" cy="44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lt1"/>
                </a:solidFill>
                <a:latin typeface="Roboto"/>
                <a:ea typeface="Roboto"/>
                <a:cs typeface="Roboto"/>
                <a:sym typeface="Roboto"/>
              </a:rPr>
              <a:t>[ POST PROCESSING &amp; OUTPUT LAYER ]</a:t>
            </a:r>
            <a:endParaRPr b="1" sz="1700">
              <a:solidFill>
                <a:schemeClr val="lt1"/>
              </a:solidFill>
              <a:latin typeface="Roboto"/>
              <a:ea typeface="Roboto"/>
              <a:cs typeface="Roboto"/>
              <a:sym typeface="Roboto"/>
            </a:endParaRPr>
          </a:p>
        </p:txBody>
      </p:sp>
      <p:sp>
        <p:nvSpPr>
          <p:cNvPr id="2179" name="Google Shape;2179;g3a890b03b1b_2_7"/>
          <p:cNvSpPr txBox="1"/>
          <p:nvPr/>
        </p:nvSpPr>
        <p:spPr>
          <a:xfrm>
            <a:off x="5375262" y="1642975"/>
            <a:ext cx="4905000" cy="7818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Char char="●"/>
            </a:pPr>
            <a:r>
              <a:rPr b="1" lang="en" sz="1500">
                <a:solidFill>
                  <a:schemeClr val="dk1"/>
                </a:solidFill>
              </a:rPr>
              <a:t>Inverse</a:t>
            </a:r>
            <a:r>
              <a:rPr lang="en" sz="1500">
                <a:solidFill>
                  <a:schemeClr val="dk1"/>
                </a:solidFill>
              </a:rPr>
              <a:t> log-transformation of predictions to revert the scale from log-space back to actual USD</a:t>
            </a:r>
            <a:endParaRPr sz="1600">
              <a:solidFill>
                <a:schemeClr val="dk1"/>
              </a:solidFill>
            </a:endParaRPr>
          </a:p>
          <a:p>
            <a:pPr indent="0" lvl="0" marL="45720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
        <p:nvSpPr>
          <p:cNvPr id="2180" name="Google Shape;2180;g3a890b03b1b_2_7"/>
          <p:cNvSpPr/>
          <p:nvPr/>
        </p:nvSpPr>
        <p:spPr>
          <a:xfrm>
            <a:off x="4912325" y="5533050"/>
            <a:ext cx="570300" cy="446700"/>
          </a:xfrm>
          <a:prstGeom prst="rightArrow">
            <a:avLst>
              <a:gd fmla="val 50000" name="adj1"/>
              <a:gd fmla="val 50000" name="adj2"/>
            </a:avLst>
          </a:prstGeom>
          <a:solidFill>
            <a:srgbClr val="11537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1" name="Google Shape;2181;g3a890b03b1b_2_7"/>
          <p:cNvSpPr/>
          <p:nvPr/>
        </p:nvSpPr>
        <p:spPr>
          <a:xfrm flipH="1" rot="5400000">
            <a:off x="10734475" y="4206101"/>
            <a:ext cx="1396800" cy="679200"/>
          </a:xfrm>
          <a:prstGeom prst="uturnArrow">
            <a:avLst>
              <a:gd fmla="val 25000" name="adj1"/>
              <a:gd fmla="val 25000" name="adj2"/>
              <a:gd fmla="val 25000" name="adj3"/>
              <a:gd fmla="val 50000" name="adj4"/>
              <a:gd fmla="val 100000" name="adj5"/>
            </a:avLst>
          </a:prstGeom>
          <a:solidFill>
            <a:srgbClr val="11537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2" name="Google Shape;2182;g3a890b03b1b_2_7"/>
          <p:cNvSpPr/>
          <p:nvPr/>
        </p:nvSpPr>
        <p:spPr>
          <a:xfrm flipH="1" rot="5400000">
            <a:off x="10848325" y="2336275"/>
            <a:ext cx="1169100" cy="679200"/>
          </a:xfrm>
          <a:prstGeom prst="uturnArrow">
            <a:avLst>
              <a:gd fmla="val 25000" name="adj1"/>
              <a:gd fmla="val 25000" name="adj2"/>
              <a:gd fmla="val 25000" name="adj3"/>
              <a:gd fmla="val 50000" name="adj4"/>
              <a:gd fmla="val 100000" name="adj5"/>
            </a:avLst>
          </a:prstGeom>
          <a:solidFill>
            <a:srgbClr val="11537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7" name="Shape 2187"/>
        <p:cNvGrpSpPr/>
        <p:nvPr/>
      </p:nvGrpSpPr>
      <p:grpSpPr>
        <a:xfrm>
          <a:off x="0" y="0"/>
          <a:ext cx="0" cy="0"/>
          <a:chOff x="0" y="0"/>
          <a:chExt cx="0" cy="0"/>
        </a:xfrm>
      </p:grpSpPr>
      <p:sp>
        <p:nvSpPr>
          <p:cNvPr id="2188" name="Google Shape;2188;g3a890b03b1b_2_14"/>
          <p:cNvSpPr txBox="1"/>
          <p:nvPr>
            <p:ph type="title"/>
          </p:nvPr>
        </p:nvSpPr>
        <p:spPr>
          <a:xfrm>
            <a:off x="3309750" y="0"/>
            <a:ext cx="5572500" cy="7398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 sz="3000">
                <a:solidFill>
                  <a:srgbClr val="155B55"/>
                </a:solidFill>
                <a:latin typeface="Arial"/>
                <a:ea typeface="Arial"/>
                <a:cs typeface="Arial"/>
                <a:sym typeface="Arial"/>
              </a:rPr>
              <a:t>Evaluation Metrics Definition</a:t>
            </a:r>
            <a:r>
              <a:rPr lang="en" sz="2300">
                <a:solidFill>
                  <a:srgbClr val="155B55"/>
                </a:solidFill>
                <a:latin typeface="Arial"/>
                <a:ea typeface="Arial"/>
                <a:cs typeface="Arial"/>
                <a:sym typeface="Arial"/>
              </a:rPr>
              <a:t> </a:t>
            </a:r>
            <a:endParaRPr sz="5600">
              <a:solidFill>
                <a:srgbClr val="155B55"/>
              </a:solidFill>
            </a:endParaRPr>
          </a:p>
        </p:txBody>
      </p:sp>
      <p:sp>
        <p:nvSpPr>
          <p:cNvPr id="2189" name="Google Shape;2189;g3a890b03b1b_2_14"/>
          <p:cNvSpPr txBox="1"/>
          <p:nvPr>
            <p:ph idx="1" type="body"/>
          </p:nvPr>
        </p:nvSpPr>
        <p:spPr>
          <a:xfrm>
            <a:off x="891725" y="608825"/>
            <a:ext cx="10515600" cy="6112500"/>
          </a:xfrm>
          <a:prstGeom prst="rect">
            <a:avLst/>
          </a:prstGeom>
        </p:spPr>
        <p:txBody>
          <a:bodyPr anchorCtr="0" anchor="t" bIns="45700" lIns="91425" spcFirstLastPara="1" rIns="91425" wrap="square" tIns="45700">
            <a:noAutofit/>
          </a:bodyPr>
          <a:lstStyle/>
          <a:p>
            <a:pPr indent="0" lvl="0" marL="0" rtl="0" algn="l">
              <a:lnSpc>
                <a:spcPct val="105000"/>
              </a:lnSpc>
              <a:spcBef>
                <a:spcPts val="0"/>
              </a:spcBef>
              <a:spcAft>
                <a:spcPts val="0"/>
              </a:spcAft>
              <a:buClr>
                <a:schemeClr val="dk1"/>
              </a:buClr>
              <a:buSzPts val="440"/>
              <a:buFont typeface="Arial"/>
              <a:buNone/>
            </a:pPr>
            <a:r>
              <a:rPr b="1" lang="en" sz="1400">
                <a:solidFill>
                  <a:srgbClr val="249C91"/>
                </a:solidFill>
              </a:rPr>
              <a:t>1. </a:t>
            </a:r>
            <a:r>
              <a:rPr b="1" lang="en" sz="1400">
                <a:solidFill>
                  <a:srgbClr val="249C91"/>
                </a:solidFill>
              </a:rPr>
              <a:t>MAE (Mean Absolute Error)</a:t>
            </a:r>
            <a:endParaRPr b="1" sz="1400">
              <a:solidFill>
                <a:srgbClr val="249C91"/>
              </a:solidFill>
            </a:endParaRPr>
          </a:p>
          <a:p>
            <a:pPr indent="0" lvl="0" marL="457200" rtl="0" algn="l">
              <a:lnSpc>
                <a:spcPct val="105000"/>
              </a:lnSpc>
              <a:spcBef>
                <a:spcPts val="800"/>
              </a:spcBef>
              <a:spcAft>
                <a:spcPts val="0"/>
              </a:spcAft>
              <a:buNone/>
            </a:pPr>
            <a:r>
              <a:rPr lang="en" sz="1400"/>
              <a:t>The average absolute error expressed directly in currency (dollars).</a:t>
            </a:r>
            <a:endParaRPr sz="1400"/>
          </a:p>
          <a:p>
            <a:pPr indent="0" lvl="0" marL="457200" rtl="0" algn="l">
              <a:lnSpc>
                <a:spcPct val="105000"/>
              </a:lnSpc>
              <a:spcBef>
                <a:spcPts val="0"/>
              </a:spcBef>
              <a:spcAft>
                <a:spcPts val="0"/>
              </a:spcAft>
              <a:buSzPts val="440"/>
              <a:buNone/>
            </a:pPr>
            <a:r>
              <a:t/>
            </a:r>
            <a:endParaRPr sz="1400"/>
          </a:p>
          <a:p>
            <a:pPr indent="0" lvl="0" marL="457200" rtl="0" algn="l">
              <a:lnSpc>
                <a:spcPct val="105000"/>
              </a:lnSpc>
              <a:spcBef>
                <a:spcPts val="0"/>
              </a:spcBef>
              <a:spcAft>
                <a:spcPts val="0"/>
              </a:spcAft>
              <a:buSzPts val="440"/>
              <a:buNone/>
            </a:pPr>
            <a:r>
              <a:rPr b="1" lang="en" sz="1400"/>
              <a:t>Business Metric Value:</a:t>
            </a:r>
            <a:r>
              <a:rPr lang="en" sz="1400"/>
              <a:t> This serves as an intuitive metric for Caterpillar's procurement team, showing the typical dollar deviation from real supplier quotes.</a:t>
            </a:r>
            <a:endParaRPr sz="1400"/>
          </a:p>
          <a:p>
            <a:pPr indent="0" lvl="0" marL="457200" rtl="0" algn="l">
              <a:lnSpc>
                <a:spcPct val="105000"/>
              </a:lnSpc>
              <a:spcBef>
                <a:spcPts val="0"/>
              </a:spcBef>
              <a:spcAft>
                <a:spcPts val="0"/>
              </a:spcAft>
              <a:buSzPts val="440"/>
              <a:buNone/>
            </a:pPr>
            <a:r>
              <a:t/>
            </a:r>
            <a:endParaRPr sz="1400"/>
          </a:p>
          <a:p>
            <a:pPr indent="0" lvl="0" marL="0" rtl="0" algn="l">
              <a:lnSpc>
                <a:spcPct val="105000"/>
              </a:lnSpc>
              <a:spcBef>
                <a:spcPts val="0"/>
              </a:spcBef>
              <a:spcAft>
                <a:spcPts val="0"/>
              </a:spcAft>
              <a:buClr>
                <a:schemeClr val="dk1"/>
              </a:buClr>
              <a:buSzPts val="440"/>
              <a:buFont typeface="Arial"/>
              <a:buNone/>
            </a:pPr>
            <a:r>
              <a:rPr b="1" lang="en" sz="1400">
                <a:solidFill>
                  <a:schemeClr val="accent3"/>
                </a:solidFill>
              </a:rPr>
              <a:t>2. RMSE (Root Mean Square Error</a:t>
            </a:r>
            <a:r>
              <a:rPr b="1" lang="en" sz="1400"/>
              <a:t>)</a:t>
            </a:r>
            <a:endParaRPr b="1" sz="1400"/>
          </a:p>
          <a:p>
            <a:pPr indent="0" lvl="0" marL="457200" rtl="0" algn="l">
              <a:lnSpc>
                <a:spcPct val="105000"/>
              </a:lnSpc>
              <a:spcBef>
                <a:spcPts val="800"/>
              </a:spcBef>
              <a:spcAft>
                <a:spcPts val="0"/>
              </a:spcAft>
              <a:buNone/>
            </a:pPr>
            <a:r>
              <a:rPr lang="en" sz="1400"/>
              <a:t>The square root of the mean of squared prediction errors.</a:t>
            </a:r>
            <a:endParaRPr sz="1400"/>
          </a:p>
          <a:p>
            <a:pPr indent="0" lvl="0" marL="457200" rtl="0" algn="l">
              <a:lnSpc>
                <a:spcPct val="105000"/>
              </a:lnSpc>
              <a:spcBef>
                <a:spcPts val="0"/>
              </a:spcBef>
              <a:spcAft>
                <a:spcPts val="0"/>
              </a:spcAft>
              <a:buSzPts val="440"/>
              <a:buNone/>
            </a:pPr>
            <a:r>
              <a:t/>
            </a:r>
            <a:endParaRPr sz="1400"/>
          </a:p>
          <a:p>
            <a:pPr indent="0" lvl="0" marL="457200" rtl="0" algn="l">
              <a:lnSpc>
                <a:spcPct val="105000"/>
              </a:lnSpc>
              <a:spcBef>
                <a:spcPts val="0"/>
              </a:spcBef>
              <a:spcAft>
                <a:spcPts val="0"/>
              </a:spcAft>
              <a:buSzPts val="440"/>
              <a:buNone/>
            </a:pPr>
            <a:r>
              <a:rPr b="1" lang="en" sz="1400"/>
              <a:t>Business Metric Value:</a:t>
            </a:r>
            <a:r>
              <a:rPr lang="en" sz="1400"/>
              <a:t> Because it squares the errors before averaging, it heavily penalizes large mistakes. This ensures our model is tightly constrained and flags massive quoting anomalies in highly complex, high-cost custom tubes.</a:t>
            </a:r>
            <a:endParaRPr sz="1400"/>
          </a:p>
          <a:p>
            <a:pPr indent="0" lvl="0" marL="457200" rtl="0" algn="l">
              <a:lnSpc>
                <a:spcPct val="105000"/>
              </a:lnSpc>
              <a:spcBef>
                <a:spcPts val="0"/>
              </a:spcBef>
              <a:spcAft>
                <a:spcPts val="0"/>
              </a:spcAft>
              <a:buSzPts val="440"/>
              <a:buNone/>
            </a:pPr>
            <a:r>
              <a:t/>
            </a:r>
            <a:endParaRPr sz="1400">
              <a:solidFill>
                <a:schemeClr val="accent6"/>
              </a:solidFill>
            </a:endParaRPr>
          </a:p>
          <a:p>
            <a:pPr indent="0" lvl="0" marL="0" rtl="0" algn="l">
              <a:lnSpc>
                <a:spcPct val="105000"/>
              </a:lnSpc>
              <a:spcBef>
                <a:spcPts val="0"/>
              </a:spcBef>
              <a:spcAft>
                <a:spcPts val="0"/>
              </a:spcAft>
              <a:buClr>
                <a:schemeClr val="dk1"/>
              </a:buClr>
              <a:buSzPts val="440"/>
              <a:buFont typeface="Arial"/>
              <a:buNone/>
            </a:pPr>
            <a:r>
              <a:rPr b="1" lang="en" sz="1400">
                <a:solidFill>
                  <a:schemeClr val="accent6"/>
                </a:solidFill>
              </a:rPr>
              <a:t>3. R² Score (Coefficient of Determination)</a:t>
            </a:r>
            <a:endParaRPr b="1" sz="1400">
              <a:solidFill>
                <a:schemeClr val="accent6"/>
              </a:solidFill>
            </a:endParaRPr>
          </a:p>
          <a:p>
            <a:pPr indent="0" lvl="0" marL="457200" rtl="0" algn="l">
              <a:lnSpc>
                <a:spcPct val="105000"/>
              </a:lnSpc>
              <a:spcBef>
                <a:spcPts val="800"/>
              </a:spcBef>
              <a:spcAft>
                <a:spcPts val="0"/>
              </a:spcAft>
              <a:buNone/>
            </a:pPr>
            <a:r>
              <a:rPr lang="en" sz="1400"/>
              <a:t>The proportion of total variance in the target variable that is predictable from the input features.</a:t>
            </a:r>
            <a:endParaRPr sz="1400"/>
          </a:p>
          <a:p>
            <a:pPr indent="0" lvl="0" marL="457200" rtl="0" algn="l">
              <a:lnSpc>
                <a:spcPct val="105000"/>
              </a:lnSpc>
              <a:spcBef>
                <a:spcPts val="0"/>
              </a:spcBef>
              <a:spcAft>
                <a:spcPts val="0"/>
              </a:spcAft>
              <a:buNone/>
            </a:pPr>
            <a:r>
              <a:t/>
            </a:r>
            <a:endParaRPr sz="1400"/>
          </a:p>
          <a:p>
            <a:pPr indent="0" lvl="0" marL="457200" rtl="0" algn="l">
              <a:lnSpc>
                <a:spcPct val="105000"/>
              </a:lnSpc>
              <a:spcBef>
                <a:spcPts val="0"/>
              </a:spcBef>
              <a:spcAft>
                <a:spcPts val="0"/>
              </a:spcAft>
              <a:buNone/>
            </a:pPr>
            <a:r>
              <a:rPr b="1" lang="en" sz="1400"/>
              <a:t>Business Metric Value:</a:t>
            </a:r>
            <a:r>
              <a:rPr lang="en" sz="1400"/>
              <a:t> This tells how much of the pricing complexity is actually captured by our data.</a:t>
            </a:r>
            <a:endParaRPr sz="1400"/>
          </a:p>
          <a:p>
            <a:pPr indent="0" lvl="0" marL="457200" rtl="0" algn="l">
              <a:lnSpc>
                <a:spcPct val="105000"/>
              </a:lnSpc>
              <a:spcBef>
                <a:spcPts val="0"/>
              </a:spcBef>
              <a:spcAft>
                <a:spcPts val="0"/>
              </a:spcAft>
              <a:buNone/>
            </a:pPr>
            <a:r>
              <a:t/>
            </a:r>
            <a:endParaRPr sz="1400"/>
          </a:p>
          <a:p>
            <a:pPr indent="0" lvl="0" marL="0" rtl="0" algn="l">
              <a:lnSpc>
                <a:spcPct val="105000"/>
              </a:lnSpc>
              <a:spcBef>
                <a:spcPts val="0"/>
              </a:spcBef>
              <a:spcAft>
                <a:spcPts val="0"/>
              </a:spcAft>
              <a:buSzPts val="440"/>
              <a:buNone/>
            </a:pPr>
            <a:r>
              <a:rPr b="1" lang="en" sz="1400">
                <a:solidFill>
                  <a:srgbClr val="00FF00"/>
                </a:solidFill>
              </a:rPr>
              <a:t>4. RMSLE (Root Mean Squared Logarithmic Error)</a:t>
            </a:r>
            <a:endParaRPr b="1" sz="1400">
              <a:solidFill>
                <a:srgbClr val="00FF00"/>
              </a:solidFill>
            </a:endParaRPr>
          </a:p>
          <a:p>
            <a:pPr indent="0" lvl="0" marL="0" rtl="0" algn="l">
              <a:lnSpc>
                <a:spcPct val="105000"/>
              </a:lnSpc>
              <a:spcBef>
                <a:spcPts val="0"/>
              </a:spcBef>
              <a:spcAft>
                <a:spcPts val="0"/>
              </a:spcAft>
              <a:buSzPts val="440"/>
              <a:buNone/>
            </a:pPr>
            <a:r>
              <a:t/>
            </a:r>
            <a:endParaRPr b="1" sz="1400">
              <a:solidFill>
                <a:srgbClr val="00FF00"/>
              </a:solidFill>
            </a:endParaRPr>
          </a:p>
          <a:p>
            <a:pPr indent="0" lvl="0" marL="0" rtl="0" algn="l">
              <a:lnSpc>
                <a:spcPct val="105000"/>
              </a:lnSpc>
              <a:spcBef>
                <a:spcPts val="0"/>
              </a:spcBef>
              <a:spcAft>
                <a:spcPts val="0"/>
              </a:spcAft>
              <a:buSzPts val="440"/>
              <a:buNone/>
            </a:pPr>
            <a:r>
              <a:rPr b="1" lang="en" sz="1400">
                <a:solidFill>
                  <a:srgbClr val="00FF00"/>
                </a:solidFill>
              </a:rPr>
              <a:t>	</a:t>
            </a:r>
            <a:r>
              <a:rPr b="1" lang="en" sz="1400"/>
              <a:t>The root mean square of the logarithmic differences between predicted and actual values.</a:t>
            </a:r>
            <a:endParaRPr b="1" sz="1400"/>
          </a:p>
          <a:p>
            <a:pPr indent="0" lvl="0" marL="0" rtl="0" algn="l">
              <a:lnSpc>
                <a:spcPct val="105000"/>
              </a:lnSpc>
              <a:spcBef>
                <a:spcPts val="0"/>
              </a:spcBef>
              <a:spcAft>
                <a:spcPts val="0"/>
              </a:spcAft>
              <a:buSzPts val="440"/>
              <a:buNone/>
            </a:pPr>
            <a:r>
              <a:t/>
            </a:r>
            <a:endParaRPr b="1" sz="1400"/>
          </a:p>
          <a:p>
            <a:pPr indent="0" lvl="0" marL="457200" rtl="0" algn="l">
              <a:lnSpc>
                <a:spcPct val="105000"/>
              </a:lnSpc>
              <a:spcBef>
                <a:spcPts val="0"/>
              </a:spcBef>
              <a:spcAft>
                <a:spcPts val="0"/>
              </a:spcAft>
              <a:buNone/>
            </a:pPr>
            <a:r>
              <a:rPr b="1" lang="en" sz="1400"/>
              <a:t>Business Metric Value:</a:t>
            </a:r>
            <a:r>
              <a:rPr lang="en" sz="1400"/>
              <a:t> Because the cost distribution is right-skewed, standard errors heavily penalize large absolute deviations (like a $100 mistake on a $1000 assembly) while ignoring significant relative errors on cheaper parts. RMSLE fixes this by evaluating percentage-based pricing errors, ensuring a $10 mistake on a $20 tube (a 50% error) is penalized appropriately compared to a $100 mistake on a $1000 assembly (a 10% error)</a:t>
            </a:r>
            <a:endParaRPr sz="1400"/>
          </a:p>
          <a:p>
            <a:pPr indent="0" lvl="0" marL="457200" rtl="0" algn="l">
              <a:lnSpc>
                <a:spcPct val="105000"/>
              </a:lnSpc>
              <a:spcBef>
                <a:spcPts val="0"/>
              </a:spcBef>
              <a:spcAft>
                <a:spcPts val="0"/>
              </a:spcAft>
              <a:buSzPts val="440"/>
              <a:buNone/>
            </a:pPr>
            <a:r>
              <a:t/>
            </a:r>
            <a:endParaRPr sz="1400"/>
          </a:p>
          <a:p>
            <a:pPr indent="0" lvl="0" marL="0" rtl="0" algn="l">
              <a:lnSpc>
                <a:spcPct val="80000"/>
              </a:lnSpc>
              <a:spcBef>
                <a:spcPts val="1000"/>
              </a:spcBef>
              <a:spcAft>
                <a:spcPts val="0"/>
              </a:spcAft>
              <a:buSzPts val="440"/>
              <a:buNone/>
            </a:pPr>
            <a:r>
              <a:t/>
            </a:r>
            <a:endParaRPr sz="1400"/>
          </a:p>
        </p:txBody>
      </p:sp>
      <p:sp>
        <p:nvSpPr>
          <p:cNvPr id="2190" name="Google Shape;2190;g3a890b03b1b_2_1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191" name="Google Shape;2191;g3a890b03b1b_2_14"/>
          <p:cNvSpPr txBox="1"/>
          <p:nvPr/>
        </p:nvSpPr>
        <p:spPr>
          <a:xfrm>
            <a:off x="9192000" y="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C2C2C2"/>
                </a:solidFill>
              </a:rPr>
              <a:t>Antonios Stefanakis</a:t>
            </a:r>
            <a:endParaRPr sz="2200">
              <a:solidFill>
                <a:srgbClr val="C2C2C2"/>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6" name="Shape 2196"/>
        <p:cNvGrpSpPr/>
        <p:nvPr/>
      </p:nvGrpSpPr>
      <p:grpSpPr>
        <a:xfrm>
          <a:off x="0" y="0"/>
          <a:ext cx="0" cy="0"/>
          <a:chOff x="0" y="0"/>
          <a:chExt cx="0" cy="0"/>
        </a:xfrm>
      </p:grpSpPr>
      <p:sp>
        <p:nvSpPr>
          <p:cNvPr id="2197" name="Google Shape;2197;g3a890b03b1b_2_21"/>
          <p:cNvSpPr txBox="1"/>
          <p:nvPr>
            <p:ph type="title"/>
          </p:nvPr>
        </p:nvSpPr>
        <p:spPr>
          <a:xfrm>
            <a:off x="335200" y="161775"/>
            <a:ext cx="34962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 sz="3000">
                <a:solidFill>
                  <a:srgbClr val="155B55"/>
                </a:solidFill>
                <a:latin typeface="Arial"/>
                <a:ea typeface="Arial"/>
                <a:cs typeface="Arial"/>
                <a:sym typeface="Arial"/>
              </a:rPr>
              <a:t>Experimental Plan</a:t>
            </a:r>
            <a:r>
              <a:rPr lang="en" sz="2300">
                <a:solidFill>
                  <a:srgbClr val="155B55"/>
                </a:solidFill>
                <a:latin typeface="Arial"/>
                <a:ea typeface="Arial"/>
                <a:cs typeface="Arial"/>
                <a:sym typeface="Arial"/>
              </a:rPr>
              <a:t> </a:t>
            </a:r>
            <a:endParaRPr sz="2600">
              <a:solidFill>
                <a:srgbClr val="155B55"/>
              </a:solidFill>
            </a:endParaRPr>
          </a:p>
        </p:txBody>
      </p:sp>
      <p:sp>
        <p:nvSpPr>
          <p:cNvPr id="2198" name="Google Shape;2198;g3a890b03b1b_2_21"/>
          <p:cNvSpPr txBox="1"/>
          <p:nvPr>
            <p:ph idx="1" type="body"/>
          </p:nvPr>
        </p:nvSpPr>
        <p:spPr>
          <a:xfrm>
            <a:off x="838200" y="1365425"/>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Clr>
                <a:schemeClr val="dk1"/>
              </a:buClr>
              <a:buSzPts val="1100"/>
              <a:buFont typeface="Arial"/>
              <a:buNone/>
            </a:pPr>
            <a:r>
              <a:rPr b="1" lang="en" sz="1750"/>
              <a:t>Validation Strategy</a:t>
            </a:r>
            <a:endParaRPr b="1" sz="1750"/>
          </a:p>
          <a:p>
            <a:pPr indent="-323850" lvl="0" marL="457200" rtl="0" algn="l">
              <a:lnSpc>
                <a:spcPct val="115000"/>
              </a:lnSpc>
              <a:spcBef>
                <a:spcPts val="800"/>
              </a:spcBef>
              <a:spcAft>
                <a:spcPts val="0"/>
              </a:spcAft>
              <a:buSzPts val="1500"/>
              <a:buChar char="●"/>
            </a:pPr>
            <a:r>
              <a:rPr b="1" lang="en" sz="1500"/>
              <a:t>Data Splitting:</a:t>
            </a:r>
            <a:r>
              <a:rPr lang="en" sz="1500"/>
              <a:t> </a:t>
            </a:r>
            <a:r>
              <a:rPr lang="en" sz="1500">
                <a:highlight>
                  <a:srgbClr val="FFFFFF"/>
                </a:highlight>
              </a:rPr>
              <a:t>70-15-15 distribution across 30,213 total records, </a:t>
            </a:r>
            <a:r>
              <a:rPr lang="en" sz="1500"/>
              <a:t>will be executed on the final cleaned, merged dataset 21,148 training rows, 4,533 validation rows and 4,532 testing rows.</a:t>
            </a:r>
            <a:endParaRPr sz="1500"/>
          </a:p>
          <a:p>
            <a:pPr indent="0" lvl="0" marL="457200" rtl="0" algn="l">
              <a:lnSpc>
                <a:spcPct val="115000"/>
              </a:lnSpc>
              <a:spcBef>
                <a:spcPts val="0"/>
              </a:spcBef>
              <a:spcAft>
                <a:spcPts val="0"/>
              </a:spcAft>
              <a:buNone/>
            </a:pPr>
            <a:r>
              <a:t/>
            </a:r>
            <a:endParaRPr sz="1500"/>
          </a:p>
          <a:p>
            <a:pPr indent="-323850" lvl="0" marL="457200" rtl="0" algn="l">
              <a:lnSpc>
                <a:spcPct val="115000"/>
              </a:lnSpc>
              <a:spcBef>
                <a:spcPts val="0"/>
              </a:spcBef>
              <a:spcAft>
                <a:spcPts val="0"/>
              </a:spcAft>
              <a:buSzPts val="1500"/>
              <a:buChar char="●"/>
            </a:pPr>
            <a:r>
              <a:rPr b="1" lang="en" sz="1500"/>
              <a:t>Cross-Validation:</a:t>
            </a:r>
            <a:r>
              <a:rPr lang="en" sz="1500"/>
              <a:t> A </a:t>
            </a:r>
            <a:r>
              <a:rPr b="1" lang="en" sz="1500"/>
              <a:t>Cross-Validation</a:t>
            </a:r>
            <a:r>
              <a:rPr lang="en" sz="1500"/>
              <a:t> process will be applied to the training partition to ensure that performance metrics are highly stable and completely independent of a lucky dataset split.</a:t>
            </a:r>
            <a:endParaRPr sz="1500"/>
          </a:p>
          <a:p>
            <a:pPr indent="0" lvl="0" marL="457200" rtl="0" algn="l">
              <a:lnSpc>
                <a:spcPct val="115000"/>
              </a:lnSpc>
              <a:spcBef>
                <a:spcPts val="0"/>
              </a:spcBef>
              <a:spcAft>
                <a:spcPts val="0"/>
              </a:spcAft>
              <a:buNone/>
            </a:pPr>
            <a:r>
              <a:t/>
            </a:r>
            <a:endParaRPr sz="1500"/>
          </a:p>
          <a:p>
            <a:pPr indent="0" lvl="0" marL="457200" rtl="0" algn="l">
              <a:lnSpc>
                <a:spcPct val="115000"/>
              </a:lnSpc>
              <a:spcBef>
                <a:spcPts val="0"/>
              </a:spcBef>
              <a:spcAft>
                <a:spcPts val="0"/>
              </a:spcAft>
              <a:buNone/>
            </a:pPr>
            <a:r>
              <a:t/>
            </a:r>
            <a:endParaRPr sz="1500"/>
          </a:p>
          <a:p>
            <a:pPr indent="0" lvl="0" marL="0" rtl="0" algn="l">
              <a:lnSpc>
                <a:spcPct val="115000"/>
              </a:lnSpc>
              <a:spcBef>
                <a:spcPts val="0"/>
              </a:spcBef>
              <a:spcAft>
                <a:spcPts val="0"/>
              </a:spcAft>
              <a:buClr>
                <a:schemeClr val="dk1"/>
              </a:buClr>
              <a:buSzPts val="1100"/>
              <a:buFont typeface="Arial"/>
              <a:buNone/>
            </a:pPr>
            <a:r>
              <a:rPr b="1" lang="en" sz="1750"/>
              <a:t>Hyperparameter Tuning</a:t>
            </a:r>
            <a:endParaRPr b="1" sz="1750"/>
          </a:p>
          <a:p>
            <a:pPr indent="-323850" lvl="0" marL="457200" rtl="0" algn="l">
              <a:lnSpc>
                <a:spcPct val="115000"/>
              </a:lnSpc>
              <a:spcBef>
                <a:spcPts val="800"/>
              </a:spcBef>
              <a:spcAft>
                <a:spcPts val="0"/>
              </a:spcAft>
              <a:buSzPts val="1500"/>
              <a:buChar char="●"/>
            </a:pPr>
            <a:r>
              <a:rPr b="1" lang="en" sz="1500"/>
              <a:t>Method:</a:t>
            </a:r>
            <a:r>
              <a:rPr lang="en" sz="1500"/>
              <a:t> Applying </a:t>
            </a:r>
            <a:r>
              <a:rPr b="1" lang="en" sz="1500"/>
              <a:t>RandomizedSearchCV</a:t>
            </a:r>
            <a:r>
              <a:rPr lang="en" sz="1500"/>
              <a:t> on both algorithms to efficiently scan the parameter space.</a:t>
            </a:r>
            <a:endParaRPr sz="1500"/>
          </a:p>
          <a:p>
            <a:pPr indent="0" lvl="0" marL="457200" rtl="0" algn="l">
              <a:lnSpc>
                <a:spcPct val="115000"/>
              </a:lnSpc>
              <a:spcBef>
                <a:spcPts val="0"/>
              </a:spcBef>
              <a:spcAft>
                <a:spcPts val="0"/>
              </a:spcAft>
              <a:buNone/>
            </a:pPr>
            <a:r>
              <a:t/>
            </a:r>
            <a:endParaRPr sz="3200"/>
          </a:p>
        </p:txBody>
      </p:sp>
      <p:sp>
        <p:nvSpPr>
          <p:cNvPr id="2199" name="Google Shape;2199;g3a890b03b1b_2_2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200" name="Google Shape;2200;g3a890b03b1b_2_21"/>
          <p:cNvSpPr txBox="1"/>
          <p:nvPr/>
        </p:nvSpPr>
        <p:spPr>
          <a:xfrm>
            <a:off x="9192000" y="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C2C2C2"/>
                </a:solidFill>
              </a:rPr>
              <a:t>Antonios Stefanakis</a:t>
            </a:r>
            <a:endParaRPr sz="2200">
              <a:solidFill>
                <a:srgbClr val="C2C2C2"/>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5" name="Shape 2205"/>
        <p:cNvGrpSpPr/>
        <p:nvPr/>
      </p:nvGrpSpPr>
      <p:grpSpPr>
        <a:xfrm>
          <a:off x="0" y="0"/>
          <a:ext cx="0" cy="0"/>
          <a:chOff x="0" y="0"/>
          <a:chExt cx="0" cy="0"/>
        </a:xfrm>
      </p:grpSpPr>
      <p:sp>
        <p:nvSpPr>
          <p:cNvPr id="2206" name="Google Shape;2206;g3ee2b4152bf_0_0"/>
          <p:cNvSpPr txBox="1"/>
          <p:nvPr>
            <p:ph type="title"/>
          </p:nvPr>
        </p:nvSpPr>
        <p:spPr>
          <a:xfrm>
            <a:off x="394200" y="151100"/>
            <a:ext cx="4020600" cy="4482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 sz="2400">
                <a:solidFill>
                  <a:srgbClr val="1B786F"/>
                </a:solidFill>
                <a:latin typeface="Arial"/>
                <a:ea typeface="Arial"/>
                <a:cs typeface="Arial"/>
                <a:sym typeface="Arial"/>
              </a:rPr>
              <a:t>Implementation Strategy</a:t>
            </a:r>
            <a:endParaRPr b="1" sz="2400">
              <a:solidFill>
                <a:srgbClr val="1B786F"/>
              </a:solidFill>
              <a:latin typeface="Arial"/>
              <a:ea typeface="Arial"/>
              <a:cs typeface="Arial"/>
              <a:sym typeface="Arial"/>
            </a:endParaRPr>
          </a:p>
        </p:txBody>
      </p:sp>
      <p:sp>
        <p:nvSpPr>
          <p:cNvPr id="2207" name="Google Shape;2207;g3ee2b4152bf_0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208" name="Google Shape;2208;g3ee2b4152bf_0_0"/>
          <p:cNvSpPr txBox="1"/>
          <p:nvPr/>
        </p:nvSpPr>
        <p:spPr>
          <a:xfrm>
            <a:off x="394200" y="730300"/>
            <a:ext cx="8216400" cy="521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600">
                <a:solidFill>
                  <a:schemeClr val="dk1"/>
                </a:solidFill>
              </a:rPr>
              <a:t>Data Integrity:</a:t>
            </a:r>
            <a:r>
              <a:rPr lang="en" sz="1600">
                <a:solidFill>
                  <a:schemeClr val="dk1"/>
                </a:solidFill>
              </a:rPr>
              <a:t> Standardized the Final_DF.csv by isolating cost drivers from assembly IDs, ensuring the model learns physical patterns rather than specific record keys.</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b="1" lang="en" sz="1600">
                <a:solidFill>
                  <a:schemeClr val="dk1"/>
                </a:solidFill>
              </a:rPr>
              <a:t>Engineering Approach:</a:t>
            </a:r>
            <a:r>
              <a:rPr lang="en" sz="1600">
                <a:solidFill>
                  <a:schemeClr val="dk1"/>
                </a:solidFill>
              </a:rPr>
              <a:t> Applied One-Hot Encoding to categorical end-form variables and log-transformation to the target variable, neutralizing the right-skewed pricing distribution.</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b="1" lang="en" sz="1600">
                <a:solidFill>
                  <a:schemeClr val="dk1"/>
                </a:solidFill>
              </a:rPr>
              <a:t>Validation:</a:t>
            </a:r>
            <a:r>
              <a:rPr lang="en" sz="1600">
                <a:solidFill>
                  <a:schemeClr val="dk1"/>
                </a:solidFill>
              </a:rPr>
              <a:t> Implemented a </a:t>
            </a:r>
            <a:r>
              <a:rPr b="1" lang="en" sz="1600">
                <a:solidFill>
                  <a:schemeClr val="dk1"/>
                </a:solidFill>
              </a:rPr>
              <a:t>70/15/15 Train/Validation/Test data split</a:t>
            </a:r>
            <a:r>
              <a:rPr lang="en" sz="1600">
                <a:solidFill>
                  <a:schemeClr val="dk1"/>
                </a:solidFill>
              </a:rPr>
              <a:t> with random_state=42 to strictly comply with project requirements. This ensures an independent validation set for hyperparameter tuning and a completely untouched test set for final evaluation</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None/>
            </a:pPr>
            <a:r>
              <a:t/>
            </a:r>
            <a:endParaRPr sz="2800">
              <a:solidFill>
                <a:schemeClr val="dk1"/>
              </a:solidFill>
            </a:endParaRPr>
          </a:p>
        </p:txBody>
      </p:sp>
      <p:sp>
        <p:nvSpPr>
          <p:cNvPr id="2209" name="Google Shape;2209;g3ee2b4152bf_0_0"/>
          <p:cNvSpPr txBox="1"/>
          <p:nvPr/>
        </p:nvSpPr>
        <p:spPr>
          <a:xfrm>
            <a:off x="9192000" y="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C2C2C2"/>
                </a:solidFill>
              </a:rPr>
              <a:t>Antonios Stefanakis</a:t>
            </a:r>
            <a:endParaRPr sz="2200">
              <a:solidFill>
                <a:srgbClr val="C2C2C2"/>
              </a:solidFill>
            </a:endParaRPr>
          </a:p>
        </p:txBody>
      </p:sp>
      <p:pic>
        <p:nvPicPr>
          <p:cNvPr id="2210" name="Google Shape;2210;g3ee2b4152bf_0_0" title="Screenshot 2026-06-22 at 12.56.23 PM.png"/>
          <p:cNvPicPr preferRelativeResize="0"/>
          <p:nvPr/>
        </p:nvPicPr>
        <p:blipFill>
          <a:blip r:embed="rId3">
            <a:alphaModFix/>
          </a:blip>
          <a:stretch>
            <a:fillRect/>
          </a:stretch>
        </p:blipFill>
        <p:spPr>
          <a:xfrm>
            <a:off x="457875" y="3822275"/>
            <a:ext cx="6541399" cy="1312650"/>
          </a:xfrm>
          <a:prstGeom prst="rect">
            <a:avLst/>
          </a:prstGeom>
          <a:noFill/>
          <a:ln>
            <a:noFill/>
          </a:ln>
        </p:spPr>
      </p:pic>
      <p:pic>
        <p:nvPicPr>
          <p:cNvPr id="2211" name="Google Shape;2211;g3ee2b4152bf_0_0" title="Screenshot 2026-06-24 at 6.47.13 PM.png"/>
          <p:cNvPicPr preferRelativeResize="0"/>
          <p:nvPr/>
        </p:nvPicPr>
        <p:blipFill>
          <a:blip r:embed="rId4">
            <a:alphaModFix/>
          </a:blip>
          <a:stretch>
            <a:fillRect/>
          </a:stretch>
        </p:blipFill>
        <p:spPr>
          <a:xfrm>
            <a:off x="394200" y="5134925"/>
            <a:ext cx="7391400" cy="146685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6" name="Shape 2216"/>
        <p:cNvGrpSpPr/>
        <p:nvPr/>
      </p:nvGrpSpPr>
      <p:grpSpPr>
        <a:xfrm>
          <a:off x="0" y="0"/>
          <a:ext cx="0" cy="0"/>
          <a:chOff x="0" y="0"/>
          <a:chExt cx="0" cy="0"/>
        </a:xfrm>
      </p:grpSpPr>
      <p:sp>
        <p:nvSpPr>
          <p:cNvPr id="2217" name="Google Shape;2217;g3ee2b4152bf_0_7"/>
          <p:cNvSpPr txBox="1"/>
          <p:nvPr>
            <p:ph type="title"/>
          </p:nvPr>
        </p:nvSpPr>
        <p:spPr>
          <a:xfrm>
            <a:off x="210475" y="149900"/>
            <a:ext cx="5258100" cy="674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 sz="2000">
                <a:solidFill>
                  <a:srgbClr val="188038"/>
                </a:solidFill>
                <a:latin typeface="Arial"/>
                <a:ea typeface="Arial"/>
                <a:cs typeface="Arial"/>
                <a:sym typeface="Arial"/>
              </a:rPr>
              <a:t>Model Implementation &amp; Coding Pipeline</a:t>
            </a:r>
            <a:endParaRPr b="1" sz="2000">
              <a:solidFill>
                <a:srgbClr val="188038"/>
              </a:solidFill>
              <a:latin typeface="Arial"/>
              <a:ea typeface="Arial"/>
              <a:cs typeface="Arial"/>
              <a:sym typeface="Arial"/>
            </a:endParaRPr>
          </a:p>
        </p:txBody>
      </p:sp>
      <p:sp>
        <p:nvSpPr>
          <p:cNvPr id="2218" name="Google Shape;2218;g3ee2b4152bf_0_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219" name="Google Shape;2219;g3ee2b4152bf_0_7"/>
          <p:cNvSpPr txBox="1"/>
          <p:nvPr/>
        </p:nvSpPr>
        <p:spPr>
          <a:xfrm>
            <a:off x="9192000" y="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C2C2C2"/>
                </a:solidFill>
              </a:rPr>
              <a:t>Antonios Stefanakis</a:t>
            </a:r>
            <a:endParaRPr sz="2200">
              <a:solidFill>
                <a:srgbClr val="C2C2C2"/>
              </a:solidFill>
            </a:endParaRPr>
          </a:p>
        </p:txBody>
      </p:sp>
      <p:sp>
        <p:nvSpPr>
          <p:cNvPr id="2220" name="Google Shape;2220;g3ee2b4152bf_0_7"/>
          <p:cNvSpPr txBox="1"/>
          <p:nvPr/>
        </p:nvSpPr>
        <p:spPr>
          <a:xfrm>
            <a:off x="269125" y="699550"/>
            <a:ext cx="4731300" cy="574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600">
                <a:solidFill>
                  <a:schemeClr val="dk1"/>
                </a:solidFill>
              </a:rPr>
              <a:t>Baseline Model Pipeline</a:t>
            </a:r>
            <a:endParaRPr b="1" sz="1600">
              <a:solidFill>
                <a:schemeClr val="dk1"/>
              </a:solidFill>
            </a:endParaRPr>
          </a:p>
          <a:p>
            <a:pPr indent="-330200" lvl="0" marL="457200" rtl="0" algn="l">
              <a:lnSpc>
                <a:spcPct val="115000"/>
              </a:lnSpc>
              <a:spcBef>
                <a:spcPts val="400"/>
              </a:spcBef>
              <a:spcAft>
                <a:spcPts val="0"/>
              </a:spcAft>
              <a:buClr>
                <a:schemeClr val="dk1"/>
              </a:buClr>
              <a:buSzPts val="1600"/>
              <a:buChar char="●"/>
            </a:pPr>
            <a:r>
              <a:rPr b="1" lang="en" sz="1600">
                <a:solidFill>
                  <a:schemeClr val="dk1"/>
                </a:solidFill>
              </a:rPr>
              <a:t>Data Scaling:</a:t>
            </a:r>
            <a:r>
              <a:rPr lang="en" sz="1600">
                <a:solidFill>
                  <a:schemeClr val="dk1"/>
                </a:solidFill>
              </a:rPr>
              <a:t> Uses StandardScaler() to normalize data sizes.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 sz="1600">
                <a:solidFill>
                  <a:schemeClr val="dk1"/>
                </a:solidFill>
              </a:rPr>
              <a:t>Handling Variance:</a:t>
            </a:r>
            <a:r>
              <a:rPr lang="en" sz="1600">
                <a:solidFill>
                  <a:schemeClr val="dk1"/>
                </a:solidFill>
              </a:rPr>
              <a:t> Prevents unstable predictions from large feature differences.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 sz="1600">
                <a:solidFill>
                  <a:schemeClr val="dk1"/>
                </a:solidFill>
              </a:rPr>
              <a:t>Pipeline Container:</a:t>
            </a:r>
            <a:r>
              <a:rPr lang="en" sz="1600">
                <a:solidFill>
                  <a:schemeClr val="dk1"/>
                </a:solidFill>
              </a:rPr>
              <a:t> Chains scaling and LinearRegression() sequentially.</a:t>
            </a:r>
            <a:endParaRPr sz="1600">
              <a:solidFill>
                <a:schemeClr val="dk1"/>
              </a:solidFill>
            </a:endParaRPr>
          </a:p>
          <a:p>
            <a:pPr indent="0" lvl="0" marL="0" rtl="0" algn="l">
              <a:lnSpc>
                <a:spcPct val="115000"/>
              </a:lnSpc>
              <a:spcBef>
                <a:spcPts val="1200"/>
              </a:spcBef>
              <a:spcAft>
                <a:spcPts val="0"/>
              </a:spcAft>
              <a:buNone/>
            </a:pPr>
            <a:r>
              <a:rPr b="1" lang="en" sz="1600">
                <a:solidFill>
                  <a:schemeClr val="dk1"/>
                </a:solidFill>
              </a:rPr>
              <a:t>Target Alignment &amp; Inversion</a:t>
            </a:r>
            <a:endParaRPr b="1" sz="1600">
              <a:solidFill>
                <a:schemeClr val="dk1"/>
              </a:solidFill>
            </a:endParaRPr>
          </a:p>
          <a:p>
            <a:pPr indent="-330200" lvl="0" marL="457200" rtl="0" algn="l">
              <a:lnSpc>
                <a:spcPct val="115000"/>
              </a:lnSpc>
              <a:spcBef>
                <a:spcPts val="400"/>
              </a:spcBef>
              <a:spcAft>
                <a:spcPts val="0"/>
              </a:spcAft>
              <a:buClr>
                <a:schemeClr val="dk1"/>
              </a:buClr>
              <a:buSzPts val="1600"/>
              <a:buChar char="●"/>
            </a:pPr>
            <a:r>
              <a:rPr b="1" lang="en" sz="1600">
                <a:solidFill>
                  <a:schemeClr val="dk1"/>
                </a:solidFill>
              </a:rPr>
              <a:t>Data Fix:</a:t>
            </a:r>
            <a:r>
              <a:rPr lang="en" sz="1600">
                <a:solidFill>
                  <a:schemeClr val="dk1"/>
                </a:solidFill>
              </a:rPr>
              <a:t> Aligns the log-transformed target directly with training indexes.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 sz="1600">
                <a:solidFill>
                  <a:schemeClr val="dk1"/>
                </a:solidFill>
              </a:rPr>
              <a:t>Retraining Loop:</a:t>
            </a:r>
            <a:r>
              <a:rPr lang="en" sz="1600">
                <a:solidFill>
                  <a:schemeClr val="dk1"/>
                </a:solidFill>
              </a:rPr>
              <a:t> Automatically fits all three models back-to-back.</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 sz="1600">
                <a:solidFill>
                  <a:schemeClr val="dk1"/>
                </a:solidFill>
              </a:rPr>
              <a:t>Currency Conversion:</a:t>
            </a:r>
            <a:r>
              <a:rPr lang="en" sz="1600">
                <a:solidFill>
                  <a:schemeClr val="dk1"/>
                </a:solidFill>
              </a:rPr>
              <a:t> Inverts predictions with np.expm1() to show real USD costs.</a:t>
            </a:r>
            <a:endParaRPr sz="16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2800">
              <a:solidFill>
                <a:schemeClr val="dk1"/>
              </a:solidFill>
            </a:endParaRPr>
          </a:p>
        </p:txBody>
      </p:sp>
      <p:pic>
        <p:nvPicPr>
          <p:cNvPr id="2221" name="Google Shape;2221;g3ee2b4152bf_0_7" title="Screenshot 2026-06-22 at 1.19.36 PM.png"/>
          <p:cNvPicPr preferRelativeResize="0"/>
          <p:nvPr/>
        </p:nvPicPr>
        <p:blipFill>
          <a:blip r:embed="rId3">
            <a:alphaModFix/>
          </a:blip>
          <a:stretch>
            <a:fillRect/>
          </a:stretch>
        </p:blipFill>
        <p:spPr>
          <a:xfrm>
            <a:off x="5468563" y="523200"/>
            <a:ext cx="6160174" cy="2718650"/>
          </a:xfrm>
          <a:prstGeom prst="rect">
            <a:avLst/>
          </a:prstGeom>
          <a:noFill/>
          <a:ln>
            <a:noFill/>
          </a:ln>
        </p:spPr>
      </p:pic>
      <p:pic>
        <p:nvPicPr>
          <p:cNvPr id="2222" name="Google Shape;2222;g3ee2b4152bf_0_7" title="Screenshot 2026-06-22 at 1.20.16 PM.png"/>
          <p:cNvPicPr preferRelativeResize="0"/>
          <p:nvPr/>
        </p:nvPicPr>
        <p:blipFill>
          <a:blip r:embed="rId4">
            <a:alphaModFix/>
          </a:blip>
          <a:stretch>
            <a:fillRect/>
          </a:stretch>
        </p:blipFill>
        <p:spPr>
          <a:xfrm>
            <a:off x="6425550" y="3319726"/>
            <a:ext cx="4246200" cy="2958749"/>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7" name="Shape 2227"/>
        <p:cNvGrpSpPr/>
        <p:nvPr/>
      </p:nvGrpSpPr>
      <p:grpSpPr>
        <a:xfrm>
          <a:off x="0" y="0"/>
          <a:ext cx="0" cy="0"/>
          <a:chOff x="0" y="0"/>
          <a:chExt cx="0" cy="0"/>
        </a:xfrm>
      </p:grpSpPr>
      <p:sp>
        <p:nvSpPr>
          <p:cNvPr id="2228" name="Google Shape;2228;g3ee2b4152bf_0_14"/>
          <p:cNvSpPr txBox="1"/>
          <p:nvPr>
            <p:ph type="title"/>
          </p:nvPr>
        </p:nvSpPr>
        <p:spPr>
          <a:xfrm>
            <a:off x="0" y="0"/>
            <a:ext cx="6834900" cy="7965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b="1" lang="en" sz="3100">
                <a:solidFill>
                  <a:srgbClr val="249C91"/>
                </a:solidFill>
                <a:latin typeface="Arial"/>
                <a:ea typeface="Arial"/>
                <a:cs typeface="Arial"/>
                <a:sym typeface="Arial"/>
              </a:rPr>
              <a:t>Performance Benchmark &amp; Evaluation</a:t>
            </a:r>
            <a:endParaRPr b="1" sz="3100">
              <a:solidFill>
                <a:srgbClr val="249C91"/>
              </a:solidFill>
              <a:latin typeface="Arial"/>
              <a:ea typeface="Arial"/>
              <a:cs typeface="Arial"/>
              <a:sym typeface="Arial"/>
            </a:endParaRPr>
          </a:p>
        </p:txBody>
      </p:sp>
      <p:sp>
        <p:nvSpPr>
          <p:cNvPr id="2229" name="Google Shape;2229;g3ee2b4152bf_0_1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230" name="Google Shape;2230;g3ee2b4152bf_0_14"/>
          <p:cNvSpPr txBox="1"/>
          <p:nvPr/>
        </p:nvSpPr>
        <p:spPr>
          <a:xfrm>
            <a:off x="1156788" y="687200"/>
            <a:ext cx="4521300" cy="523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b="1" lang="en" sz="2100"/>
              <a:t>Model Performance Leaderboard:</a:t>
            </a:r>
            <a:endParaRPr b="1" sz="2100"/>
          </a:p>
        </p:txBody>
      </p:sp>
      <p:sp>
        <p:nvSpPr>
          <p:cNvPr id="2231" name="Google Shape;2231;g3ee2b4152bf_0_14"/>
          <p:cNvSpPr txBox="1"/>
          <p:nvPr/>
        </p:nvSpPr>
        <p:spPr>
          <a:xfrm>
            <a:off x="7799700" y="523200"/>
            <a:ext cx="4014300" cy="558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rPr>
              <a:t>Key Evaluation Metrics</a:t>
            </a:r>
            <a:endParaRPr b="1">
              <a:solidFill>
                <a:schemeClr val="dk1"/>
              </a:solidFill>
            </a:endParaRPr>
          </a:p>
          <a:p>
            <a:pPr indent="0" lvl="0" marL="0" rtl="0" algn="l">
              <a:lnSpc>
                <a:spcPct val="115000"/>
              </a:lnSpc>
              <a:spcBef>
                <a:spcPts val="400"/>
              </a:spcBef>
              <a:spcAft>
                <a:spcPts val="0"/>
              </a:spcAft>
              <a:buNone/>
            </a:pPr>
            <a:r>
              <a:rPr b="1" lang="en" sz="1200">
                <a:solidFill>
                  <a:schemeClr val="dk1"/>
                </a:solidFill>
              </a:rPr>
              <a:t>Predictive Precision:</a:t>
            </a:r>
            <a:endParaRPr b="1" sz="1200">
              <a:solidFill>
                <a:schemeClr val="dk1"/>
              </a:solidFill>
            </a:endParaRPr>
          </a:p>
          <a:p>
            <a:pPr indent="0" lvl="0" marL="0" rtl="0" algn="l">
              <a:lnSpc>
                <a:spcPct val="115000"/>
              </a:lnSpc>
              <a:spcBef>
                <a:spcPts val="1200"/>
              </a:spcBef>
              <a:spcAft>
                <a:spcPts val="0"/>
              </a:spcAft>
              <a:buNone/>
            </a:pPr>
            <a:r>
              <a:rPr b="1" lang="en" sz="1200">
                <a:solidFill>
                  <a:schemeClr val="dk1"/>
                </a:solidFill>
              </a:rPr>
              <a:t>Linear Baseline:</a:t>
            </a:r>
            <a:r>
              <a:rPr lang="en" sz="1200">
                <a:solidFill>
                  <a:schemeClr val="dk1"/>
                </a:solidFill>
              </a:rPr>
              <a:t> Shows weak performance, confirming linear equations cannot capture complex geometric and commercial cost dependencies.</a:t>
            </a:r>
            <a:endParaRPr sz="1200">
              <a:solidFill>
                <a:schemeClr val="dk1"/>
              </a:solidFill>
            </a:endParaRPr>
          </a:p>
          <a:p>
            <a:pPr indent="0" lvl="0" marL="91440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rPr b="1" lang="en" sz="1200">
                <a:solidFill>
                  <a:schemeClr val="dk1"/>
                </a:solidFill>
              </a:rPr>
              <a:t>Random Forest Regressor:</a:t>
            </a:r>
            <a:r>
              <a:rPr lang="en" sz="1200">
                <a:solidFill>
                  <a:schemeClr val="dk1"/>
                </a:solidFill>
              </a:rPr>
              <a:t> Emerges as the optimal model, achieving the lowest absolute error ($3.56), lowest percentage error (RMSLE: 0.2664), and explaining </a:t>
            </a:r>
            <a:r>
              <a:rPr b="1" lang="en" sz="1200">
                <a:solidFill>
                  <a:schemeClr val="dk1"/>
                </a:solidFill>
              </a:rPr>
              <a:t>69.30%</a:t>
            </a:r>
            <a:r>
              <a:rPr lang="en" sz="1200">
                <a:solidFill>
                  <a:schemeClr val="dk1"/>
                </a:solidFill>
              </a:rPr>
              <a:t> of the true price variance on the validation set.</a:t>
            </a:r>
            <a:endParaRPr sz="1200">
              <a:solidFill>
                <a:schemeClr val="dk1"/>
              </a:solidFill>
            </a:endParaRPr>
          </a:p>
          <a:p>
            <a:pPr indent="0" lvl="0" marL="91440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rPr b="1" lang="en" sz="1200">
                <a:solidFill>
                  <a:schemeClr val="dk1"/>
                </a:solidFill>
              </a:rPr>
              <a:t>Extra Trees Regressor:</a:t>
            </a:r>
            <a:r>
              <a:rPr lang="en" sz="1200">
                <a:solidFill>
                  <a:schemeClr val="dk1"/>
                </a:solidFill>
              </a:rPr>
              <a:t> Underperforms compared to Random Forest, indicating its extremely randomized split selections are slightly less effective for this specific feature space.</a:t>
            </a:r>
            <a:endParaRPr sz="12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1500">
              <a:solidFill>
                <a:schemeClr val="dk1"/>
              </a:solidFill>
            </a:endParaRPr>
          </a:p>
          <a:p>
            <a:pPr indent="0" lvl="0" marL="0" rtl="0" algn="l">
              <a:spcBef>
                <a:spcPts val="0"/>
              </a:spcBef>
              <a:spcAft>
                <a:spcPts val="0"/>
              </a:spcAft>
              <a:buNone/>
            </a:pPr>
            <a:r>
              <a:t/>
            </a:r>
            <a:endParaRPr sz="2800">
              <a:solidFill>
                <a:schemeClr val="dk1"/>
              </a:solidFill>
            </a:endParaRPr>
          </a:p>
        </p:txBody>
      </p:sp>
      <p:sp>
        <p:nvSpPr>
          <p:cNvPr id="2232" name="Google Shape;2232;g3ee2b4152bf_0_14"/>
          <p:cNvSpPr txBox="1"/>
          <p:nvPr/>
        </p:nvSpPr>
        <p:spPr>
          <a:xfrm>
            <a:off x="9192000" y="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C2C2C2"/>
                </a:solidFill>
              </a:rPr>
              <a:t>Antonios Stefanakis</a:t>
            </a:r>
            <a:endParaRPr sz="2200">
              <a:solidFill>
                <a:srgbClr val="C2C2C2"/>
              </a:solidFill>
            </a:endParaRPr>
          </a:p>
        </p:txBody>
      </p:sp>
      <p:graphicFrame>
        <p:nvGraphicFramePr>
          <p:cNvPr id="2233" name="Google Shape;2233;g3ee2b4152bf_0_14"/>
          <p:cNvGraphicFramePr/>
          <p:nvPr/>
        </p:nvGraphicFramePr>
        <p:xfrm>
          <a:off x="0" y="1210400"/>
          <a:ext cx="3000000" cy="3000000"/>
        </p:xfrm>
        <a:graphic>
          <a:graphicData uri="http://schemas.openxmlformats.org/drawingml/2006/table">
            <a:tbl>
              <a:tblPr>
                <a:noFill/>
                <a:tableStyleId>{45EFA893-811E-4007-9D9D-CAB5BEB4294B}</a:tableStyleId>
              </a:tblPr>
              <a:tblGrid>
                <a:gridCol w="2352675"/>
                <a:gridCol w="1047750"/>
                <a:gridCol w="1152525"/>
                <a:gridCol w="904875"/>
                <a:gridCol w="781050"/>
                <a:gridCol w="1485900"/>
              </a:tblGrid>
              <a:tr h="342900">
                <a:tc>
                  <a:txBody>
                    <a:bodyPr/>
                    <a:lstStyle/>
                    <a:p>
                      <a:pPr indent="0" lvl="0" marL="0" rtl="0" algn="l">
                        <a:lnSpc>
                          <a:spcPct val="115000"/>
                        </a:lnSpc>
                        <a:spcBef>
                          <a:spcPts val="0"/>
                        </a:spcBef>
                        <a:spcAft>
                          <a:spcPts val="2400"/>
                        </a:spcAft>
                        <a:buNone/>
                      </a:pPr>
                      <a:r>
                        <a:rPr b="1" lang="en" sz="1100"/>
                        <a:t>Model</a:t>
                      </a:r>
                      <a:endParaRPr b="1" sz="1100"/>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100"/>
                        <a:t>MAE (USD)</a:t>
                      </a:r>
                      <a:endParaRPr b="1" sz="1100"/>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100"/>
                        <a:t>RMSE (USD)</a:t>
                      </a:r>
                      <a:endParaRPr b="1" sz="1100"/>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100">
                          <a:solidFill>
                            <a:schemeClr val="dk1"/>
                          </a:solidFill>
                        </a:rPr>
                        <a:t>R²</a:t>
                      </a:r>
                      <a:r>
                        <a:rPr b="1" lang="en" sz="1200"/>
                        <a:t> </a:t>
                      </a:r>
                      <a:r>
                        <a:rPr b="1" lang="en" sz="1100"/>
                        <a:t>Score</a:t>
                      </a:r>
                      <a:endParaRPr b="1" sz="1100"/>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100"/>
                        <a:t>RMSLE</a:t>
                      </a:r>
                      <a:endParaRPr b="1" sz="1100"/>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100"/>
                        <a:t>Status</a:t>
                      </a:r>
                      <a:endParaRPr b="1" sz="1100"/>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342900">
                <a:tc>
                  <a:txBody>
                    <a:bodyPr/>
                    <a:lstStyle/>
                    <a:p>
                      <a:pPr indent="0" lvl="0" marL="0" rtl="0" algn="l">
                        <a:lnSpc>
                          <a:spcPct val="115000"/>
                        </a:lnSpc>
                        <a:spcBef>
                          <a:spcPts val="0"/>
                        </a:spcBef>
                        <a:spcAft>
                          <a:spcPts val="2400"/>
                        </a:spcAft>
                        <a:buNone/>
                      </a:pPr>
                      <a:r>
                        <a:rPr b="1" lang="en" sz="1100"/>
                        <a:t>Linear Regression (Baseline)</a:t>
                      </a:r>
                      <a:endParaRPr b="1" sz="1100"/>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a:t>$8.67</a:t>
                      </a:r>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a:t>$31.39</a:t>
                      </a:r>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a:t>0.1804</a:t>
                      </a:r>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a:t>0.6371</a:t>
                      </a:r>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Reference</a:t>
                      </a:r>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342900">
                <a:tc>
                  <a:txBody>
                    <a:bodyPr/>
                    <a:lstStyle/>
                    <a:p>
                      <a:pPr indent="0" lvl="0" marL="0" rtl="0" algn="l">
                        <a:lnSpc>
                          <a:spcPct val="115000"/>
                        </a:lnSpc>
                        <a:spcBef>
                          <a:spcPts val="0"/>
                        </a:spcBef>
                        <a:spcAft>
                          <a:spcPts val="2400"/>
                        </a:spcAft>
                        <a:buNone/>
                      </a:pPr>
                      <a:r>
                        <a:rPr b="1" lang="en" sz="1100"/>
                        <a:t>Random Forest (Untuned)</a:t>
                      </a:r>
                      <a:endParaRPr b="1" sz="1100"/>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100"/>
                        <a:t>$3.56</a:t>
                      </a:r>
                      <a:endParaRPr b="1" sz="1100"/>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100"/>
                        <a:t>$19.21</a:t>
                      </a:r>
                      <a:endParaRPr b="1" sz="1100"/>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100"/>
                        <a:t>0.6930</a:t>
                      </a:r>
                      <a:endParaRPr b="1" sz="1100"/>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100"/>
                        <a:t>0.2664</a:t>
                      </a:r>
                      <a:endParaRPr b="1" sz="1100"/>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t>Optimal Baseline</a:t>
                      </a:r>
                      <a:endParaRPr b="1" sz="1100"/>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342900">
                <a:tc>
                  <a:txBody>
                    <a:bodyPr/>
                    <a:lstStyle/>
                    <a:p>
                      <a:pPr indent="0" lvl="0" marL="0" rtl="0" algn="l">
                        <a:lnSpc>
                          <a:spcPct val="115000"/>
                        </a:lnSpc>
                        <a:spcBef>
                          <a:spcPts val="0"/>
                        </a:spcBef>
                        <a:spcAft>
                          <a:spcPts val="2400"/>
                        </a:spcAft>
                        <a:buNone/>
                      </a:pPr>
                      <a:r>
                        <a:rPr b="1" lang="en" sz="1100"/>
                        <a:t>Extra Trees</a:t>
                      </a:r>
                      <a:endParaRPr b="1" sz="1100"/>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a:t>$4.03</a:t>
                      </a:r>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a:t>$20.93</a:t>
                      </a:r>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a:t>0.6356</a:t>
                      </a:r>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a:t>0.3011</a:t>
                      </a:r>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Non-optimal</a:t>
                      </a:r>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bl>
          </a:graphicData>
        </a:graphic>
      </p:graphicFrame>
      <p:pic>
        <p:nvPicPr>
          <p:cNvPr id="2234" name="Google Shape;2234;g3ee2b4152bf_0_14" title="Screenshot 2026-06-22 at 1.27.59 PM.png"/>
          <p:cNvPicPr preferRelativeResize="0"/>
          <p:nvPr/>
        </p:nvPicPr>
        <p:blipFill>
          <a:blip r:embed="rId3">
            <a:alphaModFix/>
          </a:blip>
          <a:stretch>
            <a:fillRect/>
          </a:stretch>
        </p:blipFill>
        <p:spPr>
          <a:xfrm>
            <a:off x="1262438" y="4028600"/>
            <a:ext cx="5199899" cy="2767799"/>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9" name="Shape 2239"/>
        <p:cNvGrpSpPr/>
        <p:nvPr/>
      </p:nvGrpSpPr>
      <p:grpSpPr>
        <a:xfrm>
          <a:off x="0" y="0"/>
          <a:ext cx="0" cy="0"/>
          <a:chOff x="0" y="0"/>
          <a:chExt cx="0" cy="0"/>
        </a:xfrm>
      </p:grpSpPr>
      <p:sp>
        <p:nvSpPr>
          <p:cNvPr id="2240" name="Google Shape;2240;g3ee2b4152bf_0_21"/>
          <p:cNvSpPr txBox="1"/>
          <p:nvPr>
            <p:ph type="title"/>
          </p:nvPr>
        </p:nvSpPr>
        <p:spPr>
          <a:xfrm>
            <a:off x="80200" y="0"/>
            <a:ext cx="9829800" cy="6702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2800">
                <a:solidFill>
                  <a:srgbClr val="249C91"/>
                </a:solidFill>
                <a:latin typeface="Arial"/>
                <a:ea typeface="Arial"/>
                <a:cs typeface="Arial"/>
                <a:sym typeface="Arial"/>
              </a:rPr>
              <a:t>Hyperparameter Tuning &amp; Architectural Optimization</a:t>
            </a:r>
            <a:endParaRPr sz="2800">
              <a:solidFill>
                <a:srgbClr val="249C91"/>
              </a:solidFill>
              <a:latin typeface="Arial"/>
              <a:ea typeface="Arial"/>
              <a:cs typeface="Arial"/>
              <a:sym typeface="Arial"/>
            </a:endParaRPr>
          </a:p>
        </p:txBody>
      </p:sp>
      <p:sp>
        <p:nvSpPr>
          <p:cNvPr id="2241" name="Google Shape;2241;g3ee2b4152bf_0_2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242" name="Google Shape;2242;g3ee2b4152bf_0_21"/>
          <p:cNvSpPr txBox="1"/>
          <p:nvPr/>
        </p:nvSpPr>
        <p:spPr>
          <a:xfrm>
            <a:off x="12039475" y="7350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C2C2C2"/>
                </a:solidFill>
              </a:rPr>
              <a:t>Antonios Stefanakis</a:t>
            </a:r>
            <a:endParaRPr sz="2200">
              <a:solidFill>
                <a:srgbClr val="C2C2C2"/>
              </a:solidFill>
            </a:endParaRPr>
          </a:p>
        </p:txBody>
      </p:sp>
      <p:sp>
        <p:nvSpPr>
          <p:cNvPr id="2243" name="Google Shape;2243;g3ee2b4152bf_0_21"/>
          <p:cNvSpPr txBox="1"/>
          <p:nvPr/>
        </p:nvSpPr>
        <p:spPr>
          <a:xfrm>
            <a:off x="150400" y="903675"/>
            <a:ext cx="6577200" cy="535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500">
                <a:solidFill>
                  <a:schemeClr val="dk1"/>
                </a:solidFill>
              </a:rPr>
              <a:t>1. Pipeline Integrity &amp; Leakage Mitigation</a:t>
            </a:r>
            <a:endParaRPr b="1" sz="1500">
              <a:solidFill>
                <a:schemeClr val="dk1"/>
              </a:solidFill>
            </a:endParaRPr>
          </a:p>
          <a:p>
            <a:pPr indent="-311150" lvl="0" marL="457200" rtl="0" algn="l">
              <a:lnSpc>
                <a:spcPct val="115000"/>
              </a:lnSpc>
              <a:spcBef>
                <a:spcPts val="400"/>
              </a:spcBef>
              <a:spcAft>
                <a:spcPts val="0"/>
              </a:spcAft>
              <a:buClr>
                <a:schemeClr val="dk1"/>
              </a:buClr>
              <a:buSzPts val="1300"/>
              <a:buChar char="●"/>
            </a:pPr>
            <a:r>
              <a:rPr b="1" lang="en" sz="1300">
                <a:solidFill>
                  <a:schemeClr val="dk1"/>
                </a:solidFill>
              </a:rPr>
              <a:t>Leakage Mitigation:</a:t>
            </a:r>
            <a:r>
              <a:rPr lang="en" sz="1300">
                <a:solidFill>
                  <a:schemeClr val="dk1"/>
                </a:solidFill>
              </a:rPr>
              <a:t> StandardScaler and RandomForestRegressor are wrapped together in a single pipeline object.</a:t>
            </a:r>
            <a:endParaRPr sz="1300">
              <a:solidFill>
                <a:schemeClr val="dk1"/>
              </a:solidFill>
            </a:endParaRPr>
          </a:p>
          <a:p>
            <a:pPr indent="0" lvl="0" marL="457200" rtl="0" algn="l">
              <a:lnSpc>
                <a:spcPct val="115000"/>
              </a:lnSpc>
              <a:spcBef>
                <a:spcPts val="1200"/>
              </a:spcBef>
              <a:spcAft>
                <a:spcPts val="0"/>
              </a:spcAft>
              <a:buNone/>
            </a:pPr>
            <a:r>
              <a:t/>
            </a:r>
            <a:endParaRPr sz="1300">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sz="1300">
                <a:solidFill>
                  <a:schemeClr val="dk1"/>
                </a:solidFill>
              </a:rPr>
              <a:t>Cross-Validation Sync:</a:t>
            </a:r>
            <a:r>
              <a:rPr lang="en" sz="1300">
                <a:solidFill>
                  <a:schemeClr val="dk1"/>
                </a:solidFill>
              </a:rPr>
              <a:t> This structure completely prevents validation fold data statistics from leaking into the training splits during tuning loops.</a:t>
            </a:r>
            <a:endParaRPr sz="1300">
              <a:solidFill>
                <a:schemeClr val="dk1"/>
              </a:solidFill>
            </a:endParaRPr>
          </a:p>
          <a:p>
            <a:pPr indent="0" lvl="0" marL="457200" rtl="0" algn="l">
              <a:lnSpc>
                <a:spcPct val="115000"/>
              </a:lnSpc>
              <a:spcBef>
                <a:spcPts val="1200"/>
              </a:spcBef>
              <a:spcAft>
                <a:spcPts val="0"/>
              </a:spcAft>
              <a:buNone/>
            </a:pPr>
            <a:r>
              <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500">
                <a:solidFill>
                  <a:schemeClr val="dk1"/>
                </a:solidFill>
              </a:rPr>
              <a:t>2. Final Tuned Model Verification</a:t>
            </a:r>
            <a:endParaRPr b="1" sz="1500">
              <a:solidFill>
                <a:schemeClr val="dk1"/>
              </a:solidFill>
            </a:endParaRPr>
          </a:p>
          <a:p>
            <a:pPr indent="-311150" lvl="0" marL="457200" rtl="0" algn="l">
              <a:lnSpc>
                <a:spcPct val="115000"/>
              </a:lnSpc>
              <a:spcBef>
                <a:spcPts val="400"/>
              </a:spcBef>
              <a:spcAft>
                <a:spcPts val="0"/>
              </a:spcAft>
              <a:buClr>
                <a:schemeClr val="dk1"/>
              </a:buClr>
              <a:buSzPts val="1300"/>
              <a:buChar char="●"/>
            </a:pPr>
            <a:r>
              <a:rPr b="1" lang="en" sz="1300">
                <a:solidFill>
                  <a:schemeClr val="dk1"/>
                </a:solidFill>
              </a:rPr>
              <a:t>Production Model Extraction:</a:t>
            </a:r>
            <a:r>
              <a:rPr lang="en" sz="1300">
                <a:solidFill>
                  <a:schemeClr val="dk1"/>
                </a:solidFill>
              </a:rPr>
              <a:t> Accessed .best_estimator_ to instantly pull the finalized, optimized pipeline structure.</a:t>
            </a:r>
            <a:endParaRPr sz="1300">
              <a:solidFill>
                <a:schemeClr val="dk1"/>
              </a:solidFill>
            </a:endParaRPr>
          </a:p>
          <a:p>
            <a:pPr indent="0" lvl="0" marL="0" rtl="0" algn="l">
              <a:lnSpc>
                <a:spcPct val="115000"/>
              </a:lnSpc>
              <a:spcBef>
                <a:spcPts val="1200"/>
              </a:spcBef>
              <a:spcAft>
                <a:spcPts val="0"/>
              </a:spcAft>
              <a:buNone/>
            </a:pPr>
            <a:r>
              <a:t/>
            </a:r>
            <a:endParaRPr sz="1300">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sz="1300">
                <a:solidFill>
                  <a:schemeClr val="dk1"/>
                </a:solidFill>
              </a:rPr>
              <a:t>Holdout Audit:</a:t>
            </a:r>
            <a:r>
              <a:rPr lang="en" sz="1300">
                <a:solidFill>
                  <a:schemeClr val="dk1"/>
                </a:solidFill>
              </a:rPr>
              <a:t> Fed the completely unseen 15% holdout test features (X_test) into the finalized model bundle.</a:t>
            </a:r>
            <a:endParaRPr sz="1300">
              <a:solidFill>
                <a:schemeClr val="dk1"/>
              </a:solidFill>
            </a:endParaRPr>
          </a:p>
          <a:p>
            <a:pPr indent="0" lvl="0" marL="457200" rtl="0" algn="l">
              <a:lnSpc>
                <a:spcPct val="115000"/>
              </a:lnSpc>
              <a:spcBef>
                <a:spcPts val="1200"/>
              </a:spcBef>
              <a:spcAft>
                <a:spcPts val="0"/>
              </a:spcAft>
              <a:buNone/>
            </a:pPr>
            <a:r>
              <a:t/>
            </a:r>
            <a:endParaRPr sz="1300">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sz="1300">
                <a:solidFill>
                  <a:schemeClr val="dk1"/>
                </a:solidFill>
              </a:rPr>
              <a:t>Peak Pricing Fidelity:</a:t>
            </a:r>
            <a:r>
              <a:rPr lang="en" sz="1300">
                <a:solidFill>
                  <a:schemeClr val="dk1"/>
                </a:solidFill>
              </a:rPr>
              <a:t> Reached a good </a:t>
            </a:r>
            <a:r>
              <a:rPr b="1" lang="en" sz="1300">
                <a:solidFill>
                  <a:schemeClr val="dk1"/>
                </a:solidFill>
              </a:rPr>
              <a:t>R²</a:t>
            </a:r>
            <a:r>
              <a:rPr lang="en" sz="1300">
                <a:solidFill>
                  <a:schemeClr val="dk1"/>
                </a:solidFill>
              </a:rPr>
              <a:t> score of </a:t>
            </a:r>
            <a:r>
              <a:rPr b="1" lang="en" sz="1300">
                <a:solidFill>
                  <a:schemeClr val="dk1"/>
                </a:solidFill>
              </a:rPr>
              <a:t>0.7537</a:t>
            </a:r>
            <a:r>
              <a:rPr lang="en" sz="1300">
                <a:solidFill>
                  <a:schemeClr val="dk1"/>
                </a:solidFill>
              </a:rPr>
              <a:t> and a MAE of </a:t>
            </a:r>
            <a:r>
              <a:rPr b="1" lang="en" sz="1300">
                <a:solidFill>
                  <a:schemeClr val="dk1"/>
                </a:solidFill>
              </a:rPr>
              <a:t>$2.73</a:t>
            </a:r>
            <a:r>
              <a:rPr lang="en" sz="1300">
                <a:solidFill>
                  <a:schemeClr val="dk1"/>
                </a:solidFill>
              </a:rPr>
              <a:t>, demonstrating that automated tuning successfully eliminated data noise.</a:t>
            </a:r>
            <a:endParaRPr sz="1300">
              <a:solidFill>
                <a:schemeClr val="dk1"/>
              </a:solidFill>
            </a:endParaRPr>
          </a:p>
          <a:p>
            <a:pPr indent="0" lvl="0" marL="0" rtl="0" algn="l">
              <a:spcBef>
                <a:spcPts val="1200"/>
              </a:spcBef>
              <a:spcAft>
                <a:spcPts val="0"/>
              </a:spcAft>
              <a:buNone/>
            </a:pPr>
            <a:r>
              <a:t/>
            </a:r>
            <a:endParaRPr sz="2800">
              <a:solidFill>
                <a:schemeClr val="dk1"/>
              </a:solidFill>
            </a:endParaRPr>
          </a:p>
        </p:txBody>
      </p:sp>
      <p:pic>
        <p:nvPicPr>
          <p:cNvPr id="2244" name="Google Shape;2244;g3ee2b4152bf_0_21" title="Screenshot 2026-06-22 at 1.33.03 PM.png"/>
          <p:cNvPicPr preferRelativeResize="0"/>
          <p:nvPr/>
        </p:nvPicPr>
        <p:blipFill>
          <a:blip r:embed="rId3">
            <a:alphaModFix/>
          </a:blip>
          <a:stretch>
            <a:fillRect/>
          </a:stretch>
        </p:blipFill>
        <p:spPr>
          <a:xfrm>
            <a:off x="6797850" y="670200"/>
            <a:ext cx="4977050" cy="875600"/>
          </a:xfrm>
          <a:prstGeom prst="rect">
            <a:avLst/>
          </a:prstGeom>
          <a:noFill/>
          <a:ln>
            <a:noFill/>
          </a:ln>
        </p:spPr>
      </p:pic>
      <p:pic>
        <p:nvPicPr>
          <p:cNvPr id="2245" name="Google Shape;2245;g3ee2b4152bf_0_21" title="Screenshot 2026-06-22 at 1.33.47 PM.png"/>
          <p:cNvPicPr preferRelativeResize="0"/>
          <p:nvPr/>
        </p:nvPicPr>
        <p:blipFill>
          <a:blip r:embed="rId4">
            <a:alphaModFix/>
          </a:blip>
          <a:stretch>
            <a:fillRect/>
          </a:stretch>
        </p:blipFill>
        <p:spPr>
          <a:xfrm>
            <a:off x="7289125" y="1616463"/>
            <a:ext cx="3912485" cy="3793625"/>
          </a:xfrm>
          <a:prstGeom prst="rect">
            <a:avLst/>
          </a:prstGeom>
          <a:noFill/>
          <a:ln>
            <a:noFill/>
          </a:ln>
        </p:spPr>
      </p:pic>
      <p:pic>
        <p:nvPicPr>
          <p:cNvPr id="2246" name="Google Shape;2246;g3ee2b4152bf_0_21" title="Screenshot 2026-06-22 at 8.47.36 PM.png"/>
          <p:cNvPicPr preferRelativeResize="0"/>
          <p:nvPr/>
        </p:nvPicPr>
        <p:blipFill>
          <a:blip r:embed="rId5">
            <a:alphaModFix/>
          </a:blip>
          <a:stretch>
            <a:fillRect/>
          </a:stretch>
        </p:blipFill>
        <p:spPr>
          <a:xfrm>
            <a:off x="7289125" y="5480750"/>
            <a:ext cx="3141401" cy="1113875"/>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1" name="Shape 2251"/>
        <p:cNvGrpSpPr/>
        <p:nvPr/>
      </p:nvGrpSpPr>
      <p:grpSpPr>
        <a:xfrm>
          <a:off x="0" y="0"/>
          <a:ext cx="0" cy="0"/>
          <a:chOff x="0" y="0"/>
          <a:chExt cx="0" cy="0"/>
        </a:xfrm>
      </p:grpSpPr>
      <p:sp>
        <p:nvSpPr>
          <p:cNvPr id="2252" name="Google Shape;2252;g3ee2b4152bf_0_81"/>
          <p:cNvSpPr txBox="1"/>
          <p:nvPr>
            <p:ph type="title"/>
          </p:nvPr>
        </p:nvSpPr>
        <p:spPr>
          <a:xfrm>
            <a:off x="56150" y="60750"/>
            <a:ext cx="8255700" cy="836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3300">
                <a:solidFill>
                  <a:srgbClr val="126082"/>
                </a:solidFill>
                <a:latin typeface="Arial"/>
                <a:ea typeface="Arial"/>
                <a:cs typeface="Arial"/>
                <a:sym typeface="Arial"/>
              </a:rPr>
              <a:t>Feature Importance &amp; Engineering Insights</a:t>
            </a:r>
            <a:endParaRPr sz="3300">
              <a:solidFill>
                <a:srgbClr val="126082"/>
              </a:solidFill>
              <a:latin typeface="Arial"/>
              <a:ea typeface="Arial"/>
              <a:cs typeface="Arial"/>
              <a:sym typeface="Arial"/>
            </a:endParaRPr>
          </a:p>
        </p:txBody>
      </p:sp>
      <p:sp>
        <p:nvSpPr>
          <p:cNvPr id="2253" name="Google Shape;2253;g3ee2b4152bf_0_8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254" name="Google Shape;2254;g3ee2b4152bf_0_81"/>
          <p:cNvSpPr txBox="1"/>
          <p:nvPr/>
        </p:nvSpPr>
        <p:spPr>
          <a:xfrm>
            <a:off x="151000" y="4828400"/>
            <a:ext cx="10878000" cy="172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Strategic Interpretations: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Dominant Drivers:</a:t>
            </a:r>
            <a:r>
              <a:rPr lang="en" sz="1100">
                <a:solidFill>
                  <a:schemeClr val="dk1"/>
                </a:solidFill>
              </a:rPr>
              <a:t> The feature importance plot reveals that min_order_quantity is the single most influential driver of final pricing, capturing commercial volume discounts.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Business Logic Validation:</a:t>
            </a:r>
            <a:r>
              <a:rPr lang="en" sz="1100">
                <a:solidFill>
                  <a:schemeClr val="dk1"/>
                </a:solidFill>
              </a:rPr>
              <a:t> Following volume metrics, structural variables such as Total_weight and diameter emerge as the strongest determinants, aligning perfectly with Caterpillar's manufacturing economics.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Procurement Strategy:</a:t>
            </a:r>
            <a:r>
              <a:rPr lang="en" sz="1100">
                <a:solidFill>
                  <a:schemeClr val="dk1"/>
                </a:solidFill>
              </a:rPr>
              <a:t> By quantifying these drivers, the model provides an actionable framework for procurement teams to proactively flag quotes that deviate from predicted cost distributions.</a:t>
            </a:r>
            <a:endParaRPr sz="1100">
              <a:solidFill>
                <a:schemeClr val="dk1"/>
              </a:solidFill>
            </a:endParaRPr>
          </a:p>
          <a:p>
            <a:pPr indent="0" lvl="0" marL="0" rtl="0" algn="l">
              <a:spcBef>
                <a:spcPts val="1200"/>
              </a:spcBef>
              <a:spcAft>
                <a:spcPts val="0"/>
              </a:spcAft>
              <a:buNone/>
            </a:pPr>
            <a:r>
              <a:t/>
            </a:r>
            <a:endParaRPr sz="2800">
              <a:solidFill>
                <a:schemeClr val="dk1"/>
              </a:solidFill>
            </a:endParaRPr>
          </a:p>
        </p:txBody>
      </p:sp>
      <p:sp>
        <p:nvSpPr>
          <p:cNvPr id="2255" name="Google Shape;2255;g3ee2b4152bf_0_81"/>
          <p:cNvSpPr txBox="1"/>
          <p:nvPr/>
        </p:nvSpPr>
        <p:spPr>
          <a:xfrm>
            <a:off x="9192000" y="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C2C2C2"/>
                </a:solidFill>
              </a:rPr>
              <a:t>Antonios Stefanakis</a:t>
            </a:r>
            <a:endParaRPr sz="2200">
              <a:solidFill>
                <a:srgbClr val="C2C2C2"/>
              </a:solidFill>
            </a:endParaRPr>
          </a:p>
        </p:txBody>
      </p:sp>
      <p:pic>
        <p:nvPicPr>
          <p:cNvPr id="2256" name="Google Shape;2256;g3ee2b4152bf_0_81" title="Screenshot 2026-06-22 at 1.34.43 PM.png"/>
          <p:cNvPicPr preferRelativeResize="0"/>
          <p:nvPr/>
        </p:nvPicPr>
        <p:blipFill>
          <a:blip r:embed="rId3">
            <a:alphaModFix/>
          </a:blip>
          <a:stretch>
            <a:fillRect/>
          </a:stretch>
        </p:blipFill>
        <p:spPr>
          <a:xfrm>
            <a:off x="268425" y="976725"/>
            <a:ext cx="7730860" cy="37721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1" name="Shape 2261"/>
        <p:cNvGrpSpPr/>
        <p:nvPr/>
      </p:nvGrpSpPr>
      <p:grpSpPr>
        <a:xfrm>
          <a:off x="0" y="0"/>
          <a:ext cx="0" cy="0"/>
          <a:chOff x="0" y="0"/>
          <a:chExt cx="0" cy="0"/>
        </a:xfrm>
      </p:grpSpPr>
      <p:sp>
        <p:nvSpPr>
          <p:cNvPr id="2262" name="Google Shape;2262;g3ee2b4152bf_0_88"/>
          <p:cNvSpPr txBox="1"/>
          <p:nvPr>
            <p:ph type="title"/>
          </p:nvPr>
        </p:nvSpPr>
        <p:spPr>
          <a:xfrm>
            <a:off x="46125" y="-233400"/>
            <a:ext cx="89274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3500">
                <a:solidFill>
                  <a:srgbClr val="FF9900"/>
                </a:solidFill>
                <a:latin typeface="Arial"/>
                <a:ea typeface="Arial"/>
                <a:cs typeface="Arial"/>
                <a:sym typeface="Arial"/>
              </a:rPr>
              <a:t>Final Prediction Accuracy &amp; Error Analysis</a:t>
            </a:r>
            <a:endParaRPr sz="3500">
              <a:solidFill>
                <a:srgbClr val="FF9900"/>
              </a:solidFill>
              <a:latin typeface="Arial"/>
              <a:ea typeface="Arial"/>
              <a:cs typeface="Arial"/>
              <a:sym typeface="Arial"/>
            </a:endParaRPr>
          </a:p>
        </p:txBody>
      </p:sp>
      <p:sp>
        <p:nvSpPr>
          <p:cNvPr id="2263" name="Google Shape;2263;g3ee2b4152bf_0_8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264" name="Google Shape;2264;g3ee2b4152bf_0_88"/>
          <p:cNvSpPr txBox="1"/>
          <p:nvPr/>
        </p:nvSpPr>
        <p:spPr>
          <a:xfrm>
            <a:off x="6226100" y="1153025"/>
            <a:ext cx="5343300" cy="514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rPr>
              <a:t>Interpretation:</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
                <a:solidFill>
                  <a:schemeClr val="dk1"/>
                </a:solidFill>
              </a:rPr>
              <a:t>Predictive Alignment:</a:t>
            </a:r>
            <a:r>
              <a:rPr lang="en">
                <a:solidFill>
                  <a:schemeClr val="dk1"/>
                </a:solidFill>
              </a:rPr>
              <a:t> The density of predictions clustered along the 'Perfect Prediction' line indicates high model fidelity across the test set.</a:t>
            </a:r>
            <a:endParaRPr>
              <a:solidFill>
                <a:schemeClr val="dk1"/>
              </a:solidFill>
            </a:endParaRPr>
          </a:p>
          <a:p>
            <a:pPr indent="0" lvl="0" marL="457200" rtl="0" algn="l">
              <a:lnSpc>
                <a:spcPct val="115000"/>
              </a:lnSpc>
              <a:spcBef>
                <a:spcPts val="1200"/>
              </a:spcBef>
              <a:spcAft>
                <a:spcPts val="0"/>
              </a:spcAft>
              <a:buNone/>
            </a:pPr>
            <a:r>
              <a:t/>
            </a:r>
            <a:endParaRPr>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
                <a:solidFill>
                  <a:schemeClr val="dk1"/>
                </a:solidFill>
              </a:rPr>
              <a:t>Error Analysis:</a:t>
            </a:r>
            <a:r>
              <a:rPr lang="en">
                <a:solidFill>
                  <a:schemeClr val="dk1"/>
                </a:solidFill>
              </a:rPr>
              <a:t> Deviations from the diagonal represent outliers, complex assemblies with non-standard pricing logic.</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317500" lvl="0" marL="457200" rtl="0" algn="l">
              <a:spcBef>
                <a:spcPts val="1200"/>
              </a:spcBef>
              <a:spcAft>
                <a:spcPts val="0"/>
              </a:spcAft>
              <a:buClr>
                <a:schemeClr val="dk1"/>
              </a:buClr>
              <a:buSzPts val="1400"/>
              <a:buChar char="●"/>
            </a:pPr>
            <a:r>
              <a:rPr b="1" lang="en">
                <a:solidFill>
                  <a:schemeClr val="dk1"/>
                </a:solidFill>
                <a:highlight>
                  <a:srgbClr val="FFFFFF"/>
                </a:highlight>
              </a:rPr>
              <a:t>The Actual vs. Predicted Prices plot: </a:t>
            </a:r>
            <a:r>
              <a:rPr lang="en">
                <a:solidFill>
                  <a:schemeClr val="dk1"/>
                </a:solidFill>
                <a:highlight>
                  <a:srgbClr val="FFFFFF"/>
                </a:highlight>
              </a:rPr>
              <a:t>The Actual vs. Predicted Prices plot shows that the tuned Random Forest Regressor performs exceptionally well. The predictions (orange dots) are tightly clustered around the perfect prediction line (dashed blue line), indicating high accuracy across the 1 to 200$ price range.</a:t>
            </a:r>
            <a:endParaRPr>
              <a:solidFill>
                <a:schemeClr val="dk1"/>
              </a:solidFill>
              <a:highlight>
                <a:srgbClr val="FFFFFF"/>
              </a:highlight>
            </a:endParaRPr>
          </a:p>
          <a:p>
            <a:pPr indent="0" lvl="0" marL="0" rtl="0" algn="l">
              <a:lnSpc>
                <a:spcPct val="115000"/>
              </a:lnSpc>
              <a:spcBef>
                <a:spcPts val="700"/>
              </a:spcBef>
              <a:spcAft>
                <a:spcPts val="0"/>
              </a:spcAft>
              <a:buClr>
                <a:schemeClr val="dk1"/>
              </a:buClr>
              <a:buSzPts val="1100"/>
              <a:buFont typeface="Arial"/>
              <a:buNone/>
            </a:pPr>
            <a:r>
              <a:rPr i="1" lang="en">
                <a:solidFill>
                  <a:schemeClr val="dk1"/>
                </a:solidFill>
              </a:rPr>
              <a:t>Conclusion: The model reliably maps input engineering characteristics to final quote prices, meeting the primary objective of procurement verification.</a:t>
            </a:r>
            <a:endParaRPr i="1">
              <a:solidFill>
                <a:schemeClr val="dk1"/>
              </a:solidFill>
            </a:endParaRPr>
          </a:p>
          <a:p>
            <a:pPr indent="0" lvl="0" marL="0" rtl="0" algn="l">
              <a:spcBef>
                <a:spcPts val="1200"/>
              </a:spcBef>
              <a:spcAft>
                <a:spcPts val="0"/>
              </a:spcAft>
              <a:buNone/>
            </a:pPr>
            <a:r>
              <a:t/>
            </a:r>
            <a:endParaRPr sz="2800">
              <a:solidFill>
                <a:schemeClr val="dk1"/>
              </a:solidFill>
            </a:endParaRPr>
          </a:p>
        </p:txBody>
      </p:sp>
      <p:sp>
        <p:nvSpPr>
          <p:cNvPr id="2265" name="Google Shape;2265;g3ee2b4152bf_0_88"/>
          <p:cNvSpPr txBox="1"/>
          <p:nvPr/>
        </p:nvSpPr>
        <p:spPr>
          <a:xfrm>
            <a:off x="9192000" y="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C2C2C2"/>
                </a:solidFill>
              </a:rPr>
              <a:t>Antonios Stefanakis</a:t>
            </a:r>
            <a:endParaRPr sz="2200">
              <a:solidFill>
                <a:srgbClr val="C2C2C2"/>
              </a:solidFill>
            </a:endParaRPr>
          </a:p>
        </p:txBody>
      </p:sp>
      <p:pic>
        <p:nvPicPr>
          <p:cNvPr id="2266" name="Google Shape;2266;g3ee2b4152bf_0_88" title="Screenshot 2026-06-22 at 8.48.09 PM.png"/>
          <p:cNvPicPr preferRelativeResize="0"/>
          <p:nvPr/>
        </p:nvPicPr>
        <p:blipFill>
          <a:blip r:embed="rId3">
            <a:alphaModFix/>
          </a:blip>
          <a:stretch>
            <a:fillRect/>
          </a:stretch>
        </p:blipFill>
        <p:spPr>
          <a:xfrm>
            <a:off x="259175" y="952000"/>
            <a:ext cx="5800724" cy="5700001"/>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70" name="Shape 2270"/>
        <p:cNvGrpSpPr/>
        <p:nvPr/>
      </p:nvGrpSpPr>
      <p:grpSpPr>
        <a:xfrm>
          <a:off x="0" y="0"/>
          <a:ext cx="0" cy="0"/>
          <a:chOff x="0" y="0"/>
          <a:chExt cx="0" cy="0"/>
        </a:xfrm>
      </p:grpSpPr>
      <p:sp>
        <p:nvSpPr>
          <p:cNvPr id="2271" name="Google Shape;2271;g3ee3a0920dc_0_1"/>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72" name="Google Shape;2272;g3ee3a0920dc_0_1"/>
          <p:cNvSpPr txBox="1"/>
          <p:nvPr>
            <p:ph type="title"/>
          </p:nvPr>
        </p:nvSpPr>
        <p:spPr>
          <a:xfrm>
            <a:off x="2197100" y="735275"/>
            <a:ext cx="7083300" cy="3165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200"/>
              <a:buFont typeface="Play"/>
              <a:buNone/>
            </a:pPr>
            <a:r>
              <a:rPr lang="en" sz="5200"/>
              <a:t>Model Comparison</a:t>
            </a:r>
            <a:endParaRPr/>
          </a:p>
        </p:txBody>
      </p:sp>
      <p:sp>
        <p:nvSpPr>
          <p:cNvPr id="2273" name="Google Shape;2273;g3ee3a0920dc_0_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solidFill>
                  <a:srgbClr val="888888"/>
                </a:solidFill>
              </a:rPr>
              <a:t>‹#›</a:t>
            </a:fld>
            <a:endParaRPr>
              <a:solidFill>
                <a:srgbClr val="888888"/>
              </a:solidFill>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8" name="Shape 2278"/>
        <p:cNvGrpSpPr/>
        <p:nvPr/>
      </p:nvGrpSpPr>
      <p:grpSpPr>
        <a:xfrm>
          <a:off x="0" y="0"/>
          <a:ext cx="0" cy="0"/>
          <a:chOff x="0" y="0"/>
          <a:chExt cx="0" cy="0"/>
        </a:xfrm>
      </p:grpSpPr>
      <p:sp>
        <p:nvSpPr>
          <p:cNvPr id="2279" name="Google Shape;2279;g3ee2e5faae5_4_31"/>
          <p:cNvSpPr txBox="1"/>
          <p:nvPr>
            <p:ph type="title"/>
          </p:nvPr>
        </p:nvSpPr>
        <p:spPr>
          <a:xfrm>
            <a:off x="3217200" y="71700"/>
            <a:ext cx="5757600" cy="819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3300"/>
              <a:t>Algorithm results comparison</a:t>
            </a:r>
            <a:endParaRPr sz="3300"/>
          </a:p>
        </p:txBody>
      </p:sp>
      <p:sp>
        <p:nvSpPr>
          <p:cNvPr id="2280" name="Google Shape;2280;g3ee2e5faae5_4_3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graphicFrame>
        <p:nvGraphicFramePr>
          <p:cNvPr id="2281" name="Google Shape;2281;g3ee2e5faae5_4_31"/>
          <p:cNvGraphicFramePr/>
          <p:nvPr/>
        </p:nvGraphicFramePr>
        <p:xfrm>
          <a:off x="6345725" y="1190600"/>
          <a:ext cx="3000000" cy="3000000"/>
        </p:xfrm>
        <a:graphic>
          <a:graphicData uri="http://schemas.openxmlformats.org/drawingml/2006/table">
            <a:tbl>
              <a:tblPr>
                <a:noFill/>
                <a:tableStyleId>{46787DB9-2A6F-4B94-8EA5-5A55CF4389D6}</a:tableStyleId>
              </a:tblPr>
              <a:tblGrid>
                <a:gridCol w="1124225"/>
                <a:gridCol w="1124225"/>
                <a:gridCol w="1124225"/>
                <a:gridCol w="1124225"/>
                <a:gridCol w="1124225"/>
              </a:tblGrid>
              <a:tr h="381000">
                <a:tc>
                  <a:txBody>
                    <a:bodyPr/>
                    <a:lstStyle/>
                    <a:p>
                      <a:pPr indent="0" lvl="0" marL="0" rtl="0" algn="ctr">
                        <a:spcBef>
                          <a:spcPts val="0"/>
                        </a:spcBef>
                        <a:spcAft>
                          <a:spcPts val="0"/>
                        </a:spcAft>
                        <a:buNone/>
                      </a:pPr>
                      <a:r>
                        <a:rPr b="1" lang="en" sz="900"/>
                        <a:t>Algorithms</a:t>
                      </a:r>
                      <a:endParaRPr b="1" sz="900"/>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b="1" lang="en" sz="900">
                          <a:solidFill>
                            <a:schemeClr val="dk1"/>
                          </a:solidFill>
                        </a:rPr>
                        <a:t>MAPE (Mean Absolute Percentage Error)</a:t>
                      </a:r>
                      <a:endParaRPr b="1" sz="900"/>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b="1" lang="en" sz="900">
                          <a:solidFill>
                            <a:schemeClr val="dk1"/>
                          </a:solidFill>
                        </a:rPr>
                        <a:t>MAE (Mean Absolute Error)</a:t>
                      </a:r>
                      <a:endParaRPr b="1" sz="900"/>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b="1" lang="en" sz="900">
                          <a:solidFill>
                            <a:schemeClr val="dk1"/>
                          </a:solidFill>
                        </a:rPr>
                        <a:t>RMSE (Root Mean Square Error)</a:t>
                      </a:r>
                      <a:endParaRPr b="1" sz="900"/>
                    </a:p>
                  </a:txBody>
                  <a:tcPr marT="91425" marB="91425" marR="91425" marL="91425"/>
                </a:tc>
                <a:tc>
                  <a:txBody>
                    <a:bodyPr/>
                    <a:lstStyle/>
                    <a:p>
                      <a:pPr indent="0" lvl="0" marL="0" rtl="0" algn="ctr">
                        <a:lnSpc>
                          <a:spcPct val="115000"/>
                        </a:lnSpc>
                        <a:spcBef>
                          <a:spcPts val="0"/>
                        </a:spcBef>
                        <a:spcAft>
                          <a:spcPts val="2400"/>
                        </a:spcAft>
                        <a:buClr>
                          <a:schemeClr val="dk1"/>
                        </a:buClr>
                        <a:buSzPts val="1100"/>
                        <a:buFont typeface="Arial"/>
                        <a:buNone/>
                      </a:pPr>
                      <a:r>
                        <a:rPr b="1" lang="en" sz="900">
                          <a:solidFill>
                            <a:schemeClr val="dk1"/>
                          </a:solidFill>
                        </a:rPr>
                        <a:t>R²</a:t>
                      </a:r>
                      <a:endParaRPr b="1" sz="900"/>
                    </a:p>
                  </a:txBody>
                  <a:tcPr marT="91425" marB="91425" marR="91425" marL="91425"/>
                </a:tc>
              </a:tr>
              <a:tr h="381000">
                <a:tc>
                  <a:txBody>
                    <a:bodyPr/>
                    <a:lstStyle/>
                    <a:p>
                      <a:pPr indent="0" lvl="0" marL="0" rtl="0" algn="ctr">
                        <a:lnSpc>
                          <a:spcPct val="115000"/>
                        </a:lnSpc>
                        <a:spcBef>
                          <a:spcPts val="0"/>
                        </a:spcBef>
                        <a:spcAft>
                          <a:spcPts val="2400"/>
                        </a:spcAft>
                        <a:buClr>
                          <a:schemeClr val="dk1"/>
                        </a:buClr>
                        <a:buSzPts val="1100"/>
                        <a:buFont typeface="Arial"/>
                        <a:buNone/>
                      </a:pPr>
                      <a:r>
                        <a:rPr b="1" lang="en" sz="900">
                          <a:solidFill>
                            <a:schemeClr val="dk1"/>
                          </a:solidFill>
                        </a:rPr>
                        <a:t>Linear Regression </a:t>
                      </a:r>
                      <a:endParaRPr b="1" sz="900"/>
                    </a:p>
                  </a:txBody>
                  <a:tcPr marT="91425" marB="91425" marR="91425" marL="91425"/>
                </a:tc>
                <a:tc>
                  <a:txBody>
                    <a:bodyPr/>
                    <a:lstStyle/>
                    <a:p>
                      <a:pPr indent="0" lvl="0" marL="0" rtl="0" algn="ctr">
                        <a:spcBef>
                          <a:spcPts val="0"/>
                        </a:spcBef>
                        <a:spcAft>
                          <a:spcPts val="0"/>
                        </a:spcAft>
                        <a:buNone/>
                      </a:pPr>
                      <a:r>
                        <a:rPr b="1" lang="en" sz="900"/>
                        <a:t>-</a:t>
                      </a:r>
                      <a:endParaRPr b="1" sz="900"/>
                    </a:p>
                  </a:txBody>
                  <a:tcPr marT="91425" marB="91425" marR="91425" marL="91425"/>
                </a:tc>
                <a:tc>
                  <a:txBody>
                    <a:bodyPr/>
                    <a:lstStyle/>
                    <a:p>
                      <a:pPr indent="0" lvl="0" marL="0" rtl="0" algn="ctr">
                        <a:spcBef>
                          <a:spcPts val="0"/>
                        </a:spcBef>
                        <a:spcAft>
                          <a:spcPts val="0"/>
                        </a:spcAft>
                        <a:buNone/>
                      </a:pPr>
                      <a:r>
                        <a:rPr b="1" lang="en" sz="900"/>
                        <a:t>7.9322</a:t>
                      </a:r>
                      <a:endParaRPr b="1" sz="900"/>
                    </a:p>
                  </a:txBody>
                  <a:tcPr marT="91425" marB="91425" marR="91425" marL="91425"/>
                </a:tc>
                <a:tc>
                  <a:txBody>
                    <a:bodyPr/>
                    <a:lstStyle/>
                    <a:p>
                      <a:pPr indent="0" lvl="0" marL="0" rtl="0" algn="ctr">
                        <a:spcBef>
                          <a:spcPts val="0"/>
                        </a:spcBef>
                        <a:spcAft>
                          <a:spcPts val="0"/>
                        </a:spcAft>
                        <a:buNone/>
                      </a:pPr>
                      <a:r>
                        <a:rPr b="1" lang="en" sz="900"/>
                        <a:t>24.3054</a:t>
                      </a:r>
                      <a:endParaRPr b="1" sz="900"/>
                    </a:p>
                  </a:txBody>
                  <a:tcPr marT="91425" marB="91425" marR="91425" marL="91425"/>
                </a:tc>
                <a:tc>
                  <a:txBody>
                    <a:bodyPr/>
                    <a:lstStyle/>
                    <a:p>
                      <a:pPr indent="0" lvl="0" marL="0" rtl="0" algn="ctr">
                        <a:spcBef>
                          <a:spcPts val="0"/>
                        </a:spcBef>
                        <a:spcAft>
                          <a:spcPts val="0"/>
                        </a:spcAft>
                        <a:buNone/>
                      </a:pPr>
                      <a:r>
                        <a:rPr b="1" lang="en" sz="900"/>
                        <a:t>0.1209</a:t>
                      </a:r>
                      <a:endParaRPr b="1" sz="900"/>
                    </a:p>
                  </a:txBody>
                  <a:tcPr marT="91425" marB="91425" marR="91425" marL="91425"/>
                </a:tc>
              </a:tr>
              <a:tr h="381000">
                <a:tc>
                  <a:txBody>
                    <a:bodyPr/>
                    <a:lstStyle/>
                    <a:p>
                      <a:pPr indent="0" lvl="0" marL="0" rtl="0" algn="ctr">
                        <a:lnSpc>
                          <a:spcPct val="115000"/>
                        </a:lnSpc>
                        <a:spcBef>
                          <a:spcPts val="0"/>
                        </a:spcBef>
                        <a:spcAft>
                          <a:spcPts val="2400"/>
                        </a:spcAft>
                        <a:buClr>
                          <a:schemeClr val="dk1"/>
                        </a:buClr>
                        <a:buSzPts val="1100"/>
                        <a:buFont typeface="Arial"/>
                        <a:buNone/>
                      </a:pPr>
                      <a:r>
                        <a:rPr b="1" lang="en" sz="900">
                          <a:solidFill>
                            <a:schemeClr val="dk1"/>
                          </a:solidFill>
                        </a:rPr>
                        <a:t>KNN</a:t>
                      </a:r>
                      <a:endParaRPr b="1" sz="900"/>
                    </a:p>
                  </a:txBody>
                  <a:tcPr marT="91425" marB="91425" marR="91425" marL="91425"/>
                </a:tc>
                <a:tc>
                  <a:txBody>
                    <a:bodyPr/>
                    <a:lstStyle/>
                    <a:p>
                      <a:pPr indent="0" lvl="0" marL="0" rtl="0" algn="ctr">
                        <a:spcBef>
                          <a:spcPts val="0"/>
                        </a:spcBef>
                        <a:spcAft>
                          <a:spcPts val="0"/>
                        </a:spcAft>
                        <a:buNone/>
                      </a:pPr>
                      <a:r>
                        <a:rPr b="1" lang="en" sz="900"/>
                        <a:t>-</a:t>
                      </a:r>
                      <a:endParaRPr b="1" sz="900"/>
                    </a:p>
                  </a:txBody>
                  <a:tcPr marT="91425" marB="91425" marR="91425" marL="91425"/>
                </a:tc>
                <a:tc>
                  <a:txBody>
                    <a:bodyPr/>
                    <a:lstStyle/>
                    <a:p>
                      <a:pPr indent="0" lvl="0" marL="0" rtl="0" algn="ctr">
                        <a:spcBef>
                          <a:spcPts val="0"/>
                        </a:spcBef>
                        <a:spcAft>
                          <a:spcPts val="0"/>
                        </a:spcAft>
                        <a:buNone/>
                      </a:pPr>
                      <a:r>
                        <a:rPr b="1" lang="en" sz="900"/>
                        <a:t>5.7521</a:t>
                      </a:r>
                      <a:endParaRPr b="1" sz="900"/>
                    </a:p>
                  </a:txBody>
                  <a:tcPr marT="91425" marB="91425" marR="91425" marL="91425"/>
                </a:tc>
                <a:tc>
                  <a:txBody>
                    <a:bodyPr/>
                    <a:lstStyle/>
                    <a:p>
                      <a:pPr indent="0" lvl="0" marL="0" rtl="0" algn="ctr">
                        <a:spcBef>
                          <a:spcPts val="0"/>
                        </a:spcBef>
                        <a:spcAft>
                          <a:spcPts val="0"/>
                        </a:spcAft>
                        <a:buNone/>
                      </a:pPr>
                      <a:r>
                        <a:rPr b="1" lang="en" sz="900"/>
                        <a:t>18.9273</a:t>
                      </a:r>
                      <a:endParaRPr b="1" sz="900"/>
                    </a:p>
                  </a:txBody>
                  <a:tcPr marT="91425" marB="91425" marR="91425" marL="91425"/>
                </a:tc>
                <a:tc>
                  <a:txBody>
                    <a:bodyPr/>
                    <a:lstStyle/>
                    <a:p>
                      <a:pPr indent="0" lvl="0" marL="0" rtl="0" algn="ctr">
                        <a:spcBef>
                          <a:spcPts val="0"/>
                        </a:spcBef>
                        <a:spcAft>
                          <a:spcPts val="0"/>
                        </a:spcAft>
                        <a:buNone/>
                      </a:pPr>
                      <a:r>
                        <a:rPr b="1" lang="en" sz="900"/>
                        <a:t>0.4669</a:t>
                      </a:r>
                      <a:endParaRPr b="1" sz="900"/>
                    </a:p>
                  </a:txBody>
                  <a:tcPr marT="91425" marB="91425" marR="91425" marL="91425"/>
                </a:tc>
              </a:tr>
              <a:tr h="381000">
                <a:tc>
                  <a:txBody>
                    <a:bodyPr/>
                    <a:lstStyle/>
                    <a:p>
                      <a:pPr indent="0" lvl="0" marL="0" rtl="0" algn="ctr">
                        <a:lnSpc>
                          <a:spcPct val="115000"/>
                        </a:lnSpc>
                        <a:spcBef>
                          <a:spcPts val="0"/>
                        </a:spcBef>
                        <a:spcAft>
                          <a:spcPts val="2400"/>
                        </a:spcAft>
                        <a:buClr>
                          <a:schemeClr val="dk1"/>
                        </a:buClr>
                        <a:buSzPts val="1100"/>
                        <a:buFont typeface="Arial"/>
                        <a:buNone/>
                      </a:pPr>
                      <a:r>
                        <a:rPr b="1" lang="en" sz="900">
                          <a:solidFill>
                            <a:schemeClr val="dk1"/>
                          </a:solidFill>
                        </a:rPr>
                        <a:t>Cat Boost</a:t>
                      </a:r>
                      <a:endParaRPr b="1" sz="900"/>
                    </a:p>
                  </a:txBody>
                  <a:tcPr marT="91425" marB="91425" marR="91425" marL="91425"/>
                </a:tc>
                <a:tc>
                  <a:txBody>
                    <a:bodyPr/>
                    <a:lstStyle/>
                    <a:p>
                      <a:pPr indent="0" lvl="0" marL="0" rtl="0" algn="ctr">
                        <a:spcBef>
                          <a:spcPts val="0"/>
                        </a:spcBef>
                        <a:spcAft>
                          <a:spcPts val="0"/>
                        </a:spcAft>
                        <a:buNone/>
                      </a:pPr>
                      <a:r>
                        <a:rPr b="1" lang="en" sz="900"/>
                        <a:t>20.74</a:t>
                      </a:r>
                      <a:r>
                        <a:rPr b="1" lang="en" sz="900"/>
                        <a:t>%</a:t>
                      </a:r>
                      <a:endParaRPr b="1" sz="900"/>
                    </a:p>
                  </a:txBody>
                  <a:tcPr marT="91425" marB="91425" marR="91425" marL="91425"/>
                </a:tc>
                <a:tc>
                  <a:txBody>
                    <a:bodyPr/>
                    <a:lstStyle/>
                    <a:p>
                      <a:pPr indent="0" lvl="0" marL="0" rtl="0" algn="ctr">
                        <a:spcBef>
                          <a:spcPts val="0"/>
                        </a:spcBef>
                        <a:spcAft>
                          <a:spcPts val="0"/>
                        </a:spcAft>
                        <a:buNone/>
                      </a:pPr>
                      <a:r>
                        <a:rPr b="1" lang="en" sz="900"/>
                        <a:t>3.55</a:t>
                      </a:r>
                      <a:endParaRPr b="1" sz="900"/>
                    </a:p>
                  </a:txBody>
                  <a:tcPr marT="91425" marB="91425" marR="91425" marL="91425"/>
                </a:tc>
                <a:tc>
                  <a:txBody>
                    <a:bodyPr/>
                    <a:lstStyle/>
                    <a:p>
                      <a:pPr indent="0" lvl="0" marL="0" rtl="0" algn="ctr">
                        <a:spcBef>
                          <a:spcPts val="0"/>
                        </a:spcBef>
                        <a:spcAft>
                          <a:spcPts val="0"/>
                        </a:spcAft>
                        <a:buNone/>
                      </a:pPr>
                      <a:r>
                        <a:rPr b="1" lang="en" sz="900"/>
                        <a:t>15.53</a:t>
                      </a:r>
                      <a:endParaRPr b="1" sz="900"/>
                    </a:p>
                  </a:txBody>
                  <a:tcPr marT="91425" marB="91425" marR="91425" marL="91425"/>
                </a:tc>
                <a:tc>
                  <a:txBody>
                    <a:bodyPr/>
                    <a:lstStyle/>
                    <a:p>
                      <a:pPr indent="0" lvl="0" marL="0" rtl="0" algn="ctr">
                        <a:spcBef>
                          <a:spcPts val="0"/>
                        </a:spcBef>
                        <a:spcAft>
                          <a:spcPts val="0"/>
                        </a:spcAft>
                        <a:buNone/>
                      </a:pPr>
                      <a:r>
                        <a:rPr b="1" lang="en" sz="900"/>
                        <a:t>-</a:t>
                      </a:r>
                      <a:endParaRPr b="1" sz="900"/>
                    </a:p>
                  </a:txBody>
                  <a:tcPr marT="91425" marB="91425" marR="91425" marL="91425"/>
                </a:tc>
              </a:tr>
              <a:tr h="381000">
                <a:tc>
                  <a:txBody>
                    <a:bodyPr/>
                    <a:lstStyle/>
                    <a:p>
                      <a:pPr indent="0" lvl="0" marL="0" rtl="0" algn="ctr">
                        <a:lnSpc>
                          <a:spcPct val="115000"/>
                        </a:lnSpc>
                        <a:spcBef>
                          <a:spcPts val="0"/>
                        </a:spcBef>
                        <a:spcAft>
                          <a:spcPts val="2400"/>
                        </a:spcAft>
                        <a:buClr>
                          <a:schemeClr val="dk1"/>
                        </a:buClr>
                        <a:buSzPts val="1100"/>
                        <a:buFont typeface="Arial"/>
                        <a:buNone/>
                      </a:pPr>
                      <a:r>
                        <a:rPr b="1" lang="en" sz="900">
                          <a:solidFill>
                            <a:schemeClr val="dk1"/>
                          </a:solidFill>
                        </a:rPr>
                        <a:t>HistGradientBoostingRegressor </a:t>
                      </a:r>
                      <a:endParaRPr b="1" sz="900"/>
                    </a:p>
                  </a:txBody>
                  <a:tcPr marT="91425" marB="91425" marR="91425" marL="91425"/>
                </a:tc>
                <a:tc>
                  <a:txBody>
                    <a:bodyPr/>
                    <a:lstStyle/>
                    <a:p>
                      <a:pPr indent="0" lvl="0" marL="0" rtl="0" algn="ctr">
                        <a:spcBef>
                          <a:spcPts val="0"/>
                        </a:spcBef>
                        <a:spcAft>
                          <a:spcPts val="0"/>
                        </a:spcAft>
                        <a:buNone/>
                      </a:pPr>
                      <a:r>
                        <a:rPr b="1" lang="en" sz="900"/>
                        <a:t>26.3</a:t>
                      </a:r>
                      <a:r>
                        <a:rPr b="1" lang="en" sz="900"/>
                        <a:t>%</a:t>
                      </a:r>
                      <a:endParaRPr b="1" sz="900"/>
                    </a:p>
                  </a:txBody>
                  <a:tcPr marT="91425" marB="91425" marR="91425" marL="91425"/>
                </a:tc>
                <a:tc>
                  <a:txBody>
                    <a:bodyPr/>
                    <a:lstStyle/>
                    <a:p>
                      <a:pPr indent="0" lvl="0" marL="0" rtl="0" algn="ctr">
                        <a:spcBef>
                          <a:spcPts val="0"/>
                        </a:spcBef>
                        <a:spcAft>
                          <a:spcPts val="0"/>
                        </a:spcAft>
                        <a:buNone/>
                      </a:pPr>
                      <a:r>
                        <a:rPr b="1" lang="en" sz="900"/>
                        <a:t>4.30</a:t>
                      </a:r>
                      <a:endParaRPr b="1" sz="900"/>
                    </a:p>
                  </a:txBody>
                  <a:tcPr marT="91425" marB="91425" marR="91425" marL="91425"/>
                </a:tc>
                <a:tc>
                  <a:txBody>
                    <a:bodyPr/>
                    <a:lstStyle/>
                    <a:p>
                      <a:pPr indent="0" lvl="0" marL="0" rtl="0" algn="ctr">
                        <a:spcBef>
                          <a:spcPts val="0"/>
                        </a:spcBef>
                        <a:spcAft>
                          <a:spcPts val="0"/>
                        </a:spcAft>
                        <a:buNone/>
                      </a:pPr>
                      <a:r>
                        <a:rPr b="1" lang="en" sz="900"/>
                        <a:t>18.82</a:t>
                      </a:r>
                      <a:endParaRPr b="1" sz="900"/>
                    </a:p>
                  </a:txBody>
                  <a:tcPr marT="91425" marB="91425" marR="91425" marL="91425"/>
                </a:tc>
                <a:tc>
                  <a:txBody>
                    <a:bodyPr/>
                    <a:lstStyle/>
                    <a:p>
                      <a:pPr indent="0" lvl="0" marL="0" rtl="0" algn="ctr">
                        <a:spcBef>
                          <a:spcPts val="0"/>
                        </a:spcBef>
                        <a:spcAft>
                          <a:spcPts val="0"/>
                        </a:spcAft>
                        <a:buNone/>
                      </a:pPr>
                      <a:r>
                        <a:rPr b="1" lang="en" sz="900"/>
                        <a:t>-</a:t>
                      </a:r>
                      <a:endParaRPr b="1" sz="900"/>
                    </a:p>
                  </a:txBody>
                  <a:tcPr marT="91425" marB="91425" marR="91425" marL="91425"/>
                </a:tc>
              </a:tr>
              <a:tr h="381000">
                <a:tc>
                  <a:txBody>
                    <a:bodyPr/>
                    <a:lstStyle/>
                    <a:p>
                      <a:pPr indent="0" lvl="0" marL="0" rtl="0" algn="ctr">
                        <a:lnSpc>
                          <a:spcPct val="115000"/>
                        </a:lnSpc>
                        <a:spcBef>
                          <a:spcPts val="0"/>
                        </a:spcBef>
                        <a:spcAft>
                          <a:spcPts val="2400"/>
                        </a:spcAft>
                        <a:buClr>
                          <a:schemeClr val="dk1"/>
                        </a:buClr>
                        <a:buSzPts val="1100"/>
                        <a:buFont typeface="Arial"/>
                        <a:buNone/>
                      </a:pPr>
                      <a:r>
                        <a:rPr b="1" lang="en" sz="900">
                          <a:solidFill>
                            <a:schemeClr val="dk1"/>
                          </a:solidFill>
                        </a:rPr>
                        <a:t>Extra trees</a:t>
                      </a:r>
                      <a:endParaRPr b="1" sz="900"/>
                    </a:p>
                  </a:txBody>
                  <a:tcPr marT="91425" marB="91425" marR="91425" marL="91425"/>
                </a:tc>
                <a:tc>
                  <a:txBody>
                    <a:bodyPr/>
                    <a:lstStyle/>
                    <a:p>
                      <a:pPr indent="0" lvl="0" marL="0" rtl="0" algn="ctr">
                        <a:spcBef>
                          <a:spcPts val="0"/>
                        </a:spcBef>
                        <a:spcAft>
                          <a:spcPts val="0"/>
                        </a:spcAft>
                        <a:buNone/>
                      </a:pPr>
                      <a:r>
                        <a:rPr b="1" lang="en" sz="900"/>
                        <a:t>-</a:t>
                      </a:r>
                      <a:endParaRPr b="1" sz="900"/>
                    </a:p>
                  </a:txBody>
                  <a:tcPr marT="91425" marB="91425" marR="91425" marL="91425"/>
                </a:tc>
                <a:tc>
                  <a:txBody>
                    <a:bodyPr/>
                    <a:lstStyle/>
                    <a:p>
                      <a:pPr indent="0" lvl="0" marL="0" rtl="0" algn="ctr">
                        <a:spcBef>
                          <a:spcPts val="0"/>
                        </a:spcBef>
                        <a:spcAft>
                          <a:spcPts val="0"/>
                        </a:spcAft>
                        <a:buNone/>
                      </a:pPr>
                      <a:r>
                        <a:rPr b="1" lang="en" sz="900"/>
                        <a:t>3.10</a:t>
                      </a:r>
                      <a:endParaRPr b="1" sz="900"/>
                    </a:p>
                  </a:txBody>
                  <a:tcPr marT="91425" marB="91425" marR="91425" marL="91425"/>
                </a:tc>
                <a:tc>
                  <a:txBody>
                    <a:bodyPr/>
                    <a:lstStyle/>
                    <a:p>
                      <a:pPr indent="0" lvl="0" marL="0" rtl="0" algn="ctr">
                        <a:spcBef>
                          <a:spcPts val="0"/>
                        </a:spcBef>
                        <a:spcAft>
                          <a:spcPts val="0"/>
                        </a:spcAft>
                        <a:buNone/>
                      </a:pPr>
                      <a:r>
                        <a:rPr b="1" lang="en" sz="900"/>
                        <a:t>12.11</a:t>
                      </a:r>
                      <a:endParaRPr b="1" sz="900"/>
                    </a:p>
                  </a:txBody>
                  <a:tcPr marT="91425" marB="91425" marR="91425" marL="91425"/>
                </a:tc>
                <a:tc>
                  <a:txBody>
                    <a:bodyPr/>
                    <a:lstStyle/>
                    <a:p>
                      <a:pPr indent="0" lvl="0" marL="0" rtl="0" algn="ctr">
                        <a:spcBef>
                          <a:spcPts val="0"/>
                        </a:spcBef>
                        <a:spcAft>
                          <a:spcPts val="0"/>
                        </a:spcAft>
                        <a:buNone/>
                      </a:pPr>
                      <a:r>
                        <a:rPr b="1" lang="en" sz="900"/>
                        <a:t>0.7143</a:t>
                      </a:r>
                      <a:endParaRPr b="1" sz="900"/>
                    </a:p>
                  </a:txBody>
                  <a:tcPr marT="91425" marB="91425" marR="91425" marL="91425"/>
                </a:tc>
              </a:tr>
              <a:tr h="381000">
                <a:tc>
                  <a:txBody>
                    <a:bodyPr/>
                    <a:lstStyle/>
                    <a:p>
                      <a:pPr indent="0" lvl="0" marL="0" rtl="0" algn="ctr">
                        <a:lnSpc>
                          <a:spcPct val="115000"/>
                        </a:lnSpc>
                        <a:spcBef>
                          <a:spcPts val="0"/>
                        </a:spcBef>
                        <a:spcAft>
                          <a:spcPts val="2400"/>
                        </a:spcAft>
                        <a:buClr>
                          <a:schemeClr val="dk1"/>
                        </a:buClr>
                        <a:buSzPts val="1100"/>
                        <a:buFont typeface="Arial"/>
                        <a:buNone/>
                      </a:pPr>
                      <a:r>
                        <a:rPr b="1" lang="en" sz="900">
                          <a:solidFill>
                            <a:schemeClr val="dk1"/>
                          </a:solidFill>
                        </a:rPr>
                        <a:t>Random Forest</a:t>
                      </a:r>
                      <a:endParaRPr b="1" sz="900"/>
                    </a:p>
                  </a:txBody>
                  <a:tcPr marT="91425" marB="91425" marR="91425" marL="91425"/>
                </a:tc>
                <a:tc>
                  <a:txBody>
                    <a:bodyPr/>
                    <a:lstStyle/>
                    <a:p>
                      <a:pPr indent="0" lvl="0" marL="0" rtl="0" algn="ctr">
                        <a:spcBef>
                          <a:spcPts val="0"/>
                        </a:spcBef>
                        <a:spcAft>
                          <a:spcPts val="0"/>
                        </a:spcAft>
                        <a:buNone/>
                      </a:pPr>
                      <a:r>
                        <a:rPr b="1" lang="en" sz="900"/>
                        <a:t>-</a:t>
                      </a:r>
                      <a:endParaRPr b="1" sz="900"/>
                    </a:p>
                  </a:txBody>
                  <a:tcPr marT="91425" marB="91425" marR="91425" marL="91425"/>
                </a:tc>
                <a:tc>
                  <a:txBody>
                    <a:bodyPr/>
                    <a:lstStyle/>
                    <a:p>
                      <a:pPr indent="0" lvl="0" marL="0" rtl="0" algn="ctr">
                        <a:spcBef>
                          <a:spcPts val="0"/>
                        </a:spcBef>
                        <a:spcAft>
                          <a:spcPts val="0"/>
                        </a:spcAft>
                        <a:buNone/>
                      </a:pPr>
                      <a:r>
                        <a:rPr b="1" lang="en" sz="900"/>
                        <a:t>2.73</a:t>
                      </a:r>
                      <a:endParaRPr b="1" sz="900"/>
                    </a:p>
                  </a:txBody>
                  <a:tcPr marT="91425" marB="91425" marR="91425" marL="91425"/>
                </a:tc>
                <a:tc>
                  <a:txBody>
                    <a:bodyPr/>
                    <a:lstStyle/>
                    <a:p>
                      <a:pPr indent="0" lvl="0" marL="0" rtl="0" algn="ctr">
                        <a:spcBef>
                          <a:spcPts val="0"/>
                        </a:spcBef>
                        <a:spcAft>
                          <a:spcPts val="0"/>
                        </a:spcAft>
                        <a:buNone/>
                      </a:pPr>
                      <a:r>
                        <a:rPr b="1" lang="en" sz="900"/>
                        <a:t>11.24</a:t>
                      </a:r>
                      <a:endParaRPr b="1" sz="900"/>
                    </a:p>
                  </a:txBody>
                  <a:tcPr marT="91425" marB="91425" marR="91425" marL="91425"/>
                </a:tc>
                <a:tc>
                  <a:txBody>
                    <a:bodyPr/>
                    <a:lstStyle/>
                    <a:p>
                      <a:pPr indent="0" lvl="0" marL="0" rtl="0" algn="ctr">
                        <a:spcBef>
                          <a:spcPts val="0"/>
                        </a:spcBef>
                        <a:spcAft>
                          <a:spcPts val="0"/>
                        </a:spcAft>
                        <a:buNone/>
                      </a:pPr>
                      <a:r>
                        <a:rPr b="1" lang="en" sz="900"/>
                        <a:t>0.7537</a:t>
                      </a:r>
                      <a:endParaRPr b="1" sz="900"/>
                    </a:p>
                  </a:txBody>
                  <a:tcPr marT="91425" marB="91425" marR="91425" marL="91425"/>
                </a:tc>
              </a:tr>
              <a:tr h="381000">
                <a:tc>
                  <a:txBody>
                    <a:bodyPr/>
                    <a:lstStyle/>
                    <a:p>
                      <a:pPr indent="0" lvl="0" marL="0" rtl="0" algn="ctr">
                        <a:lnSpc>
                          <a:spcPct val="115000"/>
                        </a:lnSpc>
                        <a:spcBef>
                          <a:spcPts val="0"/>
                        </a:spcBef>
                        <a:spcAft>
                          <a:spcPts val="2400"/>
                        </a:spcAft>
                        <a:buClr>
                          <a:schemeClr val="dk1"/>
                        </a:buClr>
                        <a:buSzPts val="1100"/>
                        <a:buFont typeface="Arial"/>
                        <a:buNone/>
                      </a:pPr>
                      <a:r>
                        <a:rPr b="1" lang="en" sz="900">
                          <a:solidFill>
                            <a:schemeClr val="dk1"/>
                          </a:solidFill>
                        </a:rPr>
                        <a:t>XGBoost</a:t>
                      </a:r>
                      <a:endParaRPr b="1" sz="900"/>
                    </a:p>
                  </a:txBody>
                  <a:tcPr marT="91425" marB="91425" marR="91425" marL="91425"/>
                </a:tc>
                <a:tc>
                  <a:txBody>
                    <a:bodyPr/>
                    <a:lstStyle/>
                    <a:p>
                      <a:pPr indent="0" lvl="0" marL="0" rtl="0" algn="ctr">
                        <a:spcBef>
                          <a:spcPts val="0"/>
                        </a:spcBef>
                        <a:spcAft>
                          <a:spcPts val="0"/>
                        </a:spcAft>
                        <a:buNone/>
                      </a:pPr>
                      <a:r>
                        <a:rPr b="1" lang="en" sz="900"/>
                        <a:t>13.8%</a:t>
                      </a:r>
                      <a:endParaRPr b="1" sz="900"/>
                    </a:p>
                  </a:txBody>
                  <a:tcPr marT="91425" marB="91425" marR="91425" marL="91425"/>
                </a:tc>
                <a:tc>
                  <a:txBody>
                    <a:bodyPr/>
                    <a:lstStyle/>
                    <a:p>
                      <a:pPr indent="0" lvl="0" marL="0" rtl="0" algn="ctr">
                        <a:spcBef>
                          <a:spcPts val="0"/>
                        </a:spcBef>
                        <a:spcAft>
                          <a:spcPts val="0"/>
                        </a:spcAft>
                        <a:buNone/>
                      </a:pPr>
                      <a:r>
                        <a:rPr b="1" lang="en" sz="900"/>
                        <a:t>2.4625</a:t>
                      </a:r>
                      <a:endParaRPr b="1" sz="900"/>
                    </a:p>
                  </a:txBody>
                  <a:tcPr marT="91425" marB="91425" marR="91425" marL="91425"/>
                </a:tc>
                <a:tc>
                  <a:txBody>
                    <a:bodyPr/>
                    <a:lstStyle/>
                    <a:p>
                      <a:pPr indent="0" lvl="0" marL="0" rtl="0" algn="ctr">
                        <a:spcBef>
                          <a:spcPts val="0"/>
                        </a:spcBef>
                        <a:spcAft>
                          <a:spcPts val="0"/>
                        </a:spcAft>
                        <a:buNone/>
                      </a:pPr>
                      <a:r>
                        <a:rPr b="1" lang="en" sz="900"/>
                        <a:t>10.9963</a:t>
                      </a:r>
                      <a:endParaRPr b="1" sz="900"/>
                    </a:p>
                  </a:txBody>
                  <a:tcPr marT="91425" marB="91425" marR="91425" marL="91425"/>
                </a:tc>
                <a:tc>
                  <a:txBody>
                    <a:bodyPr/>
                    <a:lstStyle/>
                    <a:p>
                      <a:pPr indent="0" lvl="0" marL="0" rtl="0" algn="ctr">
                        <a:spcBef>
                          <a:spcPts val="0"/>
                        </a:spcBef>
                        <a:spcAft>
                          <a:spcPts val="0"/>
                        </a:spcAft>
                        <a:buNone/>
                      </a:pPr>
                      <a:r>
                        <a:rPr b="1" lang="en" sz="900"/>
                        <a:t>0.8493</a:t>
                      </a:r>
                      <a:endParaRPr b="1" sz="900"/>
                    </a:p>
                  </a:txBody>
                  <a:tcPr marT="91425" marB="91425" marR="91425" marL="91425"/>
                </a:tc>
              </a:tr>
              <a:tr h="381000">
                <a:tc>
                  <a:txBody>
                    <a:bodyPr/>
                    <a:lstStyle/>
                    <a:p>
                      <a:pPr indent="0" lvl="0" marL="0" rtl="0" algn="ctr">
                        <a:lnSpc>
                          <a:spcPct val="115000"/>
                        </a:lnSpc>
                        <a:spcBef>
                          <a:spcPts val="0"/>
                        </a:spcBef>
                        <a:spcAft>
                          <a:spcPts val="2400"/>
                        </a:spcAft>
                        <a:buClr>
                          <a:schemeClr val="dk1"/>
                        </a:buClr>
                        <a:buSzPts val="1100"/>
                        <a:buFont typeface="Arial"/>
                        <a:buNone/>
                      </a:pPr>
                      <a:r>
                        <a:rPr b="1" lang="en" sz="900">
                          <a:solidFill>
                            <a:schemeClr val="dk1"/>
                          </a:solidFill>
                        </a:rPr>
                        <a:t>GradientBoostingRegressor</a:t>
                      </a:r>
                      <a:endParaRPr b="1" sz="900"/>
                    </a:p>
                  </a:txBody>
                  <a:tcPr marT="91425" marB="91425" marR="91425" marL="91425"/>
                </a:tc>
                <a:tc>
                  <a:txBody>
                    <a:bodyPr/>
                    <a:lstStyle/>
                    <a:p>
                      <a:pPr indent="0" lvl="0" marL="0" rtl="0" algn="ctr">
                        <a:spcBef>
                          <a:spcPts val="0"/>
                        </a:spcBef>
                        <a:spcAft>
                          <a:spcPts val="0"/>
                        </a:spcAft>
                        <a:buNone/>
                      </a:pPr>
                      <a:r>
                        <a:rPr b="1" lang="en" sz="900"/>
                        <a:t>30.3%</a:t>
                      </a:r>
                      <a:endParaRPr b="1" sz="900"/>
                    </a:p>
                  </a:txBody>
                  <a:tcPr marT="91425" marB="91425" marR="91425" marL="91425"/>
                </a:tc>
                <a:tc>
                  <a:txBody>
                    <a:bodyPr/>
                    <a:lstStyle/>
                    <a:p>
                      <a:pPr indent="0" lvl="0" marL="0" rtl="0" algn="ctr">
                        <a:spcBef>
                          <a:spcPts val="0"/>
                        </a:spcBef>
                        <a:spcAft>
                          <a:spcPts val="0"/>
                        </a:spcAft>
                        <a:buNone/>
                      </a:pPr>
                      <a:r>
                        <a:rPr b="1" lang="en" sz="900"/>
                        <a:t>4.6705</a:t>
                      </a:r>
                      <a:endParaRPr b="1" sz="900"/>
                    </a:p>
                  </a:txBody>
                  <a:tcPr marT="91425" marB="91425" marR="91425" marL="91425"/>
                </a:tc>
                <a:tc>
                  <a:txBody>
                    <a:bodyPr/>
                    <a:lstStyle/>
                    <a:p>
                      <a:pPr indent="0" lvl="0" marL="0" rtl="0" algn="ctr">
                        <a:spcBef>
                          <a:spcPts val="0"/>
                        </a:spcBef>
                        <a:spcAft>
                          <a:spcPts val="0"/>
                        </a:spcAft>
                        <a:buNone/>
                      </a:pPr>
                      <a:r>
                        <a:rPr b="1" lang="en" sz="900"/>
                        <a:t>18.9303</a:t>
                      </a:r>
                      <a:endParaRPr b="1" sz="900"/>
                    </a:p>
                  </a:txBody>
                  <a:tcPr marT="91425" marB="91425" marR="91425" marL="91425"/>
                </a:tc>
                <a:tc>
                  <a:txBody>
                    <a:bodyPr/>
                    <a:lstStyle/>
                    <a:p>
                      <a:pPr indent="0" lvl="0" marL="0" rtl="0" algn="ctr">
                        <a:spcBef>
                          <a:spcPts val="0"/>
                        </a:spcBef>
                        <a:spcAft>
                          <a:spcPts val="0"/>
                        </a:spcAft>
                        <a:buNone/>
                      </a:pPr>
                      <a:r>
                        <a:rPr b="1" lang="en" sz="900"/>
                        <a:t>0.5765</a:t>
                      </a:r>
                      <a:endParaRPr b="1" sz="900"/>
                    </a:p>
                  </a:txBody>
                  <a:tcPr marT="91425" marB="91425" marR="91425" marL="91425"/>
                </a:tc>
              </a:tr>
            </a:tbl>
          </a:graphicData>
        </a:graphic>
      </p:graphicFrame>
      <p:sp>
        <p:nvSpPr>
          <p:cNvPr id="2282" name="Google Shape;2282;g3ee2e5faae5_4_31"/>
          <p:cNvSpPr txBox="1"/>
          <p:nvPr/>
        </p:nvSpPr>
        <p:spPr>
          <a:xfrm>
            <a:off x="432975" y="891000"/>
            <a:ext cx="5621100" cy="486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This table compares the performance of eight regression algorithms using four evaluation metrics: MAPE, MAE, RMSE, and R². Lower values of MAPE, MAE, and RMSE indicate better prediction accuracy, while a higher R² indicates better explanatory power.</a:t>
            </a:r>
            <a:endParaRPr b="1" sz="1100">
              <a:solidFill>
                <a:schemeClr val="dk1"/>
              </a:solidFill>
            </a:endParaRPr>
          </a:p>
          <a:p>
            <a:pPr indent="0" lvl="0" marL="0" rtl="0" algn="l">
              <a:lnSpc>
                <a:spcPct val="115000"/>
              </a:lnSpc>
              <a:spcBef>
                <a:spcPts val="1200"/>
              </a:spcBef>
              <a:spcAft>
                <a:spcPts val="0"/>
              </a:spcAft>
              <a:buNone/>
            </a:pPr>
            <a:r>
              <a:rPr b="1" lang="en" sz="1100">
                <a:solidFill>
                  <a:schemeClr val="dk1"/>
                </a:solidFill>
              </a:rPr>
              <a:t>Among all models, XGBoost achieved the best overall performance, with the lowest MAE of 2.46, the lowest RMSE of 10.99, the lowest MAPE of 13.8%, and the highest R² value of 0.8493. This means that XGBoost explains approximately 85% of the variability in the target variable while maintaining the smallest prediction errors.</a:t>
            </a:r>
            <a:endParaRPr b="1" sz="1100">
              <a:solidFill>
                <a:schemeClr val="dk1"/>
              </a:solidFill>
            </a:endParaRPr>
          </a:p>
          <a:p>
            <a:pPr indent="0" lvl="0" marL="0" rtl="0" algn="l">
              <a:lnSpc>
                <a:spcPct val="115000"/>
              </a:lnSpc>
              <a:spcBef>
                <a:spcPts val="1200"/>
              </a:spcBef>
              <a:spcAft>
                <a:spcPts val="0"/>
              </a:spcAft>
              <a:buNone/>
            </a:pPr>
            <a:r>
              <a:rPr b="1" lang="en" sz="1100">
                <a:solidFill>
                  <a:schemeClr val="dk1"/>
                </a:solidFill>
              </a:rPr>
              <a:t>Random Forest and Extra Trees also demonstrated strong performance, achieving R² values of 0.7537 and 0.7143 respectively, making them effective alternatives. CatBoost showed moderate accuracy, while HistGradientBoostingRegressor and GradientBoostingRegressor produced comparatively higher prediction errors.</a:t>
            </a:r>
            <a:endParaRPr b="1" sz="1100">
              <a:solidFill>
                <a:schemeClr val="dk1"/>
              </a:solidFill>
            </a:endParaRPr>
          </a:p>
          <a:p>
            <a:pPr indent="0" lvl="0" marL="0" rtl="0" algn="l">
              <a:lnSpc>
                <a:spcPct val="115000"/>
              </a:lnSpc>
              <a:spcBef>
                <a:spcPts val="1200"/>
              </a:spcBef>
              <a:spcAft>
                <a:spcPts val="0"/>
              </a:spcAft>
              <a:buNone/>
            </a:pPr>
            <a:r>
              <a:rPr b="1" lang="en" sz="1100">
                <a:solidFill>
                  <a:schemeClr val="dk1"/>
                </a:solidFill>
              </a:rPr>
              <a:t>Traditional approaches such as Linear Regression and KNN performed significantly worse, with Linear Regression achieving an R² of only 0.1209, indicating that the relationship between the predictors and target variable is largely non-linear.</a:t>
            </a:r>
            <a:endParaRPr b="1" sz="1100">
              <a:solidFill>
                <a:schemeClr val="dk1"/>
              </a:solidFill>
            </a:endParaRPr>
          </a:p>
          <a:p>
            <a:pPr indent="0" lvl="0" marL="0" rtl="0" algn="l">
              <a:lnSpc>
                <a:spcPct val="115000"/>
              </a:lnSpc>
              <a:spcBef>
                <a:spcPts val="1200"/>
              </a:spcBef>
              <a:spcAft>
                <a:spcPts val="1200"/>
              </a:spcAft>
              <a:buNone/>
            </a:pPr>
            <a:r>
              <a:rPr b="1" lang="en" sz="1100">
                <a:solidFill>
                  <a:schemeClr val="dk1"/>
                </a:solidFill>
              </a:rPr>
              <a:t>Overall, the results suggest that ensemble tree-based methods are better suited for this dataset, with XGBoost emerging as the most accurate and reliable model for predicting the target variable.</a:t>
            </a:r>
            <a:endParaRPr b="1" sz="1100">
              <a:solidFill>
                <a:schemeClr val="dk1"/>
              </a:solidFill>
            </a:endParaRPr>
          </a:p>
        </p:txBody>
      </p:sp>
      <p:sp>
        <p:nvSpPr>
          <p:cNvPr id="2283" name="Google Shape;2283;g3ee2e5faae5_4_31"/>
          <p:cNvSpPr txBox="1"/>
          <p:nvPr/>
        </p:nvSpPr>
        <p:spPr>
          <a:xfrm>
            <a:off x="9261131" y="63850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87" name="Shape 2287"/>
        <p:cNvGrpSpPr/>
        <p:nvPr/>
      </p:nvGrpSpPr>
      <p:grpSpPr>
        <a:xfrm>
          <a:off x="0" y="0"/>
          <a:ext cx="0" cy="0"/>
          <a:chOff x="0" y="0"/>
          <a:chExt cx="0" cy="0"/>
        </a:xfrm>
      </p:grpSpPr>
      <p:sp>
        <p:nvSpPr>
          <p:cNvPr id="2288" name="Google Shape;2288;g3edf2b460e5_4_7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89" name="Google Shape;2289;g3edf2b460e5_4_75"/>
          <p:cNvSpPr txBox="1"/>
          <p:nvPr>
            <p:ph type="title"/>
          </p:nvPr>
        </p:nvSpPr>
        <p:spPr>
          <a:xfrm>
            <a:off x="2197100" y="735275"/>
            <a:ext cx="7083300" cy="3165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200"/>
              <a:buFont typeface="Play"/>
              <a:buNone/>
            </a:pPr>
            <a:r>
              <a:rPr lang="en" sz="5200">
                <a:solidFill>
                  <a:schemeClr val="dk1"/>
                </a:solidFill>
                <a:latin typeface="Play"/>
                <a:ea typeface="Play"/>
                <a:cs typeface="Play"/>
                <a:sym typeface="Play"/>
              </a:rPr>
              <a:t>Business Impact</a:t>
            </a:r>
            <a:endParaRPr/>
          </a:p>
        </p:txBody>
      </p:sp>
      <p:sp>
        <p:nvSpPr>
          <p:cNvPr id="2290" name="Google Shape;2290;g3edf2b460e5_4_7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solidFill>
                  <a:srgbClr val="888888"/>
                </a:solidFill>
              </a:rPr>
              <a:t>‹#›</a:t>
            </a:fld>
            <a:endParaRPr>
              <a:solidFill>
                <a:srgbClr val="888888"/>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94" name="Shape 2294"/>
        <p:cNvGrpSpPr/>
        <p:nvPr/>
      </p:nvGrpSpPr>
      <p:grpSpPr>
        <a:xfrm>
          <a:off x="0" y="0"/>
          <a:ext cx="0" cy="0"/>
          <a:chOff x="0" y="0"/>
          <a:chExt cx="0" cy="0"/>
        </a:xfrm>
      </p:grpSpPr>
      <p:pic>
        <p:nvPicPr>
          <p:cNvPr id="2295" name="Google Shape;2295;g3edf2b460e5_4_84"/>
          <p:cNvPicPr preferRelativeResize="0"/>
          <p:nvPr/>
        </p:nvPicPr>
        <p:blipFill rotWithShape="1">
          <a:blip r:embed="rId3">
            <a:alphaModFix/>
          </a:blip>
          <a:srcRect b="0" l="0" r="0" t="15730"/>
          <a:stretch/>
        </p:blipFill>
        <p:spPr>
          <a:xfrm>
            <a:off x="20" y="10"/>
            <a:ext cx="12191980" cy="6857990"/>
          </a:xfrm>
          <a:prstGeom prst="rect">
            <a:avLst/>
          </a:prstGeom>
          <a:noFill/>
          <a:ln>
            <a:noFill/>
          </a:ln>
        </p:spPr>
      </p:pic>
      <p:sp>
        <p:nvSpPr>
          <p:cNvPr id="2296" name="Google Shape;2296;g3edf2b460e5_4_84"/>
          <p:cNvSpPr/>
          <p:nvPr/>
        </p:nvSpPr>
        <p:spPr>
          <a:xfrm>
            <a:off x="0" y="0"/>
            <a:ext cx="12192000" cy="6858000"/>
          </a:xfrm>
          <a:prstGeom prst="rect">
            <a:avLst/>
          </a:prstGeom>
          <a:gradFill>
            <a:gsLst>
              <a:gs pos="0">
                <a:srgbClr val="E8E8E8">
                  <a:alpha val="67843"/>
                </a:srgbClr>
              </a:gs>
              <a:gs pos="10000">
                <a:srgbClr val="E8E8E8">
                  <a:alpha val="67843"/>
                </a:srgbClr>
              </a:gs>
              <a:gs pos="85000">
                <a:srgbClr val="E8E8E8">
                  <a:alpha val="96862"/>
                </a:srgbClr>
              </a:gs>
              <a:gs pos="100000">
                <a:srgbClr val="E8E8E8">
                  <a:alpha val="96862"/>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97" name="Google Shape;2297;g3edf2b460e5_4_8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Play"/>
              <a:buNone/>
            </a:pPr>
            <a:r>
              <a:rPr b="1" lang="en" sz="2800"/>
              <a:t>Expected Business Benefits</a:t>
            </a:r>
            <a:br>
              <a:rPr b="1" lang="en" sz="2800"/>
            </a:br>
            <a:r>
              <a:rPr b="1" lang="en" sz="2800"/>
              <a:t>Key Business Benefits of the Tube Assembly Cost Prediction Model</a:t>
            </a:r>
            <a:br>
              <a:rPr lang="en" sz="2800"/>
            </a:br>
            <a:endParaRPr sz="2800"/>
          </a:p>
        </p:txBody>
      </p:sp>
      <p:sp>
        <p:nvSpPr>
          <p:cNvPr id="2298" name="Google Shape;2298;g3edf2b460e5_4_8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solidFill>
                  <a:srgbClr val="888888"/>
                </a:solidFill>
                <a:latin typeface="Calibri"/>
                <a:ea typeface="Calibri"/>
                <a:cs typeface="Calibri"/>
                <a:sym typeface="Calibri"/>
              </a:rPr>
              <a:t>‹#›</a:t>
            </a:fld>
            <a:endParaRPr>
              <a:solidFill>
                <a:srgbClr val="888888"/>
              </a:solidFill>
              <a:latin typeface="Calibri"/>
              <a:ea typeface="Calibri"/>
              <a:cs typeface="Calibri"/>
              <a:sym typeface="Calibri"/>
            </a:endParaRPr>
          </a:p>
        </p:txBody>
      </p:sp>
      <p:grpSp>
        <p:nvGrpSpPr>
          <p:cNvPr id="2299" name="Google Shape;2299;g3edf2b460e5_4_84"/>
          <p:cNvGrpSpPr/>
          <p:nvPr/>
        </p:nvGrpSpPr>
        <p:grpSpPr>
          <a:xfrm>
            <a:off x="843129" y="2151134"/>
            <a:ext cx="10505740" cy="3700318"/>
            <a:chOff x="4929" y="325509"/>
            <a:chExt cx="10505740" cy="3700318"/>
          </a:xfrm>
        </p:grpSpPr>
        <p:sp>
          <p:nvSpPr>
            <p:cNvPr id="2300" name="Google Shape;2300;g3edf2b460e5_4_84"/>
            <p:cNvSpPr/>
            <p:nvPr/>
          </p:nvSpPr>
          <p:spPr>
            <a:xfrm>
              <a:off x="4929" y="325509"/>
              <a:ext cx="1889521" cy="702779"/>
            </a:xfrm>
            <a:prstGeom prst="rect">
              <a:avLst/>
            </a:prstGeom>
            <a:solidFill>
              <a:srgbClr val="E77132"/>
            </a:solidFill>
            <a:ln cap="flat" cmpd="sng" w="19050">
              <a:solidFill>
                <a:srgbClr val="E7713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g3edf2b460e5_4_84"/>
            <p:cNvSpPr txBox="1"/>
            <p:nvPr/>
          </p:nvSpPr>
          <p:spPr>
            <a:xfrm>
              <a:off x="4929" y="325509"/>
              <a:ext cx="1889521" cy="702779"/>
            </a:xfrm>
            <a:prstGeom prst="rect">
              <a:avLst/>
            </a:prstGeom>
            <a:noFill/>
            <a:ln>
              <a:noFill/>
            </a:ln>
          </p:spPr>
          <p:txBody>
            <a:bodyPr anchorCtr="0" anchor="ctr" bIns="56875" lIns="99550" spcFirstLastPara="1" rIns="99550" wrap="square" tIns="56875">
              <a:noAutofit/>
            </a:bodyPr>
            <a:lstStyle/>
            <a:p>
              <a:pPr indent="0" lvl="0" marL="0" marR="0" rtl="0" algn="ctr">
                <a:lnSpc>
                  <a:spcPct val="90000"/>
                </a:lnSpc>
                <a:spcBef>
                  <a:spcPts val="0"/>
                </a:spcBef>
                <a:spcAft>
                  <a:spcPts val="0"/>
                </a:spcAft>
                <a:buClr>
                  <a:schemeClr val="lt1"/>
                </a:buClr>
                <a:buSzPts val="1400"/>
                <a:buFont typeface="Arial"/>
                <a:buNone/>
              </a:pPr>
              <a:r>
                <a:rPr b="1" lang="en" sz="1400">
                  <a:solidFill>
                    <a:schemeClr val="lt1"/>
                  </a:solidFill>
                  <a:latin typeface="Arial"/>
                  <a:ea typeface="Arial"/>
                  <a:cs typeface="Arial"/>
                  <a:sym typeface="Arial"/>
                </a:rPr>
                <a:t>Improved Cost Estimation Accuracy</a:t>
              </a:r>
              <a:endParaRPr sz="1400">
                <a:solidFill>
                  <a:schemeClr val="lt1"/>
                </a:solidFill>
                <a:latin typeface="Arial"/>
                <a:ea typeface="Arial"/>
                <a:cs typeface="Arial"/>
                <a:sym typeface="Arial"/>
              </a:endParaRPr>
            </a:p>
          </p:txBody>
        </p:sp>
        <p:sp>
          <p:nvSpPr>
            <p:cNvPr id="2302" name="Google Shape;2302;g3edf2b460e5_4_84"/>
            <p:cNvSpPr/>
            <p:nvPr/>
          </p:nvSpPr>
          <p:spPr>
            <a:xfrm>
              <a:off x="4929" y="1028288"/>
              <a:ext cx="1889521" cy="2997539"/>
            </a:xfrm>
            <a:prstGeom prst="rect">
              <a:avLst/>
            </a:prstGeom>
            <a:solidFill>
              <a:srgbClr val="F6D2CA">
                <a:alpha val="90196"/>
              </a:srgbClr>
            </a:solidFill>
            <a:ln cap="flat" cmpd="sng" w="19050">
              <a:solidFill>
                <a:srgbClr val="F6D2CA">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g3edf2b460e5_4_84"/>
            <p:cNvSpPr txBox="1"/>
            <p:nvPr/>
          </p:nvSpPr>
          <p:spPr>
            <a:xfrm>
              <a:off x="4929" y="1028288"/>
              <a:ext cx="1889521" cy="2997539"/>
            </a:xfrm>
            <a:prstGeom prst="rect">
              <a:avLst/>
            </a:prstGeom>
            <a:noFill/>
            <a:ln>
              <a:noFill/>
            </a:ln>
          </p:spPr>
          <p:txBody>
            <a:bodyPr anchorCtr="0" anchor="t" bIns="112000" lIns="74675" spcFirstLastPara="1" rIns="99550" wrap="square" tIns="74675">
              <a:noAutofit/>
            </a:bodyPr>
            <a:lstStyle/>
            <a:p>
              <a:pPr indent="-114300" lvl="1" marL="114300" marR="0" rtl="0" algn="l">
                <a:lnSpc>
                  <a:spcPct val="9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The models deliver highly consistent predictions across different data subsets</a:t>
              </a:r>
              <a:endParaRPr b="0" i="0" sz="1400" u="none" cap="none" strike="noStrike">
                <a:solidFill>
                  <a:schemeClr val="dk1"/>
                </a:solidFill>
                <a:latin typeface="Arial"/>
                <a:ea typeface="Arial"/>
                <a:cs typeface="Arial"/>
                <a:sym typeface="Arial"/>
              </a:endParaRPr>
            </a:p>
            <a:p>
              <a:pPr indent="-114300" lvl="1" marL="114300" marR="0" rtl="0" algn="l">
                <a:lnSpc>
                  <a:spcPct val="90000"/>
                </a:lnSpc>
                <a:spcBef>
                  <a:spcPts val="21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Significantly reduces errors compared to traditional manual estimation methods</a:t>
              </a:r>
              <a:endParaRPr b="0" i="0" sz="1400" u="none" cap="none" strike="noStrike">
                <a:solidFill>
                  <a:schemeClr val="dk1"/>
                </a:solidFill>
                <a:latin typeface="Arial"/>
                <a:ea typeface="Arial"/>
                <a:cs typeface="Arial"/>
                <a:sym typeface="Arial"/>
              </a:endParaRPr>
            </a:p>
            <a:p>
              <a:pPr indent="-114300" lvl="1" marL="114300" marR="0" rtl="0" algn="l">
                <a:lnSpc>
                  <a:spcPct val="90000"/>
                </a:lnSpc>
                <a:spcBef>
                  <a:spcPts val="21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Enables more reliable cost forecasting for various order configurations</a:t>
              </a:r>
              <a:endParaRPr b="0" i="0" sz="1400" u="none" cap="none" strike="noStrike">
                <a:solidFill>
                  <a:schemeClr val="dk1"/>
                </a:solidFill>
                <a:latin typeface="Arial"/>
                <a:ea typeface="Arial"/>
                <a:cs typeface="Arial"/>
                <a:sym typeface="Arial"/>
              </a:endParaRPr>
            </a:p>
          </p:txBody>
        </p:sp>
        <p:sp>
          <p:nvSpPr>
            <p:cNvPr id="2304" name="Google Shape;2304;g3edf2b460e5_4_84"/>
            <p:cNvSpPr/>
            <p:nvPr/>
          </p:nvSpPr>
          <p:spPr>
            <a:xfrm>
              <a:off x="2158984" y="325509"/>
              <a:ext cx="1889521" cy="702779"/>
            </a:xfrm>
            <a:prstGeom prst="rect">
              <a:avLst/>
            </a:prstGeom>
            <a:solidFill>
              <a:srgbClr val="D4AE1E"/>
            </a:solidFill>
            <a:ln cap="flat" cmpd="sng" w="19050">
              <a:solidFill>
                <a:srgbClr val="D4AE1E"/>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g3edf2b460e5_4_84"/>
            <p:cNvSpPr txBox="1"/>
            <p:nvPr/>
          </p:nvSpPr>
          <p:spPr>
            <a:xfrm>
              <a:off x="2158984" y="325509"/>
              <a:ext cx="1889521" cy="702779"/>
            </a:xfrm>
            <a:prstGeom prst="rect">
              <a:avLst/>
            </a:prstGeom>
            <a:noFill/>
            <a:ln>
              <a:noFill/>
            </a:ln>
          </p:spPr>
          <p:txBody>
            <a:bodyPr anchorCtr="0" anchor="ctr" bIns="56875" lIns="99550" spcFirstLastPara="1" rIns="99550" wrap="square" tIns="56875">
              <a:noAutofit/>
            </a:bodyPr>
            <a:lstStyle/>
            <a:p>
              <a:pPr indent="0" lvl="0" marL="0" marR="0" rtl="0" algn="ctr">
                <a:lnSpc>
                  <a:spcPct val="90000"/>
                </a:lnSpc>
                <a:spcBef>
                  <a:spcPts val="0"/>
                </a:spcBef>
                <a:spcAft>
                  <a:spcPts val="0"/>
                </a:spcAft>
                <a:buClr>
                  <a:schemeClr val="lt1"/>
                </a:buClr>
                <a:buSzPts val="1400"/>
                <a:buFont typeface="Arial"/>
                <a:buNone/>
              </a:pPr>
              <a:r>
                <a:rPr b="1" lang="en" sz="1400">
                  <a:solidFill>
                    <a:schemeClr val="lt1"/>
                  </a:solidFill>
                  <a:latin typeface="Arial"/>
                  <a:ea typeface="Arial"/>
                  <a:cs typeface="Arial"/>
                  <a:sym typeface="Arial"/>
                </a:rPr>
                <a:t>Reduction in Inventory and Maintenance Costs</a:t>
              </a:r>
              <a:endParaRPr sz="1400">
                <a:solidFill>
                  <a:schemeClr val="lt1"/>
                </a:solidFill>
                <a:latin typeface="Arial"/>
                <a:ea typeface="Arial"/>
                <a:cs typeface="Arial"/>
                <a:sym typeface="Arial"/>
              </a:endParaRPr>
            </a:p>
          </p:txBody>
        </p:sp>
        <p:sp>
          <p:nvSpPr>
            <p:cNvPr id="2306" name="Google Shape;2306;g3edf2b460e5_4_84"/>
            <p:cNvSpPr/>
            <p:nvPr/>
          </p:nvSpPr>
          <p:spPr>
            <a:xfrm>
              <a:off x="2158984" y="1028288"/>
              <a:ext cx="1889521" cy="2997539"/>
            </a:xfrm>
            <a:prstGeom prst="rect">
              <a:avLst/>
            </a:prstGeom>
            <a:solidFill>
              <a:srgbClr val="EEE1C8">
                <a:alpha val="90196"/>
              </a:srgbClr>
            </a:solidFill>
            <a:ln cap="flat" cmpd="sng" w="19050">
              <a:solidFill>
                <a:srgbClr val="EEE1C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g3edf2b460e5_4_84"/>
            <p:cNvSpPr txBox="1"/>
            <p:nvPr/>
          </p:nvSpPr>
          <p:spPr>
            <a:xfrm>
              <a:off x="2158984" y="1028288"/>
              <a:ext cx="1889521" cy="2997539"/>
            </a:xfrm>
            <a:prstGeom prst="rect">
              <a:avLst/>
            </a:prstGeom>
            <a:noFill/>
            <a:ln>
              <a:noFill/>
            </a:ln>
          </p:spPr>
          <p:txBody>
            <a:bodyPr anchorCtr="0" anchor="t" bIns="112000" lIns="74675" spcFirstLastPara="1" rIns="99550" wrap="square" tIns="74675">
              <a:noAutofit/>
            </a:bodyPr>
            <a:lstStyle/>
            <a:p>
              <a:pPr indent="-114300" lvl="1" marL="114300" marR="0" rtl="0" algn="l">
                <a:lnSpc>
                  <a:spcPct val="9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Better understanding of demand patterns through features like annual usage and minimum order quantity</a:t>
              </a:r>
              <a:endParaRPr b="0" i="0" sz="1400" u="none" cap="none" strike="noStrike">
                <a:solidFill>
                  <a:schemeClr val="dk1"/>
                </a:solidFill>
                <a:latin typeface="Arial"/>
                <a:ea typeface="Arial"/>
                <a:cs typeface="Arial"/>
                <a:sym typeface="Arial"/>
              </a:endParaRPr>
            </a:p>
            <a:p>
              <a:pPr indent="-114300" lvl="1" marL="114300" marR="0" rtl="0" algn="l">
                <a:lnSpc>
                  <a:spcPct val="90000"/>
                </a:lnSpc>
                <a:spcBef>
                  <a:spcPts val="21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Helps optimize stock levels and minimize overstock or stockouts of tube assembly components</a:t>
              </a:r>
              <a:endParaRPr b="0" i="0" sz="1400" u="none" cap="none" strike="noStrike">
                <a:solidFill>
                  <a:schemeClr val="dk1"/>
                </a:solidFill>
                <a:latin typeface="Arial"/>
                <a:ea typeface="Arial"/>
                <a:cs typeface="Arial"/>
                <a:sym typeface="Arial"/>
              </a:endParaRPr>
            </a:p>
          </p:txBody>
        </p:sp>
        <p:sp>
          <p:nvSpPr>
            <p:cNvPr id="2308" name="Google Shape;2308;g3edf2b460e5_4_84"/>
            <p:cNvSpPr/>
            <p:nvPr/>
          </p:nvSpPr>
          <p:spPr>
            <a:xfrm>
              <a:off x="4313039" y="325509"/>
              <a:ext cx="1889521" cy="702779"/>
            </a:xfrm>
            <a:prstGeom prst="rect">
              <a:avLst/>
            </a:prstGeom>
            <a:solidFill>
              <a:srgbClr val="8CAE1E"/>
            </a:solidFill>
            <a:ln cap="flat" cmpd="sng" w="19050">
              <a:solidFill>
                <a:srgbClr val="8CAE1E"/>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g3edf2b460e5_4_84"/>
            <p:cNvSpPr txBox="1"/>
            <p:nvPr/>
          </p:nvSpPr>
          <p:spPr>
            <a:xfrm>
              <a:off x="4313039" y="325509"/>
              <a:ext cx="1889521" cy="702779"/>
            </a:xfrm>
            <a:prstGeom prst="rect">
              <a:avLst/>
            </a:prstGeom>
            <a:noFill/>
            <a:ln>
              <a:noFill/>
            </a:ln>
          </p:spPr>
          <p:txBody>
            <a:bodyPr anchorCtr="0" anchor="ctr" bIns="56875" lIns="99550" spcFirstLastPara="1" rIns="99550" wrap="square" tIns="56875">
              <a:noAutofit/>
            </a:bodyPr>
            <a:lstStyle/>
            <a:p>
              <a:pPr indent="0" lvl="0" marL="0" marR="0" rtl="0" algn="ctr">
                <a:lnSpc>
                  <a:spcPct val="90000"/>
                </a:lnSpc>
                <a:spcBef>
                  <a:spcPts val="0"/>
                </a:spcBef>
                <a:spcAft>
                  <a:spcPts val="0"/>
                </a:spcAft>
                <a:buClr>
                  <a:schemeClr val="lt1"/>
                </a:buClr>
                <a:buSzPts val="1400"/>
                <a:buFont typeface="Arial"/>
                <a:buNone/>
              </a:pPr>
              <a:r>
                <a:rPr b="1" lang="en" sz="1400">
                  <a:solidFill>
                    <a:schemeClr val="lt1"/>
                  </a:solidFill>
                  <a:latin typeface="Arial"/>
                  <a:ea typeface="Arial"/>
                  <a:cs typeface="Arial"/>
                  <a:sym typeface="Arial"/>
                </a:rPr>
                <a:t>Faster Quoting and Decision Making</a:t>
              </a:r>
              <a:endParaRPr sz="1400">
                <a:solidFill>
                  <a:schemeClr val="lt1"/>
                </a:solidFill>
                <a:latin typeface="Arial"/>
                <a:ea typeface="Arial"/>
                <a:cs typeface="Arial"/>
                <a:sym typeface="Arial"/>
              </a:endParaRPr>
            </a:p>
          </p:txBody>
        </p:sp>
        <p:sp>
          <p:nvSpPr>
            <p:cNvPr id="2310" name="Google Shape;2310;g3edf2b460e5_4_84"/>
            <p:cNvSpPr/>
            <p:nvPr/>
          </p:nvSpPr>
          <p:spPr>
            <a:xfrm>
              <a:off x="4313039" y="1028288"/>
              <a:ext cx="1889521" cy="2997539"/>
            </a:xfrm>
            <a:prstGeom prst="rect">
              <a:avLst/>
            </a:prstGeom>
            <a:solidFill>
              <a:srgbClr val="E2E6C7">
                <a:alpha val="90196"/>
              </a:srgbClr>
            </a:solidFill>
            <a:ln cap="flat" cmpd="sng" w="19050">
              <a:solidFill>
                <a:srgbClr val="E2E6C7">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g3edf2b460e5_4_84"/>
            <p:cNvSpPr txBox="1"/>
            <p:nvPr/>
          </p:nvSpPr>
          <p:spPr>
            <a:xfrm>
              <a:off x="4313039" y="1028288"/>
              <a:ext cx="1889521" cy="2997539"/>
            </a:xfrm>
            <a:prstGeom prst="rect">
              <a:avLst/>
            </a:prstGeom>
            <a:noFill/>
            <a:ln>
              <a:noFill/>
            </a:ln>
          </p:spPr>
          <p:txBody>
            <a:bodyPr anchorCtr="0" anchor="t" bIns="112000" lIns="74675" spcFirstLastPara="1" rIns="99550" wrap="square" tIns="74675">
              <a:noAutofit/>
            </a:bodyPr>
            <a:lstStyle/>
            <a:p>
              <a:pPr indent="-114300" lvl="1" marL="114300" marR="0" rtl="0" algn="l">
                <a:lnSpc>
                  <a:spcPct val="9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Automates cost calculation process, allowing sales and engineering teams to respond to customer inquiries much faster</a:t>
              </a:r>
              <a:endParaRPr b="0" i="0" sz="1400" u="none" cap="none" strike="noStrike">
                <a:solidFill>
                  <a:schemeClr val="dk1"/>
                </a:solidFill>
                <a:latin typeface="Arial"/>
                <a:ea typeface="Arial"/>
                <a:cs typeface="Arial"/>
                <a:sym typeface="Arial"/>
              </a:endParaRPr>
            </a:p>
            <a:p>
              <a:pPr indent="-114300" lvl="1" marL="114300" marR="0" rtl="0" algn="l">
                <a:lnSpc>
                  <a:spcPct val="90000"/>
                </a:lnSpc>
                <a:spcBef>
                  <a:spcPts val="21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Reduces time spent on manual calculations and revisions</a:t>
              </a:r>
              <a:endParaRPr b="0" i="0" sz="1400" u="none" cap="none" strike="noStrike">
                <a:solidFill>
                  <a:schemeClr val="dk1"/>
                </a:solidFill>
                <a:latin typeface="Arial"/>
                <a:ea typeface="Arial"/>
                <a:cs typeface="Arial"/>
                <a:sym typeface="Arial"/>
              </a:endParaRPr>
            </a:p>
          </p:txBody>
        </p:sp>
        <p:sp>
          <p:nvSpPr>
            <p:cNvPr id="2312" name="Google Shape;2312;g3edf2b460e5_4_84"/>
            <p:cNvSpPr/>
            <p:nvPr/>
          </p:nvSpPr>
          <p:spPr>
            <a:xfrm>
              <a:off x="6467094" y="325509"/>
              <a:ext cx="1889521" cy="702779"/>
            </a:xfrm>
            <a:prstGeom prst="rect">
              <a:avLst/>
            </a:prstGeom>
            <a:solidFill>
              <a:srgbClr val="3E8B1C"/>
            </a:solidFill>
            <a:ln cap="flat" cmpd="sng" w="19050">
              <a:solidFill>
                <a:srgbClr val="3E8B1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g3edf2b460e5_4_84"/>
            <p:cNvSpPr txBox="1"/>
            <p:nvPr/>
          </p:nvSpPr>
          <p:spPr>
            <a:xfrm>
              <a:off x="6467094" y="325509"/>
              <a:ext cx="1889521" cy="702779"/>
            </a:xfrm>
            <a:prstGeom prst="rect">
              <a:avLst/>
            </a:prstGeom>
            <a:noFill/>
            <a:ln>
              <a:noFill/>
            </a:ln>
          </p:spPr>
          <p:txBody>
            <a:bodyPr anchorCtr="0" anchor="ctr" bIns="56875" lIns="99550" spcFirstLastPara="1" rIns="99550" wrap="square" tIns="56875">
              <a:noAutofit/>
            </a:bodyPr>
            <a:lstStyle/>
            <a:p>
              <a:pPr indent="0" lvl="0" marL="0" marR="0" rtl="0" algn="ctr">
                <a:lnSpc>
                  <a:spcPct val="90000"/>
                </a:lnSpc>
                <a:spcBef>
                  <a:spcPts val="0"/>
                </a:spcBef>
                <a:spcAft>
                  <a:spcPts val="0"/>
                </a:spcAft>
                <a:buClr>
                  <a:schemeClr val="lt1"/>
                </a:buClr>
                <a:buSzPts val="1400"/>
                <a:buFont typeface="Arial"/>
                <a:buNone/>
              </a:pPr>
              <a:r>
                <a:rPr b="1" lang="en" sz="1400">
                  <a:solidFill>
                    <a:schemeClr val="lt1"/>
                  </a:solidFill>
                  <a:latin typeface="Arial"/>
                  <a:ea typeface="Arial"/>
                  <a:cs typeface="Arial"/>
                  <a:sym typeface="Arial"/>
                </a:rPr>
                <a:t>Enhanced Pricing Strategy</a:t>
              </a:r>
              <a:endParaRPr sz="1400">
                <a:solidFill>
                  <a:schemeClr val="lt1"/>
                </a:solidFill>
                <a:latin typeface="Arial"/>
                <a:ea typeface="Arial"/>
                <a:cs typeface="Arial"/>
                <a:sym typeface="Arial"/>
              </a:endParaRPr>
            </a:p>
          </p:txBody>
        </p:sp>
        <p:sp>
          <p:nvSpPr>
            <p:cNvPr id="2314" name="Google Shape;2314;g3edf2b460e5_4_84"/>
            <p:cNvSpPr/>
            <p:nvPr/>
          </p:nvSpPr>
          <p:spPr>
            <a:xfrm>
              <a:off x="6467094" y="1028288"/>
              <a:ext cx="1889521" cy="2997539"/>
            </a:xfrm>
            <a:prstGeom prst="rect">
              <a:avLst/>
            </a:prstGeom>
            <a:solidFill>
              <a:srgbClr val="D1DCC8">
                <a:alpha val="90196"/>
              </a:srgbClr>
            </a:solidFill>
            <a:ln cap="flat" cmpd="sng" w="19050">
              <a:solidFill>
                <a:srgbClr val="D1DCC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g3edf2b460e5_4_84"/>
            <p:cNvSpPr txBox="1"/>
            <p:nvPr/>
          </p:nvSpPr>
          <p:spPr>
            <a:xfrm>
              <a:off x="6467094" y="1028288"/>
              <a:ext cx="1889521" cy="2997539"/>
            </a:xfrm>
            <a:prstGeom prst="rect">
              <a:avLst/>
            </a:prstGeom>
            <a:noFill/>
            <a:ln>
              <a:noFill/>
            </a:ln>
          </p:spPr>
          <p:txBody>
            <a:bodyPr anchorCtr="0" anchor="t" bIns="112000" lIns="74675" spcFirstLastPara="1" rIns="99550" wrap="square" tIns="74675">
              <a:noAutofit/>
            </a:bodyPr>
            <a:lstStyle/>
            <a:p>
              <a:pPr indent="-114300" lvl="1" marL="114300" marR="0" rtl="0" algn="l">
                <a:lnSpc>
                  <a:spcPct val="9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Identifies the true impact of key cost drivers such as total weight, diameter, and length</a:t>
              </a:r>
              <a:endParaRPr b="0" i="0" sz="1400" u="none" cap="none" strike="noStrike">
                <a:solidFill>
                  <a:schemeClr val="dk1"/>
                </a:solidFill>
                <a:latin typeface="Arial"/>
                <a:ea typeface="Arial"/>
                <a:cs typeface="Arial"/>
                <a:sym typeface="Arial"/>
              </a:endParaRPr>
            </a:p>
            <a:p>
              <a:pPr indent="-114300" lvl="1" marL="114300" marR="0" rtl="0" algn="l">
                <a:lnSpc>
                  <a:spcPct val="90000"/>
                </a:lnSpc>
                <a:spcBef>
                  <a:spcPts val="21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Supports more competitive and profitable pricing decisions</a:t>
              </a:r>
              <a:endParaRPr b="0" i="0" sz="1400" u="none" cap="none" strike="noStrike">
                <a:solidFill>
                  <a:schemeClr val="dk1"/>
                </a:solidFill>
                <a:latin typeface="Arial"/>
                <a:ea typeface="Arial"/>
                <a:cs typeface="Arial"/>
                <a:sym typeface="Arial"/>
              </a:endParaRPr>
            </a:p>
          </p:txBody>
        </p:sp>
        <p:sp>
          <p:nvSpPr>
            <p:cNvPr id="2316" name="Google Shape;2316;g3edf2b460e5_4_84"/>
            <p:cNvSpPr/>
            <p:nvPr/>
          </p:nvSpPr>
          <p:spPr>
            <a:xfrm>
              <a:off x="8621148" y="325509"/>
              <a:ext cx="1889521" cy="702779"/>
            </a:xfrm>
            <a:prstGeom prst="rect">
              <a:avLst/>
            </a:prstGeom>
            <a:solidFill>
              <a:srgbClr val="196823"/>
            </a:solidFill>
            <a:ln cap="flat" cmpd="sng" w="19050">
              <a:solidFill>
                <a:srgbClr val="196823"/>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g3edf2b460e5_4_84"/>
            <p:cNvSpPr txBox="1"/>
            <p:nvPr/>
          </p:nvSpPr>
          <p:spPr>
            <a:xfrm>
              <a:off x="8621148" y="325509"/>
              <a:ext cx="1889521" cy="702779"/>
            </a:xfrm>
            <a:prstGeom prst="rect">
              <a:avLst/>
            </a:prstGeom>
            <a:noFill/>
            <a:ln>
              <a:noFill/>
            </a:ln>
          </p:spPr>
          <p:txBody>
            <a:bodyPr anchorCtr="0" anchor="ctr" bIns="56875" lIns="99550" spcFirstLastPara="1" rIns="99550" wrap="square" tIns="56875">
              <a:noAutofit/>
            </a:bodyPr>
            <a:lstStyle/>
            <a:p>
              <a:pPr indent="0" lvl="0" marL="0" marR="0" rtl="0" algn="ctr">
                <a:lnSpc>
                  <a:spcPct val="90000"/>
                </a:lnSpc>
                <a:spcBef>
                  <a:spcPts val="0"/>
                </a:spcBef>
                <a:spcAft>
                  <a:spcPts val="0"/>
                </a:spcAft>
                <a:buClr>
                  <a:schemeClr val="lt1"/>
                </a:buClr>
                <a:buSzPts val="1400"/>
                <a:buFont typeface="Arial"/>
                <a:buNone/>
              </a:pPr>
              <a:r>
                <a:rPr b="1" lang="en" sz="1400">
                  <a:solidFill>
                    <a:schemeClr val="lt1"/>
                  </a:solidFill>
                  <a:latin typeface="Arial"/>
                  <a:ea typeface="Arial"/>
                  <a:cs typeface="Arial"/>
                  <a:sym typeface="Arial"/>
                </a:rPr>
                <a:t>Actionable Design Insights</a:t>
              </a:r>
              <a:endParaRPr sz="1400">
                <a:solidFill>
                  <a:schemeClr val="lt1"/>
                </a:solidFill>
                <a:latin typeface="Arial"/>
                <a:ea typeface="Arial"/>
                <a:cs typeface="Arial"/>
                <a:sym typeface="Arial"/>
              </a:endParaRPr>
            </a:p>
          </p:txBody>
        </p:sp>
        <p:sp>
          <p:nvSpPr>
            <p:cNvPr id="2318" name="Google Shape;2318;g3edf2b460e5_4_84"/>
            <p:cNvSpPr/>
            <p:nvPr/>
          </p:nvSpPr>
          <p:spPr>
            <a:xfrm>
              <a:off x="8621148" y="1028288"/>
              <a:ext cx="1889521" cy="2997539"/>
            </a:xfrm>
            <a:prstGeom prst="rect">
              <a:avLst/>
            </a:prstGeom>
            <a:solidFill>
              <a:srgbClr val="C9D2CA">
                <a:alpha val="90196"/>
              </a:srgbClr>
            </a:solidFill>
            <a:ln cap="flat" cmpd="sng" w="19050">
              <a:solidFill>
                <a:srgbClr val="C9D2CA">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g3edf2b460e5_4_84"/>
            <p:cNvSpPr txBox="1"/>
            <p:nvPr/>
          </p:nvSpPr>
          <p:spPr>
            <a:xfrm>
              <a:off x="8621148" y="1028288"/>
              <a:ext cx="1889521" cy="2997539"/>
            </a:xfrm>
            <a:prstGeom prst="rect">
              <a:avLst/>
            </a:prstGeom>
            <a:noFill/>
            <a:ln>
              <a:noFill/>
            </a:ln>
          </p:spPr>
          <p:txBody>
            <a:bodyPr anchorCtr="0" anchor="t" bIns="112000" lIns="74675" spcFirstLastPara="1" rIns="99550" wrap="square" tIns="74675">
              <a:noAutofit/>
            </a:bodyPr>
            <a:lstStyle/>
            <a:p>
              <a:pPr indent="-114300" lvl="1" marL="114300" marR="0" rtl="0" algn="l">
                <a:lnSpc>
                  <a:spcPct val="9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SHAP analysis reveals which design parameters have the strongest influence on final cost</a:t>
              </a:r>
              <a:endParaRPr b="0" i="0" sz="1400" u="none" cap="none" strike="noStrike">
                <a:solidFill>
                  <a:schemeClr val="dk1"/>
                </a:solidFill>
                <a:latin typeface="Arial"/>
                <a:ea typeface="Arial"/>
                <a:cs typeface="Arial"/>
                <a:sym typeface="Arial"/>
              </a:endParaRPr>
            </a:p>
            <a:p>
              <a:pPr indent="-114300" lvl="1" marL="114300" marR="0" rtl="0" algn="l">
                <a:lnSpc>
                  <a:spcPct val="90000"/>
                </a:lnSpc>
                <a:spcBef>
                  <a:spcPts val="21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Enables engineering teams to optimize product designs for cost efficiency</a:t>
              </a:r>
              <a:endParaRPr b="0" i="0" sz="1400" u="none" cap="none" strike="noStrike">
                <a:solidFill>
                  <a:schemeClr val="dk1"/>
                </a:solidFill>
                <a:latin typeface="Arial"/>
                <a:ea typeface="Arial"/>
                <a:cs typeface="Arial"/>
                <a:sym typeface="Arial"/>
              </a:endParaRPr>
            </a:p>
          </p:txBody>
        </p:sp>
      </p:grpSp>
      <p:sp>
        <p:nvSpPr>
          <p:cNvPr id="2320" name="Google Shape;2320;g3edf2b460e5_4_84"/>
          <p:cNvSpPr txBox="1"/>
          <p:nvPr/>
        </p:nvSpPr>
        <p:spPr>
          <a:xfrm>
            <a:off x="9261131" y="63850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24" name="Shape 2324"/>
        <p:cNvGrpSpPr/>
        <p:nvPr/>
      </p:nvGrpSpPr>
      <p:grpSpPr>
        <a:xfrm>
          <a:off x="0" y="0"/>
          <a:ext cx="0" cy="0"/>
          <a:chOff x="0" y="0"/>
          <a:chExt cx="0" cy="0"/>
        </a:xfrm>
      </p:grpSpPr>
      <p:sp>
        <p:nvSpPr>
          <p:cNvPr id="2325" name="Google Shape;2325;g3edf2b460e5_4_11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326" name="Google Shape;2326;g3edf2b460e5_4_112"/>
          <p:cNvGrpSpPr/>
          <p:nvPr/>
        </p:nvGrpSpPr>
        <p:grpSpPr>
          <a:xfrm>
            <a:off x="0" y="0"/>
            <a:ext cx="12192000" cy="6858000"/>
            <a:chOff x="0" y="0"/>
            <a:chExt cx="12192000" cy="6858000"/>
          </a:xfrm>
        </p:grpSpPr>
        <p:sp>
          <p:nvSpPr>
            <p:cNvPr id="2327" name="Google Shape;2327;g3edf2b460e5_4_112"/>
            <p:cNvSpPr/>
            <p:nvPr/>
          </p:nvSpPr>
          <p:spPr>
            <a:xfrm>
              <a:off x="0" y="0"/>
              <a:ext cx="12192000" cy="68580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28" name="Google Shape;2328;g3edf2b460e5_4_112"/>
            <p:cNvSpPr/>
            <p:nvPr/>
          </p:nvSpPr>
          <p:spPr>
            <a:xfrm>
              <a:off x="0" y="0"/>
              <a:ext cx="12192000" cy="6858000"/>
            </a:xfrm>
            <a:prstGeom prst="rect">
              <a:avLst/>
            </a:prstGeom>
            <a:solidFill>
              <a:srgbClr val="0B769F">
                <a:alpha val="7058"/>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2329" name="Google Shape;2329;g3edf2b460e5_4_112"/>
          <p:cNvSpPr txBox="1"/>
          <p:nvPr>
            <p:ph type="title"/>
          </p:nvPr>
        </p:nvSpPr>
        <p:spPr>
          <a:xfrm>
            <a:off x="550863" y="365125"/>
            <a:ext cx="11090274" cy="1325563"/>
          </a:xfrm>
          <a:prstGeom prst="rect">
            <a:avLst/>
          </a:prstGeom>
          <a:noFill/>
          <a:ln>
            <a:noFill/>
          </a:ln>
        </p:spPr>
        <p:txBody>
          <a:bodyPr anchorCtr="0" anchor="ctr" bIns="45700" lIns="91425" spcFirstLastPara="1" rIns="91425" wrap="square" tIns="45700">
            <a:normAutofit/>
          </a:bodyPr>
          <a:lstStyle/>
          <a:p>
            <a:pPr indent="-285750" lvl="1" marL="742950" rtl="0" algn="l">
              <a:lnSpc>
                <a:spcPct val="90000"/>
              </a:lnSpc>
              <a:spcBef>
                <a:spcPts val="0"/>
              </a:spcBef>
              <a:spcAft>
                <a:spcPts val="0"/>
              </a:spcAft>
              <a:buNone/>
            </a:pPr>
            <a:r>
              <a:rPr b="1" lang="en" sz="2200">
                <a:solidFill>
                  <a:schemeClr val="dk1"/>
                </a:solidFill>
                <a:latin typeface="Play"/>
                <a:ea typeface="Play"/>
                <a:cs typeface="Play"/>
                <a:sym typeface="Play"/>
              </a:rPr>
              <a:t>Implementation and Operating Costs</a:t>
            </a:r>
            <a:br>
              <a:rPr b="1" lang="en" sz="2200">
                <a:solidFill>
                  <a:schemeClr val="dk1"/>
                </a:solidFill>
                <a:latin typeface="Play"/>
                <a:ea typeface="Play"/>
                <a:cs typeface="Play"/>
                <a:sym typeface="Play"/>
              </a:rPr>
            </a:br>
            <a:br>
              <a:rPr lang="en" sz="2200">
                <a:solidFill>
                  <a:schemeClr val="dk1"/>
                </a:solidFill>
                <a:latin typeface="Play"/>
                <a:ea typeface="Play"/>
                <a:cs typeface="Play"/>
                <a:sym typeface="Play"/>
              </a:rPr>
            </a:br>
            <a:endParaRPr sz="2200">
              <a:solidFill>
                <a:schemeClr val="dk1"/>
              </a:solidFill>
              <a:latin typeface="Play"/>
              <a:ea typeface="Play"/>
              <a:cs typeface="Play"/>
              <a:sym typeface="Play"/>
            </a:endParaRPr>
          </a:p>
        </p:txBody>
      </p:sp>
      <p:sp>
        <p:nvSpPr>
          <p:cNvPr id="2330" name="Google Shape;2330;g3edf2b460e5_4_112"/>
          <p:cNvSpPr txBox="1"/>
          <p:nvPr>
            <p:ph idx="12" type="sldNum"/>
          </p:nvPr>
        </p:nvSpPr>
        <p:spPr>
          <a:xfrm rot="5400000">
            <a:off x="9033635" y="3148837"/>
            <a:ext cx="5768976" cy="550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en" sz="1000">
                <a:solidFill>
                  <a:srgbClr val="888888"/>
                </a:solidFill>
              </a:rPr>
              <a:t>‹#›</a:t>
            </a:fld>
            <a:endParaRPr sz="1000">
              <a:solidFill>
                <a:srgbClr val="888888"/>
              </a:solidFill>
            </a:endParaRPr>
          </a:p>
        </p:txBody>
      </p:sp>
      <p:grpSp>
        <p:nvGrpSpPr>
          <p:cNvPr id="2331" name="Google Shape;2331;g3edf2b460e5_4_112"/>
          <p:cNvGrpSpPr/>
          <p:nvPr/>
        </p:nvGrpSpPr>
        <p:grpSpPr>
          <a:xfrm>
            <a:off x="551608" y="2697767"/>
            <a:ext cx="11085608" cy="3029329"/>
            <a:chOff x="3920" y="564167"/>
            <a:chExt cx="11085608" cy="3029329"/>
          </a:xfrm>
        </p:grpSpPr>
        <p:sp>
          <p:nvSpPr>
            <p:cNvPr id="2332" name="Google Shape;2332;g3edf2b460e5_4_112"/>
            <p:cNvSpPr/>
            <p:nvPr/>
          </p:nvSpPr>
          <p:spPr>
            <a:xfrm>
              <a:off x="635994" y="564167"/>
              <a:ext cx="680695" cy="68069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g3edf2b460e5_4_112"/>
            <p:cNvSpPr/>
            <p:nvPr/>
          </p:nvSpPr>
          <p:spPr>
            <a:xfrm>
              <a:off x="3920" y="1375123"/>
              <a:ext cx="1944843" cy="60168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g3edf2b460e5_4_112"/>
            <p:cNvSpPr txBox="1"/>
            <p:nvPr/>
          </p:nvSpPr>
          <p:spPr>
            <a:xfrm>
              <a:off x="3920" y="1375123"/>
              <a:ext cx="1944843" cy="601686"/>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400"/>
                <a:buFont typeface="Arial"/>
                <a:buNone/>
              </a:pPr>
              <a:r>
                <a:rPr b="1" lang="en" sz="1400">
                  <a:solidFill>
                    <a:schemeClr val="dk1"/>
                  </a:solidFill>
                  <a:latin typeface="Arial"/>
                  <a:ea typeface="Arial"/>
                  <a:cs typeface="Arial"/>
                  <a:sym typeface="Arial"/>
                </a:rPr>
                <a:t>Includes model development, testing, and validation activities</a:t>
              </a:r>
              <a:endParaRPr sz="1400">
                <a:solidFill>
                  <a:schemeClr val="dk1"/>
                </a:solidFill>
                <a:latin typeface="Arial"/>
                <a:ea typeface="Arial"/>
                <a:cs typeface="Arial"/>
                <a:sym typeface="Arial"/>
              </a:endParaRPr>
            </a:p>
          </p:txBody>
        </p:sp>
        <p:sp>
          <p:nvSpPr>
            <p:cNvPr id="2335" name="Google Shape;2335;g3edf2b460e5_4_112"/>
            <p:cNvSpPr/>
            <p:nvPr/>
          </p:nvSpPr>
          <p:spPr>
            <a:xfrm>
              <a:off x="3920" y="2037396"/>
              <a:ext cx="1944843" cy="15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g3edf2b460e5_4_112"/>
            <p:cNvSpPr/>
            <p:nvPr/>
          </p:nvSpPr>
          <p:spPr>
            <a:xfrm>
              <a:off x="2921185" y="564167"/>
              <a:ext cx="680695" cy="68069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g3edf2b460e5_4_112"/>
            <p:cNvSpPr/>
            <p:nvPr/>
          </p:nvSpPr>
          <p:spPr>
            <a:xfrm>
              <a:off x="2289111" y="1375123"/>
              <a:ext cx="1944843" cy="60168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g3edf2b460e5_4_112"/>
            <p:cNvSpPr txBox="1"/>
            <p:nvPr/>
          </p:nvSpPr>
          <p:spPr>
            <a:xfrm>
              <a:off x="2289111" y="1375123"/>
              <a:ext cx="1944843" cy="601686"/>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400"/>
                <a:buFont typeface="Arial"/>
                <a:buNone/>
              </a:pPr>
              <a:r>
                <a:rPr b="1" lang="en" sz="1400">
                  <a:solidFill>
                    <a:schemeClr val="dk1"/>
                  </a:solidFill>
                  <a:latin typeface="Arial"/>
                  <a:ea typeface="Arial"/>
                  <a:cs typeface="Arial"/>
                  <a:sym typeface="Arial"/>
                </a:rPr>
                <a:t> integration with existing quoting and ERP systems</a:t>
              </a:r>
              <a:endParaRPr sz="1400">
                <a:solidFill>
                  <a:schemeClr val="dk1"/>
                </a:solidFill>
                <a:latin typeface="Arial"/>
                <a:ea typeface="Arial"/>
                <a:cs typeface="Arial"/>
                <a:sym typeface="Arial"/>
              </a:endParaRPr>
            </a:p>
          </p:txBody>
        </p:sp>
        <p:sp>
          <p:nvSpPr>
            <p:cNvPr id="2339" name="Google Shape;2339;g3edf2b460e5_4_112"/>
            <p:cNvSpPr/>
            <p:nvPr/>
          </p:nvSpPr>
          <p:spPr>
            <a:xfrm>
              <a:off x="2289111" y="2037396"/>
              <a:ext cx="1944843" cy="15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g3edf2b460e5_4_112"/>
            <p:cNvSpPr/>
            <p:nvPr/>
          </p:nvSpPr>
          <p:spPr>
            <a:xfrm>
              <a:off x="5206377" y="564167"/>
              <a:ext cx="680695" cy="680695"/>
            </a:xfrm>
            <a:prstGeom prst="rect">
              <a:avLst/>
            </a:prstGeom>
            <a:solidFill>
              <a:srgbClr val="0F9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g3edf2b460e5_4_112"/>
            <p:cNvSpPr/>
            <p:nvPr/>
          </p:nvSpPr>
          <p:spPr>
            <a:xfrm>
              <a:off x="4574303" y="1375123"/>
              <a:ext cx="1944843" cy="60168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g3edf2b460e5_4_112"/>
            <p:cNvSpPr txBox="1"/>
            <p:nvPr/>
          </p:nvSpPr>
          <p:spPr>
            <a:xfrm>
              <a:off x="4574303" y="1375123"/>
              <a:ext cx="1944843" cy="601686"/>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400"/>
                <a:buFont typeface="Arial"/>
                <a:buNone/>
              </a:pPr>
              <a:r>
                <a:rPr b="1" lang="en" sz="1400">
                  <a:solidFill>
                    <a:schemeClr val="dk1"/>
                  </a:solidFill>
                  <a:latin typeface="Arial"/>
                  <a:ea typeface="Arial"/>
                  <a:cs typeface="Arial"/>
                  <a:sym typeface="Arial"/>
                </a:rPr>
                <a:t>Requires investment in team training and change management</a:t>
              </a:r>
              <a:endParaRPr sz="1400">
                <a:solidFill>
                  <a:schemeClr val="dk1"/>
                </a:solidFill>
                <a:latin typeface="Arial"/>
                <a:ea typeface="Arial"/>
                <a:cs typeface="Arial"/>
                <a:sym typeface="Arial"/>
              </a:endParaRPr>
            </a:p>
          </p:txBody>
        </p:sp>
        <p:sp>
          <p:nvSpPr>
            <p:cNvPr id="2343" name="Google Shape;2343;g3edf2b460e5_4_112"/>
            <p:cNvSpPr/>
            <p:nvPr/>
          </p:nvSpPr>
          <p:spPr>
            <a:xfrm>
              <a:off x="4574303" y="2037396"/>
              <a:ext cx="1944843" cy="15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g3edf2b460e5_4_112"/>
            <p:cNvSpPr/>
            <p:nvPr/>
          </p:nvSpPr>
          <p:spPr>
            <a:xfrm>
              <a:off x="7491568" y="564167"/>
              <a:ext cx="680695" cy="680695"/>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g3edf2b460e5_4_112"/>
            <p:cNvSpPr/>
            <p:nvPr/>
          </p:nvSpPr>
          <p:spPr>
            <a:xfrm>
              <a:off x="6859494" y="1375123"/>
              <a:ext cx="1944843" cy="60168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g3edf2b460e5_4_112"/>
            <p:cNvSpPr txBox="1"/>
            <p:nvPr/>
          </p:nvSpPr>
          <p:spPr>
            <a:xfrm>
              <a:off x="6859494" y="1375123"/>
              <a:ext cx="1944843" cy="601686"/>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400"/>
                <a:buFont typeface="Arial"/>
                <a:buNone/>
              </a:pPr>
              <a:r>
                <a:rPr b="1" lang="en" sz="1400">
                  <a:solidFill>
                    <a:schemeClr val="dk1"/>
                  </a:solidFill>
                  <a:latin typeface="Arial"/>
                  <a:ea typeface="Arial"/>
                  <a:cs typeface="Arial"/>
                  <a:sym typeface="Arial"/>
                </a:rPr>
                <a:t>Operating Costs</a:t>
              </a:r>
              <a:endParaRPr sz="1400">
                <a:solidFill>
                  <a:schemeClr val="dk1"/>
                </a:solidFill>
                <a:latin typeface="Arial"/>
                <a:ea typeface="Arial"/>
                <a:cs typeface="Arial"/>
                <a:sym typeface="Arial"/>
              </a:endParaRPr>
            </a:p>
          </p:txBody>
        </p:sp>
        <p:sp>
          <p:nvSpPr>
            <p:cNvPr id="2347" name="Google Shape;2347;g3edf2b460e5_4_112"/>
            <p:cNvSpPr/>
            <p:nvPr/>
          </p:nvSpPr>
          <p:spPr>
            <a:xfrm>
              <a:off x="6859494" y="2037396"/>
              <a:ext cx="1944843" cy="15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g3edf2b460e5_4_112"/>
            <p:cNvSpPr txBox="1"/>
            <p:nvPr/>
          </p:nvSpPr>
          <p:spPr>
            <a:xfrm>
              <a:off x="6859494" y="2037396"/>
              <a:ext cx="1944843" cy="1556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100"/>
                <a:buFont typeface="Arial"/>
                <a:buNone/>
              </a:pPr>
              <a:r>
                <a:rPr lang="en" sz="1100">
                  <a:solidFill>
                    <a:schemeClr val="dk1"/>
                  </a:solidFill>
                  <a:latin typeface="Arial"/>
                  <a:ea typeface="Arial"/>
                  <a:cs typeface="Arial"/>
                  <a:sym typeface="Arial"/>
                </a:rPr>
                <a:t>Ongoing cloud hosting and computational resources for model inference</a:t>
              </a:r>
              <a:endParaRPr sz="1100">
                <a:solidFill>
                  <a:schemeClr val="dk1"/>
                </a:solidFill>
                <a:latin typeface="Arial"/>
                <a:ea typeface="Arial"/>
                <a:cs typeface="Arial"/>
                <a:sym typeface="Arial"/>
              </a:endParaRPr>
            </a:p>
            <a:p>
              <a:pPr indent="0" lvl="0" marL="0" marR="0" rtl="0" algn="ctr">
                <a:lnSpc>
                  <a:spcPct val="90000"/>
                </a:lnSpc>
                <a:spcBef>
                  <a:spcPts val="385"/>
                </a:spcBef>
                <a:spcAft>
                  <a:spcPts val="0"/>
                </a:spcAft>
                <a:buClr>
                  <a:schemeClr val="dk1"/>
                </a:buClr>
                <a:buSzPts val="1100"/>
                <a:buFont typeface="Arial"/>
                <a:buNone/>
              </a:pPr>
              <a:r>
                <a:rPr lang="en" sz="1100">
                  <a:solidFill>
                    <a:schemeClr val="dk1"/>
                  </a:solidFill>
                  <a:latin typeface="Arial"/>
                  <a:ea typeface="Arial"/>
                  <a:cs typeface="Arial"/>
                  <a:sym typeface="Arial"/>
                </a:rPr>
                <a:t>Regular monitoring, maintenance, and periodic retraining of the model</a:t>
              </a:r>
              <a:endParaRPr sz="1100">
                <a:solidFill>
                  <a:schemeClr val="dk1"/>
                </a:solidFill>
                <a:latin typeface="Arial"/>
                <a:ea typeface="Arial"/>
                <a:cs typeface="Arial"/>
                <a:sym typeface="Arial"/>
              </a:endParaRPr>
            </a:p>
            <a:p>
              <a:pPr indent="0" lvl="0" marL="0" marR="0" rtl="0" algn="ctr">
                <a:lnSpc>
                  <a:spcPct val="90000"/>
                </a:lnSpc>
                <a:spcBef>
                  <a:spcPts val="385"/>
                </a:spcBef>
                <a:spcAft>
                  <a:spcPts val="0"/>
                </a:spcAft>
                <a:buClr>
                  <a:schemeClr val="dk1"/>
                </a:buClr>
                <a:buSzPts val="1100"/>
                <a:buFont typeface="Arial"/>
                <a:buNone/>
              </a:pPr>
              <a:r>
                <a:rPr lang="en" sz="1100">
                  <a:solidFill>
                    <a:schemeClr val="dk1"/>
                  </a:solidFill>
                  <a:latin typeface="Arial"/>
                  <a:ea typeface="Arial"/>
                  <a:cs typeface="Arial"/>
                  <a:sym typeface="Arial"/>
                </a:rPr>
                <a:t>Resources needed for performance tracking and updates</a:t>
              </a:r>
              <a:endParaRPr sz="1100">
                <a:solidFill>
                  <a:schemeClr val="dk1"/>
                </a:solidFill>
                <a:latin typeface="Arial"/>
                <a:ea typeface="Arial"/>
                <a:cs typeface="Arial"/>
                <a:sym typeface="Arial"/>
              </a:endParaRPr>
            </a:p>
          </p:txBody>
        </p:sp>
        <p:sp>
          <p:nvSpPr>
            <p:cNvPr id="2349" name="Google Shape;2349;g3edf2b460e5_4_112"/>
            <p:cNvSpPr/>
            <p:nvPr/>
          </p:nvSpPr>
          <p:spPr>
            <a:xfrm>
              <a:off x="9776760" y="564167"/>
              <a:ext cx="680695" cy="680695"/>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g3edf2b460e5_4_112"/>
            <p:cNvSpPr/>
            <p:nvPr/>
          </p:nvSpPr>
          <p:spPr>
            <a:xfrm>
              <a:off x="9144685" y="1375123"/>
              <a:ext cx="1944843" cy="60168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g3edf2b460e5_4_112"/>
            <p:cNvSpPr txBox="1"/>
            <p:nvPr/>
          </p:nvSpPr>
          <p:spPr>
            <a:xfrm>
              <a:off x="9144685" y="1375123"/>
              <a:ext cx="1944843" cy="601686"/>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400"/>
                <a:buFont typeface="Arial"/>
                <a:buNone/>
              </a:pPr>
              <a:r>
                <a:rPr b="1" lang="en" sz="1400">
                  <a:solidFill>
                    <a:schemeClr val="dk1"/>
                  </a:solidFill>
                  <a:latin typeface="Arial"/>
                  <a:ea typeface="Arial"/>
                  <a:cs typeface="Arial"/>
                  <a:sym typeface="Arial"/>
                </a:rPr>
                <a:t>Cost Management Approach</a:t>
              </a:r>
              <a:endParaRPr sz="1400">
                <a:solidFill>
                  <a:schemeClr val="dk1"/>
                </a:solidFill>
                <a:latin typeface="Arial"/>
                <a:ea typeface="Arial"/>
                <a:cs typeface="Arial"/>
                <a:sym typeface="Arial"/>
              </a:endParaRPr>
            </a:p>
          </p:txBody>
        </p:sp>
        <p:sp>
          <p:nvSpPr>
            <p:cNvPr id="2352" name="Google Shape;2352;g3edf2b460e5_4_112"/>
            <p:cNvSpPr/>
            <p:nvPr/>
          </p:nvSpPr>
          <p:spPr>
            <a:xfrm>
              <a:off x="9144685" y="2037396"/>
              <a:ext cx="1944843" cy="15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g3edf2b460e5_4_112"/>
            <p:cNvSpPr txBox="1"/>
            <p:nvPr/>
          </p:nvSpPr>
          <p:spPr>
            <a:xfrm>
              <a:off x="9144685" y="2037396"/>
              <a:ext cx="1944843" cy="1556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100"/>
                <a:buFont typeface="Arial"/>
                <a:buNone/>
              </a:pPr>
              <a:r>
                <a:rPr lang="en" sz="1100">
                  <a:solidFill>
                    <a:schemeClr val="dk1"/>
                  </a:solidFill>
                  <a:latin typeface="Arial"/>
                  <a:ea typeface="Arial"/>
                  <a:cs typeface="Arial"/>
                  <a:sym typeface="Arial"/>
                </a:rPr>
                <a:t>Phased implementation to control spending</a:t>
              </a:r>
              <a:endParaRPr sz="1100">
                <a:solidFill>
                  <a:schemeClr val="dk1"/>
                </a:solidFill>
                <a:latin typeface="Arial"/>
                <a:ea typeface="Arial"/>
                <a:cs typeface="Arial"/>
                <a:sym typeface="Arial"/>
              </a:endParaRPr>
            </a:p>
            <a:p>
              <a:pPr indent="0" lvl="0" marL="0" marR="0" rtl="0" algn="ctr">
                <a:lnSpc>
                  <a:spcPct val="90000"/>
                </a:lnSpc>
                <a:spcBef>
                  <a:spcPts val="385"/>
                </a:spcBef>
                <a:spcAft>
                  <a:spcPts val="0"/>
                </a:spcAft>
                <a:buClr>
                  <a:schemeClr val="dk1"/>
                </a:buClr>
                <a:buSzPts val="1100"/>
                <a:buFont typeface="Arial"/>
                <a:buNone/>
              </a:pPr>
              <a:r>
                <a:rPr lang="en" sz="1100">
                  <a:solidFill>
                    <a:schemeClr val="dk1"/>
                  </a:solidFill>
                  <a:latin typeface="Arial"/>
                  <a:ea typeface="Arial"/>
                  <a:cs typeface="Arial"/>
                  <a:sym typeface="Arial"/>
                </a:rPr>
                <a:t>Scalable infrastructure that grows with usage</a:t>
              </a:r>
              <a:endParaRPr sz="1100">
                <a:solidFill>
                  <a:schemeClr val="dk1"/>
                </a:solidFill>
                <a:latin typeface="Arial"/>
                <a:ea typeface="Arial"/>
                <a:cs typeface="Arial"/>
                <a:sym typeface="Arial"/>
              </a:endParaRPr>
            </a:p>
            <a:p>
              <a:pPr indent="0" lvl="0" marL="0" marR="0" rtl="0" algn="ctr">
                <a:lnSpc>
                  <a:spcPct val="90000"/>
                </a:lnSpc>
                <a:spcBef>
                  <a:spcPts val="385"/>
                </a:spcBef>
                <a:spcAft>
                  <a:spcPts val="0"/>
                </a:spcAft>
                <a:buClr>
                  <a:schemeClr val="dk1"/>
                </a:buClr>
                <a:buSzPts val="1100"/>
                <a:buFont typeface="Arial"/>
                <a:buNone/>
              </a:pPr>
              <a:r>
                <a:rPr lang="en" sz="1100">
                  <a:solidFill>
                    <a:schemeClr val="dk1"/>
                  </a:solidFill>
                  <a:latin typeface="Arial"/>
                  <a:ea typeface="Arial"/>
                  <a:cs typeface="Arial"/>
                  <a:sym typeface="Arial"/>
                </a:rPr>
                <a:t>Focus on automation to minimize long-term manual effort</a:t>
              </a:r>
              <a:endParaRPr sz="1100">
                <a:solidFill>
                  <a:schemeClr val="dk1"/>
                </a:solidFill>
                <a:latin typeface="Arial"/>
                <a:ea typeface="Arial"/>
                <a:cs typeface="Arial"/>
                <a:sym typeface="Arial"/>
              </a:endParaRPr>
            </a:p>
          </p:txBody>
        </p:sp>
      </p:grpSp>
      <p:sp>
        <p:nvSpPr>
          <p:cNvPr id="2354" name="Google Shape;2354;g3edf2b460e5_4_112"/>
          <p:cNvSpPr/>
          <p:nvPr/>
        </p:nvSpPr>
        <p:spPr>
          <a:xfrm>
            <a:off x="3329481" y="2680317"/>
            <a:ext cx="680700" cy="680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g3edf2b460e5_4_112"/>
          <p:cNvSpPr/>
          <p:nvPr/>
        </p:nvSpPr>
        <p:spPr>
          <a:xfrm>
            <a:off x="1177123" y="2680317"/>
            <a:ext cx="680700" cy="680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g3edf2b460e5_4_11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a:t>‹#›</a:t>
            </a:fld>
            <a:endParaRPr/>
          </a:p>
        </p:txBody>
      </p:sp>
      <p:sp>
        <p:nvSpPr>
          <p:cNvPr id="2357" name="Google Shape;2357;g3edf2b460e5_4_112"/>
          <p:cNvSpPr txBox="1"/>
          <p:nvPr/>
        </p:nvSpPr>
        <p:spPr>
          <a:xfrm>
            <a:off x="9261131" y="63850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61" name="Shape 2361"/>
        <p:cNvGrpSpPr/>
        <p:nvPr/>
      </p:nvGrpSpPr>
      <p:grpSpPr>
        <a:xfrm>
          <a:off x="0" y="0"/>
          <a:ext cx="0" cy="0"/>
          <a:chOff x="0" y="0"/>
          <a:chExt cx="0" cy="0"/>
        </a:xfrm>
      </p:grpSpPr>
      <p:sp>
        <p:nvSpPr>
          <p:cNvPr id="2362" name="Google Shape;2362;g3edf2b460e5_4_14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363" name="Google Shape;2363;g3edf2b460e5_4_144"/>
          <p:cNvGrpSpPr/>
          <p:nvPr/>
        </p:nvGrpSpPr>
        <p:grpSpPr>
          <a:xfrm>
            <a:off x="0" y="0"/>
            <a:ext cx="12192000" cy="6858000"/>
            <a:chOff x="0" y="0"/>
            <a:chExt cx="12192000" cy="6858000"/>
          </a:xfrm>
        </p:grpSpPr>
        <p:sp>
          <p:nvSpPr>
            <p:cNvPr id="2364" name="Google Shape;2364;g3edf2b460e5_4_144"/>
            <p:cNvSpPr/>
            <p:nvPr/>
          </p:nvSpPr>
          <p:spPr>
            <a:xfrm>
              <a:off x="0" y="0"/>
              <a:ext cx="12192000" cy="68580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65" name="Google Shape;2365;g3edf2b460e5_4_144"/>
            <p:cNvSpPr/>
            <p:nvPr/>
          </p:nvSpPr>
          <p:spPr>
            <a:xfrm>
              <a:off x="0" y="0"/>
              <a:ext cx="12192000" cy="6858000"/>
            </a:xfrm>
            <a:prstGeom prst="rect">
              <a:avLst/>
            </a:prstGeom>
            <a:solidFill>
              <a:srgbClr val="0B769F">
                <a:alpha val="7058"/>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2366" name="Google Shape;2366;g3edf2b460e5_4_144"/>
          <p:cNvSpPr txBox="1"/>
          <p:nvPr>
            <p:ph type="title"/>
          </p:nvPr>
        </p:nvSpPr>
        <p:spPr>
          <a:xfrm>
            <a:off x="550863" y="365125"/>
            <a:ext cx="1109027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Play"/>
              <a:buNone/>
            </a:pPr>
            <a:br>
              <a:rPr b="1" lang="en" sz="2800">
                <a:solidFill>
                  <a:schemeClr val="dk1"/>
                </a:solidFill>
                <a:latin typeface="Play"/>
                <a:ea typeface="Play"/>
                <a:cs typeface="Play"/>
                <a:sym typeface="Play"/>
              </a:rPr>
            </a:br>
            <a:r>
              <a:rPr b="1" lang="en" sz="2800">
                <a:solidFill>
                  <a:schemeClr val="dk1"/>
                </a:solidFill>
                <a:latin typeface="Play"/>
                <a:ea typeface="Play"/>
                <a:cs typeface="Play"/>
                <a:sym typeface="Play"/>
              </a:rPr>
              <a:t>Translating Model Performance into Business Outcomes</a:t>
            </a:r>
            <a:br>
              <a:rPr lang="en" sz="2800">
                <a:solidFill>
                  <a:schemeClr val="dk1"/>
                </a:solidFill>
                <a:latin typeface="Play"/>
                <a:ea typeface="Play"/>
                <a:cs typeface="Play"/>
                <a:sym typeface="Play"/>
              </a:rPr>
            </a:br>
            <a:endParaRPr sz="2800">
              <a:solidFill>
                <a:schemeClr val="dk1"/>
              </a:solidFill>
              <a:latin typeface="Play"/>
              <a:ea typeface="Play"/>
              <a:cs typeface="Play"/>
              <a:sym typeface="Play"/>
            </a:endParaRPr>
          </a:p>
        </p:txBody>
      </p:sp>
      <p:sp>
        <p:nvSpPr>
          <p:cNvPr id="2367" name="Google Shape;2367;g3edf2b460e5_4_144"/>
          <p:cNvSpPr txBox="1"/>
          <p:nvPr>
            <p:ph idx="12" type="sldNum"/>
          </p:nvPr>
        </p:nvSpPr>
        <p:spPr>
          <a:xfrm rot="5400000">
            <a:off x="9033635" y="3148837"/>
            <a:ext cx="5768976" cy="550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en" sz="1000">
                <a:solidFill>
                  <a:srgbClr val="888888"/>
                </a:solidFill>
              </a:rPr>
              <a:t>‹#›</a:t>
            </a:fld>
            <a:endParaRPr sz="1000">
              <a:solidFill>
                <a:srgbClr val="888888"/>
              </a:solidFill>
            </a:endParaRPr>
          </a:p>
        </p:txBody>
      </p:sp>
      <p:grpSp>
        <p:nvGrpSpPr>
          <p:cNvPr id="2368" name="Google Shape;2368;g3edf2b460e5_4_144"/>
          <p:cNvGrpSpPr/>
          <p:nvPr/>
        </p:nvGrpSpPr>
        <p:grpSpPr>
          <a:xfrm>
            <a:off x="551858" y="2321199"/>
            <a:ext cx="11085109" cy="3782464"/>
            <a:chOff x="4170" y="187599"/>
            <a:chExt cx="11085109" cy="3782464"/>
          </a:xfrm>
        </p:grpSpPr>
        <p:sp>
          <p:nvSpPr>
            <p:cNvPr id="2369" name="Google Shape;2369;g3edf2b460e5_4_144"/>
            <p:cNvSpPr/>
            <p:nvPr/>
          </p:nvSpPr>
          <p:spPr>
            <a:xfrm>
              <a:off x="4170" y="187599"/>
              <a:ext cx="2507943" cy="617994"/>
            </a:xfrm>
            <a:prstGeom prst="rect">
              <a:avLst/>
            </a:prstGeom>
            <a:solidFill>
              <a:srgbClr val="E77132"/>
            </a:solidFill>
            <a:ln cap="flat" cmpd="sng" w="19050">
              <a:solidFill>
                <a:srgbClr val="E7713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g3edf2b460e5_4_144"/>
            <p:cNvSpPr txBox="1"/>
            <p:nvPr/>
          </p:nvSpPr>
          <p:spPr>
            <a:xfrm>
              <a:off x="4170" y="187599"/>
              <a:ext cx="2507943" cy="617994"/>
            </a:xfrm>
            <a:prstGeom prst="rect">
              <a:avLst/>
            </a:prstGeom>
            <a:noFill/>
            <a:ln>
              <a:noFill/>
            </a:ln>
          </p:spPr>
          <p:txBody>
            <a:bodyPr anchorCtr="0" anchor="ctr" bIns="69075" lIns="120900" spcFirstLastPara="1" rIns="120900" wrap="square" tIns="69075">
              <a:noAutofit/>
            </a:bodyPr>
            <a:lstStyle/>
            <a:p>
              <a:pPr indent="0" lvl="0" marL="0" marR="0" rtl="0" algn="ctr">
                <a:lnSpc>
                  <a:spcPct val="90000"/>
                </a:lnSpc>
                <a:spcBef>
                  <a:spcPts val="0"/>
                </a:spcBef>
                <a:spcAft>
                  <a:spcPts val="0"/>
                </a:spcAft>
                <a:buClr>
                  <a:schemeClr val="lt1"/>
                </a:buClr>
                <a:buSzPts val="1700"/>
                <a:buFont typeface="Arial"/>
                <a:buNone/>
              </a:pPr>
              <a:r>
                <a:rPr b="1" lang="en" sz="1700">
                  <a:solidFill>
                    <a:schemeClr val="lt1"/>
                  </a:solidFill>
                  <a:latin typeface="Arial"/>
                  <a:ea typeface="Arial"/>
                  <a:cs typeface="Arial"/>
                  <a:sym typeface="Arial"/>
                </a:rPr>
                <a:t>High Accuracy and Stability</a:t>
              </a:r>
              <a:endParaRPr sz="1700">
                <a:solidFill>
                  <a:schemeClr val="lt1"/>
                </a:solidFill>
                <a:latin typeface="Arial"/>
                <a:ea typeface="Arial"/>
                <a:cs typeface="Arial"/>
                <a:sym typeface="Arial"/>
              </a:endParaRPr>
            </a:p>
          </p:txBody>
        </p:sp>
        <p:sp>
          <p:nvSpPr>
            <p:cNvPr id="2371" name="Google Shape;2371;g3edf2b460e5_4_144"/>
            <p:cNvSpPr/>
            <p:nvPr/>
          </p:nvSpPr>
          <p:spPr>
            <a:xfrm>
              <a:off x="4170" y="805593"/>
              <a:ext cx="2507943" cy="3164470"/>
            </a:xfrm>
            <a:prstGeom prst="rect">
              <a:avLst/>
            </a:prstGeom>
            <a:solidFill>
              <a:srgbClr val="F6D2CA">
                <a:alpha val="90196"/>
              </a:srgbClr>
            </a:solidFill>
            <a:ln cap="flat" cmpd="sng" w="19050">
              <a:solidFill>
                <a:srgbClr val="F6D2CA">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g3edf2b460e5_4_144"/>
            <p:cNvSpPr txBox="1"/>
            <p:nvPr/>
          </p:nvSpPr>
          <p:spPr>
            <a:xfrm>
              <a:off x="4170" y="805593"/>
              <a:ext cx="2507943" cy="3164470"/>
            </a:xfrm>
            <a:prstGeom prst="rect">
              <a:avLst/>
            </a:prstGeom>
            <a:noFill/>
            <a:ln>
              <a:noFill/>
            </a:ln>
          </p:spPr>
          <p:txBody>
            <a:bodyPr anchorCtr="0" anchor="t" bIns="136000" lIns="90675" spcFirstLastPara="1" rIns="120900" wrap="square" tIns="90675">
              <a:noAutofit/>
            </a:bodyPr>
            <a:lstStyle/>
            <a:p>
              <a:pPr indent="-171450" lvl="1" marL="171450" marR="0" rtl="0" algn="l">
                <a:lnSpc>
                  <a:spcPct val="90000"/>
                </a:lnSpc>
                <a:spcBef>
                  <a:spcPts val="0"/>
                </a:spcBef>
                <a:spcAft>
                  <a:spcPts val="0"/>
                </a:spcAft>
                <a:buClr>
                  <a:schemeClr val="dk1"/>
                </a:buClr>
                <a:buSzPts val="1700"/>
                <a:buFont typeface="Arial"/>
                <a:buChar char="•"/>
              </a:pPr>
              <a:r>
                <a:rPr b="0" i="0" lang="en" sz="1700" u="none" cap="none" strike="noStrike">
                  <a:solidFill>
                    <a:schemeClr val="dk1"/>
                  </a:solidFill>
                  <a:latin typeface="Arial"/>
                  <a:ea typeface="Arial"/>
                  <a:cs typeface="Arial"/>
                  <a:sym typeface="Arial"/>
                </a:rPr>
                <a:t>Achieved excellent performance with very low error rates and minimal variation across validation folds</a:t>
              </a:r>
              <a:endParaRPr b="0" i="0" sz="1700" u="none" cap="none" strike="noStrike">
                <a:solidFill>
                  <a:schemeClr val="dk1"/>
                </a:solidFill>
                <a:latin typeface="Arial"/>
                <a:ea typeface="Arial"/>
                <a:cs typeface="Arial"/>
                <a:sym typeface="Arial"/>
              </a:endParaRPr>
            </a:p>
            <a:p>
              <a:pPr indent="-171450" lvl="1" marL="171450" marR="0" rtl="0" algn="l">
                <a:lnSpc>
                  <a:spcPct val="90000"/>
                </a:lnSpc>
                <a:spcBef>
                  <a:spcPts val="255"/>
                </a:spcBef>
                <a:spcAft>
                  <a:spcPts val="0"/>
                </a:spcAft>
                <a:buClr>
                  <a:schemeClr val="dk1"/>
                </a:buClr>
                <a:buSzPts val="1700"/>
                <a:buFont typeface="Arial"/>
                <a:buChar char="•"/>
              </a:pPr>
              <a:r>
                <a:rPr b="0" i="0" lang="en" sz="1700" u="none" cap="none" strike="noStrike">
                  <a:solidFill>
                    <a:schemeClr val="dk1"/>
                  </a:solidFill>
                  <a:latin typeface="Arial"/>
                  <a:ea typeface="Arial"/>
                  <a:cs typeface="Arial"/>
                  <a:sym typeface="Arial"/>
                </a:rPr>
                <a:t>Builds strong confidence that the model will perform reliably in real-world production environment</a:t>
              </a:r>
              <a:endParaRPr b="0" i="0" sz="1700" u="none" cap="none" strike="noStrike">
                <a:solidFill>
                  <a:schemeClr val="dk1"/>
                </a:solidFill>
                <a:latin typeface="Arial"/>
                <a:ea typeface="Arial"/>
                <a:cs typeface="Arial"/>
                <a:sym typeface="Arial"/>
              </a:endParaRPr>
            </a:p>
          </p:txBody>
        </p:sp>
        <p:sp>
          <p:nvSpPr>
            <p:cNvPr id="2373" name="Google Shape;2373;g3edf2b460e5_4_144"/>
            <p:cNvSpPr/>
            <p:nvPr/>
          </p:nvSpPr>
          <p:spPr>
            <a:xfrm>
              <a:off x="2863225" y="187599"/>
              <a:ext cx="2507943" cy="617994"/>
            </a:xfrm>
            <a:prstGeom prst="rect">
              <a:avLst/>
            </a:prstGeom>
            <a:solidFill>
              <a:srgbClr val="C7BE1F"/>
            </a:solidFill>
            <a:ln cap="flat" cmpd="sng" w="19050">
              <a:solidFill>
                <a:srgbClr val="C7BE1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g3edf2b460e5_4_144"/>
            <p:cNvSpPr txBox="1"/>
            <p:nvPr/>
          </p:nvSpPr>
          <p:spPr>
            <a:xfrm>
              <a:off x="2863225" y="187599"/>
              <a:ext cx="2507943" cy="617994"/>
            </a:xfrm>
            <a:prstGeom prst="rect">
              <a:avLst/>
            </a:prstGeom>
            <a:noFill/>
            <a:ln>
              <a:noFill/>
            </a:ln>
          </p:spPr>
          <p:txBody>
            <a:bodyPr anchorCtr="0" anchor="ctr" bIns="69075" lIns="120900" spcFirstLastPara="1" rIns="120900" wrap="square" tIns="69075">
              <a:noAutofit/>
            </a:bodyPr>
            <a:lstStyle/>
            <a:p>
              <a:pPr indent="0" lvl="0" marL="0" marR="0" rtl="0" algn="ctr">
                <a:lnSpc>
                  <a:spcPct val="90000"/>
                </a:lnSpc>
                <a:spcBef>
                  <a:spcPts val="0"/>
                </a:spcBef>
                <a:spcAft>
                  <a:spcPts val="0"/>
                </a:spcAft>
                <a:buClr>
                  <a:schemeClr val="lt1"/>
                </a:buClr>
                <a:buSzPts val="1700"/>
                <a:buFont typeface="Arial"/>
                <a:buNone/>
              </a:pPr>
              <a:r>
                <a:rPr b="1" lang="en" sz="1700">
                  <a:solidFill>
                    <a:schemeClr val="lt1"/>
                  </a:solidFill>
                  <a:latin typeface="Arial"/>
                  <a:ea typeface="Arial"/>
                  <a:cs typeface="Arial"/>
                  <a:sym typeface="Arial"/>
                </a:rPr>
                <a:t>Strong Generalization</a:t>
              </a:r>
              <a:endParaRPr sz="1700">
                <a:solidFill>
                  <a:schemeClr val="lt1"/>
                </a:solidFill>
                <a:latin typeface="Arial"/>
                <a:ea typeface="Arial"/>
                <a:cs typeface="Arial"/>
                <a:sym typeface="Arial"/>
              </a:endParaRPr>
            </a:p>
          </p:txBody>
        </p:sp>
        <p:sp>
          <p:nvSpPr>
            <p:cNvPr id="2375" name="Google Shape;2375;g3edf2b460e5_4_144"/>
            <p:cNvSpPr/>
            <p:nvPr/>
          </p:nvSpPr>
          <p:spPr>
            <a:xfrm>
              <a:off x="2863225" y="805593"/>
              <a:ext cx="2507943" cy="3164470"/>
            </a:xfrm>
            <a:prstGeom prst="rect">
              <a:avLst/>
            </a:prstGeom>
            <a:solidFill>
              <a:srgbClr val="EBE5C8">
                <a:alpha val="90196"/>
              </a:srgbClr>
            </a:solidFill>
            <a:ln cap="flat" cmpd="sng" w="19050">
              <a:solidFill>
                <a:srgbClr val="EBE5C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g3edf2b460e5_4_144"/>
            <p:cNvSpPr txBox="1"/>
            <p:nvPr/>
          </p:nvSpPr>
          <p:spPr>
            <a:xfrm>
              <a:off x="2863225" y="805593"/>
              <a:ext cx="2507943" cy="3164470"/>
            </a:xfrm>
            <a:prstGeom prst="rect">
              <a:avLst/>
            </a:prstGeom>
            <a:noFill/>
            <a:ln>
              <a:noFill/>
            </a:ln>
          </p:spPr>
          <p:txBody>
            <a:bodyPr anchorCtr="0" anchor="t" bIns="136000" lIns="90675" spcFirstLastPara="1" rIns="120900" wrap="square" tIns="90675">
              <a:noAutofit/>
            </a:bodyPr>
            <a:lstStyle/>
            <a:p>
              <a:pPr indent="-171450" lvl="1" marL="171450" marR="0" rtl="0" algn="l">
                <a:lnSpc>
                  <a:spcPct val="90000"/>
                </a:lnSpc>
                <a:spcBef>
                  <a:spcPts val="0"/>
                </a:spcBef>
                <a:spcAft>
                  <a:spcPts val="0"/>
                </a:spcAft>
                <a:buClr>
                  <a:schemeClr val="dk1"/>
                </a:buClr>
                <a:buSzPts val="1700"/>
                <a:buFont typeface="Arial"/>
                <a:buChar char="•"/>
              </a:pPr>
              <a:r>
                <a:rPr b="0" i="0" lang="en" sz="1700" u="none" cap="none" strike="noStrike">
                  <a:solidFill>
                    <a:schemeClr val="dk1"/>
                  </a:solidFill>
                  <a:latin typeface="Arial"/>
                  <a:ea typeface="Arial"/>
                  <a:cs typeface="Arial"/>
                  <a:sym typeface="Arial"/>
                </a:rPr>
                <a:t>Consistent results across different subsets of data demonstrate the model is not overfitting</a:t>
              </a:r>
              <a:endParaRPr b="0" i="0" sz="1700" u="none" cap="none" strike="noStrike">
                <a:solidFill>
                  <a:schemeClr val="dk1"/>
                </a:solidFill>
                <a:latin typeface="Arial"/>
                <a:ea typeface="Arial"/>
                <a:cs typeface="Arial"/>
                <a:sym typeface="Arial"/>
              </a:endParaRPr>
            </a:p>
            <a:p>
              <a:pPr indent="-171450" lvl="1" marL="171450" marR="0" rtl="0" algn="l">
                <a:lnSpc>
                  <a:spcPct val="90000"/>
                </a:lnSpc>
                <a:spcBef>
                  <a:spcPts val="255"/>
                </a:spcBef>
                <a:spcAft>
                  <a:spcPts val="0"/>
                </a:spcAft>
                <a:buClr>
                  <a:schemeClr val="dk1"/>
                </a:buClr>
                <a:buSzPts val="1700"/>
                <a:buFont typeface="Arial"/>
                <a:buChar char="•"/>
              </a:pPr>
              <a:r>
                <a:rPr b="0" i="0" lang="en" sz="1700" u="none" cap="none" strike="noStrike">
                  <a:solidFill>
                    <a:schemeClr val="dk1"/>
                  </a:solidFill>
                  <a:latin typeface="Arial"/>
                  <a:ea typeface="Arial"/>
                  <a:cs typeface="Arial"/>
                  <a:sym typeface="Arial"/>
                </a:rPr>
                <a:t>Expected to maintain performance when applied to new customer orders and varying conditions</a:t>
              </a:r>
              <a:endParaRPr b="0" i="0" sz="1700" u="none" cap="none" strike="noStrike">
                <a:solidFill>
                  <a:schemeClr val="dk1"/>
                </a:solidFill>
                <a:latin typeface="Arial"/>
                <a:ea typeface="Arial"/>
                <a:cs typeface="Arial"/>
                <a:sym typeface="Arial"/>
              </a:endParaRPr>
            </a:p>
          </p:txBody>
        </p:sp>
        <p:sp>
          <p:nvSpPr>
            <p:cNvPr id="2377" name="Google Shape;2377;g3edf2b460e5_4_144"/>
            <p:cNvSpPr/>
            <p:nvPr/>
          </p:nvSpPr>
          <p:spPr>
            <a:xfrm>
              <a:off x="5722281" y="187599"/>
              <a:ext cx="2507943" cy="617994"/>
            </a:xfrm>
            <a:prstGeom prst="rect">
              <a:avLst/>
            </a:prstGeom>
            <a:solidFill>
              <a:srgbClr val="55961D"/>
            </a:solidFill>
            <a:ln cap="flat" cmpd="sng" w="19050">
              <a:solidFill>
                <a:srgbClr val="55961D"/>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g3edf2b460e5_4_144"/>
            <p:cNvSpPr txBox="1"/>
            <p:nvPr/>
          </p:nvSpPr>
          <p:spPr>
            <a:xfrm>
              <a:off x="5722281" y="187599"/>
              <a:ext cx="2507943" cy="617994"/>
            </a:xfrm>
            <a:prstGeom prst="rect">
              <a:avLst/>
            </a:prstGeom>
            <a:noFill/>
            <a:ln>
              <a:noFill/>
            </a:ln>
          </p:spPr>
          <p:txBody>
            <a:bodyPr anchorCtr="0" anchor="ctr" bIns="69075" lIns="120900" spcFirstLastPara="1" rIns="120900" wrap="square" tIns="69075">
              <a:noAutofit/>
            </a:bodyPr>
            <a:lstStyle/>
            <a:p>
              <a:pPr indent="0" lvl="0" marL="0" marR="0" rtl="0" algn="ctr">
                <a:lnSpc>
                  <a:spcPct val="90000"/>
                </a:lnSpc>
                <a:spcBef>
                  <a:spcPts val="0"/>
                </a:spcBef>
                <a:spcAft>
                  <a:spcPts val="0"/>
                </a:spcAft>
                <a:buClr>
                  <a:schemeClr val="lt1"/>
                </a:buClr>
                <a:buSzPts val="1700"/>
                <a:buFont typeface="Arial"/>
                <a:buNone/>
              </a:pPr>
              <a:r>
                <a:rPr b="1" lang="en" sz="1700">
                  <a:solidFill>
                    <a:schemeClr val="lt1"/>
                  </a:solidFill>
                  <a:latin typeface="Arial"/>
                  <a:ea typeface="Arial"/>
                  <a:cs typeface="Arial"/>
                  <a:sym typeface="Arial"/>
                </a:rPr>
                <a:t>Interpretability and Trust</a:t>
              </a:r>
              <a:endParaRPr sz="1700">
                <a:solidFill>
                  <a:schemeClr val="lt1"/>
                </a:solidFill>
                <a:latin typeface="Arial"/>
                <a:ea typeface="Arial"/>
                <a:cs typeface="Arial"/>
                <a:sym typeface="Arial"/>
              </a:endParaRPr>
            </a:p>
          </p:txBody>
        </p:sp>
        <p:sp>
          <p:nvSpPr>
            <p:cNvPr id="2379" name="Google Shape;2379;g3edf2b460e5_4_144"/>
            <p:cNvSpPr/>
            <p:nvPr/>
          </p:nvSpPr>
          <p:spPr>
            <a:xfrm>
              <a:off x="5722281" y="805593"/>
              <a:ext cx="2507943" cy="3164470"/>
            </a:xfrm>
            <a:prstGeom prst="rect">
              <a:avLst/>
            </a:prstGeom>
            <a:solidFill>
              <a:srgbClr val="D5E0C7">
                <a:alpha val="90196"/>
              </a:srgbClr>
            </a:solidFill>
            <a:ln cap="flat" cmpd="sng" w="19050">
              <a:solidFill>
                <a:srgbClr val="D5E0C7">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g3edf2b460e5_4_144"/>
            <p:cNvSpPr txBox="1"/>
            <p:nvPr/>
          </p:nvSpPr>
          <p:spPr>
            <a:xfrm>
              <a:off x="5722281" y="805593"/>
              <a:ext cx="2507943" cy="3164470"/>
            </a:xfrm>
            <a:prstGeom prst="rect">
              <a:avLst/>
            </a:prstGeom>
            <a:noFill/>
            <a:ln>
              <a:noFill/>
            </a:ln>
          </p:spPr>
          <p:txBody>
            <a:bodyPr anchorCtr="0" anchor="t" bIns="136000" lIns="90675" spcFirstLastPara="1" rIns="120900" wrap="square" tIns="90675">
              <a:noAutofit/>
            </a:bodyPr>
            <a:lstStyle/>
            <a:p>
              <a:pPr indent="-171450" lvl="1" marL="171450" marR="0" rtl="0" algn="l">
                <a:lnSpc>
                  <a:spcPct val="90000"/>
                </a:lnSpc>
                <a:spcBef>
                  <a:spcPts val="0"/>
                </a:spcBef>
                <a:spcAft>
                  <a:spcPts val="0"/>
                </a:spcAft>
                <a:buClr>
                  <a:schemeClr val="dk1"/>
                </a:buClr>
                <a:buSzPts val="1700"/>
                <a:buFont typeface="Arial"/>
                <a:buChar char="•"/>
              </a:pPr>
              <a:r>
                <a:rPr b="0" i="0" lang="en" sz="1700" u="none" cap="none" strike="noStrike">
                  <a:solidFill>
                    <a:schemeClr val="dk1"/>
                  </a:solidFill>
                  <a:latin typeface="Arial"/>
                  <a:ea typeface="Arial"/>
                  <a:cs typeface="Arial"/>
                  <a:sym typeface="Arial"/>
                </a:rPr>
                <a:t>SHAP analysis clearly explains which features drive cost predictions</a:t>
              </a:r>
              <a:endParaRPr b="0" i="0" sz="1700" u="none" cap="none" strike="noStrike">
                <a:solidFill>
                  <a:schemeClr val="dk1"/>
                </a:solidFill>
                <a:latin typeface="Arial"/>
                <a:ea typeface="Arial"/>
                <a:cs typeface="Arial"/>
                <a:sym typeface="Arial"/>
              </a:endParaRPr>
            </a:p>
            <a:p>
              <a:pPr indent="-171450" lvl="1" marL="171450" marR="0" rtl="0" algn="l">
                <a:lnSpc>
                  <a:spcPct val="90000"/>
                </a:lnSpc>
                <a:spcBef>
                  <a:spcPts val="255"/>
                </a:spcBef>
                <a:spcAft>
                  <a:spcPts val="0"/>
                </a:spcAft>
                <a:buClr>
                  <a:schemeClr val="dk1"/>
                </a:buClr>
                <a:buSzPts val="1700"/>
                <a:buFont typeface="Arial"/>
                <a:buChar char="•"/>
              </a:pPr>
              <a:r>
                <a:rPr b="0" i="0" lang="en" sz="1700" u="none" cap="none" strike="noStrike">
                  <a:solidFill>
                    <a:schemeClr val="dk1"/>
                  </a:solidFill>
                  <a:latin typeface="Arial"/>
                  <a:ea typeface="Arial"/>
                  <a:cs typeface="Arial"/>
                  <a:sym typeface="Arial"/>
                </a:rPr>
                <a:t>Allows business users to understand and validate model recommendations</a:t>
              </a:r>
              <a:endParaRPr b="0" i="0" sz="1700" u="none" cap="none" strike="noStrike">
                <a:solidFill>
                  <a:schemeClr val="dk1"/>
                </a:solidFill>
                <a:latin typeface="Arial"/>
                <a:ea typeface="Arial"/>
                <a:cs typeface="Arial"/>
                <a:sym typeface="Arial"/>
              </a:endParaRPr>
            </a:p>
          </p:txBody>
        </p:sp>
        <p:sp>
          <p:nvSpPr>
            <p:cNvPr id="2381" name="Google Shape;2381;g3edf2b460e5_4_144"/>
            <p:cNvSpPr/>
            <p:nvPr/>
          </p:nvSpPr>
          <p:spPr>
            <a:xfrm>
              <a:off x="8581336" y="187599"/>
              <a:ext cx="2507943" cy="617994"/>
            </a:xfrm>
            <a:prstGeom prst="rect">
              <a:avLst/>
            </a:prstGeom>
            <a:solidFill>
              <a:srgbClr val="196823"/>
            </a:solidFill>
            <a:ln cap="flat" cmpd="sng" w="19050">
              <a:solidFill>
                <a:srgbClr val="196823"/>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g3edf2b460e5_4_144"/>
            <p:cNvSpPr txBox="1"/>
            <p:nvPr/>
          </p:nvSpPr>
          <p:spPr>
            <a:xfrm>
              <a:off x="8581336" y="187599"/>
              <a:ext cx="2507943" cy="617994"/>
            </a:xfrm>
            <a:prstGeom prst="rect">
              <a:avLst/>
            </a:prstGeom>
            <a:noFill/>
            <a:ln>
              <a:noFill/>
            </a:ln>
          </p:spPr>
          <p:txBody>
            <a:bodyPr anchorCtr="0" anchor="ctr" bIns="69075" lIns="120900" spcFirstLastPara="1" rIns="120900" wrap="square" tIns="69075">
              <a:noAutofit/>
            </a:bodyPr>
            <a:lstStyle/>
            <a:p>
              <a:pPr indent="0" lvl="0" marL="0" marR="0" rtl="0" algn="ctr">
                <a:lnSpc>
                  <a:spcPct val="90000"/>
                </a:lnSpc>
                <a:spcBef>
                  <a:spcPts val="0"/>
                </a:spcBef>
                <a:spcAft>
                  <a:spcPts val="0"/>
                </a:spcAft>
                <a:buClr>
                  <a:schemeClr val="lt1"/>
                </a:buClr>
                <a:buSzPts val="1700"/>
                <a:buFont typeface="Arial"/>
                <a:buNone/>
              </a:pPr>
              <a:r>
                <a:rPr b="1" lang="en" sz="1700">
                  <a:solidFill>
                    <a:schemeClr val="lt1"/>
                  </a:solidFill>
                  <a:latin typeface="Arial"/>
                  <a:ea typeface="Arial"/>
                  <a:cs typeface="Arial"/>
                  <a:sym typeface="Arial"/>
                </a:rPr>
                <a:t>Operational Improvements</a:t>
              </a:r>
              <a:endParaRPr sz="1700">
                <a:solidFill>
                  <a:schemeClr val="lt1"/>
                </a:solidFill>
                <a:latin typeface="Arial"/>
                <a:ea typeface="Arial"/>
                <a:cs typeface="Arial"/>
                <a:sym typeface="Arial"/>
              </a:endParaRPr>
            </a:p>
          </p:txBody>
        </p:sp>
        <p:sp>
          <p:nvSpPr>
            <p:cNvPr id="2383" name="Google Shape;2383;g3edf2b460e5_4_144"/>
            <p:cNvSpPr/>
            <p:nvPr/>
          </p:nvSpPr>
          <p:spPr>
            <a:xfrm>
              <a:off x="8581336" y="805593"/>
              <a:ext cx="2507943" cy="3164470"/>
            </a:xfrm>
            <a:prstGeom prst="rect">
              <a:avLst/>
            </a:prstGeom>
            <a:solidFill>
              <a:srgbClr val="C9D2CA">
                <a:alpha val="90196"/>
              </a:srgbClr>
            </a:solidFill>
            <a:ln cap="flat" cmpd="sng" w="19050">
              <a:solidFill>
                <a:srgbClr val="C9D2CA">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g3edf2b460e5_4_144"/>
            <p:cNvSpPr txBox="1"/>
            <p:nvPr/>
          </p:nvSpPr>
          <p:spPr>
            <a:xfrm>
              <a:off x="8581336" y="805593"/>
              <a:ext cx="2507943" cy="3164470"/>
            </a:xfrm>
            <a:prstGeom prst="rect">
              <a:avLst/>
            </a:prstGeom>
            <a:noFill/>
            <a:ln>
              <a:noFill/>
            </a:ln>
          </p:spPr>
          <p:txBody>
            <a:bodyPr anchorCtr="0" anchor="t" bIns="136000" lIns="90675" spcFirstLastPara="1" rIns="120900" wrap="square" tIns="90675">
              <a:noAutofit/>
            </a:bodyPr>
            <a:lstStyle/>
            <a:p>
              <a:pPr indent="-171450" lvl="1" marL="171450" marR="0" rtl="0" algn="l">
                <a:lnSpc>
                  <a:spcPct val="90000"/>
                </a:lnSpc>
                <a:spcBef>
                  <a:spcPts val="0"/>
                </a:spcBef>
                <a:spcAft>
                  <a:spcPts val="0"/>
                </a:spcAft>
                <a:buClr>
                  <a:schemeClr val="dk1"/>
                </a:buClr>
                <a:buSzPts val="1700"/>
                <a:buFont typeface="Arial"/>
                <a:buChar char="•"/>
              </a:pPr>
              <a:r>
                <a:rPr b="0" i="0" lang="en" sz="1700" u="none" cap="none" strike="noStrike">
                  <a:solidFill>
                    <a:schemeClr val="dk1"/>
                  </a:solidFill>
                  <a:latin typeface="Arial"/>
                  <a:ea typeface="Arial"/>
                  <a:cs typeface="Arial"/>
                  <a:sym typeface="Arial"/>
                </a:rPr>
                <a:t>Better alignment between estimated and actual costs</a:t>
              </a:r>
              <a:endParaRPr b="0" i="0" sz="1700" u="none" cap="none" strike="noStrike">
                <a:solidFill>
                  <a:schemeClr val="dk1"/>
                </a:solidFill>
                <a:latin typeface="Arial"/>
                <a:ea typeface="Arial"/>
                <a:cs typeface="Arial"/>
                <a:sym typeface="Arial"/>
              </a:endParaRPr>
            </a:p>
            <a:p>
              <a:pPr indent="-171450" lvl="1" marL="171450" marR="0" rtl="0" algn="l">
                <a:lnSpc>
                  <a:spcPct val="90000"/>
                </a:lnSpc>
                <a:spcBef>
                  <a:spcPts val="255"/>
                </a:spcBef>
                <a:spcAft>
                  <a:spcPts val="0"/>
                </a:spcAft>
                <a:buClr>
                  <a:schemeClr val="dk1"/>
                </a:buClr>
                <a:buSzPts val="1700"/>
                <a:buFont typeface="Arial"/>
                <a:buChar char="•"/>
              </a:pPr>
              <a:r>
                <a:rPr b="0" i="0" lang="en" sz="1700" u="none" cap="none" strike="noStrike">
                  <a:solidFill>
                    <a:schemeClr val="dk1"/>
                  </a:solidFill>
                  <a:latin typeface="Arial"/>
                  <a:ea typeface="Arial"/>
                  <a:cs typeface="Arial"/>
                  <a:sym typeface="Arial"/>
                </a:rPr>
                <a:t>Improved planning accuracy for procurement and production scheduling</a:t>
              </a:r>
              <a:endParaRPr b="0" i="0" sz="1700" u="none" cap="none" strike="noStrike">
                <a:solidFill>
                  <a:schemeClr val="dk1"/>
                </a:solidFill>
                <a:latin typeface="Arial"/>
                <a:ea typeface="Arial"/>
                <a:cs typeface="Arial"/>
                <a:sym typeface="Arial"/>
              </a:endParaRPr>
            </a:p>
            <a:p>
              <a:pPr indent="-171450" lvl="1" marL="171450" marR="0" rtl="0" algn="l">
                <a:lnSpc>
                  <a:spcPct val="90000"/>
                </a:lnSpc>
                <a:spcBef>
                  <a:spcPts val="255"/>
                </a:spcBef>
                <a:spcAft>
                  <a:spcPts val="0"/>
                </a:spcAft>
                <a:buClr>
                  <a:schemeClr val="dk1"/>
                </a:buClr>
                <a:buSzPts val="1700"/>
                <a:buFont typeface="Arial"/>
                <a:buChar char="•"/>
              </a:pPr>
              <a:r>
                <a:rPr b="0" i="0" lang="en" sz="1700" u="none" cap="none" strike="noStrike">
                  <a:solidFill>
                    <a:schemeClr val="dk1"/>
                  </a:solidFill>
                  <a:latin typeface="Arial"/>
                  <a:ea typeface="Arial"/>
                  <a:cs typeface="Arial"/>
                  <a:sym typeface="Arial"/>
                </a:rPr>
                <a:t>Data-driven insights for strategic decision making across sales, engineering, and operations teams</a:t>
              </a:r>
              <a:endParaRPr b="0" i="0" sz="1700" u="none" cap="none" strike="noStrike">
                <a:solidFill>
                  <a:schemeClr val="dk1"/>
                </a:solidFill>
                <a:latin typeface="Arial"/>
                <a:ea typeface="Arial"/>
                <a:cs typeface="Arial"/>
                <a:sym typeface="Arial"/>
              </a:endParaRPr>
            </a:p>
          </p:txBody>
        </p:sp>
      </p:grpSp>
      <p:sp>
        <p:nvSpPr>
          <p:cNvPr id="2385" name="Google Shape;2385;g3edf2b460e5_4_14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a:t>‹#›</a:t>
            </a:fld>
            <a:endParaRPr/>
          </a:p>
        </p:txBody>
      </p:sp>
      <p:sp>
        <p:nvSpPr>
          <p:cNvPr id="2386" name="Google Shape;2386;g3edf2b460e5_4_144"/>
          <p:cNvSpPr txBox="1"/>
          <p:nvPr/>
        </p:nvSpPr>
        <p:spPr>
          <a:xfrm>
            <a:off x="9261131" y="63850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90" name="Shape 2390"/>
        <p:cNvGrpSpPr/>
        <p:nvPr/>
      </p:nvGrpSpPr>
      <p:grpSpPr>
        <a:xfrm>
          <a:off x="0" y="0"/>
          <a:ext cx="0" cy="0"/>
          <a:chOff x="0" y="0"/>
          <a:chExt cx="0" cy="0"/>
        </a:xfrm>
      </p:grpSpPr>
      <p:sp>
        <p:nvSpPr>
          <p:cNvPr id="2391" name="Google Shape;2391;g3edf2b460e5_4_17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392" name="Google Shape;2392;g3edf2b460e5_4_170"/>
          <p:cNvGrpSpPr/>
          <p:nvPr/>
        </p:nvGrpSpPr>
        <p:grpSpPr>
          <a:xfrm>
            <a:off x="0" y="0"/>
            <a:ext cx="12192000" cy="6858000"/>
            <a:chOff x="0" y="0"/>
            <a:chExt cx="12192000" cy="6858000"/>
          </a:xfrm>
        </p:grpSpPr>
        <p:sp>
          <p:nvSpPr>
            <p:cNvPr id="2393" name="Google Shape;2393;g3edf2b460e5_4_170"/>
            <p:cNvSpPr/>
            <p:nvPr/>
          </p:nvSpPr>
          <p:spPr>
            <a:xfrm>
              <a:off x="0" y="0"/>
              <a:ext cx="12192000" cy="68580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94" name="Google Shape;2394;g3edf2b460e5_4_170"/>
            <p:cNvSpPr/>
            <p:nvPr/>
          </p:nvSpPr>
          <p:spPr>
            <a:xfrm>
              <a:off x="0" y="0"/>
              <a:ext cx="12192000" cy="6858000"/>
            </a:xfrm>
            <a:prstGeom prst="rect">
              <a:avLst/>
            </a:prstGeom>
            <a:solidFill>
              <a:srgbClr val="0B769F">
                <a:alpha val="7058"/>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2395" name="Google Shape;2395;g3edf2b460e5_4_170"/>
          <p:cNvSpPr txBox="1"/>
          <p:nvPr>
            <p:ph type="title"/>
          </p:nvPr>
        </p:nvSpPr>
        <p:spPr>
          <a:xfrm>
            <a:off x="550863" y="365125"/>
            <a:ext cx="1109027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Play"/>
              <a:buNone/>
            </a:pPr>
            <a:r>
              <a:rPr b="1" lang="en" sz="2800">
                <a:solidFill>
                  <a:schemeClr val="dk1"/>
                </a:solidFill>
                <a:latin typeface="Play"/>
                <a:ea typeface="Play"/>
                <a:cs typeface="Play"/>
                <a:sym typeface="Play"/>
              </a:rPr>
              <a:t>Project and Deployment Risks</a:t>
            </a:r>
            <a:br>
              <a:rPr b="1" lang="en" sz="2800">
                <a:solidFill>
                  <a:schemeClr val="dk1"/>
                </a:solidFill>
                <a:latin typeface="Play"/>
                <a:ea typeface="Play"/>
                <a:cs typeface="Play"/>
                <a:sym typeface="Play"/>
              </a:rPr>
            </a:br>
            <a:r>
              <a:rPr b="1" lang="en" sz="2800">
                <a:solidFill>
                  <a:schemeClr val="dk1"/>
                </a:solidFill>
                <a:latin typeface="Play"/>
                <a:ea typeface="Play"/>
                <a:cs typeface="Play"/>
                <a:sym typeface="Play"/>
              </a:rPr>
              <a:t>Key Risks and Mitigation Strategies</a:t>
            </a:r>
            <a:br>
              <a:rPr lang="en" sz="2800">
                <a:solidFill>
                  <a:schemeClr val="dk1"/>
                </a:solidFill>
                <a:latin typeface="Play"/>
                <a:ea typeface="Play"/>
                <a:cs typeface="Play"/>
                <a:sym typeface="Play"/>
              </a:rPr>
            </a:br>
            <a:endParaRPr sz="2800">
              <a:solidFill>
                <a:schemeClr val="dk1"/>
              </a:solidFill>
              <a:latin typeface="Play"/>
              <a:ea typeface="Play"/>
              <a:cs typeface="Play"/>
              <a:sym typeface="Play"/>
            </a:endParaRPr>
          </a:p>
        </p:txBody>
      </p:sp>
      <p:sp>
        <p:nvSpPr>
          <p:cNvPr id="2396" name="Google Shape;2396;g3edf2b460e5_4_170"/>
          <p:cNvSpPr txBox="1"/>
          <p:nvPr>
            <p:ph idx="12" type="sldNum"/>
          </p:nvPr>
        </p:nvSpPr>
        <p:spPr>
          <a:xfrm rot="5400000">
            <a:off x="9033635" y="3148837"/>
            <a:ext cx="5768976" cy="550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en" sz="1000">
                <a:solidFill>
                  <a:srgbClr val="888888"/>
                </a:solidFill>
              </a:rPr>
              <a:t>‹#›</a:t>
            </a:fld>
            <a:endParaRPr sz="1000">
              <a:solidFill>
                <a:srgbClr val="888888"/>
              </a:solidFill>
            </a:endParaRPr>
          </a:p>
        </p:txBody>
      </p:sp>
      <p:grpSp>
        <p:nvGrpSpPr>
          <p:cNvPr id="2397" name="Google Shape;2397;g3edf2b460e5_4_170"/>
          <p:cNvGrpSpPr/>
          <p:nvPr/>
        </p:nvGrpSpPr>
        <p:grpSpPr>
          <a:xfrm>
            <a:off x="547688" y="2135427"/>
            <a:ext cx="11093449" cy="4154009"/>
            <a:chOff x="0" y="1827"/>
            <a:chExt cx="11093449" cy="4154009"/>
          </a:xfrm>
        </p:grpSpPr>
        <p:sp>
          <p:nvSpPr>
            <p:cNvPr id="2398" name="Google Shape;2398;g3edf2b460e5_4_170"/>
            <p:cNvSpPr/>
            <p:nvPr/>
          </p:nvSpPr>
          <p:spPr>
            <a:xfrm rot="5400000">
              <a:off x="7224006" y="-3148652"/>
              <a:ext cx="639078" cy="7099808"/>
            </a:xfrm>
            <a:prstGeom prst="round2SameRect">
              <a:avLst>
                <a:gd fmla="val 16667" name="adj1"/>
                <a:gd fmla="val 0" name="adj2"/>
              </a:avLst>
            </a:prstGeom>
            <a:solidFill>
              <a:srgbClr val="DCCBD8">
                <a:alpha val="90196"/>
              </a:srgbClr>
            </a:solidFill>
            <a:ln cap="flat" cmpd="sng" w="19050">
              <a:solidFill>
                <a:srgbClr val="DCCBD8">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g3edf2b460e5_4_170"/>
            <p:cNvSpPr txBox="1"/>
            <p:nvPr/>
          </p:nvSpPr>
          <p:spPr>
            <a:xfrm>
              <a:off x="3993642" y="112909"/>
              <a:ext cx="7068611" cy="576684"/>
            </a:xfrm>
            <a:prstGeom prst="rect">
              <a:avLst/>
            </a:prstGeom>
            <a:noFill/>
            <a:ln>
              <a:noFill/>
            </a:ln>
          </p:spPr>
          <p:txBody>
            <a:bodyPr anchorCtr="0" anchor="ctr" bIns="26650" lIns="53325" spcFirstLastPara="1" rIns="53325" wrap="square" tIns="26650">
              <a:noAutofit/>
            </a:bodyPr>
            <a:lstStyle/>
            <a:p>
              <a:pPr indent="-114300" lvl="1" marL="114300" marR="0" rtl="0" algn="l">
                <a:lnSpc>
                  <a:spcPct val="9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Risk: Changes in data patterns over time may affect model performance</a:t>
              </a:r>
              <a:endParaRPr b="0" i="0" sz="1400" u="none" cap="none" strike="noStrike">
                <a:solidFill>
                  <a:schemeClr val="dk1"/>
                </a:solidFill>
                <a:latin typeface="Arial"/>
                <a:ea typeface="Arial"/>
                <a:cs typeface="Arial"/>
                <a:sym typeface="Arial"/>
              </a:endParaRPr>
            </a:p>
            <a:p>
              <a:pPr indent="-114300" lvl="1" marL="114300" marR="0" rtl="0" algn="l">
                <a:lnSpc>
                  <a:spcPct val="90000"/>
                </a:lnSpc>
                <a:spcBef>
                  <a:spcPts val="21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Mitigation: Implement continuous monitoring and scheduled retraining</a:t>
              </a:r>
              <a:endParaRPr b="0" i="0" sz="1400" u="none" cap="none" strike="noStrike">
                <a:solidFill>
                  <a:schemeClr val="dk1"/>
                </a:solidFill>
                <a:latin typeface="Arial"/>
                <a:ea typeface="Arial"/>
                <a:cs typeface="Arial"/>
                <a:sym typeface="Arial"/>
              </a:endParaRPr>
            </a:p>
          </p:txBody>
        </p:sp>
        <p:sp>
          <p:nvSpPr>
            <p:cNvPr id="2400" name="Google Shape;2400;g3edf2b460e5_4_170"/>
            <p:cNvSpPr/>
            <p:nvPr/>
          </p:nvSpPr>
          <p:spPr>
            <a:xfrm>
              <a:off x="0" y="1827"/>
              <a:ext cx="3993642" cy="798848"/>
            </a:xfrm>
            <a:prstGeom prst="roundRect">
              <a:avLst>
                <a:gd fmla="val 16667" name="adj"/>
              </a:avLst>
            </a:prstGeom>
            <a:solidFill>
              <a:schemeClr val="accent5"/>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g3edf2b460e5_4_170"/>
            <p:cNvSpPr txBox="1"/>
            <p:nvPr/>
          </p:nvSpPr>
          <p:spPr>
            <a:xfrm>
              <a:off x="38997" y="40824"/>
              <a:ext cx="3915648" cy="720854"/>
            </a:xfrm>
            <a:prstGeom prst="rect">
              <a:avLst/>
            </a:prstGeom>
            <a:noFill/>
            <a:ln>
              <a:noFill/>
            </a:ln>
          </p:spPr>
          <p:txBody>
            <a:bodyPr anchorCtr="0" anchor="ctr" bIns="41900" lIns="83800" spcFirstLastPara="1" rIns="83800" wrap="square" tIns="41900">
              <a:noAutofit/>
            </a:bodyPr>
            <a:lstStyle/>
            <a:p>
              <a:pPr indent="0" lvl="0" marL="0" marR="0" rtl="0" algn="ctr">
                <a:lnSpc>
                  <a:spcPct val="90000"/>
                </a:lnSpc>
                <a:spcBef>
                  <a:spcPts val="0"/>
                </a:spcBef>
                <a:spcAft>
                  <a:spcPts val="0"/>
                </a:spcAft>
                <a:buClr>
                  <a:schemeClr val="lt1"/>
                </a:buClr>
                <a:buSzPts val="2200"/>
                <a:buFont typeface="Arial"/>
                <a:buNone/>
              </a:pPr>
              <a:r>
                <a:rPr b="1" lang="en" sz="2200">
                  <a:solidFill>
                    <a:schemeClr val="lt1"/>
                  </a:solidFill>
                  <a:latin typeface="Arial"/>
                  <a:ea typeface="Arial"/>
                  <a:cs typeface="Arial"/>
                  <a:sym typeface="Arial"/>
                </a:rPr>
                <a:t>Data Quality and Drift</a:t>
              </a:r>
              <a:endParaRPr sz="2200">
                <a:solidFill>
                  <a:schemeClr val="lt1"/>
                </a:solidFill>
                <a:latin typeface="Arial"/>
                <a:ea typeface="Arial"/>
                <a:cs typeface="Arial"/>
                <a:sym typeface="Arial"/>
              </a:endParaRPr>
            </a:p>
          </p:txBody>
        </p:sp>
        <p:sp>
          <p:nvSpPr>
            <p:cNvPr id="2402" name="Google Shape;2402;g3edf2b460e5_4_170"/>
            <p:cNvSpPr/>
            <p:nvPr/>
          </p:nvSpPr>
          <p:spPr>
            <a:xfrm rot="5400000">
              <a:off x="7224006" y="-2309862"/>
              <a:ext cx="639078" cy="7099808"/>
            </a:xfrm>
            <a:prstGeom prst="round2SameRect">
              <a:avLst>
                <a:gd fmla="val 16667" name="adj1"/>
                <a:gd fmla="val 0" name="adj2"/>
              </a:avLst>
            </a:prstGeom>
            <a:solidFill>
              <a:srgbClr val="D1CADE">
                <a:alpha val="90196"/>
              </a:srgbClr>
            </a:solidFill>
            <a:ln cap="flat" cmpd="sng" w="19050">
              <a:solidFill>
                <a:srgbClr val="D1CADE">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g3edf2b460e5_4_170"/>
            <p:cNvSpPr txBox="1"/>
            <p:nvPr/>
          </p:nvSpPr>
          <p:spPr>
            <a:xfrm>
              <a:off x="3993642" y="951699"/>
              <a:ext cx="7068611" cy="576684"/>
            </a:xfrm>
            <a:prstGeom prst="rect">
              <a:avLst/>
            </a:prstGeom>
            <a:noFill/>
            <a:ln>
              <a:noFill/>
            </a:ln>
          </p:spPr>
          <p:txBody>
            <a:bodyPr anchorCtr="0" anchor="ctr" bIns="26650" lIns="53325" spcFirstLastPara="1" rIns="53325" wrap="square" tIns="26650">
              <a:noAutofit/>
            </a:bodyPr>
            <a:lstStyle/>
            <a:p>
              <a:pPr indent="-114300" lvl="1" marL="114300" marR="0" rtl="0" algn="l">
                <a:lnSpc>
                  <a:spcPct val="9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Risk: Difficulties connecting the model with current business systems</a:t>
              </a:r>
              <a:endParaRPr b="0" i="0" sz="1400" u="none" cap="none" strike="noStrike">
                <a:solidFill>
                  <a:schemeClr val="dk1"/>
                </a:solidFill>
                <a:latin typeface="Arial"/>
                <a:ea typeface="Arial"/>
                <a:cs typeface="Arial"/>
                <a:sym typeface="Arial"/>
              </a:endParaRPr>
            </a:p>
            <a:p>
              <a:pPr indent="-114300" lvl="1" marL="114300" marR="0" rtl="0" algn="l">
                <a:lnSpc>
                  <a:spcPct val="90000"/>
                </a:lnSpc>
                <a:spcBef>
                  <a:spcPts val="21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Mitigation: Use phased integration approach with thorough testing</a:t>
              </a:r>
              <a:endParaRPr b="0" i="0" sz="1400" u="none" cap="none" strike="noStrike">
                <a:solidFill>
                  <a:schemeClr val="dk1"/>
                </a:solidFill>
                <a:latin typeface="Arial"/>
                <a:ea typeface="Arial"/>
                <a:cs typeface="Arial"/>
                <a:sym typeface="Arial"/>
              </a:endParaRPr>
            </a:p>
          </p:txBody>
        </p:sp>
        <p:sp>
          <p:nvSpPr>
            <p:cNvPr id="2404" name="Google Shape;2404;g3edf2b460e5_4_170"/>
            <p:cNvSpPr/>
            <p:nvPr/>
          </p:nvSpPr>
          <p:spPr>
            <a:xfrm>
              <a:off x="0" y="840617"/>
              <a:ext cx="3993642" cy="798848"/>
            </a:xfrm>
            <a:prstGeom prst="roundRect">
              <a:avLst>
                <a:gd fmla="val 16667" name="adj"/>
              </a:avLst>
            </a:prstGeom>
            <a:solidFill>
              <a:srgbClr val="4A2BA0"/>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g3edf2b460e5_4_170"/>
            <p:cNvSpPr txBox="1"/>
            <p:nvPr/>
          </p:nvSpPr>
          <p:spPr>
            <a:xfrm>
              <a:off x="38997" y="879614"/>
              <a:ext cx="3915648" cy="720854"/>
            </a:xfrm>
            <a:prstGeom prst="rect">
              <a:avLst/>
            </a:prstGeom>
            <a:noFill/>
            <a:ln>
              <a:noFill/>
            </a:ln>
          </p:spPr>
          <p:txBody>
            <a:bodyPr anchorCtr="0" anchor="ctr" bIns="41900" lIns="83800" spcFirstLastPara="1" rIns="83800" wrap="square" tIns="41900">
              <a:noAutofit/>
            </a:bodyPr>
            <a:lstStyle/>
            <a:p>
              <a:pPr indent="0" lvl="0" marL="0" marR="0" rtl="0" algn="ctr">
                <a:lnSpc>
                  <a:spcPct val="90000"/>
                </a:lnSpc>
                <a:spcBef>
                  <a:spcPts val="0"/>
                </a:spcBef>
                <a:spcAft>
                  <a:spcPts val="0"/>
                </a:spcAft>
                <a:buClr>
                  <a:schemeClr val="lt1"/>
                </a:buClr>
                <a:buSzPts val="2200"/>
                <a:buFont typeface="Arial"/>
                <a:buNone/>
              </a:pPr>
              <a:r>
                <a:rPr b="1" lang="en" sz="2200">
                  <a:solidFill>
                    <a:schemeClr val="lt1"/>
                  </a:solidFill>
                  <a:latin typeface="Arial"/>
                  <a:ea typeface="Arial"/>
                  <a:cs typeface="Arial"/>
                  <a:sym typeface="Arial"/>
                </a:rPr>
                <a:t>System Integration Challenges</a:t>
              </a:r>
              <a:endParaRPr sz="2200">
                <a:solidFill>
                  <a:schemeClr val="lt1"/>
                </a:solidFill>
                <a:latin typeface="Arial"/>
                <a:ea typeface="Arial"/>
                <a:cs typeface="Arial"/>
                <a:sym typeface="Arial"/>
              </a:endParaRPr>
            </a:p>
          </p:txBody>
        </p:sp>
        <p:sp>
          <p:nvSpPr>
            <p:cNvPr id="2406" name="Google Shape;2406;g3edf2b460e5_4_170"/>
            <p:cNvSpPr/>
            <p:nvPr/>
          </p:nvSpPr>
          <p:spPr>
            <a:xfrm rot="5400000">
              <a:off x="7224006" y="-1471072"/>
              <a:ext cx="639078" cy="7099808"/>
            </a:xfrm>
            <a:prstGeom prst="round2SameRect">
              <a:avLst>
                <a:gd fmla="val 16667" name="adj1"/>
                <a:gd fmla="val 0" name="adj2"/>
              </a:avLst>
            </a:prstGeom>
            <a:solidFill>
              <a:srgbClr val="CAD3DE">
                <a:alpha val="90196"/>
              </a:srgbClr>
            </a:solidFill>
            <a:ln cap="flat" cmpd="sng" w="19050">
              <a:solidFill>
                <a:srgbClr val="CAD3DE">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g3edf2b460e5_4_170"/>
            <p:cNvSpPr txBox="1"/>
            <p:nvPr/>
          </p:nvSpPr>
          <p:spPr>
            <a:xfrm>
              <a:off x="3993642" y="1790489"/>
              <a:ext cx="7068611" cy="576684"/>
            </a:xfrm>
            <a:prstGeom prst="rect">
              <a:avLst/>
            </a:prstGeom>
            <a:noFill/>
            <a:ln>
              <a:noFill/>
            </a:ln>
          </p:spPr>
          <p:txBody>
            <a:bodyPr anchorCtr="0" anchor="ctr" bIns="26650" lIns="53325" spcFirstLastPara="1" rIns="53325" wrap="square" tIns="26650">
              <a:noAutofit/>
            </a:bodyPr>
            <a:lstStyle/>
            <a:p>
              <a:pPr indent="-114300" lvl="1" marL="114300" marR="0" rtl="0" algn="l">
                <a:lnSpc>
                  <a:spcPct val="9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Risk: Teams may continue relying on manual processes</a:t>
              </a:r>
              <a:endParaRPr b="0" i="0" sz="1400" u="none" cap="none" strike="noStrike">
                <a:solidFill>
                  <a:schemeClr val="dk1"/>
                </a:solidFill>
                <a:latin typeface="Arial"/>
                <a:ea typeface="Arial"/>
                <a:cs typeface="Arial"/>
                <a:sym typeface="Arial"/>
              </a:endParaRPr>
            </a:p>
            <a:p>
              <a:pPr indent="-114300" lvl="1" marL="114300" marR="0" rtl="0" algn="l">
                <a:lnSpc>
                  <a:spcPct val="90000"/>
                </a:lnSpc>
                <a:spcBef>
                  <a:spcPts val="21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Mitigation: Comprehensive training programs and user-friendly interfaces</a:t>
              </a:r>
              <a:endParaRPr b="0" i="0" sz="1400" u="none" cap="none" strike="noStrike">
                <a:solidFill>
                  <a:schemeClr val="dk1"/>
                </a:solidFill>
                <a:latin typeface="Arial"/>
                <a:ea typeface="Arial"/>
                <a:cs typeface="Arial"/>
                <a:sym typeface="Arial"/>
              </a:endParaRPr>
            </a:p>
          </p:txBody>
        </p:sp>
        <p:sp>
          <p:nvSpPr>
            <p:cNvPr id="2408" name="Google Shape;2408;g3edf2b460e5_4_170"/>
            <p:cNvSpPr/>
            <p:nvPr/>
          </p:nvSpPr>
          <p:spPr>
            <a:xfrm>
              <a:off x="0" y="1679407"/>
              <a:ext cx="3993642" cy="798848"/>
            </a:xfrm>
            <a:prstGeom prst="roundRect">
              <a:avLst>
                <a:gd fmla="val 16667" name="adj"/>
              </a:avLst>
            </a:prstGeom>
            <a:solidFill>
              <a:srgbClr val="2C6FA2"/>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g3edf2b460e5_4_170"/>
            <p:cNvSpPr txBox="1"/>
            <p:nvPr/>
          </p:nvSpPr>
          <p:spPr>
            <a:xfrm>
              <a:off x="38997" y="1718404"/>
              <a:ext cx="3915648" cy="720854"/>
            </a:xfrm>
            <a:prstGeom prst="rect">
              <a:avLst/>
            </a:prstGeom>
            <a:noFill/>
            <a:ln>
              <a:noFill/>
            </a:ln>
          </p:spPr>
          <p:txBody>
            <a:bodyPr anchorCtr="0" anchor="ctr" bIns="41900" lIns="83800" spcFirstLastPara="1" rIns="83800" wrap="square" tIns="41900">
              <a:noAutofit/>
            </a:bodyPr>
            <a:lstStyle/>
            <a:p>
              <a:pPr indent="0" lvl="0" marL="0" marR="0" rtl="0" algn="ctr">
                <a:lnSpc>
                  <a:spcPct val="90000"/>
                </a:lnSpc>
                <a:spcBef>
                  <a:spcPts val="0"/>
                </a:spcBef>
                <a:spcAft>
                  <a:spcPts val="0"/>
                </a:spcAft>
                <a:buClr>
                  <a:schemeClr val="lt1"/>
                </a:buClr>
                <a:buSzPts val="2200"/>
                <a:buFont typeface="Arial"/>
                <a:buNone/>
              </a:pPr>
              <a:r>
                <a:rPr b="1" lang="en" sz="2200">
                  <a:solidFill>
                    <a:schemeClr val="lt1"/>
                  </a:solidFill>
                  <a:latin typeface="Arial"/>
                  <a:ea typeface="Arial"/>
                  <a:cs typeface="Arial"/>
                  <a:sym typeface="Arial"/>
                </a:rPr>
                <a:t>User Adoption</a:t>
              </a:r>
              <a:endParaRPr sz="2200">
                <a:solidFill>
                  <a:schemeClr val="lt1"/>
                </a:solidFill>
                <a:latin typeface="Arial"/>
                <a:ea typeface="Arial"/>
                <a:cs typeface="Arial"/>
                <a:sym typeface="Arial"/>
              </a:endParaRPr>
            </a:p>
          </p:txBody>
        </p:sp>
        <p:sp>
          <p:nvSpPr>
            <p:cNvPr id="2410" name="Google Shape;2410;g3edf2b460e5_4_170"/>
            <p:cNvSpPr/>
            <p:nvPr/>
          </p:nvSpPr>
          <p:spPr>
            <a:xfrm rot="5400000">
              <a:off x="7224006" y="-632281"/>
              <a:ext cx="639078" cy="7099808"/>
            </a:xfrm>
            <a:prstGeom prst="round2SameRect">
              <a:avLst>
                <a:gd fmla="val 16667" name="adj1"/>
                <a:gd fmla="val 0" name="adj2"/>
              </a:avLst>
            </a:prstGeom>
            <a:solidFill>
              <a:srgbClr val="CADED9">
                <a:alpha val="90196"/>
              </a:srgbClr>
            </a:solidFill>
            <a:ln cap="flat" cmpd="sng" w="19050">
              <a:solidFill>
                <a:srgbClr val="CADED9">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g3edf2b460e5_4_170"/>
            <p:cNvSpPr txBox="1"/>
            <p:nvPr/>
          </p:nvSpPr>
          <p:spPr>
            <a:xfrm>
              <a:off x="3993642" y="2629280"/>
              <a:ext cx="7068611" cy="576684"/>
            </a:xfrm>
            <a:prstGeom prst="rect">
              <a:avLst/>
            </a:prstGeom>
            <a:noFill/>
            <a:ln>
              <a:noFill/>
            </a:ln>
          </p:spPr>
          <p:txBody>
            <a:bodyPr anchorCtr="0" anchor="ctr" bIns="26650" lIns="53325" spcFirstLastPara="1" rIns="53325" wrap="square" tIns="26650">
              <a:noAutofit/>
            </a:bodyPr>
            <a:lstStyle/>
            <a:p>
              <a:pPr indent="-114300" lvl="1" marL="114300" marR="0" rtl="0" algn="l">
                <a:lnSpc>
                  <a:spcPct val="9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Risk: Important decisions made without human oversight</a:t>
              </a:r>
              <a:endParaRPr b="0" i="0" sz="1400" u="none" cap="none" strike="noStrike">
                <a:solidFill>
                  <a:schemeClr val="dk1"/>
                </a:solidFill>
                <a:latin typeface="Arial"/>
                <a:ea typeface="Arial"/>
                <a:cs typeface="Arial"/>
                <a:sym typeface="Arial"/>
              </a:endParaRPr>
            </a:p>
            <a:p>
              <a:pPr indent="-114300" lvl="1" marL="114300" marR="0" rtl="0" algn="l">
                <a:lnSpc>
                  <a:spcPct val="90000"/>
                </a:lnSpc>
                <a:spcBef>
                  <a:spcPts val="21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Mitigation: Maintain human-in-the-loop approval for critical or high-value orders</a:t>
              </a:r>
              <a:endParaRPr b="0" i="0" sz="1400" u="none" cap="none" strike="noStrike">
                <a:solidFill>
                  <a:schemeClr val="dk1"/>
                </a:solidFill>
                <a:latin typeface="Arial"/>
                <a:ea typeface="Arial"/>
                <a:cs typeface="Arial"/>
                <a:sym typeface="Arial"/>
              </a:endParaRPr>
            </a:p>
          </p:txBody>
        </p:sp>
        <p:sp>
          <p:nvSpPr>
            <p:cNvPr id="2412" name="Google Shape;2412;g3edf2b460e5_4_170"/>
            <p:cNvSpPr/>
            <p:nvPr/>
          </p:nvSpPr>
          <p:spPr>
            <a:xfrm>
              <a:off x="0" y="2518198"/>
              <a:ext cx="3993642" cy="798848"/>
            </a:xfrm>
            <a:prstGeom prst="roundRect">
              <a:avLst>
                <a:gd fmla="val 16667" name="adj"/>
              </a:avLst>
            </a:prstGeom>
            <a:solidFill>
              <a:srgbClr val="2CA471"/>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g3edf2b460e5_4_170"/>
            <p:cNvSpPr txBox="1"/>
            <p:nvPr/>
          </p:nvSpPr>
          <p:spPr>
            <a:xfrm>
              <a:off x="38997" y="2557195"/>
              <a:ext cx="3915648" cy="720854"/>
            </a:xfrm>
            <a:prstGeom prst="rect">
              <a:avLst/>
            </a:prstGeom>
            <a:noFill/>
            <a:ln>
              <a:noFill/>
            </a:ln>
          </p:spPr>
          <p:txBody>
            <a:bodyPr anchorCtr="0" anchor="ctr" bIns="41900" lIns="83800" spcFirstLastPara="1" rIns="83800" wrap="square" tIns="41900">
              <a:noAutofit/>
            </a:bodyPr>
            <a:lstStyle/>
            <a:p>
              <a:pPr indent="0" lvl="0" marL="0" marR="0" rtl="0" algn="ctr">
                <a:lnSpc>
                  <a:spcPct val="90000"/>
                </a:lnSpc>
                <a:spcBef>
                  <a:spcPts val="0"/>
                </a:spcBef>
                <a:spcAft>
                  <a:spcPts val="0"/>
                </a:spcAft>
                <a:buClr>
                  <a:schemeClr val="lt1"/>
                </a:buClr>
                <a:buSzPts val="2200"/>
                <a:buFont typeface="Arial"/>
                <a:buNone/>
              </a:pPr>
              <a:r>
                <a:rPr b="1" lang="en" sz="2200">
                  <a:solidFill>
                    <a:schemeClr val="lt1"/>
                  </a:solidFill>
                  <a:latin typeface="Arial"/>
                  <a:ea typeface="Arial"/>
                  <a:cs typeface="Arial"/>
                  <a:sym typeface="Arial"/>
                </a:rPr>
                <a:t>Over-reliance on the Model</a:t>
              </a:r>
              <a:endParaRPr sz="2200">
                <a:solidFill>
                  <a:schemeClr val="lt1"/>
                </a:solidFill>
                <a:latin typeface="Arial"/>
                <a:ea typeface="Arial"/>
                <a:cs typeface="Arial"/>
                <a:sym typeface="Arial"/>
              </a:endParaRPr>
            </a:p>
          </p:txBody>
        </p:sp>
        <p:sp>
          <p:nvSpPr>
            <p:cNvPr id="2414" name="Google Shape;2414;g3edf2b460e5_4_170"/>
            <p:cNvSpPr/>
            <p:nvPr/>
          </p:nvSpPr>
          <p:spPr>
            <a:xfrm rot="5400000">
              <a:off x="7224006" y="206508"/>
              <a:ext cx="639078" cy="7099808"/>
            </a:xfrm>
            <a:prstGeom prst="round2SameRect">
              <a:avLst>
                <a:gd fmla="val 16667" name="adj1"/>
                <a:gd fmla="val 0" name="adj2"/>
              </a:avLst>
            </a:prstGeom>
            <a:solidFill>
              <a:srgbClr val="CDDFCA">
                <a:alpha val="90196"/>
              </a:srgbClr>
            </a:solidFill>
            <a:ln cap="flat" cmpd="sng" w="19050">
              <a:solidFill>
                <a:srgbClr val="CDDFCA">
                  <a:alpha val="90196"/>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g3edf2b460e5_4_170"/>
            <p:cNvSpPr txBox="1"/>
            <p:nvPr/>
          </p:nvSpPr>
          <p:spPr>
            <a:xfrm>
              <a:off x="3993642" y="3468070"/>
              <a:ext cx="7068611" cy="576684"/>
            </a:xfrm>
            <a:prstGeom prst="rect">
              <a:avLst/>
            </a:prstGeom>
            <a:noFill/>
            <a:ln>
              <a:noFill/>
            </a:ln>
          </p:spPr>
          <p:txBody>
            <a:bodyPr anchorCtr="0" anchor="ctr" bIns="26650" lIns="53325" spcFirstLastPara="1" rIns="53325" wrap="square" tIns="26650">
              <a:noAutofit/>
            </a:bodyPr>
            <a:lstStyle/>
            <a:p>
              <a:pPr indent="-114300" lvl="1" marL="114300" marR="0" rtl="0" algn="l">
                <a:lnSpc>
                  <a:spcPct val="9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Risk: Model performance may degrade as business volume grows</a:t>
              </a:r>
              <a:endParaRPr b="0" i="0" sz="1400" u="none" cap="none" strike="noStrike">
                <a:solidFill>
                  <a:schemeClr val="dk1"/>
                </a:solidFill>
                <a:latin typeface="Arial"/>
                <a:ea typeface="Arial"/>
                <a:cs typeface="Arial"/>
                <a:sym typeface="Arial"/>
              </a:endParaRPr>
            </a:p>
            <a:p>
              <a:pPr indent="-114300" lvl="1" marL="114300" marR="0" rtl="0" algn="l">
                <a:lnSpc>
                  <a:spcPct val="90000"/>
                </a:lnSpc>
                <a:spcBef>
                  <a:spcPts val="21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Mitigation: Build robust monitoring systems and establish clear governance processes</a:t>
              </a:r>
              <a:endParaRPr b="0" i="0" sz="1400" u="none" cap="none" strike="noStrike">
                <a:solidFill>
                  <a:schemeClr val="dk1"/>
                </a:solidFill>
                <a:latin typeface="Arial"/>
                <a:ea typeface="Arial"/>
                <a:cs typeface="Arial"/>
                <a:sym typeface="Arial"/>
              </a:endParaRPr>
            </a:p>
          </p:txBody>
        </p:sp>
        <p:sp>
          <p:nvSpPr>
            <p:cNvPr id="2416" name="Google Shape;2416;g3edf2b460e5_4_170"/>
            <p:cNvSpPr/>
            <p:nvPr/>
          </p:nvSpPr>
          <p:spPr>
            <a:xfrm>
              <a:off x="0" y="3356988"/>
              <a:ext cx="3993642" cy="798848"/>
            </a:xfrm>
            <a:prstGeom prst="roundRect">
              <a:avLst>
                <a:gd fmla="val 16667" name="adj"/>
              </a:avLst>
            </a:prstGeom>
            <a:solidFill>
              <a:srgbClr val="4CA62D"/>
            </a:solidFill>
            <a:ln cap="flat" cmpd="sng" w="1905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g3edf2b460e5_4_170"/>
            <p:cNvSpPr txBox="1"/>
            <p:nvPr/>
          </p:nvSpPr>
          <p:spPr>
            <a:xfrm>
              <a:off x="38997" y="3395985"/>
              <a:ext cx="3915648" cy="720854"/>
            </a:xfrm>
            <a:prstGeom prst="rect">
              <a:avLst/>
            </a:prstGeom>
            <a:noFill/>
            <a:ln>
              <a:noFill/>
            </a:ln>
          </p:spPr>
          <p:txBody>
            <a:bodyPr anchorCtr="0" anchor="ctr" bIns="41900" lIns="83800" spcFirstLastPara="1" rIns="83800" wrap="square" tIns="41900">
              <a:noAutofit/>
            </a:bodyPr>
            <a:lstStyle/>
            <a:p>
              <a:pPr indent="0" lvl="0" marL="0" marR="0" rtl="0" algn="ctr">
                <a:lnSpc>
                  <a:spcPct val="90000"/>
                </a:lnSpc>
                <a:spcBef>
                  <a:spcPts val="0"/>
                </a:spcBef>
                <a:spcAft>
                  <a:spcPts val="0"/>
                </a:spcAft>
                <a:buClr>
                  <a:schemeClr val="lt1"/>
                </a:buClr>
                <a:buSzPts val="2200"/>
                <a:buFont typeface="Arial"/>
                <a:buNone/>
              </a:pPr>
              <a:r>
                <a:rPr b="1" lang="en" sz="2200">
                  <a:solidFill>
                    <a:schemeClr val="lt1"/>
                  </a:solidFill>
                  <a:latin typeface="Arial"/>
                  <a:ea typeface="Arial"/>
                  <a:cs typeface="Arial"/>
                  <a:sym typeface="Arial"/>
                </a:rPr>
                <a:t>Scalability and Maintenance</a:t>
              </a:r>
              <a:endParaRPr sz="2200">
                <a:solidFill>
                  <a:schemeClr val="lt1"/>
                </a:solidFill>
                <a:latin typeface="Arial"/>
                <a:ea typeface="Arial"/>
                <a:cs typeface="Arial"/>
                <a:sym typeface="Arial"/>
              </a:endParaRPr>
            </a:p>
          </p:txBody>
        </p:sp>
      </p:grpSp>
      <p:sp>
        <p:nvSpPr>
          <p:cNvPr id="2418" name="Google Shape;2418;g3edf2b460e5_4_17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Clr>
                <a:srgbClr val="757575"/>
              </a:buClr>
              <a:buSzPts val="1200"/>
              <a:buFont typeface="Arial"/>
              <a:buNone/>
            </a:pPr>
            <a:fld id="{00000000-1234-1234-1234-123412341234}" type="slidenum">
              <a:rPr lang="en"/>
              <a:t>‹#›</a:t>
            </a:fld>
            <a:endParaRPr/>
          </a:p>
        </p:txBody>
      </p:sp>
      <p:sp>
        <p:nvSpPr>
          <p:cNvPr id="2419" name="Google Shape;2419;g3edf2b460e5_4_170"/>
          <p:cNvSpPr txBox="1"/>
          <p:nvPr/>
        </p:nvSpPr>
        <p:spPr>
          <a:xfrm>
            <a:off x="9261131" y="63850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Group</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23" name="Shape 2423"/>
        <p:cNvGrpSpPr/>
        <p:nvPr/>
      </p:nvGrpSpPr>
      <p:grpSpPr>
        <a:xfrm>
          <a:off x="0" y="0"/>
          <a:ext cx="0" cy="0"/>
          <a:chOff x="0" y="0"/>
          <a:chExt cx="0" cy="0"/>
        </a:xfrm>
      </p:grpSpPr>
      <p:sp>
        <p:nvSpPr>
          <p:cNvPr id="2424" name="Google Shape;2424;g3edf2b460e5_4_200"/>
          <p:cNvSpPr/>
          <p:nvPr/>
        </p:nvSpPr>
        <p:spPr>
          <a:xfrm>
            <a:off x="0" y="-8467"/>
            <a:ext cx="12191999" cy="6866467"/>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People at the meeting desk" id="2425" name="Google Shape;2425;g3edf2b460e5_4_200"/>
          <p:cNvPicPr preferRelativeResize="0"/>
          <p:nvPr/>
        </p:nvPicPr>
        <p:blipFill rotWithShape="1">
          <a:blip r:embed="rId3">
            <a:alphaModFix amt="55000"/>
          </a:blip>
          <a:srcRect b="0" l="0" r="0" t="0"/>
          <a:stretch/>
        </p:blipFill>
        <p:spPr>
          <a:xfrm>
            <a:off x="20" y="-9107"/>
            <a:ext cx="12191980" cy="6858000"/>
          </a:xfrm>
          <a:prstGeom prst="rect">
            <a:avLst/>
          </a:prstGeom>
          <a:noFill/>
          <a:ln>
            <a:noFill/>
          </a:ln>
        </p:spPr>
      </p:pic>
      <p:sp>
        <p:nvSpPr>
          <p:cNvPr id="2426" name="Google Shape;2426;g3edf2b460e5_4_200"/>
          <p:cNvSpPr txBox="1"/>
          <p:nvPr>
            <p:ph type="title"/>
          </p:nvPr>
        </p:nvSpPr>
        <p:spPr>
          <a:xfrm>
            <a:off x="686824" y="591350"/>
            <a:ext cx="3455700" cy="558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2800"/>
              <a:buFont typeface="Play"/>
              <a:buNone/>
            </a:pPr>
            <a:r>
              <a:rPr b="1" lang="en" sz="2800">
                <a:solidFill>
                  <a:srgbClr val="FFFFFF"/>
                </a:solidFill>
              </a:rPr>
              <a:t>Recommendations and Next Steps</a:t>
            </a:r>
            <a:br>
              <a:rPr b="1" lang="en" sz="2800">
                <a:solidFill>
                  <a:srgbClr val="FFFFFF"/>
                </a:solidFill>
              </a:rPr>
            </a:br>
            <a:br>
              <a:rPr lang="en" sz="2800">
                <a:solidFill>
                  <a:srgbClr val="FFFFFF"/>
                </a:solidFill>
              </a:rPr>
            </a:br>
            <a:endParaRPr sz="2800">
              <a:solidFill>
                <a:srgbClr val="FFFFFF"/>
              </a:solidFill>
            </a:endParaRPr>
          </a:p>
        </p:txBody>
      </p:sp>
      <p:sp>
        <p:nvSpPr>
          <p:cNvPr id="2427" name="Google Shape;2427;g3edf2b460e5_4_200"/>
          <p:cNvSpPr/>
          <p:nvPr/>
        </p:nvSpPr>
        <p:spPr>
          <a:xfrm flipH="1" rot="10800000">
            <a:off x="7550402" y="2455479"/>
            <a:ext cx="4083433" cy="4083433"/>
          </a:xfrm>
          <a:prstGeom prst="arc">
            <a:avLst>
              <a:gd fmla="val 16200000" name="adj1"/>
              <a:gd fmla="val 0" name="adj2"/>
            </a:avLst>
          </a:prstGeom>
          <a:noFill/>
          <a:ln cap="rnd" cmpd="sng" w="127000">
            <a:solidFill>
              <a:schemeClr val="accent4"/>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28" name="Google Shape;2428;g3edf2b460e5_4_200"/>
          <p:cNvSpPr txBox="1"/>
          <p:nvPr/>
        </p:nvSpPr>
        <p:spPr>
          <a:xfrm>
            <a:off x="4447308" y="591344"/>
            <a:ext cx="6906491" cy="5585619"/>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lang="en" sz="1700">
                <a:solidFill>
                  <a:srgbClr val="FFFFFF"/>
                </a:solidFill>
                <a:latin typeface="Arial"/>
                <a:ea typeface="Arial"/>
                <a:cs typeface="Arial"/>
                <a:sym typeface="Arial"/>
              </a:rPr>
              <a:t>Recommendations</a:t>
            </a:r>
            <a:endParaRPr/>
          </a:p>
          <a:p>
            <a:pPr indent="107950" lvl="0" marL="0" marR="0" rtl="0" algn="l">
              <a:lnSpc>
                <a:spcPct val="90000"/>
              </a:lnSpc>
              <a:spcBef>
                <a:spcPts val="600"/>
              </a:spcBef>
              <a:spcAft>
                <a:spcPts val="0"/>
              </a:spcAft>
              <a:buClr>
                <a:schemeClr val="dk1"/>
              </a:buClr>
              <a:buSzPts val="1700"/>
              <a:buFont typeface="Arial"/>
              <a:buNone/>
            </a:pPr>
            <a:r>
              <a:t/>
            </a:r>
            <a:endParaRPr b="1" sz="1700">
              <a:solidFill>
                <a:srgbClr val="FFFFFF"/>
              </a:solidFill>
              <a:latin typeface="Arial"/>
              <a:ea typeface="Arial"/>
              <a:cs typeface="Arial"/>
              <a:sym typeface="Arial"/>
            </a:endParaRPr>
          </a:p>
          <a:p>
            <a:pPr indent="0" lvl="0" marL="0" marR="0" rtl="0" algn="l">
              <a:lnSpc>
                <a:spcPct val="90000"/>
              </a:lnSpc>
              <a:spcBef>
                <a:spcPts val="600"/>
              </a:spcBef>
              <a:spcAft>
                <a:spcPts val="0"/>
              </a:spcAft>
              <a:buClr>
                <a:srgbClr val="FFFFFF"/>
              </a:buClr>
              <a:buSzPts val="1700"/>
              <a:buFont typeface="Arial"/>
              <a:buChar char="•"/>
            </a:pPr>
            <a:r>
              <a:rPr lang="en" sz="1700">
                <a:solidFill>
                  <a:srgbClr val="FFFFFF"/>
                </a:solidFill>
                <a:latin typeface="Arial"/>
                <a:ea typeface="Arial"/>
                <a:cs typeface="Arial"/>
                <a:sym typeface="Arial"/>
              </a:rPr>
              <a:t>Proceed with deployment of the cost prediction model in a controlled manner</a:t>
            </a:r>
            <a:endParaRPr/>
          </a:p>
          <a:p>
            <a:pPr indent="0" lvl="0" marL="0" marR="0" rtl="0" algn="l">
              <a:lnSpc>
                <a:spcPct val="90000"/>
              </a:lnSpc>
              <a:spcBef>
                <a:spcPts val="600"/>
              </a:spcBef>
              <a:spcAft>
                <a:spcPts val="0"/>
              </a:spcAft>
              <a:buClr>
                <a:srgbClr val="FFFFFF"/>
              </a:buClr>
              <a:buSzPts val="1700"/>
              <a:buFont typeface="Arial"/>
              <a:buChar char="•"/>
            </a:pPr>
            <a:r>
              <a:rPr lang="en" sz="1700">
                <a:solidFill>
                  <a:srgbClr val="FFFFFF"/>
                </a:solidFill>
                <a:latin typeface="Arial"/>
                <a:ea typeface="Arial"/>
                <a:cs typeface="Arial"/>
                <a:sym typeface="Arial"/>
              </a:rPr>
              <a:t>Integrate the model into current quoting and planning workflows</a:t>
            </a:r>
            <a:endParaRPr/>
          </a:p>
          <a:p>
            <a:pPr indent="0" lvl="0" marL="0" marR="0" rtl="0" algn="l">
              <a:lnSpc>
                <a:spcPct val="90000"/>
              </a:lnSpc>
              <a:spcBef>
                <a:spcPts val="600"/>
              </a:spcBef>
              <a:spcAft>
                <a:spcPts val="0"/>
              </a:spcAft>
              <a:buClr>
                <a:srgbClr val="FFFFFF"/>
              </a:buClr>
              <a:buSzPts val="1700"/>
              <a:buFont typeface="Arial"/>
              <a:buChar char="•"/>
            </a:pPr>
            <a:r>
              <a:rPr lang="en" sz="1700">
                <a:solidFill>
                  <a:srgbClr val="FFFFFF"/>
                </a:solidFill>
                <a:latin typeface="Arial"/>
                <a:ea typeface="Arial"/>
                <a:cs typeface="Arial"/>
                <a:sym typeface="Arial"/>
              </a:rPr>
              <a:t>Leverage SHAP insights to drive design and process improvements</a:t>
            </a:r>
            <a:endParaRPr/>
          </a:p>
          <a:p>
            <a:pPr indent="0" lvl="0" marL="0" marR="0" rtl="0" algn="l">
              <a:lnSpc>
                <a:spcPct val="90000"/>
              </a:lnSpc>
              <a:spcBef>
                <a:spcPts val="600"/>
              </a:spcBef>
              <a:spcAft>
                <a:spcPts val="0"/>
              </a:spcAft>
              <a:buClr>
                <a:srgbClr val="FFFFFF"/>
              </a:buClr>
              <a:buSzPts val="1700"/>
              <a:buFont typeface="Arial"/>
              <a:buChar char="•"/>
            </a:pPr>
            <a:r>
              <a:rPr lang="en" sz="1700">
                <a:solidFill>
                  <a:srgbClr val="FFFFFF"/>
                </a:solidFill>
                <a:latin typeface="Arial"/>
                <a:ea typeface="Arial"/>
                <a:cs typeface="Arial"/>
                <a:sym typeface="Arial"/>
              </a:rPr>
              <a:t>Establish ongoing model governance and monitoring practices</a:t>
            </a:r>
            <a:endParaRPr/>
          </a:p>
          <a:p>
            <a:pPr indent="0" lvl="0" marL="0" marR="0" rtl="0" algn="l">
              <a:lnSpc>
                <a:spcPct val="90000"/>
              </a:lnSpc>
              <a:spcBef>
                <a:spcPts val="600"/>
              </a:spcBef>
              <a:spcAft>
                <a:spcPts val="0"/>
              </a:spcAft>
              <a:buClr>
                <a:srgbClr val="FFFFFF"/>
              </a:buClr>
              <a:buSzPts val="1700"/>
              <a:buFont typeface="Arial"/>
              <a:buChar char="•"/>
            </a:pPr>
            <a:r>
              <a:rPr lang="en" sz="1700">
                <a:solidFill>
                  <a:srgbClr val="FFFFFF"/>
                </a:solidFill>
                <a:latin typeface="Arial"/>
                <a:ea typeface="Arial"/>
                <a:cs typeface="Arial"/>
                <a:sym typeface="Arial"/>
              </a:rPr>
              <a:t>Plan for future expansion to other product categories</a:t>
            </a:r>
            <a:endParaRPr/>
          </a:p>
          <a:p>
            <a:pPr indent="107950" lvl="0" marL="0" marR="0" rtl="0" algn="l">
              <a:lnSpc>
                <a:spcPct val="90000"/>
              </a:lnSpc>
              <a:spcBef>
                <a:spcPts val="600"/>
              </a:spcBef>
              <a:spcAft>
                <a:spcPts val="0"/>
              </a:spcAft>
              <a:buClr>
                <a:schemeClr val="dk1"/>
              </a:buClr>
              <a:buSzPts val="1700"/>
              <a:buFont typeface="Arial"/>
              <a:buNone/>
            </a:pPr>
            <a:r>
              <a:t/>
            </a:r>
            <a:endParaRPr sz="1700">
              <a:solidFill>
                <a:srgbClr val="FFFFFF"/>
              </a:solidFill>
              <a:latin typeface="Arial"/>
              <a:ea typeface="Arial"/>
              <a:cs typeface="Arial"/>
              <a:sym typeface="Arial"/>
            </a:endParaRPr>
          </a:p>
          <a:p>
            <a:pPr indent="0" lvl="0" marL="0" marR="0" rtl="0" algn="l">
              <a:lnSpc>
                <a:spcPct val="90000"/>
              </a:lnSpc>
              <a:spcBef>
                <a:spcPts val="600"/>
              </a:spcBef>
              <a:spcAft>
                <a:spcPts val="0"/>
              </a:spcAft>
              <a:buNone/>
            </a:pPr>
            <a:r>
              <a:rPr b="1" lang="en" sz="1700">
                <a:solidFill>
                  <a:srgbClr val="FFFFFF"/>
                </a:solidFill>
                <a:latin typeface="Arial"/>
                <a:ea typeface="Arial"/>
                <a:cs typeface="Arial"/>
                <a:sym typeface="Arial"/>
              </a:rPr>
              <a:t>Next Steps</a:t>
            </a:r>
            <a:endParaRPr sz="1700">
              <a:solidFill>
                <a:srgbClr val="FFFFFF"/>
              </a:solidFill>
              <a:latin typeface="Arial"/>
              <a:ea typeface="Arial"/>
              <a:cs typeface="Arial"/>
              <a:sym typeface="Arial"/>
            </a:endParaRPr>
          </a:p>
          <a:p>
            <a:pPr indent="0" lvl="0" marL="0" marR="0" rtl="0" algn="l">
              <a:lnSpc>
                <a:spcPct val="90000"/>
              </a:lnSpc>
              <a:spcBef>
                <a:spcPts val="600"/>
              </a:spcBef>
              <a:spcAft>
                <a:spcPts val="0"/>
              </a:spcAft>
              <a:buClr>
                <a:srgbClr val="FFFFFF"/>
              </a:buClr>
              <a:buSzPts val="1700"/>
              <a:buFont typeface="Arial"/>
              <a:buChar char="•"/>
            </a:pPr>
            <a:r>
              <a:rPr lang="en" sz="1700">
                <a:solidFill>
                  <a:srgbClr val="FFFFFF"/>
                </a:solidFill>
                <a:latin typeface="Arial"/>
                <a:ea typeface="Arial"/>
                <a:cs typeface="Arial"/>
                <a:sym typeface="Arial"/>
              </a:rPr>
              <a:t>Review and finalize stakeholder feedback on the model</a:t>
            </a:r>
            <a:endParaRPr/>
          </a:p>
          <a:p>
            <a:pPr indent="0" lvl="0" marL="0" marR="0" rtl="0" algn="l">
              <a:lnSpc>
                <a:spcPct val="90000"/>
              </a:lnSpc>
              <a:spcBef>
                <a:spcPts val="600"/>
              </a:spcBef>
              <a:spcAft>
                <a:spcPts val="0"/>
              </a:spcAft>
              <a:buClr>
                <a:srgbClr val="FFFFFF"/>
              </a:buClr>
              <a:buSzPts val="1700"/>
              <a:buFont typeface="Arial"/>
              <a:buChar char="•"/>
            </a:pPr>
            <a:r>
              <a:rPr lang="en" sz="1700">
                <a:solidFill>
                  <a:srgbClr val="FFFFFF"/>
                </a:solidFill>
                <a:latin typeface="Arial"/>
                <a:ea typeface="Arial"/>
                <a:cs typeface="Arial"/>
                <a:sym typeface="Arial"/>
              </a:rPr>
              <a:t>Complete system integration and user training activities</a:t>
            </a:r>
            <a:endParaRPr/>
          </a:p>
          <a:p>
            <a:pPr indent="0" lvl="0" marL="0" marR="0" rtl="0" algn="l">
              <a:lnSpc>
                <a:spcPct val="90000"/>
              </a:lnSpc>
              <a:spcBef>
                <a:spcPts val="600"/>
              </a:spcBef>
              <a:spcAft>
                <a:spcPts val="0"/>
              </a:spcAft>
              <a:buClr>
                <a:srgbClr val="FFFFFF"/>
              </a:buClr>
              <a:buSzPts val="1700"/>
              <a:buFont typeface="Arial"/>
              <a:buChar char="•"/>
            </a:pPr>
            <a:r>
              <a:rPr lang="en" sz="1700">
                <a:solidFill>
                  <a:srgbClr val="FFFFFF"/>
                </a:solidFill>
                <a:latin typeface="Arial"/>
                <a:ea typeface="Arial"/>
                <a:cs typeface="Arial"/>
                <a:sym typeface="Arial"/>
              </a:rPr>
              <a:t>Launch a pilot phase with selected order types</a:t>
            </a:r>
            <a:endParaRPr/>
          </a:p>
          <a:p>
            <a:pPr indent="0" lvl="0" marL="0" marR="0" rtl="0" algn="l">
              <a:lnSpc>
                <a:spcPct val="90000"/>
              </a:lnSpc>
              <a:spcBef>
                <a:spcPts val="600"/>
              </a:spcBef>
              <a:spcAft>
                <a:spcPts val="0"/>
              </a:spcAft>
              <a:buClr>
                <a:srgbClr val="FFFFFF"/>
              </a:buClr>
              <a:buSzPts val="1700"/>
              <a:buFont typeface="Arial"/>
              <a:buChar char="•"/>
            </a:pPr>
            <a:r>
              <a:rPr lang="en" sz="1700">
                <a:solidFill>
                  <a:srgbClr val="FFFFFF"/>
                </a:solidFill>
                <a:latin typeface="Arial"/>
                <a:ea typeface="Arial"/>
                <a:cs typeface="Arial"/>
                <a:sym typeface="Arial"/>
              </a:rPr>
              <a:t>Monitor performance closely during initial deployment</a:t>
            </a:r>
            <a:endParaRPr/>
          </a:p>
          <a:p>
            <a:pPr indent="0" lvl="0" marL="0" marR="0" rtl="0" algn="l">
              <a:lnSpc>
                <a:spcPct val="90000"/>
              </a:lnSpc>
              <a:spcBef>
                <a:spcPts val="600"/>
              </a:spcBef>
              <a:spcAft>
                <a:spcPts val="0"/>
              </a:spcAft>
              <a:buClr>
                <a:srgbClr val="FFFFFF"/>
              </a:buClr>
              <a:buSzPts val="1700"/>
              <a:buFont typeface="Arial"/>
              <a:buChar char="•"/>
            </a:pPr>
            <a:r>
              <a:rPr lang="en" sz="1700">
                <a:solidFill>
                  <a:srgbClr val="FFFFFF"/>
                </a:solidFill>
                <a:latin typeface="Arial"/>
                <a:ea typeface="Arial"/>
                <a:cs typeface="Arial"/>
                <a:sym typeface="Arial"/>
              </a:rPr>
              <a:t>Conduct comprehensive review after pilot to inform full rollout</a:t>
            </a:r>
            <a:endParaRPr/>
          </a:p>
          <a:p>
            <a:pPr indent="0" lvl="0" marL="0" marR="0" rtl="0" algn="l">
              <a:lnSpc>
                <a:spcPct val="90000"/>
              </a:lnSpc>
              <a:spcBef>
                <a:spcPts val="600"/>
              </a:spcBef>
              <a:spcAft>
                <a:spcPts val="0"/>
              </a:spcAft>
              <a:buClr>
                <a:srgbClr val="FFFFFF"/>
              </a:buClr>
              <a:buSzPts val="1700"/>
              <a:buFont typeface="Arial"/>
              <a:buChar char="•"/>
            </a:pPr>
            <a:r>
              <a:rPr lang="en" sz="1700">
                <a:solidFill>
                  <a:srgbClr val="FFFFFF"/>
                </a:solidFill>
                <a:latin typeface="Arial"/>
                <a:ea typeface="Arial"/>
                <a:cs typeface="Arial"/>
                <a:sym typeface="Arial"/>
              </a:rPr>
              <a:t>Define long-term maintenance and improvement roadmap</a:t>
            </a:r>
            <a:endParaRPr/>
          </a:p>
          <a:p>
            <a:pPr indent="0" lvl="0" marL="0" marR="0" rtl="0" algn="l">
              <a:lnSpc>
                <a:spcPct val="90000"/>
              </a:lnSpc>
              <a:spcBef>
                <a:spcPts val="600"/>
              </a:spcBef>
              <a:spcAft>
                <a:spcPts val="0"/>
              </a:spcAft>
              <a:buNone/>
            </a:pPr>
            <a:br>
              <a:rPr lang="en" sz="1700">
                <a:solidFill>
                  <a:srgbClr val="FFFFFF"/>
                </a:solidFill>
                <a:latin typeface="Arial"/>
                <a:ea typeface="Arial"/>
                <a:cs typeface="Arial"/>
                <a:sym typeface="Arial"/>
              </a:rPr>
            </a:br>
            <a:endParaRPr sz="1700">
              <a:solidFill>
                <a:srgbClr val="FFFFFF"/>
              </a:solidFill>
              <a:latin typeface="Arial"/>
              <a:ea typeface="Arial"/>
              <a:cs typeface="Arial"/>
              <a:sym typeface="Arial"/>
            </a:endParaRPr>
          </a:p>
        </p:txBody>
      </p:sp>
      <p:sp>
        <p:nvSpPr>
          <p:cNvPr id="2429" name="Google Shape;2429;g3edf2b460e5_4_200"/>
          <p:cNvSpPr txBox="1"/>
          <p:nvPr>
            <p:ph idx="12" type="sldNum"/>
          </p:nvPr>
        </p:nvSpPr>
        <p:spPr>
          <a:xfrm>
            <a:off x="9819860" y="6356350"/>
            <a:ext cx="1533939"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solidFill>
                  <a:srgbClr val="FFFFFF"/>
                </a:solidFill>
                <a:latin typeface="Calibri"/>
                <a:ea typeface="Calibri"/>
                <a:cs typeface="Calibri"/>
                <a:sym typeface="Calibri"/>
              </a:rPr>
              <a:t>‹#›</a:t>
            </a:fld>
            <a:endParaRPr>
              <a:solidFill>
                <a:srgbClr val="FFFFFF"/>
              </a:solidFill>
              <a:latin typeface="Calibri"/>
              <a:ea typeface="Calibri"/>
              <a:cs typeface="Calibri"/>
              <a:sym typeface="Calibri"/>
            </a:endParaRPr>
          </a:p>
        </p:txBody>
      </p:sp>
      <p:sp>
        <p:nvSpPr>
          <p:cNvPr id="2430" name="Google Shape;2430;g3edf2b460e5_4_200"/>
          <p:cNvSpPr txBox="1"/>
          <p:nvPr/>
        </p:nvSpPr>
        <p:spPr>
          <a:xfrm>
            <a:off x="8142331" y="6231100"/>
            <a:ext cx="1011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Group</a:t>
            </a:r>
            <a:endParaRPr>
              <a:solidFill>
                <a:schemeClr val="lt1"/>
              </a:solidFill>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5" name="Shape 2435"/>
        <p:cNvGrpSpPr/>
        <p:nvPr/>
      </p:nvGrpSpPr>
      <p:grpSpPr>
        <a:xfrm>
          <a:off x="0" y="0"/>
          <a:ext cx="0" cy="0"/>
          <a:chOff x="0" y="0"/>
          <a:chExt cx="0" cy="0"/>
        </a:xfrm>
      </p:grpSpPr>
      <p:sp>
        <p:nvSpPr>
          <p:cNvPr id="2436" name="Google Shape;2436;g3ef13fd5dad_0_6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a:t>Modeling Results Summary</a:t>
            </a:r>
            <a:endParaRPr/>
          </a:p>
        </p:txBody>
      </p:sp>
      <p:sp>
        <p:nvSpPr>
          <p:cNvPr id="2437" name="Google Shape;2437;g3ef13fd5dad_0_6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25000" lnSpcReduction="20000"/>
          </a:bodyPr>
          <a:lstStyle/>
          <a:p>
            <a:pPr indent="0" lvl="0" marL="0" rtl="0" algn="l">
              <a:lnSpc>
                <a:spcPct val="115000"/>
              </a:lnSpc>
              <a:spcBef>
                <a:spcPts val="0"/>
              </a:spcBef>
              <a:spcAft>
                <a:spcPts val="0"/>
              </a:spcAft>
              <a:buClr>
                <a:schemeClr val="dk1"/>
              </a:buClr>
              <a:buSzPts val="275"/>
              <a:buFont typeface="Arial"/>
              <a:buNone/>
            </a:pPr>
            <a:r>
              <a:rPr b="1" lang="en" sz="6300">
                <a:latin typeface="Google Sans"/>
                <a:ea typeface="Google Sans"/>
                <a:cs typeface="Google Sans"/>
                <a:sym typeface="Google Sans"/>
              </a:rPr>
              <a:t>Model Performance Leaderboard</a:t>
            </a:r>
            <a:endParaRPr b="1" sz="6300">
              <a:latin typeface="Google Sans"/>
              <a:ea typeface="Google Sans"/>
              <a:cs typeface="Google Sans"/>
              <a:sym typeface="Google Sans"/>
            </a:endParaRPr>
          </a:p>
          <a:p>
            <a:pPr indent="0" lvl="0" marL="0" rtl="0" algn="l">
              <a:lnSpc>
                <a:spcPct val="115000"/>
              </a:lnSpc>
              <a:spcBef>
                <a:spcPts val="400"/>
              </a:spcBef>
              <a:spcAft>
                <a:spcPts val="0"/>
              </a:spcAft>
              <a:buClr>
                <a:schemeClr val="dk1"/>
              </a:buClr>
              <a:buSzPts val="275"/>
              <a:buFont typeface="Arial"/>
              <a:buNone/>
            </a:pPr>
            <a:r>
              <a:rPr lang="en" sz="6300"/>
              <a:t>The predictive models were evaluated across multiple metrics to determine their ability to baseline Caterpillar supply chain tube assembly quote costs.</a:t>
            </a:r>
            <a:endParaRPr sz="6300"/>
          </a:p>
          <a:p>
            <a:pPr indent="-328613" lvl="0" marL="457200" rtl="0" algn="l">
              <a:lnSpc>
                <a:spcPct val="115000"/>
              </a:lnSpc>
              <a:spcBef>
                <a:spcPts val="1200"/>
              </a:spcBef>
              <a:spcAft>
                <a:spcPts val="0"/>
              </a:spcAft>
              <a:buSzPct val="100000"/>
              <a:buChar char="●"/>
            </a:pPr>
            <a:r>
              <a:rPr b="1" lang="en" sz="6300"/>
              <a:t>XGBoost (Selected Primary Model)</a:t>
            </a:r>
            <a:r>
              <a:rPr lang="en" sz="6300"/>
              <a:t>: Achieved peak predictive accuracy with a Mean Absolute Percentage Error (MAPE) of </a:t>
            </a:r>
            <a:r>
              <a:rPr b="1" lang="en" sz="6300"/>
              <a:t>13.8%</a:t>
            </a:r>
            <a:r>
              <a:rPr lang="en" sz="6300"/>
              <a:t>, a Mean Absolute Error (MAE) of </a:t>
            </a:r>
            <a:r>
              <a:rPr b="1" lang="en" sz="6300"/>
              <a:t>$2.46</a:t>
            </a:r>
            <a:r>
              <a:rPr lang="en" sz="6300"/>
              <a:t>, a Root Mean Square Error (RMSE) of </a:t>
            </a:r>
            <a:r>
              <a:rPr b="1" lang="en" sz="6300"/>
              <a:t>10.99</a:t>
            </a:r>
            <a:r>
              <a:rPr lang="en" sz="6300"/>
              <a:t>, and explained </a:t>
            </a:r>
            <a:r>
              <a:rPr b="1" lang="en" sz="6300"/>
              <a:t>84.93%</a:t>
            </a:r>
            <a:r>
              <a:rPr lang="en" sz="6300"/>
              <a:t> of true cost variance (</a:t>
            </a:r>
            <a:r>
              <a:rPr lang="en" sz="6300"/>
              <a:t>R^2</a:t>
            </a:r>
            <a:r>
              <a:rPr lang="en" sz="6300"/>
              <a:t> = 0.8493).</a:t>
            </a:r>
            <a:endParaRPr sz="6300"/>
          </a:p>
          <a:p>
            <a:pPr indent="-328613" lvl="0" marL="457200" rtl="0" algn="l">
              <a:lnSpc>
                <a:spcPct val="115000"/>
              </a:lnSpc>
              <a:spcBef>
                <a:spcPts val="0"/>
              </a:spcBef>
              <a:spcAft>
                <a:spcPts val="0"/>
              </a:spcAft>
              <a:buSzPct val="100000"/>
              <a:buChar char="●"/>
            </a:pPr>
            <a:r>
              <a:rPr b="1" lang="en" sz="6300"/>
              <a:t>Random Forest Regressor (Strong Alternative)</a:t>
            </a:r>
            <a:r>
              <a:rPr lang="en" sz="6300"/>
              <a:t>: Demonstrated competitive robustness as the second-best performer, reaching an R^2 of </a:t>
            </a:r>
            <a:r>
              <a:rPr b="1" lang="en" sz="6300"/>
              <a:t>0.7537</a:t>
            </a:r>
            <a:r>
              <a:rPr lang="en" sz="6300"/>
              <a:t> and a low absolute error of </a:t>
            </a:r>
            <a:r>
              <a:rPr b="1" lang="en" sz="6300"/>
              <a:t>$2.73</a:t>
            </a:r>
            <a:r>
              <a:rPr lang="en" sz="6300"/>
              <a:t>.</a:t>
            </a:r>
            <a:endParaRPr sz="6300"/>
          </a:p>
          <a:p>
            <a:pPr indent="-328613" lvl="0" marL="457200" rtl="0" algn="l">
              <a:lnSpc>
                <a:spcPct val="115000"/>
              </a:lnSpc>
              <a:spcBef>
                <a:spcPts val="0"/>
              </a:spcBef>
              <a:spcAft>
                <a:spcPts val="0"/>
              </a:spcAft>
              <a:buSzPct val="100000"/>
              <a:buChar char="●"/>
            </a:pPr>
            <a:r>
              <a:rPr b="1" lang="en" sz="6300"/>
              <a:t>Linear Regression (Baseline)</a:t>
            </a:r>
            <a:r>
              <a:rPr lang="en" sz="6300"/>
              <a:t>: Failed to adequately capture the pricing structure, achieving an R^2$ of just </a:t>
            </a:r>
            <a:r>
              <a:rPr b="1" lang="en" sz="6300"/>
              <a:t>0.1209</a:t>
            </a:r>
            <a:r>
              <a:rPr lang="en" sz="6300"/>
              <a:t> and an error of </a:t>
            </a:r>
            <a:r>
              <a:rPr b="1" lang="en" sz="6300"/>
              <a:t>$7.93</a:t>
            </a:r>
            <a:r>
              <a:rPr lang="en" sz="6300"/>
              <a:t>, proving that standard global linear trends cannot successfully handle complex manufacturing cost relationships.</a:t>
            </a:r>
            <a:endParaRPr sz="6300"/>
          </a:p>
          <a:p>
            <a:pPr indent="0" lvl="0" marL="0" rtl="0" algn="l">
              <a:lnSpc>
                <a:spcPct val="115000"/>
              </a:lnSpc>
              <a:spcBef>
                <a:spcPts val="1200"/>
              </a:spcBef>
              <a:spcAft>
                <a:spcPts val="0"/>
              </a:spcAft>
              <a:buNone/>
            </a:pPr>
            <a:r>
              <a:t/>
            </a:r>
            <a:endParaRPr sz="6300"/>
          </a:p>
          <a:p>
            <a:pPr indent="0" lvl="0" marL="0" rtl="0" algn="l">
              <a:lnSpc>
                <a:spcPct val="115000"/>
              </a:lnSpc>
              <a:spcBef>
                <a:spcPts val="1200"/>
              </a:spcBef>
              <a:spcAft>
                <a:spcPts val="0"/>
              </a:spcAft>
              <a:buClr>
                <a:schemeClr val="dk1"/>
              </a:buClr>
              <a:buSzPts val="275"/>
              <a:buFont typeface="Arial"/>
              <a:buNone/>
            </a:pPr>
            <a:r>
              <a:rPr b="1" lang="en" sz="6300">
                <a:latin typeface="Google Sans"/>
                <a:ea typeface="Google Sans"/>
                <a:cs typeface="Google Sans"/>
                <a:sym typeface="Google Sans"/>
              </a:rPr>
              <a:t>Key Analytical Takeaways</a:t>
            </a:r>
            <a:endParaRPr b="1" sz="6300">
              <a:latin typeface="Google Sans"/>
              <a:ea typeface="Google Sans"/>
              <a:cs typeface="Google Sans"/>
              <a:sym typeface="Google Sans"/>
            </a:endParaRPr>
          </a:p>
          <a:p>
            <a:pPr indent="-328613" lvl="0" marL="457200" rtl="0" algn="l">
              <a:lnSpc>
                <a:spcPct val="115000"/>
              </a:lnSpc>
              <a:spcBef>
                <a:spcPts val="400"/>
              </a:spcBef>
              <a:spcAft>
                <a:spcPts val="0"/>
              </a:spcAft>
              <a:buSzPct val="100000"/>
              <a:buChar char="●"/>
            </a:pPr>
            <a:r>
              <a:rPr b="1" lang="en" sz="6300"/>
              <a:t>Algorithmic Dominance</a:t>
            </a:r>
            <a:r>
              <a:rPr lang="en" sz="6300"/>
              <a:t>: Non-linear tree-based ensemble methods vastly outperformed traditional models (Linear Regression and KNN) across all evaluated metrics.</a:t>
            </a:r>
            <a:endParaRPr sz="6300"/>
          </a:p>
          <a:p>
            <a:pPr indent="-328613" lvl="0" marL="457200" rtl="0" algn="l">
              <a:lnSpc>
                <a:spcPct val="115000"/>
              </a:lnSpc>
              <a:spcBef>
                <a:spcPts val="0"/>
              </a:spcBef>
              <a:spcAft>
                <a:spcPts val="0"/>
              </a:spcAft>
              <a:buSzPct val="100000"/>
              <a:buChar char="●"/>
            </a:pPr>
            <a:r>
              <a:rPr b="1" lang="en" sz="6300"/>
              <a:t>Error Distribution</a:t>
            </a:r>
            <a:r>
              <a:rPr lang="en" sz="6300"/>
              <a:t>: Out of all variations, the tuned gradient-boosted trees optimized via RandomizedSearchCV mitigated severe financial forecasting misses the most effectively.</a:t>
            </a:r>
            <a:endParaRPr sz="6300"/>
          </a:p>
          <a:p>
            <a:pPr indent="0" lvl="0" marL="0" rtl="0" algn="l">
              <a:lnSpc>
                <a:spcPct val="115000"/>
              </a:lnSpc>
              <a:spcBef>
                <a:spcPts val="1200"/>
              </a:spcBef>
              <a:spcAft>
                <a:spcPts val="0"/>
              </a:spcAft>
              <a:buNone/>
            </a:pPr>
            <a:r>
              <a:t/>
            </a:r>
            <a:endParaRPr sz="1100"/>
          </a:p>
          <a:p>
            <a:pPr indent="0" lvl="0" marL="0" rtl="0" algn="l">
              <a:spcBef>
                <a:spcPts val="1200"/>
              </a:spcBef>
              <a:spcAft>
                <a:spcPts val="0"/>
              </a:spcAft>
              <a:buNone/>
            </a:pPr>
            <a:r>
              <a:t/>
            </a:r>
            <a:endParaRPr/>
          </a:p>
        </p:txBody>
      </p:sp>
      <p:sp>
        <p:nvSpPr>
          <p:cNvPr id="2438" name="Google Shape;2438;g3ef13fd5dad_0_6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3" name="Shape 2443"/>
        <p:cNvGrpSpPr/>
        <p:nvPr/>
      </p:nvGrpSpPr>
      <p:grpSpPr>
        <a:xfrm>
          <a:off x="0" y="0"/>
          <a:ext cx="0" cy="0"/>
          <a:chOff x="0" y="0"/>
          <a:chExt cx="0" cy="0"/>
        </a:xfrm>
      </p:grpSpPr>
      <p:sp>
        <p:nvSpPr>
          <p:cNvPr id="2444" name="Google Shape;2444;g3ef13fd5dad_0_6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a:t>Lessons Learned</a:t>
            </a:r>
            <a:endParaRPr/>
          </a:p>
        </p:txBody>
      </p:sp>
      <p:sp>
        <p:nvSpPr>
          <p:cNvPr id="2445" name="Google Shape;2445;g3ef13fd5dad_0_67"/>
          <p:cNvSpPr txBox="1"/>
          <p:nvPr>
            <p:ph idx="1" type="body"/>
          </p:nvPr>
        </p:nvSpPr>
        <p:spPr>
          <a:xfrm>
            <a:off x="838200" y="1519325"/>
            <a:ext cx="4525200" cy="4895700"/>
          </a:xfrm>
          <a:prstGeom prst="rect">
            <a:avLst/>
          </a:prstGeom>
        </p:spPr>
        <p:txBody>
          <a:bodyPr anchorCtr="0" anchor="t" bIns="45700" lIns="91425" spcFirstLastPara="1" rIns="91425" wrap="square" tIns="45700">
            <a:normAutofit fontScale="25000" lnSpcReduction="20000"/>
          </a:bodyPr>
          <a:lstStyle/>
          <a:p>
            <a:pPr indent="0" lvl="0" marL="0" rtl="0" algn="l">
              <a:lnSpc>
                <a:spcPct val="115000"/>
              </a:lnSpc>
              <a:spcBef>
                <a:spcPts val="0"/>
              </a:spcBef>
              <a:spcAft>
                <a:spcPts val="0"/>
              </a:spcAft>
              <a:buClr>
                <a:schemeClr val="dk1"/>
              </a:buClr>
              <a:buSzPts val="275"/>
              <a:buFont typeface="Arial"/>
              <a:buNone/>
            </a:pPr>
            <a:r>
              <a:rPr b="1" lang="en" sz="4626">
                <a:latin typeface="Google Sans"/>
                <a:ea typeface="Google Sans"/>
                <a:cs typeface="Google Sans"/>
                <a:sym typeface="Google Sans"/>
              </a:rPr>
              <a:t>Target Variable Transformations</a:t>
            </a:r>
            <a:endParaRPr b="1" sz="4626">
              <a:latin typeface="Google Sans"/>
              <a:ea typeface="Google Sans"/>
              <a:cs typeface="Google Sans"/>
              <a:sym typeface="Google Sans"/>
            </a:endParaRPr>
          </a:p>
          <a:p>
            <a:pPr indent="-302036" lvl="0" marL="457200" rtl="0" algn="l">
              <a:lnSpc>
                <a:spcPct val="115000"/>
              </a:lnSpc>
              <a:spcBef>
                <a:spcPts val="400"/>
              </a:spcBef>
              <a:spcAft>
                <a:spcPts val="0"/>
              </a:spcAft>
              <a:buSzPct val="100000"/>
              <a:buChar char="●"/>
            </a:pPr>
            <a:r>
              <a:rPr b="1" lang="en" sz="4626"/>
              <a:t>Variance Stabilization</a:t>
            </a:r>
            <a:r>
              <a:rPr lang="en" sz="4626"/>
              <a:t>: Initial exploration of the dataset showed that raw supplier quote costs were severely right-skewed, ranging from under $1 up to extreme outliers of $1000.</a:t>
            </a:r>
            <a:endParaRPr sz="4626"/>
          </a:p>
          <a:p>
            <a:pPr indent="-302036" lvl="0" marL="457200" rtl="0" algn="l">
              <a:lnSpc>
                <a:spcPct val="115000"/>
              </a:lnSpc>
              <a:spcBef>
                <a:spcPts val="0"/>
              </a:spcBef>
              <a:spcAft>
                <a:spcPts val="0"/>
              </a:spcAft>
              <a:buSzPct val="100000"/>
              <a:buChar char="●"/>
            </a:pPr>
            <a:r>
              <a:rPr b="1" lang="en" sz="4626"/>
              <a:t>Power Scaling</a:t>
            </a:r>
            <a:r>
              <a:rPr lang="en" sz="4626"/>
              <a:t>: Applying a mathematical transformation (cost in power} or a natural log transformation) to the target cost was mandatory to neutralize extreme variance and stabilize model convergence.</a:t>
            </a:r>
            <a:endParaRPr sz="4626"/>
          </a:p>
          <a:p>
            <a:pPr indent="0" lvl="0" marL="0" rtl="0" algn="l">
              <a:lnSpc>
                <a:spcPct val="115000"/>
              </a:lnSpc>
              <a:spcBef>
                <a:spcPts val="1200"/>
              </a:spcBef>
              <a:spcAft>
                <a:spcPts val="0"/>
              </a:spcAft>
              <a:buClr>
                <a:schemeClr val="dk1"/>
              </a:buClr>
              <a:buSzPts val="275"/>
              <a:buFont typeface="Arial"/>
              <a:buNone/>
            </a:pPr>
            <a:r>
              <a:rPr b="1" lang="en" sz="4626">
                <a:latin typeface="Google Sans"/>
                <a:ea typeface="Google Sans"/>
                <a:cs typeface="Google Sans"/>
                <a:sym typeface="Google Sans"/>
              </a:rPr>
              <a:t>Value of Aggregated Feature Engineering</a:t>
            </a:r>
            <a:endParaRPr b="1" sz="4626">
              <a:latin typeface="Google Sans"/>
              <a:ea typeface="Google Sans"/>
              <a:cs typeface="Google Sans"/>
              <a:sym typeface="Google Sans"/>
            </a:endParaRPr>
          </a:p>
          <a:p>
            <a:pPr indent="-302036" lvl="0" marL="457200" rtl="0" algn="l">
              <a:lnSpc>
                <a:spcPct val="115000"/>
              </a:lnSpc>
              <a:spcBef>
                <a:spcPts val="400"/>
              </a:spcBef>
              <a:spcAft>
                <a:spcPts val="0"/>
              </a:spcAft>
              <a:buSzPct val="100000"/>
              <a:buChar char="●"/>
            </a:pPr>
            <a:r>
              <a:rPr b="1" lang="en" sz="4626"/>
              <a:t>Physical Cost Signals</a:t>
            </a:r>
            <a:r>
              <a:rPr lang="en" sz="4626"/>
              <a:t>: Relying on raw relational columns from the bill of materials introduced high cardinality and feature noise.</a:t>
            </a:r>
            <a:endParaRPr sz="4626"/>
          </a:p>
          <a:p>
            <a:pPr indent="-302036" lvl="0" marL="457200" rtl="0" algn="l">
              <a:lnSpc>
                <a:spcPct val="115000"/>
              </a:lnSpc>
              <a:spcBef>
                <a:spcPts val="0"/>
              </a:spcBef>
              <a:spcAft>
                <a:spcPts val="0"/>
              </a:spcAft>
              <a:buSzPct val="100000"/>
              <a:buChar char="●"/>
            </a:pPr>
            <a:r>
              <a:rPr b="1" lang="en" sz="4626"/>
              <a:t>Structural Synthesis</a:t>
            </a:r>
            <a:r>
              <a:rPr lang="en" sz="4626"/>
              <a:t>: Aggregating secondary files into </a:t>
            </a:r>
            <a:r>
              <a:rPr lang="en" sz="4626">
                <a:solidFill>
                  <a:srgbClr val="188038"/>
                </a:solidFill>
              </a:rPr>
              <a:t>Total_weight</a:t>
            </a:r>
            <a:r>
              <a:rPr lang="en" sz="4626"/>
              <a:t> and </a:t>
            </a:r>
            <a:r>
              <a:rPr lang="en" sz="4626">
                <a:solidFill>
                  <a:srgbClr val="188038"/>
                </a:solidFill>
              </a:rPr>
              <a:t>Total_quantity</a:t>
            </a:r>
            <a:r>
              <a:rPr lang="en" sz="4626"/>
              <a:t> provided a direct physical scaling signal to the tree splits, which SHAP analysis identified as a top metric driver alongside </a:t>
            </a:r>
            <a:r>
              <a:rPr lang="en" sz="4626">
                <a:solidFill>
                  <a:srgbClr val="188038"/>
                </a:solidFill>
              </a:rPr>
              <a:t>min_order_quantity</a:t>
            </a:r>
            <a:r>
              <a:rPr lang="en" sz="4626"/>
              <a:t>.</a:t>
            </a:r>
            <a:endParaRPr sz="4626"/>
          </a:p>
          <a:p>
            <a:pPr indent="0" lvl="0" marL="0" rtl="0" algn="l">
              <a:lnSpc>
                <a:spcPct val="115000"/>
              </a:lnSpc>
              <a:spcBef>
                <a:spcPts val="1200"/>
              </a:spcBef>
              <a:spcAft>
                <a:spcPts val="0"/>
              </a:spcAft>
              <a:buClr>
                <a:schemeClr val="dk1"/>
              </a:buClr>
              <a:buSzPts val="275"/>
              <a:buFont typeface="Arial"/>
              <a:buNone/>
            </a:pPr>
            <a:r>
              <a:rPr b="1" lang="en" sz="4626">
                <a:latin typeface="Google Sans"/>
                <a:ea typeface="Google Sans"/>
                <a:cs typeface="Google Sans"/>
                <a:sym typeface="Google Sans"/>
              </a:rPr>
              <a:t>Non-Linear Pricing Structures</a:t>
            </a:r>
            <a:endParaRPr b="1" sz="4626">
              <a:latin typeface="Google Sans"/>
              <a:ea typeface="Google Sans"/>
              <a:cs typeface="Google Sans"/>
              <a:sym typeface="Google Sans"/>
            </a:endParaRPr>
          </a:p>
          <a:p>
            <a:pPr indent="-302036" lvl="0" marL="457200" rtl="0" algn="l">
              <a:lnSpc>
                <a:spcPct val="115000"/>
              </a:lnSpc>
              <a:spcBef>
                <a:spcPts val="400"/>
              </a:spcBef>
              <a:spcAft>
                <a:spcPts val="0"/>
              </a:spcAft>
              <a:buSzPct val="100000"/>
              <a:buChar char="●"/>
            </a:pPr>
            <a:r>
              <a:rPr b="1" lang="en" sz="4626"/>
              <a:t>Local Complexity</a:t>
            </a:r>
            <a:r>
              <a:rPr lang="en" sz="4626"/>
              <a:t>: Supplier quoting follows local step-functions (bulk thresholds and setup minimums) rather than global geometric averages.</a:t>
            </a:r>
            <a:endParaRPr sz="4626"/>
          </a:p>
          <a:p>
            <a:pPr indent="-302036" lvl="0" marL="457200" rtl="0" algn="l">
              <a:lnSpc>
                <a:spcPct val="115000"/>
              </a:lnSpc>
              <a:spcBef>
                <a:spcPts val="0"/>
              </a:spcBef>
              <a:spcAft>
                <a:spcPts val="0"/>
              </a:spcAft>
              <a:buSzPct val="100000"/>
              <a:buChar char="●"/>
            </a:pPr>
            <a:r>
              <a:rPr b="1" lang="en" sz="4626"/>
              <a:t>Interaction Mapping</a:t>
            </a:r>
            <a:r>
              <a:rPr lang="en" sz="4626"/>
              <a:t>: Models must natively capture multi-variable geometric interactions (e.g., combinations of wide tube diameter, long lengths, and complex end-forming features) that linear paths compress.</a:t>
            </a:r>
            <a:endParaRPr sz="4626"/>
          </a:p>
          <a:p>
            <a:pPr indent="0" lvl="0" marL="0" rtl="0" algn="l">
              <a:spcBef>
                <a:spcPts val="1200"/>
              </a:spcBef>
              <a:spcAft>
                <a:spcPts val="0"/>
              </a:spcAft>
              <a:buNone/>
            </a:pPr>
            <a:r>
              <a:t/>
            </a:r>
            <a:endParaRPr/>
          </a:p>
        </p:txBody>
      </p:sp>
      <p:sp>
        <p:nvSpPr>
          <p:cNvPr id="2446" name="Google Shape;2446;g3ef13fd5dad_0_6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447" name="Google Shape;2447;g3ef13fd5dad_0_67"/>
          <p:cNvSpPr txBox="1"/>
          <p:nvPr/>
        </p:nvSpPr>
        <p:spPr>
          <a:xfrm>
            <a:off x="5760350" y="1519325"/>
            <a:ext cx="5238900" cy="496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Google Sans"/>
                <a:ea typeface="Google Sans"/>
                <a:cs typeface="Google Sans"/>
                <a:sym typeface="Google Sans"/>
              </a:rPr>
              <a:t>Data Quality Constraints &amp; Limitations</a:t>
            </a:r>
            <a:endParaRPr>
              <a:solidFill>
                <a:schemeClr val="dk1"/>
              </a:solidFill>
            </a:endParaRPr>
          </a:p>
          <a:p>
            <a:pPr indent="-317500" lvl="0" marL="457200" rtl="0" algn="l">
              <a:lnSpc>
                <a:spcPct val="115000"/>
              </a:lnSpc>
              <a:spcBef>
                <a:spcPts val="400"/>
              </a:spcBef>
              <a:spcAft>
                <a:spcPts val="0"/>
              </a:spcAft>
              <a:buClr>
                <a:schemeClr val="dk1"/>
              </a:buClr>
              <a:buSzPts val="1400"/>
              <a:buChar char="●"/>
            </a:pPr>
            <a:r>
              <a:rPr b="1" lang="en">
                <a:solidFill>
                  <a:schemeClr val="dk1"/>
                </a:solidFill>
              </a:rPr>
              <a:t>Integration Overhead</a:t>
            </a:r>
            <a:r>
              <a:rPr lang="en">
                <a:solidFill>
                  <a:schemeClr val="dk1"/>
                </a:solidFill>
              </a:rPr>
              <a:t>: Merging separate flat datasets (tube, components, bill of materials, and dates) required significant code architecture coordination and data alignment efforts by the Project Manager.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latin typeface="Google Sans"/>
                <a:ea typeface="Google Sans"/>
                <a:cs typeface="Google Sans"/>
                <a:sym typeface="Google Sans"/>
              </a:rPr>
              <a:t>Operational Boundaries &amp; Model Governance</a:t>
            </a:r>
            <a:endParaRPr b="1">
              <a:solidFill>
                <a:schemeClr val="dk1"/>
              </a:solidFill>
              <a:latin typeface="Google Sans"/>
              <a:ea typeface="Google Sans"/>
              <a:cs typeface="Google Sans"/>
              <a:sym typeface="Google Sans"/>
            </a:endParaRPr>
          </a:p>
          <a:p>
            <a:pPr indent="-317500" lvl="0" marL="457200" rtl="0" algn="l">
              <a:lnSpc>
                <a:spcPct val="115000"/>
              </a:lnSpc>
              <a:spcBef>
                <a:spcPts val="400"/>
              </a:spcBef>
              <a:spcAft>
                <a:spcPts val="0"/>
              </a:spcAft>
              <a:buClr>
                <a:schemeClr val="dk1"/>
              </a:buClr>
              <a:buSzPts val="1400"/>
              <a:buChar char="●"/>
            </a:pPr>
            <a:r>
              <a:rPr b="1" lang="en">
                <a:solidFill>
                  <a:schemeClr val="dk1"/>
                </a:solidFill>
              </a:rPr>
              <a:t>Asymmetric Accuracy</a:t>
            </a:r>
            <a:r>
              <a:rPr lang="en">
                <a:solidFill>
                  <a:schemeClr val="dk1"/>
                </a:solidFill>
              </a:rPr>
              <a:t>: The final model is exceptionally accurate for mainstream, low-cost assemblies under $20, which represent the vast majority of historical purchasing trends.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Outlier Vulnerability</a:t>
            </a:r>
            <a:r>
              <a:rPr lang="en">
                <a:solidFill>
                  <a:schemeClr val="dk1"/>
                </a:solidFill>
              </a:rPr>
              <a:t>: For unique, high-cost assemblies exceeding $100, the data landscape is sparse, leading the model to systematically underestimate final quotes.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Human-in-the-Loop Safeguard</a:t>
            </a:r>
            <a:r>
              <a:rPr lang="en">
                <a:solidFill>
                  <a:schemeClr val="dk1"/>
                </a:solidFill>
              </a:rPr>
              <a:t>: The system must be deployed as an operational support benchmark to flag abnormal supplier behavior, rather than an automated price setter. Any prediction falling within a high-value or highly customized cost band should trigger a manual engineering review.</a:t>
            </a:r>
            <a:endParaRPr>
              <a:solidFill>
                <a:schemeClr val="dk1"/>
              </a:solidFill>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51" name="Shape 2451"/>
        <p:cNvGrpSpPr/>
        <p:nvPr/>
      </p:nvGrpSpPr>
      <p:grpSpPr>
        <a:xfrm>
          <a:off x="0" y="0"/>
          <a:ext cx="0" cy="0"/>
          <a:chOff x="0" y="0"/>
          <a:chExt cx="0" cy="0"/>
        </a:xfrm>
      </p:grpSpPr>
      <p:sp>
        <p:nvSpPr>
          <p:cNvPr id="2452" name="Google Shape;2452;g3edf2b460e5_4_209"/>
          <p:cNvSpPr/>
          <p:nvPr/>
        </p:nvSpPr>
        <p:spPr>
          <a:xfrm>
            <a:off x="0" y="-1"/>
            <a:ext cx="12191695" cy="68520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53" name="Google Shape;2453;g3edf2b460e5_4_209"/>
          <p:cNvSpPr/>
          <p:nvPr/>
        </p:nvSpPr>
        <p:spPr>
          <a:xfrm>
            <a:off x="305" y="0"/>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54" name="Google Shape;2454;g3edf2b460e5_4_209"/>
          <p:cNvSpPr txBox="1"/>
          <p:nvPr>
            <p:ph type="title"/>
          </p:nvPr>
        </p:nvSpPr>
        <p:spPr>
          <a:xfrm>
            <a:off x="6590662" y="4267832"/>
            <a:ext cx="4805996" cy="129711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4000"/>
              <a:buFont typeface="Play"/>
              <a:buNone/>
            </a:pPr>
            <a:r>
              <a:rPr lang="en" sz="4000">
                <a:solidFill>
                  <a:schemeClr val="dk2"/>
                </a:solidFill>
                <a:latin typeface="Play"/>
                <a:ea typeface="Play"/>
                <a:cs typeface="Play"/>
                <a:sym typeface="Play"/>
              </a:rPr>
              <a:t>Thank you</a:t>
            </a:r>
            <a:endParaRPr/>
          </a:p>
        </p:txBody>
      </p:sp>
      <p:sp>
        <p:nvSpPr>
          <p:cNvPr descr="Smiling Face with No Fill" id="2455" name="Google Shape;2455;g3edf2b460e5_4_209"/>
          <p:cNvSpPr/>
          <p:nvPr/>
        </p:nvSpPr>
        <p:spPr>
          <a:xfrm>
            <a:off x="340470" y="1815320"/>
            <a:ext cx="4141760" cy="4141760"/>
          </a:xfrm>
          <a:custGeom>
            <a:rect b="b" l="l" r="r" t="t"/>
            <a:pathLst>
              <a:path extrusionOk="0" h="4377846" w="4141760">
                <a:moveTo>
                  <a:pt x="0" y="0"/>
                </a:moveTo>
                <a:lnTo>
                  <a:pt x="4141760" y="0"/>
                </a:lnTo>
                <a:lnTo>
                  <a:pt x="4141760" y="4377846"/>
                </a:lnTo>
                <a:lnTo>
                  <a:pt x="0" y="4377846"/>
                </a:lnTo>
                <a:close/>
              </a:path>
            </a:pathLst>
          </a:custGeom>
          <a:noFill/>
          <a:ln>
            <a:noFill/>
          </a:ln>
        </p:spPr>
      </p:sp>
      <p:grpSp>
        <p:nvGrpSpPr>
          <p:cNvPr id="2456" name="Google Shape;2456;g3edf2b460e5_4_209"/>
          <p:cNvGrpSpPr/>
          <p:nvPr/>
        </p:nvGrpSpPr>
        <p:grpSpPr>
          <a:xfrm>
            <a:off x="-4253" y="-5977"/>
            <a:ext cx="6238675" cy="6863979"/>
            <a:chOff x="305" y="-5977"/>
            <a:chExt cx="6238675" cy="6863979"/>
          </a:xfrm>
        </p:grpSpPr>
        <p:sp>
          <p:nvSpPr>
            <p:cNvPr id="2457" name="Google Shape;2457;g3edf2b460e5_4_209"/>
            <p:cNvSpPr/>
            <p:nvPr/>
          </p:nvSpPr>
          <p:spPr>
            <a:xfrm flipH="1">
              <a:off x="305" y="34854"/>
              <a:ext cx="6028697" cy="6817170"/>
            </a:xfrm>
            <a:custGeom>
              <a:rect b="b" l="l" r="r" t="t"/>
              <a:pathLst>
                <a:path extrusionOk="0" h="6817170" w="6028697">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58" name="Google Shape;2458;g3edf2b460e5_4_209"/>
            <p:cNvSpPr/>
            <p:nvPr/>
          </p:nvSpPr>
          <p:spPr>
            <a:xfrm flipH="1">
              <a:off x="305" y="1"/>
              <a:ext cx="6165116"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59" name="Google Shape;2459;g3edf2b460e5_4_209"/>
            <p:cNvSpPr/>
            <p:nvPr/>
          </p:nvSpPr>
          <p:spPr>
            <a:xfrm flipH="1">
              <a:off x="305" y="-5977"/>
              <a:ext cx="6238675"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2460" name="Google Shape;2460;g3edf2b460e5_4_20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solidFill>
                  <a:srgbClr val="888888"/>
                </a:solidFill>
              </a:rPr>
              <a:t>‹#›</a:t>
            </a:fld>
            <a:endParaRPr>
              <a:solidFill>
                <a:srgbClr val="888888"/>
              </a:solidFill>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4" name="Shape 2464"/>
        <p:cNvGrpSpPr/>
        <p:nvPr/>
      </p:nvGrpSpPr>
      <p:grpSpPr>
        <a:xfrm>
          <a:off x="0" y="0"/>
          <a:ext cx="0" cy="0"/>
          <a:chOff x="0" y="0"/>
          <a:chExt cx="0" cy="0"/>
        </a:xfrm>
      </p:grpSpPr>
      <p:sp>
        <p:nvSpPr>
          <p:cNvPr id="2465" name="Google Shape;2465;p57"/>
          <p:cNvSpPr txBox="1"/>
          <p:nvPr>
            <p:ph type="title"/>
          </p:nvPr>
        </p:nvSpPr>
        <p:spPr>
          <a:xfrm>
            <a:off x="415600" y="235433"/>
            <a:ext cx="11360700" cy="8316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90000"/>
              </a:lnSpc>
              <a:spcBef>
                <a:spcPts val="0"/>
              </a:spcBef>
              <a:spcAft>
                <a:spcPts val="0"/>
              </a:spcAft>
              <a:buClr>
                <a:schemeClr val="dk1"/>
              </a:buClr>
              <a:buSzPct val="100000"/>
              <a:buFont typeface="Play"/>
              <a:buNone/>
            </a:pPr>
            <a:r>
              <a:rPr lang="en"/>
              <a:t>References</a:t>
            </a:r>
            <a:endParaRPr/>
          </a:p>
        </p:txBody>
      </p:sp>
      <p:sp>
        <p:nvSpPr>
          <p:cNvPr id="2466" name="Google Shape;2466;p57"/>
          <p:cNvSpPr txBox="1"/>
          <p:nvPr>
            <p:ph idx="12" type="sldNum"/>
          </p:nvPr>
        </p:nvSpPr>
        <p:spPr>
          <a:xfrm>
            <a:off x="11296611" y="6217623"/>
            <a:ext cx="731600" cy="524800"/>
          </a:xfrm>
          <a:prstGeom prst="rect">
            <a:avLst/>
          </a:prstGeom>
          <a:noFill/>
          <a:ln>
            <a:noFill/>
          </a:ln>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
              <a:t>‹#›</a:t>
            </a:fld>
            <a:endParaRPr/>
          </a:p>
        </p:txBody>
      </p:sp>
      <p:sp>
        <p:nvSpPr>
          <p:cNvPr id="2467" name="Google Shape;2467;p57"/>
          <p:cNvSpPr txBox="1"/>
          <p:nvPr/>
        </p:nvSpPr>
        <p:spPr>
          <a:xfrm>
            <a:off x="599742" y="1067028"/>
            <a:ext cx="10610700" cy="4506300"/>
          </a:xfrm>
          <a:prstGeom prst="rect">
            <a:avLst/>
          </a:prstGeom>
          <a:no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sz="1600">
                <a:solidFill>
                  <a:schemeClr val="dk1"/>
                </a:solidFill>
                <a:latin typeface="Play"/>
                <a:ea typeface="Play"/>
                <a:cs typeface="Play"/>
                <a:sym typeface="Play"/>
              </a:rPr>
              <a:t>Literature:</a:t>
            </a:r>
            <a:endParaRPr>
              <a:solidFill>
                <a:schemeClr val="dk1"/>
              </a:solidFill>
            </a:endParaRPr>
          </a:p>
          <a:p>
            <a:pPr indent="-171450" lvl="0" marL="271450" rtl="0" algn="l">
              <a:spcBef>
                <a:spcPts val="0"/>
              </a:spcBef>
              <a:spcAft>
                <a:spcPts val="0"/>
              </a:spcAft>
              <a:buClr>
                <a:schemeClr val="dk1"/>
              </a:buClr>
              <a:buSzPts val="1200"/>
              <a:buChar char="•"/>
            </a:pPr>
            <a:r>
              <a:rPr lang="en" sz="1200">
                <a:solidFill>
                  <a:srgbClr val="111827"/>
                </a:solidFill>
              </a:rPr>
              <a:t>Chapman, P., Clinton, J., Kerber, R., Khabaza, T., Reinartz, T., Shearer, C., &amp; Wirth, R. (2000). CRISP-DM 1.0: Step-by-step data mining guide. SPSS Inc.</a:t>
            </a:r>
            <a:endParaRPr sz="1200">
              <a:solidFill>
                <a:srgbClr val="111827"/>
              </a:solidFill>
            </a:endParaRPr>
          </a:p>
          <a:p>
            <a:pPr indent="-171450" lvl="0" marL="271450" rtl="0" algn="l">
              <a:spcBef>
                <a:spcPts val="0"/>
              </a:spcBef>
              <a:spcAft>
                <a:spcPts val="0"/>
              </a:spcAft>
              <a:buClr>
                <a:schemeClr val="dk1"/>
              </a:buClr>
              <a:buSzPts val="1200"/>
              <a:buChar char="•"/>
            </a:pPr>
            <a:r>
              <a:rPr lang="en" sz="1200">
                <a:solidFill>
                  <a:schemeClr val="dk1"/>
                </a:solidFill>
              </a:rPr>
              <a:t>Sarode, M.S., Kumar, A., Prasad, A. and Shetty, A. (2024) 'Enhancing pricing strategies in the aftermarket sector with machine learning', </a:t>
            </a:r>
            <a:r>
              <a:rPr i="1" lang="en" sz="1200">
                <a:solidFill>
                  <a:schemeClr val="dk1"/>
                </a:solidFill>
              </a:rPr>
              <a:t>Modern Supply Chain Research and Applications</a:t>
            </a:r>
            <a:r>
              <a:rPr lang="en" sz="1200">
                <a:solidFill>
                  <a:schemeClr val="dk1"/>
                </a:solidFill>
              </a:rPr>
              <a:t>, 6(4), pp. 411–423.</a:t>
            </a:r>
            <a:endParaRPr sz="1200">
              <a:solidFill>
                <a:srgbClr val="111827"/>
              </a:solidFill>
            </a:endParaRPr>
          </a:p>
          <a:p>
            <a:pPr indent="-171450" lvl="0" marL="271450" rtl="0" algn="l">
              <a:spcBef>
                <a:spcPts val="0"/>
              </a:spcBef>
              <a:spcAft>
                <a:spcPts val="0"/>
              </a:spcAft>
              <a:buClr>
                <a:schemeClr val="dk1"/>
              </a:buClr>
              <a:buSzPts val="1200"/>
              <a:buChar char="•"/>
            </a:pPr>
            <a:r>
              <a:rPr lang="en" sz="1200">
                <a:solidFill>
                  <a:srgbClr val="111827"/>
                </a:solidFill>
              </a:rPr>
              <a:t>Shearer, C. (2000). The CRISP-DM model: The new blueprint for data mining. Journal of Data Warehousing, 5(4), 13-22.</a:t>
            </a:r>
            <a:endParaRPr sz="1200">
              <a:solidFill>
                <a:schemeClr val="dk1"/>
              </a:solidFill>
            </a:endParaRPr>
          </a:p>
          <a:p>
            <a:pPr indent="-171450" lvl="0" marL="271450" rtl="0" algn="l">
              <a:spcBef>
                <a:spcPts val="0"/>
              </a:spcBef>
              <a:spcAft>
                <a:spcPts val="0"/>
              </a:spcAft>
              <a:buClr>
                <a:schemeClr val="dk1"/>
              </a:buClr>
              <a:buSzPts val="1200"/>
              <a:buChar char="•"/>
            </a:pPr>
            <a:r>
              <a:rPr lang="en" sz="1200">
                <a:solidFill>
                  <a:srgbClr val="111827"/>
                </a:solidFill>
              </a:rPr>
              <a:t>Liu, Y. (2022). Supply Chain Analytics: Concepts, Techniques and Applications. Palgrave Macmillan. https://doi.org/10.1007/978-3-030-92228-1</a:t>
            </a:r>
            <a:endParaRPr sz="1200">
              <a:solidFill>
                <a:schemeClr val="dk1"/>
              </a:solidFill>
            </a:endParaRPr>
          </a:p>
          <a:p>
            <a:pPr indent="-171450" lvl="0" marL="271450" rtl="0" algn="l">
              <a:spcBef>
                <a:spcPts val="0"/>
              </a:spcBef>
              <a:spcAft>
                <a:spcPts val="0"/>
              </a:spcAft>
              <a:buClr>
                <a:schemeClr val="dk1"/>
              </a:buClr>
              <a:buSzPts val="1200"/>
              <a:buChar char="•"/>
            </a:pPr>
            <a:r>
              <a:rPr lang="en" sz="1200">
                <a:solidFill>
                  <a:schemeClr val="dk1"/>
                </a:solidFill>
              </a:rPr>
              <a:t>Ghadge, A., Kara, M.E. and Moradlou, H. (2020) 'Machine learning for supply chain risk management: A review', </a:t>
            </a:r>
            <a:r>
              <a:rPr i="1" lang="en" sz="1200">
                <a:solidFill>
                  <a:schemeClr val="dk1"/>
                </a:solidFill>
              </a:rPr>
              <a:t>Technological Forecasting and Social Change</a:t>
            </a:r>
            <a:r>
              <a:rPr lang="en" sz="1200">
                <a:solidFill>
                  <a:schemeClr val="dk1"/>
                </a:solidFill>
              </a:rPr>
              <a:t>, 161, p. 120284.</a:t>
            </a:r>
            <a:endParaRPr sz="1200">
              <a:solidFill>
                <a:srgbClr val="111827"/>
              </a:solidFill>
            </a:endParaRPr>
          </a:p>
          <a:p>
            <a:pPr indent="-171450" lvl="0" marL="271450" rtl="0" algn="l">
              <a:spcBef>
                <a:spcPts val="0"/>
              </a:spcBef>
              <a:spcAft>
                <a:spcPts val="0"/>
              </a:spcAft>
              <a:buClr>
                <a:schemeClr val="dk1"/>
              </a:buClr>
              <a:buSzPts val="1200"/>
              <a:buChar char="•"/>
            </a:pPr>
            <a:r>
              <a:rPr lang="en" sz="1200">
                <a:solidFill>
                  <a:srgbClr val="111827"/>
                </a:solidFill>
              </a:rPr>
              <a:t>Provost, F., &amp; Fawcett, T. (2013). Data Science for Business: What You Need to Know about Data Mining and Data-Analytic Thinking. O'Reilly Media.</a:t>
            </a:r>
            <a:endParaRPr sz="1200">
              <a:solidFill>
                <a:schemeClr val="dk1"/>
              </a:solidFill>
            </a:endParaRPr>
          </a:p>
          <a:p>
            <a:pPr indent="-171450" lvl="0" marL="271450" rtl="0" algn="l">
              <a:spcBef>
                <a:spcPts val="0"/>
              </a:spcBef>
              <a:spcAft>
                <a:spcPts val="0"/>
              </a:spcAft>
              <a:buClr>
                <a:schemeClr val="dk1"/>
              </a:buClr>
              <a:buSzPts val="1200"/>
              <a:buChar char="•"/>
            </a:pPr>
            <a:r>
              <a:rPr lang="en" sz="1200">
                <a:solidFill>
                  <a:srgbClr val="111827"/>
                </a:solidFill>
              </a:rPr>
              <a:t>Shmueli, G., &amp; Koppius, O. R. (2011). Predictive analytics in information systems research. MIS Quarterly, 35(3), 553-572. https://doi.org/10.25300/MISQ/2011/35.3.03</a:t>
            </a:r>
            <a:endParaRPr sz="1200">
              <a:solidFill>
                <a:schemeClr val="dk1"/>
              </a:solidFill>
            </a:endParaRPr>
          </a:p>
          <a:p>
            <a:pPr indent="-171450" lvl="0" marL="271450" rtl="0" algn="l">
              <a:spcBef>
                <a:spcPts val="0"/>
              </a:spcBef>
              <a:spcAft>
                <a:spcPts val="0"/>
              </a:spcAft>
              <a:buClr>
                <a:schemeClr val="dk1"/>
              </a:buClr>
              <a:buSzPts val="1200"/>
              <a:buChar char="•"/>
            </a:pPr>
            <a:r>
              <a:rPr lang="en" sz="1200">
                <a:solidFill>
                  <a:srgbClr val="111827"/>
                </a:solidFill>
              </a:rPr>
              <a:t>Waller, M. A., &amp; Fawcett, S. E. (2013). Data science, predictive analytics, and big data: A revolution that will transform supply chain design and management. Journal of Business Logistics, 34(2), 77-84. https://doi.org/10.1111/jbl.12010</a:t>
            </a:r>
            <a:endParaRPr sz="1200">
              <a:solidFill>
                <a:schemeClr val="dk1"/>
              </a:solidFill>
            </a:endParaRPr>
          </a:p>
          <a:p>
            <a:pPr indent="-171450" lvl="0" marL="271450" rtl="0" algn="l">
              <a:spcBef>
                <a:spcPts val="0"/>
              </a:spcBef>
              <a:spcAft>
                <a:spcPts val="0"/>
              </a:spcAft>
              <a:buClr>
                <a:schemeClr val="dk1"/>
              </a:buClr>
              <a:buSzPts val="1200"/>
              <a:buChar char="•"/>
            </a:pPr>
            <a:r>
              <a:rPr lang="en" sz="1200">
                <a:solidFill>
                  <a:srgbClr val="202020"/>
                </a:solidFill>
                <a:highlight>
                  <a:schemeClr val="lt1"/>
                </a:highlight>
              </a:rPr>
              <a:t>Liu, Yang (2022): Supply chain analytics. Concepts, Techniques and Applications. Cham: Palgrave Macmillan. (Especially chapter 6)</a:t>
            </a:r>
            <a:endParaRPr sz="1200">
              <a:solidFill>
                <a:srgbClr val="202020"/>
              </a:solidFill>
              <a:highlight>
                <a:schemeClr val="lt1"/>
              </a:highlight>
            </a:endParaRPr>
          </a:p>
          <a:p>
            <a:pPr indent="-171450" lvl="0" marL="271450" rtl="0" algn="l">
              <a:spcBef>
                <a:spcPts val="0"/>
              </a:spcBef>
              <a:spcAft>
                <a:spcPts val="0"/>
              </a:spcAft>
              <a:buClr>
                <a:schemeClr val="dk1"/>
              </a:buClr>
              <a:buSzPts val="1200"/>
              <a:buChar char="•"/>
            </a:pPr>
            <a:r>
              <a:rPr lang="en" sz="1200">
                <a:solidFill>
                  <a:srgbClr val="202020"/>
                </a:solidFill>
                <a:highlight>
                  <a:srgbClr val="FFFFFF"/>
                </a:highlight>
              </a:rPr>
              <a:t>Géron, Aurélien (2025): Hands-on machine learning with Scikit-Learn and PyTorch. Concepts, tools, and techniques to build intelligent systems. First edition. Santa Rosa, CA: O'Reilly.</a:t>
            </a:r>
            <a:endParaRPr sz="1200">
              <a:solidFill>
                <a:srgbClr val="202020"/>
              </a:solidFill>
              <a:highlight>
                <a:schemeClr val="lt1"/>
              </a:highlight>
            </a:endParaRPr>
          </a:p>
          <a:p>
            <a:pPr indent="0" lvl="0" marL="0" marR="0" rtl="0" algn="l">
              <a:spcBef>
                <a:spcPts val="0"/>
              </a:spcBef>
              <a:spcAft>
                <a:spcPts val="0"/>
              </a:spcAft>
              <a:buNone/>
            </a:pPr>
            <a:r>
              <a:t/>
            </a:r>
            <a:endParaRPr sz="1600">
              <a:solidFill>
                <a:srgbClr val="202020"/>
              </a:solidFill>
              <a:highlight>
                <a:srgbClr val="FFFFFF"/>
              </a:highlight>
              <a:latin typeface="Play"/>
              <a:ea typeface="Play"/>
              <a:cs typeface="Play"/>
              <a:sym typeface="Play"/>
            </a:endParaRPr>
          </a:p>
          <a:p>
            <a:pPr indent="0" lvl="0" marL="0" marR="0" rtl="0" algn="l">
              <a:spcBef>
                <a:spcPts val="0"/>
              </a:spcBef>
              <a:spcAft>
                <a:spcPts val="0"/>
              </a:spcAft>
              <a:buNone/>
            </a:pPr>
            <a:r>
              <a:rPr lang="en" sz="1600">
                <a:solidFill>
                  <a:srgbClr val="202020"/>
                </a:solidFill>
                <a:highlight>
                  <a:srgbClr val="FFFFFF"/>
                </a:highlight>
                <a:latin typeface="Play"/>
                <a:ea typeface="Play"/>
                <a:cs typeface="Play"/>
                <a:sym typeface="Play"/>
              </a:rPr>
              <a:t>Code: </a:t>
            </a:r>
            <a:endParaRPr sz="1600"/>
          </a:p>
          <a:p>
            <a:pPr indent="0" lvl="0" marL="0" marR="0" rtl="0" algn="l">
              <a:spcBef>
                <a:spcPts val="0"/>
              </a:spcBef>
              <a:spcAft>
                <a:spcPts val="0"/>
              </a:spcAft>
              <a:buNone/>
            </a:pPr>
            <a:r>
              <a:rPr lang="en" sz="1600">
                <a:solidFill>
                  <a:srgbClr val="202020"/>
                </a:solidFill>
                <a:highlight>
                  <a:srgbClr val="FFFFFF"/>
                </a:highlight>
                <a:latin typeface="Play"/>
                <a:ea typeface="Play"/>
                <a:cs typeface="Play"/>
                <a:sym typeface="Play"/>
              </a:rPr>
              <a:t>- Joint group Jupyter Notebook</a:t>
            </a:r>
            <a:endParaRPr sz="1600">
              <a:solidFill>
                <a:srgbClr val="202020"/>
              </a:solidFill>
              <a:highlight>
                <a:srgbClr val="FFFFFF"/>
              </a:highlight>
              <a:latin typeface="Play"/>
              <a:ea typeface="Play"/>
              <a:cs typeface="Play"/>
              <a:sym typeface="Play"/>
            </a:endParaRPr>
          </a:p>
          <a:p>
            <a:pPr indent="0" lvl="0" marL="0" marR="0" rtl="0" algn="l">
              <a:spcBef>
                <a:spcPts val="0"/>
              </a:spcBef>
              <a:spcAft>
                <a:spcPts val="0"/>
              </a:spcAft>
              <a:buNone/>
            </a:pPr>
            <a:r>
              <a:t/>
            </a:r>
            <a:endParaRPr sz="1600">
              <a:solidFill>
                <a:srgbClr val="202020"/>
              </a:solidFill>
              <a:highlight>
                <a:srgbClr val="FFFFFF"/>
              </a:highlight>
              <a:latin typeface="Play"/>
              <a:ea typeface="Play"/>
              <a:cs typeface="Play"/>
              <a:sym typeface="Play"/>
            </a:endParaRPr>
          </a:p>
          <a:p>
            <a:pPr indent="0" lvl="0" marL="0" marR="0" rtl="0" algn="l">
              <a:spcBef>
                <a:spcPts val="0"/>
              </a:spcBef>
              <a:spcAft>
                <a:spcPts val="0"/>
              </a:spcAft>
              <a:buNone/>
            </a:pPr>
            <a:r>
              <a:t/>
            </a:r>
            <a:endParaRPr sz="1600">
              <a:solidFill>
                <a:srgbClr val="131619"/>
              </a:solidFill>
              <a:latin typeface="Play"/>
              <a:ea typeface="Play"/>
              <a:cs typeface="Play"/>
              <a:sym typeface="Play"/>
            </a:endParaRPr>
          </a:p>
          <a:p>
            <a:pPr indent="0" lvl="0" marL="0" marR="0" rtl="0" algn="l">
              <a:spcBef>
                <a:spcPts val="0"/>
              </a:spcBef>
              <a:spcAft>
                <a:spcPts val="0"/>
              </a:spcAft>
              <a:buNone/>
            </a:pPr>
            <a:r>
              <a:rPr lang="en" sz="1600">
                <a:solidFill>
                  <a:srgbClr val="131619"/>
                </a:solidFill>
                <a:latin typeface="Play"/>
                <a:ea typeface="Play"/>
                <a:cs typeface="Play"/>
                <a:sym typeface="Play"/>
              </a:rPr>
              <a:t>Created with the assistance of generative artificial intelligence</a:t>
            </a:r>
            <a:r>
              <a:rPr lang="en" sz="1600">
                <a:solidFill>
                  <a:schemeClr val="dk1"/>
                </a:solidFill>
                <a:latin typeface="Play"/>
                <a:ea typeface="Play"/>
                <a:cs typeface="Play"/>
                <a:sym typeface="Play"/>
              </a:rPr>
              <a:t>.</a:t>
            </a:r>
            <a:endParaRPr sz="1600">
              <a:solidFill>
                <a:srgbClr val="202020"/>
              </a:solidFill>
              <a:highlight>
                <a:srgbClr val="FFFFFF"/>
              </a:highlight>
              <a:latin typeface="Play"/>
              <a:ea typeface="Play"/>
              <a:cs typeface="Play"/>
              <a:sym typeface="Play"/>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2026-05-04T19:35:31Z</dcterms:created>
  <dc:creator>Mohammad Sharif Azimy</dc:creator>
</cp:coreProperties>
</file>