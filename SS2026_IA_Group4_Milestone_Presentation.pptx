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87" r:id="rId3"/>
    <p:sldId id="288" r:id="rId4"/>
    <p:sldId id="289" r:id="rId5"/>
    <p:sldId id="260" r:id="rId6"/>
    <p:sldId id="290" r:id="rId7"/>
    <p:sldId id="291" r:id="rId8"/>
    <p:sldId id="292" r:id="rId9"/>
    <p:sldId id="293" r:id="rId10"/>
    <p:sldId id="265" r:id="rId11"/>
    <p:sldId id="294" r:id="rId12"/>
    <p:sldId id="295" r:id="rId13"/>
    <p:sldId id="296" r:id="rId14"/>
    <p:sldId id="297" r:id="rId15"/>
    <p:sldId id="299" r:id="rId16"/>
    <p:sldId id="300" r:id="rId17"/>
    <p:sldId id="301" r:id="rId18"/>
    <p:sldId id="308" r:id="rId19"/>
    <p:sldId id="262" r:id="rId20"/>
    <p:sldId id="257" r:id="rId21"/>
    <p:sldId id="258" r:id="rId22"/>
    <p:sldId id="261" r:id="rId23"/>
    <p:sldId id="259" r:id="rId24"/>
    <p:sldId id="348" r:id="rId25"/>
    <p:sldId id="263" r:id="rId26"/>
    <p:sldId id="264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3" r:id="rId44"/>
    <p:sldId id="284" r:id="rId45"/>
    <p:sldId id="285" r:id="rId46"/>
    <p:sldId id="343" r:id="rId47"/>
    <p:sldId id="345" r:id="rId48"/>
    <p:sldId id="344" r:id="rId49"/>
    <p:sldId id="333" r:id="rId50"/>
    <p:sldId id="334" r:id="rId51"/>
    <p:sldId id="335" r:id="rId52"/>
    <p:sldId id="340" r:id="rId53"/>
    <p:sldId id="341" r:id="rId54"/>
    <p:sldId id="342" r:id="rId5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35"/>
  </p:normalViewPr>
  <p:slideViewPr>
    <p:cSldViewPr snapToGrid="0">
      <p:cViewPr varScale="1">
        <p:scale>
          <a:sx n="110" d="100"/>
          <a:sy n="110" d="100"/>
        </p:scale>
        <p:origin x="6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43A92-724A-4FD1-8AF4-CCECAF0F5F28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C541F-4C68-4866-A04B-370E49B9CB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617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c2bdbe4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c2bdbe4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c2bdbe443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c2bdbe443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c2bdbe4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c2bdbe44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c2bdbe44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c2bdbe44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2bdbe44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c2bdbe44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c2bdbe44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c2bdbe44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c2bdbe443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c2bdbe443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c2bdbe443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c2bdbe443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2bdbe443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c2bdbe443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c2bdbe44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c2bdbe443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c2bdbe44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c2bdbe443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c2bdbe44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c2bdbe44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c2bdbe443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c2bdbe443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c2bdbe443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c2bdbe443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c2bdbe443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c2bdbe443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2bdbe44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2bdbe44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c2bdbe443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c2bdbe443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c2bdbe443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c2bdbe443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960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c2bdbe443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dc2bdbe443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1758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dc2bdbe443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dc2bdbe443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1383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c2bdbe443_1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c2bdbe443_1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448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c2bdbe443_1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c2bdbe443_1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319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c2bdbe443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c2bdbe443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8065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ACA9-D3F8-C6F3-4A59-0DE33C239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96852-AFDC-53E0-6662-16BE4B5B0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03E50-5F89-0F56-A585-DC8B291A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991C2-318F-C93C-99E0-DE838E23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F31CC-D795-3031-6075-CB82A310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504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F9BE-8431-A3E8-B36F-F8A8636B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347A8-0D10-5694-5F8E-88EE12115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EB494-F445-E32F-0916-2BF426A06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22815-7626-E5A1-B4FC-8DA36ACCE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83C7-D200-9B36-148D-C684326F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783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84E1-A83D-820E-EB1D-6C7AB7DA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DACA7-B4ED-4CE6-2742-E61654B18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4E40B-7A21-74FC-4307-0EBC5357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4B03F-AAB8-053F-2A21-2CBCC853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1368B-1FFC-DA2B-682C-698E0C18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916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F522-00E0-6226-06BE-7A54D11F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FF1F0-243D-E3D2-2C32-B4BA8C713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0F3F4-6EA8-3DB6-AA63-CD3E2CE9C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BF394-13C9-C6E1-E568-AB59297B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C54D3-82EE-36D7-AE98-6A1BDEA2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E83BB-042E-CC36-6A54-B7A61EDD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784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76F7-8E46-4F8B-2BB1-136D3BE0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23C64-46B1-2739-FEAA-65BD298E7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5E1F8-6C0D-9DB8-2B46-E8D0F529D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F0551-EA4B-10FA-1CD5-535414EE8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EF64A-0B61-56E7-FFA0-8819F5E95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F3DD46-1DD8-7F33-3C9A-F199A9C0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3D04F-CA5C-1770-D876-4676B742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3DFB4-E180-BABF-D546-1345AEA4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9107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F8D03-827B-AFE7-F9ED-48F09C5C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57032-7EEC-E661-DDDD-F0A5E04D6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081F8-C66A-813F-26CA-A808A248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01FA3-37C6-4F5B-4386-7CC3C995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466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677AF-AD51-F99C-E869-A1A573DF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83386-7568-F817-FE0E-E6DEED63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2A29C-D49B-7030-2AE9-2716AD34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857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3B82-689C-6B1C-A84B-6BC8B7E1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250DF-3C5D-7966-73F8-2E2AEF84E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5C384-2A2F-160E-4DAF-75A1F6E86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9C5D0-7BA8-647F-87FC-B7FAF5A0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48F40-809B-2382-33F7-75067BAA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C38EC-D285-AD4B-85CC-49CB470E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747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85EC-230C-76C3-7BF4-066B8C21E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CEDE0F-9072-8727-70D4-FDD6EA51B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F2228-696B-EF82-5A38-811841F1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2E609-237A-CEB0-C0DC-1609DAF6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4D168-25FA-3A32-FF1E-C246A64A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C27B3-CD5D-1627-89FD-E26AB610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197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D37B-41A5-52A8-475E-BE0A4B0E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CDF9E-E21B-F16D-324E-6C44014AF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7183C-975E-654C-67A7-8454FA3E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C570-FE7D-628B-AC6C-F01DA46E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5F1C4-F712-0160-B5B6-410C9CE2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328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CF616C-28A9-788F-CFBD-EB641500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B6D28-2E13-5329-683C-02282F8BA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9F84E-B15F-08C5-C0EE-346659DD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D6BE6-416A-6DF5-FC31-F1689DE8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9756B-2E1B-2F25-5628-B76BBA2D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5659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575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/>
          <p:nvPr/>
        </p:nvSpPr>
        <p:spPr>
          <a:xfrm>
            <a:off x="1" y="58834"/>
            <a:ext cx="5751500" cy="5865833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67" y="0"/>
            <a:ext cx="5755867" cy="58608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6356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175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58A81-CE43-5F77-C0A3-A534EBE8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21F1C-D6D2-9B9A-D835-5A9B94FAF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93084-F50C-E1B5-FC93-5263BC2BB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EC932-EF11-455F-87D3-71ACF66D5A6F}" type="datetimeFigureOut">
              <a:rPr lang="en-DE" smtClean="0"/>
              <a:t>05.05.26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14CF3-E9A8-454B-8713-4B5AB28E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00EE1-5C08-C21C-86CA-F438F1A52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5C1DA-A2EC-4AA9-8413-5D3CE859F2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6201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298800" y="486067"/>
            <a:ext cx="11360800" cy="1710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125000"/>
            </a:pPr>
            <a:r>
              <a:rPr lang="en" sz="6400" dirty="0"/>
              <a:t>Supply Management</a:t>
            </a:r>
            <a:endParaRPr sz="6400" dirty="0"/>
          </a:p>
          <a:p>
            <a:pPr>
              <a:spcBef>
                <a:spcPts val="0"/>
              </a:spcBef>
            </a:pPr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298800" y="1739567"/>
            <a:ext cx="117764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  <a:buClr>
                <a:schemeClr val="dk1"/>
              </a:buClr>
              <a:buSzPts val="1400"/>
            </a:pPr>
            <a:r>
              <a:rPr lang="en" sz="2667">
                <a:solidFill>
                  <a:schemeClr val="dk1"/>
                </a:solidFill>
              </a:rPr>
              <a:t>Supply Management Analytics: Supplier Pricing in Caterpillar Supply Chain</a:t>
            </a:r>
            <a:endParaRPr sz="2667">
              <a:solidFill>
                <a:schemeClr val="dk1"/>
              </a:solidFill>
            </a:endParaRPr>
          </a:p>
          <a:p>
            <a:pPr algn="l">
              <a:spcBef>
                <a:spcPts val="0"/>
              </a:spcBef>
            </a:pP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298800" y="2737967"/>
            <a:ext cx="79156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lnSpc>
                <a:spcPct val="70000"/>
              </a:lnSpc>
              <a:spcBef>
                <a:spcPts val="0"/>
              </a:spcBef>
              <a:buClr>
                <a:schemeClr val="dk1"/>
              </a:buClr>
              <a:buSzPts val="275"/>
            </a:pPr>
            <a:r>
              <a:rPr lang="en" sz="2133" dirty="0">
                <a:solidFill>
                  <a:schemeClr val="dk1"/>
                </a:solidFill>
              </a:rPr>
              <a:t>Group 4</a:t>
            </a:r>
            <a:r>
              <a:rPr lang="en" dirty="0">
                <a:solidFill>
                  <a:schemeClr val="dk1"/>
                </a:solidFill>
              </a:rPr>
              <a:t>:</a:t>
            </a:r>
            <a:endParaRPr sz="2833" dirty="0"/>
          </a:p>
          <a:p>
            <a:pPr algn="l">
              <a:lnSpc>
                <a:spcPct val="70000"/>
              </a:lnSpc>
              <a:spcBef>
                <a:spcPts val="0"/>
              </a:spcBef>
              <a:buClr>
                <a:schemeClr val="dk1"/>
              </a:buClr>
              <a:buSzPts val="275"/>
            </a:pPr>
            <a:endParaRPr sz="2133" dirty="0">
              <a:solidFill>
                <a:schemeClr val="dk1"/>
              </a:solidFill>
            </a:endParaRPr>
          </a:p>
          <a:p>
            <a:pPr algn="l">
              <a:lnSpc>
                <a:spcPct val="70000"/>
              </a:lnSpc>
              <a:spcBef>
                <a:spcPts val="0"/>
              </a:spcBef>
              <a:buClr>
                <a:schemeClr val="dk1"/>
              </a:buClr>
              <a:buSzPts val="275"/>
            </a:pPr>
            <a:r>
              <a:rPr lang="en" sz="2133" dirty="0">
                <a:solidFill>
                  <a:schemeClr val="dk1"/>
                </a:solidFill>
              </a:rPr>
              <a:t>Mohammad Sharif Azimy</a:t>
            </a:r>
            <a:endParaRPr sz="2133" dirty="0">
              <a:solidFill>
                <a:schemeClr val="dk1"/>
              </a:solidFill>
            </a:endParaRPr>
          </a:p>
          <a:p>
            <a:pPr algn="l">
              <a:lnSpc>
                <a:spcPct val="70000"/>
              </a:lnSpc>
              <a:spcBef>
                <a:spcPts val="1333"/>
              </a:spcBef>
              <a:buClr>
                <a:schemeClr val="dk1"/>
              </a:buClr>
              <a:buSzPts val="275"/>
            </a:pPr>
            <a:r>
              <a:rPr lang="en" sz="2133" dirty="0">
                <a:solidFill>
                  <a:schemeClr val="dk1"/>
                </a:solidFill>
              </a:rPr>
              <a:t>Antonios Stefanakis</a:t>
            </a:r>
            <a:endParaRPr sz="2133" dirty="0">
              <a:solidFill>
                <a:schemeClr val="dk1"/>
              </a:solidFill>
            </a:endParaRPr>
          </a:p>
          <a:p>
            <a:pPr algn="l">
              <a:lnSpc>
                <a:spcPct val="70000"/>
              </a:lnSpc>
              <a:spcBef>
                <a:spcPts val="1333"/>
              </a:spcBef>
              <a:buClr>
                <a:schemeClr val="dk1"/>
              </a:buClr>
              <a:buSzPts val="275"/>
            </a:pPr>
            <a:r>
              <a:rPr lang="en" sz="2133" dirty="0">
                <a:solidFill>
                  <a:schemeClr val="dk1"/>
                </a:solidFill>
              </a:rPr>
              <a:t>Chinelo Lydia Nweke</a:t>
            </a:r>
            <a:endParaRPr sz="2133" dirty="0">
              <a:solidFill>
                <a:schemeClr val="dk1"/>
              </a:solidFill>
            </a:endParaRPr>
          </a:p>
          <a:p>
            <a:pPr algn="l">
              <a:lnSpc>
                <a:spcPct val="70000"/>
              </a:lnSpc>
              <a:spcBef>
                <a:spcPts val="1333"/>
              </a:spcBef>
              <a:buClr>
                <a:schemeClr val="dk1"/>
              </a:buClr>
              <a:buSzPts val="275"/>
            </a:pPr>
            <a:r>
              <a:rPr lang="en" sz="2133" dirty="0">
                <a:solidFill>
                  <a:schemeClr val="dk1"/>
                </a:solidFill>
              </a:rPr>
              <a:t>Takal Ebrahimkhel</a:t>
            </a:r>
            <a:endParaRPr sz="2133" dirty="0">
              <a:solidFill>
                <a:schemeClr val="dk1"/>
              </a:solidFill>
            </a:endParaRPr>
          </a:p>
          <a:p>
            <a:pPr algn="l">
              <a:lnSpc>
                <a:spcPct val="70000"/>
              </a:lnSpc>
              <a:spcBef>
                <a:spcPts val="1333"/>
              </a:spcBef>
              <a:buClr>
                <a:schemeClr val="dk1"/>
              </a:buClr>
              <a:buSzPts val="275"/>
            </a:pPr>
            <a:endParaRPr sz="933" dirty="0">
              <a:solidFill>
                <a:schemeClr val="dk1"/>
              </a:solidFill>
            </a:endParaRPr>
          </a:p>
          <a:p>
            <a:pPr algn="l">
              <a:lnSpc>
                <a:spcPct val="80000"/>
              </a:lnSpc>
              <a:spcBef>
                <a:spcPts val="0"/>
              </a:spcBef>
              <a:buSzPts val="275"/>
            </a:pPr>
            <a:endParaRPr sz="867" dirty="0"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pPr/>
              <a:t>1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067" y="4942268"/>
            <a:ext cx="6613632" cy="1183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"/>
              <a:t>Table of Contents</a:t>
            </a: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4294967295"/>
          </p:nvPr>
        </p:nvSpPr>
        <p:spPr>
          <a:xfrm>
            <a:off x="415633" y="1761333"/>
            <a:ext cx="11776400" cy="459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SzPts val="770"/>
              <a:buNone/>
            </a:pPr>
            <a:r>
              <a:rPr lang="en" sz="1680" b="1" dirty="0">
                <a:solidFill>
                  <a:schemeClr val="dk1"/>
                </a:solidFill>
              </a:rPr>
              <a:t>Introduction</a:t>
            </a:r>
            <a:r>
              <a:rPr lang="en" sz="1680" dirty="0">
                <a:solidFill>
                  <a:schemeClr val="dk1"/>
                </a:solidFill>
              </a:rPr>
              <a:t> (Slides )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160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Ideas, Scope, and Objectives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Tasks and Milestones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Deliverables</a:t>
            </a:r>
            <a:endParaRPr sz="1680" dirty="0">
              <a:solidFill>
                <a:schemeClr val="dk1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600"/>
              </a:spcBef>
              <a:buSzPts val="770"/>
              <a:buNone/>
            </a:pPr>
            <a:r>
              <a:rPr lang="en" sz="1680" b="1" dirty="0">
                <a:solidFill>
                  <a:schemeClr val="dk1"/>
                </a:solidFill>
              </a:rPr>
              <a:t>Business Case </a:t>
            </a:r>
            <a:r>
              <a:rPr lang="en" sz="1680" dirty="0">
                <a:solidFill>
                  <a:schemeClr val="dk1"/>
                </a:solidFill>
              </a:rPr>
              <a:t>(Slides )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160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Theoretical Background (Slides )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Business Understanding (Slides )</a:t>
            </a:r>
            <a:endParaRPr sz="1680" dirty="0">
              <a:solidFill>
                <a:schemeClr val="dk1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600"/>
              </a:spcBef>
              <a:buSzPts val="770"/>
              <a:buNone/>
            </a:pPr>
            <a:r>
              <a:rPr lang="en" sz="1680" b="1" dirty="0">
                <a:solidFill>
                  <a:schemeClr val="dk1"/>
                </a:solidFill>
              </a:rPr>
              <a:t>Dataset </a:t>
            </a:r>
            <a:r>
              <a:rPr lang="en" sz="1680" dirty="0">
                <a:solidFill>
                  <a:schemeClr val="dk1"/>
                </a:solidFill>
              </a:rPr>
              <a:t>(Slides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160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Source(s)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Description (Columns, Scales etc.) / Data Understanding / Exploration (Quality)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Data Preparation</a:t>
            </a:r>
            <a:endParaRPr sz="1680" dirty="0">
              <a:solidFill>
                <a:schemeClr val="dk1"/>
              </a:solidFill>
            </a:endParaRPr>
          </a:p>
          <a:p>
            <a:pPr marL="609585" indent="-411470">
              <a:lnSpc>
                <a:spcPct val="95000"/>
              </a:lnSpc>
              <a:spcBef>
                <a:spcPts val="0"/>
              </a:spcBef>
              <a:buClr>
                <a:schemeClr val="dk1"/>
              </a:buClr>
              <a:buSzPts val="1260"/>
              <a:buChar char="-"/>
            </a:pPr>
            <a:r>
              <a:rPr lang="en" sz="1680" dirty="0">
                <a:solidFill>
                  <a:schemeClr val="dk1"/>
                </a:solidFill>
              </a:rPr>
              <a:t>Descriptive Data Analytics</a:t>
            </a:r>
            <a:endParaRPr sz="1680" dirty="0">
              <a:solidFill>
                <a:schemeClr val="dk1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600"/>
              </a:spcBef>
              <a:buSzPts val="770"/>
              <a:buNone/>
            </a:pPr>
            <a:r>
              <a:rPr lang="en" sz="1680" b="1" dirty="0">
                <a:solidFill>
                  <a:schemeClr val="dk1"/>
                </a:solidFill>
              </a:rPr>
              <a:t>Machine Learning Algorithms (Overview) </a:t>
            </a:r>
            <a:r>
              <a:rPr lang="en" sz="1680" dirty="0">
                <a:solidFill>
                  <a:schemeClr val="dk1"/>
                </a:solidFill>
              </a:rPr>
              <a:t>(Slides</a:t>
            </a:r>
            <a:endParaRPr sz="1680" dirty="0">
              <a:solidFill>
                <a:schemeClr val="dk1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600"/>
              </a:spcBef>
              <a:spcAft>
                <a:spcPts val="1600"/>
              </a:spcAft>
              <a:buSzPts val="770"/>
              <a:buNone/>
            </a:pPr>
            <a:r>
              <a:rPr lang="en" sz="1680" b="1" dirty="0">
                <a:solidFill>
                  <a:schemeClr val="dk1"/>
                </a:solidFill>
              </a:rPr>
              <a:t>Next Steps </a:t>
            </a:r>
            <a:r>
              <a:rPr lang="en" sz="1680" dirty="0">
                <a:solidFill>
                  <a:schemeClr val="dk1"/>
                </a:solidFill>
              </a:rPr>
              <a:t>(Slides</a:t>
            </a:r>
            <a:endParaRPr sz="1680" dirty="0">
              <a:solidFill>
                <a:schemeClr val="dk1"/>
              </a:solidFill>
            </a:endParaRPr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 idx="4294967295"/>
          </p:nvPr>
        </p:nvSpPr>
        <p:spPr>
          <a:xfrm>
            <a:off x="4451200" y="3013200"/>
            <a:ext cx="32896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"/>
              <a:t>Introduction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/>
              <a:t>Forecasting Caterpillar tube assembly Price</a:t>
            </a:r>
            <a:endParaRPr dirty="0"/>
          </a:p>
          <a:p>
            <a:pPr>
              <a:buClr>
                <a:schemeClr val="dk1"/>
              </a:buClr>
              <a:buSzPts val="1100"/>
            </a:pPr>
            <a:endParaRPr dirty="0"/>
          </a:p>
          <a:p>
            <a:endParaRPr dirty="0"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Predict supplier quote prices for Caterpillar tube assemblies. (Caterpillar manufactures mining and construction equipment)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Use engineering and pricing data together to improve procurement decisions.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Reduce cost uncertainty by forecasting likely supplier quotes.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4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Project domain / scope and focus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6695000" y="2116033"/>
            <a:ext cx="5333200" cy="41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267" dirty="0">
                <a:solidFill>
                  <a:schemeClr val="dk1"/>
                </a:solidFill>
              </a:rPr>
              <a:t>- Combine tube assembly, supplier quote, bill of materials, and component data.</a:t>
            </a:r>
            <a:endParaRPr sz="2267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267" dirty="0">
                <a:solidFill>
                  <a:schemeClr val="dk1"/>
                </a:solidFill>
              </a:rPr>
              <a:t>- Focus on predicting quoted price, not manufacturing design.</a:t>
            </a:r>
            <a:endParaRPr sz="2267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267" dirty="0">
                <a:solidFill>
                  <a:schemeClr val="dk1"/>
                </a:solidFill>
              </a:rPr>
              <a:t>- Handle both bracket pricing and minimum-order pricing.</a:t>
            </a:r>
            <a:endParaRPr sz="2267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2"/>
          </p:nvPr>
        </p:nvSpPr>
        <p:spPr>
          <a:xfrm>
            <a:off x="415633" y="1904367"/>
            <a:ext cx="5333200" cy="41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95000"/>
              </a:lnSpc>
              <a:spcBef>
                <a:spcPts val="2133"/>
              </a:spcBef>
              <a:buClr>
                <a:srgbClr val="000000"/>
              </a:buClr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Procurement &amp; Supplier Pricing</a:t>
            </a:r>
            <a:endParaRPr sz="2000">
              <a:solidFill>
                <a:schemeClr val="dk1"/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endParaRPr sz="2000">
              <a:solidFill>
                <a:schemeClr val="dk1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" sz="2000">
                <a:solidFill>
                  <a:schemeClr val="dk1"/>
                </a:solidFill>
              </a:rPr>
              <a:t>Manufacturing + Supply Chain / Procurement Quoting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0" indent="0">
              <a:lnSpc>
                <a:spcPct val="105000"/>
              </a:lnSpc>
              <a:spcBef>
                <a:spcPts val="1600"/>
              </a:spcBef>
              <a:buNone/>
            </a:pPr>
            <a:r>
              <a:rPr lang="en" sz="2000">
                <a:solidFill>
                  <a:schemeClr val="dk1"/>
                </a:solidFill>
              </a:rPr>
              <a:t>What happens in reality:</a:t>
            </a:r>
            <a:endParaRPr sz="2000">
              <a:solidFill>
                <a:schemeClr val="dk1"/>
              </a:solidFill>
            </a:endParaRPr>
          </a:p>
          <a:p>
            <a:pPr indent="-431789">
              <a:lnSpc>
                <a:spcPct val="105000"/>
              </a:lnSpc>
              <a:spcBef>
                <a:spcPts val="1600"/>
              </a:spcBef>
              <a:buClr>
                <a:schemeClr val="dk1"/>
              </a:buClr>
              <a:buSzPts val="1500"/>
              <a:buChar char="-"/>
            </a:pPr>
            <a:r>
              <a:rPr lang="en" sz="2000">
                <a:solidFill>
                  <a:schemeClr val="dk1"/>
                </a:solidFill>
              </a:rPr>
              <a:t>Multiple suppliers provide quotes for tube assemblies (custom manufactured parts).</a:t>
            </a:r>
            <a:endParaRPr sz="2000">
              <a:solidFill>
                <a:schemeClr val="dk1"/>
              </a:solidFill>
            </a:endParaRPr>
          </a:p>
          <a:p>
            <a:pPr indent="-431789">
              <a:lnSpc>
                <a:spcPct val="105000"/>
              </a:lnSpc>
              <a:buClr>
                <a:schemeClr val="dk1"/>
              </a:buClr>
              <a:buSzPts val="1500"/>
              <a:buChar char="-"/>
            </a:pPr>
            <a:r>
              <a:rPr lang="en" sz="2000">
                <a:solidFill>
                  <a:schemeClr val="dk1"/>
                </a:solidFill>
              </a:rPr>
              <a:t>Quote price depends on: supplier, date, requested quantity, commercial constraints, and tube design + components.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7664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Project objectives </a:t>
            </a: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Forecast supplier quote price at the assembly level.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Identify the most important cost drivers in the quote data.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Support faster, better-informed supplier negotiation.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" sz="2133" dirty="0">
                <a:solidFill>
                  <a:schemeClr val="dk1"/>
                </a:solidFill>
              </a:rPr>
              <a:t>Mohammad Sharif Azimy: Project Manager a</a:t>
            </a:r>
            <a:r>
              <a:rPr lang="en-US" sz="2133" dirty="0" err="1">
                <a:solidFill>
                  <a:schemeClr val="dk1"/>
                </a:solidFill>
              </a:rPr>
              <a:t>nd</a:t>
            </a:r>
            <a:r>
              <a:rPr lang="en" sz="2133" dirty="0">
                <a:solidFill>
                  <a:schemeClr val="dk1"/>
                </a:solidFill>
              </a:rPr>
              <a:t> Data Engineer</a:t>
            </a:r>
            <a:endParaRPr sz="2133" dirty="0">
              <a:solidFill>
                <a:schemeClr val="dk1"/>
              </a:solidFill>
            </a:endParaRPr>
          </a:p>
          <a:p>
            <a:pPr marL="0" indent="0">
              <a:lnSpc>
                <a:spcPct val="70000"/>
              </a:lnSpc>
              <a:buClr>
                <a:schemeClr val="dk1"/>
              </a:buClr>
              <a:buSzPts val="275"/>
              <a:buNone/>
            </a:pPr>
            <a:endParaRPr sz="2133" dirty="0">
              <a:solidFill>
                <a:schemeClr val="dk1"/>
              </a:solidFill>
            </a:endParaRPr>
          </a:p>
          <a:p>
            <a:pPr marL="0" indent="0">
              <a:lnSpc>
                <a:spcPct val="70000"/>
              </a:lnSpc>
              <a:spcBef>
                <a:spcPts val="1333"/>
              </a:spcBef>
              <a:buNone/>
            </a:pPr>
            <a:r>
              <a:rPr lang="en" sz="2133" dirty="0">
                <a:solidFill>
                  <a:schemeClr val="dk1"/>
                </a:solidFill>
              </a:rPr>
              <a:t>Antonios Stefanakis: Data Analyst</a:t>
            </a:r>
            <a:endParaRPr sz="2133" dirty="0">
              <a:solidFill>
                <a:schemeClr val="dk1"/>
              </a:solidFill>
            </a:endParaRPr>
          </a:p>
          <a:p>
            <a:pPr marL="0" indent="0">
              <a:lnSpc>
                <a:spcPct val="70000"/>
              </a:lnSpc>
              <a:spcBef>
                <a:spcPts val="1333"/>
              </a:spcBef>
              <a:buClr>
                <a:schemeClr val="dk1"/>
              </a:buClr>
              <a:buSzPts val="275"/>
              <a:buNone/>
            </a:pPr>
            <a:endParaRPr sz="2133" dirty="0">
              <a:solidFill>
                <a:schemeClr val="dk1"/>
              </a:solidFill>
            </a:endParaRPr>
          </a:p>
          <a:p>
            <a:pPr marL="0" indent="0">
              <a:lnSpc>
                <a:spcPct val="70000"/>
              </a:lnSpc>
              <a:spcBef>
                <a:spcPts val="1333"/>
              </a:spcBef>
              <a:buNone/>
            </a:pPr>
            <a:r>
              <a:rPr lang="en" sz="2133" dirty="0">
                <a:solidFill>
                  <a:schemeClr val="dk1"/>
                </a:solidFill>
              </a:rPr>
              <a:t>Chinelo Lydia Nweke: Data Engineer</a:t>
            </a:r>
            <a:endParaRPr sz="2133" dirty="0">
              <a:solidFill>
                <a:schemeClr val="dk1"/>
              </a:solidFill>
            </a:endParaRPr>
          </a:p>
          <a:p>
            <a:pPr marL="0" indent="0">
              <a:lnSpc>
                <a:spcPct val="70000"/>
              </a:lnSpc>
              <a:spcBef>
                <a:spcPts val="1333"/>
              </a:spcBef>
              <a:buClr>
                <a:schemeClr val="dk1"/>
              </a:buClr>
              <a:buSzPts val="275"/>
              <a:buNone/>
            </a:pPr>
            <a:endParaRPr sz="2133" dirty="0">
              <a:solidFill>
                <a:schemeClr val="dk1"/>
              </a:solidFill>
            </a:endParaRPr>
          </a:p>
          <a:p>
            <a:pPr marL="0" indent="0">
              <a:lnSpc>
                <a:spcPct val="70000"/>
              </a:lnSpc>
              <a:spcBef>
                <a:spcPts val="1333"/>
              </a:spcBef>
              <a:buClr>
                <a:schemeClr val="dk1"/>
              </a:buClr>
              <a:buSzPts val="275"/>
              <a:buNone/>
            </a:pPr>
            <a:r>
              <a:rPr lang="en" sz="2133" dirty="0">
                <a:solidFill>
                  <a:schemeClr val="dk1"/>
                </a:solidFill>
              </a:rPr>
              <a:t>Takal Ebrahimkhel: Data Scientist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6443200" y="667900"/>
            <a:ext cx="47664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Team roles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Tasks and milestones - CRISP-DM</a:t>
            </a: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graphicFrame>
        <p:nvGraphicFramePr>
          <p:cNvPr id="112" name="Google Shape;112;p19"/>
          <p:cNvGraphicFramePr/>
          <p:nvPr/>
        </p:nvGraphicFramePr>
        <p:xfrm>
          <a:off x="249517" y="2477233"/>
          <a:ext cx="11360765" cy="36040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95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5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5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5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5157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" sz="2100" b="1" dirty="0">
                          <a:solidFill>
                            <a:schemeClr val="dk1"/>
                          </a:solidFill>
                        </a:rPr>
                      </a:br>
                      <a:r>
                        <a:rPr lang="en" sz="2100" b="1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 b="1" dirty="0">
                          <a:solidFill>
                            <a:schemeClr val="dk1"/>
                          </a:solidFill>
                        </a:rPr>
                        <a:t>mm/dd – mm/dd/yyyy</a:t>
                      </a:r>
                      <a:endParaRPr sz="16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mm/dd – mm/dd/yyyy</a:t>
                      </a:r>
                      <a:endParaRPr sz="16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mm/dd – mm/dd/yyyy</a:t>
                      </a:r>
                      <a:endParaRPr sz="16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mm/dd – mm/dd/yyyy</a:t>
                      </a:r>
                      <a:endParaRPr sz="16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mm/dd – mm/dd/yyyy</a:t>
                      </a:r>
                      <a:endParaRPr sz="16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</a:rPr>
                        <a:t>mm/dd – mm/dd/yyyy</a:t>
                      </a:r>
                      <a:endParaRPr sz="16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2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•Determine Business Objectives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•Assess Situation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•Determine Data Mining Goals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•Produce Project Plan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•Collect Initial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•Describe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•Explore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•Verify Data Quality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•Select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•Clean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•Construct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•Integrate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•Format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Result: Preprocessed Data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•Select Modelling Techniques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•Generate Test Design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•Build Model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•Assess Model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•Evaluate Results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•Review Process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•Determine Next Steps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</a:rPr>
                        <a:t>•Plan Deployment</a:t>
                      </a:r>
                      <a:endParaRPr sz="13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</a:rPr>
                        <a:t>•Plan Monitoring and Maintenance</a:t>
                      </a:r>
                      <a:endParaRPr sz="13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</a:rPr>
                        <a:t>•Produce Final Report</a:t>
                      </a:r>
                      <a:endParaRPr sz="13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</a:rPr>
                        <a:t>•Review Project</a:t>
                      </a:r>
                      <a:endParaRPr sz="1300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Google Shape;113;p19"/>
          <p:cNvSpPr txBox="1"/>
          <p:nvPr/>
        </p:nvSpPr>
        <p:spPr>
          <a:xfrm>
            <a:off x="327733" y="1764600"/>
            <a:ext cx="14392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133" b="1">
                <a:solidFill>
                  <a:schemeClr val="dk1"/>
                </a:solidFill>
              </a:rPr>
              <a:t>Timeline</a:t>
            </a:r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188967" y="2415984"/>
            <a:ext cx="1956000" cy="524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Business Understanding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2060300" y="2415984"/>
            <a:ext cx="1894800" cy="524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Understanding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3955084" y="2415984"/>
            <a:ext cx="1814000" cy="524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Preparation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5769100" y="2415984"/>
            <a:ext cx="1647600" cy="524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Modeling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7579233" y="2415984"/>
            <a:ext cx="1814000" cy="524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Evaluation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9555767" y="2415984"/>
            <a:ext cx="2068000" cy="5248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Deployment / Finalization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327733" y="5953967"/>
            <a:ext cx="1439200" cy="6692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Milestone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5121484" y="5953967"/>
            <a:ext cx="1439200" cy="6692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05/07/2026</a:t>
            </a:r>
            <a:b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Milestone Presentation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8643084" y="5953967"/>
            <a:ext cx="1439200" cy="6692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06/25/2026</a:t>
            </a:r>
            <a:b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Final Presentation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10184551" y="5953967"/>
            <a:ext cx="1439200" cy="6692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mm/dd/yyyy</a:t>
            </a:r>
            <a:b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Submit PDF</a:t>
            </a:r>
            <a:endParaRPr sz="13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38176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Deliverables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/>
          <a:p>
            <a:pPr marL="0" indent="0">
              <a:buClr>
                <a:schemeClr val="dk1"/>
              </a:buClr>
              <a:buSzPct val="57895"/>
              <a:buNone/>
            </a:pPr>
            <a:r>
              <a:rPr lang="en" sz="2533" dirty="0">
                <a:solidFill>
                  <a:schemeClr val="dk1"/>
                </a:solidFill>
              </a:rPr>
              <a:t>- A cleaned, merged dataset for tube assembly pricing.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ct val="57895"/>
              <a:buNone/>
            </a:pPr>
            <a:r>
              <a:rPr lang="en" sz="2533" dirty="0">
                <a:solidFill>
                  <a:schemeClr val="dk1"/>
                </a:solidFill>
              </a:rPr>
              <a:t>- Visual analysis of pricing drivers.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ct val="57895"/>
              <a:buNone/>
            </a:pPr>
            <a:r>
              <a:rPr lang="en" sz="2533" dirty="0">
                <a:solidFill>
                  <a:schemeClr val="dk1"/>
                </a:solidFill>
              </a:rPr>
              <a:t>- A predictive model and feature importance results.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ct val="57895"/>
              <a:buNone/>
            </a:pPr>
            <a:r>
              <a:rPr lang="en" sz="2533" dirty="0">
                <a:solidFill>
                  <a:schemeClr val="dk1"/>
                </a:solidFill>
              </a:rPr>
              <a:t>- Business recommendations for procurement.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ct val="57895"/>
              <a:buNone/>
            </a:pPr>
            <a:r>
              <a:rPr lang="en" sz="2533" dirty="0">
                <a:solidFill>
                  <a:schemeClr val="dk1"/>
                </a:solidFill>
              </a:rPr>
              <a:t>- </a:t>
            </a:r>
            <a:r>
              <a:rPr lang="en" sz="2533" dirty="0">
                <a:solidFill>
                  <a:schemeClr val="dk1"/>
                </a:solidFill>
                <a:highlight>
                  <a:schemeClr val="lt1"/>
                </a:highlight>
              </a:rPr>
              <a:t>Final presentation + documentation including codes in </a:t>
            </a:r>
            <a:r>
              <a:rPr lang="en" sz="2533" dirty="0" err="1">
                <a:solidFill>
                  <a:schemeClr val="dk1"/>
                </a:solidFill>
                <a:highlight>
                  <a:schemeClr val="lt1"/>
                </a:highlight>
              </a:rPr>
              <a:t>Jupyter</a:t>
            </a:r>
            <a:r>
              <a:rPr lang="en" sz="2533" dirty="0">
                <a:solidFill>
                  <a:schemeClr val="dk1"/>
                </a:solidFill>
                <a:highlight>
                  <a:schemeClr val="lt1"/>
                </a:highlight>
              </a:rPr>
              <a:t> Notebook (method, results, limitations).</a:t>
            </a:r>
            <a:endParaRPr sz="3467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31789">
              <a:buClr>
                <a:schemeClr val="dk1"/>
              </a:buClr>
              <a:buSzPts val="1500"/>
              <a:buChar char="-"/>
            </a:pPr>
            <a:r>
              <a:rPr lang="en" sz="2000" dirty="0">
                <a:solidFill>
                  <a:schemeClr val="dk1"/>
                </a:solidFill>
              </a:rPr>
              <a:t>Limitations in dataset such as specificaiton dataset wh</a:t>
            </a:r>
            <a:r>
              <a:rPr lang="en-US" sz="2000" dirty="0" err="1">
                <a:solidFill>
                  <a:schemeClr val="dk1"/>
                </a:solidFill>
              </a:rPr>
              <a:t>ic</a:t>
            </a:r>
            <a:r>
              <a:rPr lang="en" sz="2000" dirty="0">
                <a:solidFill>
                  <a:schemeClr val="dk1"/>
                </a:solidFill>
              </a:rPr>
              <a:t>h is relational table but the other table is missing.</a:t>
            </a:r>
            <a:endParaRPr lang="en-DE" sz="2000" dirty="0">
              <a:solidFill>
                <a:schemeClr val="dk1"/>
              </a:solidFill>
            </a:endParaRPr>
          </a:p>
          <a:p>
            <a:pPr indent="0">
              <a:spcBef>
                <a:spcPts val="1600"/>
              </a:spcBef>
              <a:buNone/>
            </a:pPr>
            <a:endParaRPr lang="en-DE" sz="2000" dirty="0">
              <a:solidFill>
                <a:schemeClr val="dk1"/>
              </a:solidFill>
            </a:endParaRPr>
          </a:p>
          <a:p>
            <a:pPr indent="-431789">
              <a:spcBef>
                <a:spcPts val="1600"/>
              </a:spcBef>
              <a:buClr>
                <a:schemeClr val="dk1"/>
              </a:buClr>
              <a:buSzPts val="1500"/>
              <a:buChar char="-"/>
            </a:pPr>
            <a:r>
              <a:rPr lang="en" sz="2000" dirty="0">
                <a:solidFill>
                  <a:schemeClr val="dk1"/>
                </a:solidFill>
              </a:rPr>
              <a:t>Time constraints (semester timeline).</a:t>
            </a:r>
          </a:p>
          <a:p>
            <a:pPr indent="-431789">
              <a:spcBef>
                <a:spcPts val="1600"/>
              </a:spcBef>
              <a:buClr>
                <a:schemeClr val="dk1"/>
              </a:buClr>
              <a:buSzPts val="1500"/>
              <a:buChar char="-"/>
            </a:pPr>
            <a:r>
              <a:rPr lang="en-US" sz="2000" dirty="0">
                <a:solidFill>
                  <a:schemeClr val="dk1"/>
                </a:solidFill>
              </a:rPr>
              <a:t>Less familiarity with online platforms to integrate codes produced in group , the compilation requires extensive efforts by Project Manager</a:t>
            </a:r>
            <a:endParaRPr sz="2000" dirty="0">
              <a:solidFill>
                <a:schemeClr val="dk1"/>
              </a:solidFill>
            </a:endParaRPr>
          </a:p>
          <a:p>
            <a:pPr indent="0">
              <a:spcBef>
                <a:spcPts val="1600"/>
              </a:spcBef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6676867" y="667900"/>
            <a:ext cx="38176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Constraints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 idx="4294967295"/>
          </p:nvPr>
        </p:nvSpPr>
        <p:spPr>
          <a:xfrm>
            <a:off x="4316800" y="3013200"/>
            <a:ext cx="35584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"/>
              <a:t>Business Case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Supply Management Context </a:t>
            </a:r>
            <a:endParaRPr/>
          </a:p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Supply management involves sourcing materials from suppliers</a:t>
            </a:r>
            <a:endParaRPr sz="2533">
              <a:solidFill>
                <a:srgbClr val="595959"/>
              </a:solidFill>
            </a:endParaRPr>
          </a:p>
          <a:p>
            <a:pPr indent="0">
              <a:spcBef>
                <a:spcPts val="1333"/>
              </a:spcBef>
              <a:buNone/>
            </a:pPr>
            <a:endParaRPr sz="2533">
              <a:solidFill>
                <a:srgbClr val="595959"/>
              </a:solidFill>
            </a:endParaRPr>
          </a:p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Companies rely on suppliers for components and parts</a:t>
            </a:r>
            <a:endParaRPr sz="2533">
              <a:solidFill>
                <a:srgbClr val="595959"/>
              </a:solidFill>
            </a:endParaRPr>
          </a:p>
          <a:p>
            <a:pPr indent="0">
              <a:spcBef>
                <a:spcPts val="1333"/>
              </a:spcBef>
              <a:buNone/>
            </a:pPr>
            <a:endParaRPr sz="2533">
              <a:solidFill>
                <a:srgbClr val="595959"/>
              </a:solidFill>
            </a:endParaRPr>
          </a:p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Pricing decisions directly impact procurement costs</a:t>
            </a:r>
            <a:endParaRPr sz="1067"/>
          </a:p>
        </p:txBody>
      </p:sp>
      <p:sp>
        <p:nvSpPr>
          <p:cNvPr id="145" name="Google Shape;145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487067" y="3228867"/>
            <a:ext cx="308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7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Theoretical Background</a:t>
            </a:r>
            <a:endParaRPr sz="3733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"/>
              <a:t>What are tube assemblies?</a:t>
            </a:r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body" idx="4294967295"/>
          </p:nvPr>
        </p:nvSpPr>
        <p:spPr>
          <a:xfrm>
            <a:off x="326633" y="1736833"/>
            <a:ext cx="9938000" cy="267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" sz="1915">
                <a:solidFill>
                  <a:schemeClr val="dk1"/>
                </a:solidFill>
              </a:rPr>
              <a:t>- Multi-component products used in pneumatic systems.</a:t>
            </a:r>
            <a:endParaRPr sz="1915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1915">
                <a:solidFill>
                  <a:schemeClr val="dk1"/>
                </a:solidFill>
              </a:rPr>
              <a:t>- Comprised of bends, fittings, bosses, brackets, and end connections.</a:t>
            </a:r>
            <a:endParaRPr sz="1915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1915">
                <a:solidFill>
                  <a:schemeClr val="dk1"/>
                </a:solidFill>
              </a:rPr>
              <a:t>- Complexity causes large variation in supplier pricing.</a:t>
            </a:r>
            <a:endParaRPr sz="1915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pic>
        <p:nvPicPr>
          <p:cNvPr id="154" name="Google Shape;154;p23" title="Screenshot 2026-05-05 at 05.02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34" y="3429001"/>
            <a:ext cx="6636433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1867" y="3024767"/>
            <a:ext cx="4630400" cy="3642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Why pricing is difficult</a:t>
            </a:r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Price depends on geometry, materials, components, and supplier strategy.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Short end lengths and special connectors often need extra tooling.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Quotes include both fixed and variable cost elements.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12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Supplier quote process</a:t>
            </a:r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Suppliers price each assembly based on volume, quantity, and complexity.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Bracket pricing changes with quantity tiers.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Non-bracket pricing applies once minimum order quantity is reached.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13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Pricing structure</a:t>
            </a: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533" dirty="0">
                <a:solidFill>
                  <a:schemeClr val="dk1"/>
                </a:solidFill>
              </a:rPr>
              <a:t>- Quoted price = fixed cost + variable cost + margin.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 dirty="0">
                <a:solidFill>
                  <a:schemeClr val="dk1"/>
                </a:solidFill>
              </a:rPr>
              <a:t>- Fixed cost examples: tooling, setup, special processes.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 dirty="0">
                <a:solidFill>
                  <a:schemeClr val="dk1"/>
                </a:solidFill>
              </a:rPr>
              <a:t>- Variable cost examples: material, labor, machining.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 dirty="0">
                <a:solidFill>
                  <a:schemeClr val="dk1"/>
                </a:solidFill>
              </a:rPr>
              <a:t>- Margin depends on supplier relationship and risk.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76" name="Google Shape;176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14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Business Context</a:t>
            </a:r>
            <a:endParaRPr sz="2533"/>
          </a:p>
        </p:txBody>
      </p:sp>
      <p:sp>
        <p:nvSpPr>
          <p:cNvPr id="189" name="Google Shape;189;p28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Companies rely on suppliers for industrial components</a:t>
            </a:r>
            <a:endParaRPr sz="2533">
              <a:solidFill>
                <a:srgbClr val="595959"/>
              </a:solidFill>
            </a:endParaRPr>
          </a:p>
          <a:p>
            <a:pPr indent="0">
              <a:spcBef>
                <a:spcPts val="1333"/>
              </a:spcBef>
              <a:buNone/>
            </a:pPr>
            <a:endParaRPr sz="2533">
              <a:solidFill>
                <a:srgbClr val="595959"/>
              </a:solidFill>
            </a:endParaRPr>
          </a:p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Each product requires a price quotation</a:t>
            </a:r>
            <a:endParaRPr sz="2533">
              <a:solidFill>
                <a:srgbClr val="595959"/>
              </a:solidFill>
            </a:endParaRPr>
          </a:p>
          <a:p>
            <a:pPr indent="0">
              <a:spcBef>
                <a:spcPts val="1333"/>
              </a:spcBef>
              <a:buNone/>
            </a:pPr>
            <a:endParaRPr sz="2533">
              <a:solidFill>
                <a:srgbClr val="595959"/>
              </a:solidFill>
            </a:endParaRPr>
          </a:p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Pricing affects procurement and overall costs</a:t>
            </a:r>
            <a:endParaRPr sz="1067"/>
          </a:p>
        </p:txBody>
      </p:sp>
      <p:sp>
        <p:nvSpPr>
          <p:cNvPr id="190" name="Google Shape;190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191" name="Google Shape;191;p28"/>
          <p:cNvSpPr txBox="1"/>
          <p:nvPr/>
        </p:nvSpPr>
        <p:spPr>
          <a:xfrm>
            <a:off x="415633" y="2822100"/>
            <a:ext cx="3773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7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Understanding</a:t>
            </a:r>
            <a:endParaRPr sz="3733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Business problem</a:t>
            </a:r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533" dirty="0">
                <a:solidFill>
                  <a:schemeClr val="dk1"/>
                </a:solidFill>
              </a:rPr>
              <a:t>- Predict the supplier quote price for a  tube assembly.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 dirty="0">
                <a:solidFill>
                  <a:schemeClr val="dk1"/>
                </a:solidFill>
              </a:rPr>
              <a:t>- Help Caterpillar procurement reduce quote uncertainty.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 dirty="0">
                <a:solidFill>
                  <a:schemeClr val="dk1"/>
                </a:solidFill>
              </a:rPr>
              <a:t>- Use the model to compare suppliers and bids objectively.</a:t>
            </a:r>
            <a:endParaRPr sz="2533" dirty="0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98" name="Google Shape;198;p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16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6372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Business impact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Accurate forecasts expose outlier quotes and negotiation opportunities.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Insight into cost drivers reduces price variability.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The model supports pricing validation and supplier strategy.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Risk of overpaying suppliers</a:t>
            </a:r>
            <a:endParaRPr sz="2533">
              <a:solidFill>
                <a:srgbClr val="595959"/>
              </a:solidFill>
            </a:endParaRPr>
          </a:p>
          <a:p>
            <a:pPr indent="0">
              <a:spcBef>
                <a:spcPts val="1333"/>
              </a:spcBef>
              <a:buNone/>
            </a:pPr>
            <a:endParaRPr sz="2533">
              <a:solidFill>
                <a:srgbClr val="595959"/>
              </a:solidFill>
            </a:endParaRPr>
          </a:p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Lack of standard pricing benchmarks</a:t>
            </a:r>
            <a:endParaRPr sz="2533">
              <a:solidFill>
                <a:srgbClr val="595959"/>
              </a:solidFill>
            </a:endParaRPr>
          </a:p>
          <a:p>
            <a:pPr indent="0">
              <a:spcBef>
                <a:spcPts val="1333"/>
              </a:spcBef>
              <a:buNone/>
            </a:pPr>
            <a:endParaRPr sz="2533">
              <a:solidFill>
                <a:srgbClr val="595959"/>
              </a:solidFill>
            </a:endParaRPr>
          </a:p>
          <a:p>
            <a:pPr indent="-465655">
              <a:spcBef>
                <a:spcPts val="1333"/>
              </a:spcBef>
              <a:buClr>
                <a:srgbClr val="595959"/>
              </a:buClr>
              <a:buSzPts val="1900"/>
              <a:buChar char="-"/>
            </a:pPr>
            <a:r>
              <a:rPr lang="en" sz="2533">
                <a:solidFill>
                  <a:srgbClr val="595959"/>
                </a:solidFill>
              </a:rPr>
              <a:t>Slow decision-making process</a:t>
            </a:r>
            <a:endParaRPr sz="1067"/>
          </a:p>
        </p:txBody>
      </p:sp>
      <p:sp>
        <p:nvSpPr>
          <p:cNvPr id="207" name="Google Shape;207;p30"/>
          <p:cNvSpPr txBox="1">
            <a:spLocks noGrp="1"/>
          </p:cNvSpPr>
          <p:nvPr>
            <p:ph type="title"/>
          </p:nvPr>
        </p:nvSpPr>
        <p:spPr>
          <a:xfrm>
            <a:off x="6518200" y="667900"/>
            <a:ext cx="55100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990"/>
            </a:pPr>
            <a:r>
              <a:rPr lang="en" sz="3773"/>
              <a:t>Business challenge</a:t>
            </a:r>
            <a:endParaRPr sz="3773"/>
          </a:p>
          <a:p>
            <a:pPr>
              <a:buSzPts val="990"/>
            </a:pPr>
            <a:endParaRPr sz="336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Success criteria</a:t>
            </a:r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body" idx="1"/>
          </p:nvPr>
        </p:nvSpPr>
        <p:spPr>
          <a:xfrm>
            <a:off x="6192900" y="6679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Strong prediction accuracy across pricing regimes.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Interpretable feature importance and cost drivers.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sz="2533">
                <a:solidFill>
                  <a:schemeClr val="dk1"/>
                </a:solidFill>
              </a:rPr>
              <a:t>- Clean data joins, consistent quantity handling, robust features.</a:t>
            </a:r>
            <a:endParaRPr sz="2533"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56" name="Google Shape;256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18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AE1646-2846-D35F-E4E8-E69E28A9A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Dataset Exploration</a:t>
            </a:r>
            <a:endParaRPr lang="en-DE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786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DE9A0-276D-E8C7-E1B9-61A180163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tables and relationship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44B2CB-9E11-E85A-F69B-F6D134E72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140" y="467208"/>
            <a:ext cx="7216324" cy="5923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1FFD02-A76D-023C-4140-C5A261B70676}"/>
              </a:ext>
            </a:extLst>
          </p:cNvPr>
          <p:cNvSpPr txBox="1"/>
          <p:nvPr/>
        </p:nvSpPr>
        <p:spPr>
          <a:xfrm>
            <a:off x="717422" y="5615749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Prepared by : Group work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447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CCCC3-2C7E-98A7-0D85-7B4CE643A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 Dataset-Number of column and rows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049FA-4949-4368-C8CB-B4E4F2F93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351646"/>
            <a:ext cx="11327549" cy="36814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4A9F7D-4285-9798-057D-D47A5FE19999}"/>
              </a:ext>
            </a:extLst>
          </p:cNvPr>
          <p:cNvSpPr txBox="1"/>
          <p:nvPr/>
        </p:nvSpPr>
        <p:spPr>
          <a:xfrm>
            <a:off x="412622" y="5987017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88533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0D6A2-2F83-9E1A-D27D-D0DC68C2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Train Dataset- Key statistics and data types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D56A2-154C-FEF7-0AF7-CB45FFD03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1" y="2468019"/>
            <a:ext cx="6115662" cy="29495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6EC41B-A1AA-BD82-0DCF-F3B30119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468019"/>
            <a:ext cx="5131087" cy="3497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7D5952-45B6-7797-E633-788E822C4CB7}"/>
              </a:ext>
            </a:extLst>
          </p:cNvPr>
          <p:cNvSpPr txBox="1"/>
          <p:nvPr/>
        </p:nvSpPr>
        <p:spPr>
          <a:xfrm>
            <a:off x="412622" y="5987017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78611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B2EE8-2367-A3A3-60FB-9AE99EAA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Tube Assembly – Cost Distribution(Train Dataset)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051EF5-CFCF-F572-958E-022A6FC23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17" y="1966293"/>
            <a:ext cx="10176364" cy="4452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A440B2-02CC-692C-56CC-11684A189A07}"/>
              </a:ext>
            </a:extLst>
          </p:cNvPr>
          <p:cNvSpPr txBox="1"/>
          <p:nvPr/>
        </p:nvSpPr>
        <p:spPr>
          <a:xfrm>
            <a:off x="194908" y="6268894"/>
            <a:ext cx="3332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Takal </a:t>
            </a:r>
            <a:r>
              <a:rPr lang="en-US" dirty="0" err="1"/>
              <a:t>Ebrahimkhel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0309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2B809-701D-0BB1-ABF0-1B7414C8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B02B7-E733-5DCE-B77C-EFF44916A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Cost clusters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6E94A-81F9-85F0-4258-E6858B302A09}"/>
              </a:ext>
            </a:extLst>
          </p:cNvPr>
          <p:cNvSpPr txBox="1"/>
          <p:nvPr/>
        </p:nvSpPr>
        <p:spPr>
          <a:xfrm>
            <a:off x="715747" y="6304203"/>
            <a:ext cx="3783681" cy="479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000" dirty="0"/>
              <a:t>Prepared by : Takal </a:t>
            </a:r>
            <a:r>
              <a:rPr lang="en-US" sz="2000" dirty="0" err="1"/>
              <a:t>Ebrahimkhel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D1AAED-2865-8DBF-68D1-6C7FC9E3E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531882"/>
            <a:ext cx="5131088" cy="329672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CEFEC5-F165-B269-CCEC-CB61C3063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513776"/>
              </p:ext>
            </p:extLst>
          </p:nvPr>
        </p:nvGraphicFramePr>
        <p:xfrm>
          <a:off x="6345165" y="2420801"/>
          <a:ext cx="5131089" cy="3591861"/>
        </p:xfrm>
        <a:graphic>
          <a:graphicData uri="http://schemas.openxmlformats.org/drawingml/2006/table">
            <a:tbl>
              <a:tblPr>
                <a:solidFill>
                  <a:srgbClr val="F7F7F7"/>
                </a:solidFill>
              </a:tblPr>
              <a:tblGrid>
                <a:gridCol w="767494">
                  <a:extLst>
                    <a:ext uri="{9D8B030D-6E8A-4147-A177-3AD203B41FA5}">
                      <a16:colId xmlns:a16="http://schemas.microsoft.com/office/drawing/2014/main" val="3543639069"/>
                    </a:ext>
                  </a:extLst>
                </a:gridCol>
                <a:gridCol w="1971488">
                  <a:extLst>
                    <a:ext uri="{9D8B030D-6E8A-4147-A177-3AD203B41FA5}">
                      <a16:colId xmlns:a16="http://schemas.microsoft.com/office/drawing/2014/main" val="2691954068"/>
                    </a:ext>
                  </a:extLst>
                </a:gridCol>
                <a:gridCol w="2392107">
                  <a:extLst>
                    <a:ext uri="{9D8B030D-6E8A-4147-A177-3AD203B41FA5}">
                      <a16:colId xmlns:a16="http://schemas.microsoft.com/office/drawing/2014/main" val="2129902565"/>
                    </a:ext>
                  </a:extLst>
                </a:gridCol>
              </a:tblGrid>
              <a:tr h="308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Cluster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Pattern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189545"/>
                  </a:ext>
                </a:extLst>
              </a:tr>
              <a:tr h="650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Cluster 0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Medium spread, highest median among the low-cost groups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Relatively consistent costs, mostly between ~10 to ~100. Some high outliers up to ~280.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94956"/>
                  </a:ext>
                </a:extLst>
              </a:tr>
              <a:tr h="116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Cluster 1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Very wide spread + many extreme outliers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Most interesting cluster.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 Huge variation in cost — from very cheap to extremely expensive (up to ~1000). Lots of outliers above 400–900. This cluster likely contains complex or highly customized tubes.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636691"/>
                  </a:ext>
                </a:extLst>
              </a:tr>
              <a:tr h="650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Cluster 2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Moderate spread, some high outliers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Similar to cluster 0 but slightly higher variation. Many points between 0–50 with outliers up to ~400.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960481"/>
                  </a:ext>
                </a:extLst>
              </a:tr>
              <a:tr h="820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Cluster 3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Very tight and low cost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Cheapest and most consistent cluster.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 Almost all tubes are low cost with very little variation. Looks like a "standard/simple" group.</a:t>
                      </a:r>
                    </a:p>
                  </a:txBody>
                  <a:tcPr marL="34789" marR="34789" marT="47518" marB="640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509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861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3B6C3-7D1B-D5B6-F3A1-FB852371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A8E14-4A03-AFB6-4AB2-02C578715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Tube Dataset-Number of column and rows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F8676-CA0F-0CF8-C6C8-A0AEC87BC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351646"/>
            <a:ext cx="11327549" cy="36814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2BB06F-EE80-1D61-6909-589EABC225FD}"/>
              </a:ext>
            </a:extLst>
          </p:cNvPr>
          <p:cNvSpPr txBox="1"/>
          <p:nvPr/>
        </p:nvSpPr>
        <p:spPr>
          <a:xfrm>
            <a:off x="412622" y="5987017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77925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AFA80-BBBB-3A8A-C4C4-B888CDE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B842D-5412-4C29-BC13-B7AD3CDB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Tube Dataset- Key statistics and data types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3B07EF-EF30-773C-CE4B-3FB2A4B71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5" y="2598058"/>
            <a:ext cx="7203123" cy="2583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2A64D7-35FA-5B2B-38C4-384A5B8D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652" y="1653371"/>
            <a:ext cx="4409920" cy="49921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E21A70-0F18-C675-9835-6A9749B1D992}"/>
              </a:ext>
            </a:extLst>
          </p:cNvPr>
          <p:cNvSpPr txBox="1"/>
          <p:nvPr/>
        </p:nvSpPr>
        <p:spPr>
          <a:xfrm>
            <a:off x="412622" y="5987017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43204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8ACFB-B9DD-A44F-820E-9C2EE179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43BBA-6767-36AD-4A88-BA083ABB2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Tube Dataset- Numeric Features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511990-B0BE-310E-8E90-BBC98D39A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25" y="1638473"/>
            <a:ext cx="10227839" cy="4543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73281D-5A23-C651-10ED-771F245D1D46}"/>
              </a:ext>
            </a:extLst>
          </p:cNvPr>
          <p:cNvSpPr txBox="1"/>
          <p:nvPr/>
        </p:nvSpPr>
        <p:spPr>
          <a:xfrm>
            <a:off x="194908" y="6268894"/>
            <a:ext cx="3332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Takal </a:t>
            </a:r>
            <a:r>
              <a:rPr lang="en-US" dirty="0" err="1"/>
              <a:t>Ebrahimkhel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8599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CF2D9-DBEE-0674-811D-0CB76596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3112C-3533-26DF-E84A-969869B3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Bill of Material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Dataset-Number of column and rows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6C604-4E9B-06BB-E490-5F08B67DC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195893"/>
            <a:ext cx="11327549" cy="3992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85B9B7-25DB-D428-B0AD-1EE8BD2765B0}"/>
              </a:ext>
            </a:extLst>
          </p:cNvPr>
          <p:cNvSpPr txBox="1"/>
          <p:nvPr/>
        </p:nvSpPr>
        <p:spPr>
          <a:xfrm>
            <a:off x="412622" y="5987017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12760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AB521-86BC-9203-32F4-C3CF6DE7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17BA1-9300-7BFD-6369-028C20D6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Bill of Material Dataset- Key statistics and data types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529A64-0561-8214-5ABE-C4185B64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9" y="2215703"/>
            <a:ext cx="7133310" cy="2791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ACBF8A-819F-13CA-66F9-571A51B1B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014" y="1785211"/>
            <a:ext cx="3867483" cy="4452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3AFB1B-F344-25C7-9D70-D89F74036036}"/>
              </a:ext>
            </a:extLst>
          </p:cNvPr>
          <p:cNvSpPr txBox="1"/>
          <p:nvPr/>
        </p:nvSpPr>
        <p:spPr>
          <a:xfrm>
            <a:off x="412622" y="5987017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81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CB32D-25B8-D246-BDF4-5E34E510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1128-CB73-18DB-F58E-4A01B458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Bill of Material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Dataset- Key statistics and data types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5A06BA-A823-300D-730E-B3D90998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86" y="1574310"/>
            <a:ext cx="7416800" cy="46725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D8B476-AFE9-997F-1EF4-738B4FD53E07}"/>
              </a:ext>
            </a:extLst>
          </p:cNvPr>
          <p:cNvSpPr txBox="1"/>
          <p:nvPr/>
        </p:nvSpPr>
        <p:spPr>
          <a:xfrm>
            <a:off x="194908" y="6268894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47188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18584-1825-E79C-01B7-30AFF8D0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4000D-DE65-C333-FA55-99312C21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Specification Dataset-Number of column and rows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2BBD5-E754-D708-EA58-D91F4340A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236829"/>
            <a:ext cx="11327549" cy="3911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65EA5B-DB2B-3F51-3993-63A79C3F7181}"/>
              </a:ext>
            </a:extLst>
          </p:cNvPr>
          <p:cNvSpPr txBox="1"/>
          <p:nvPr/>
        </p:nvSpPr>
        <p:spPr>
          <a:xfrm>
            <a:off x="412622" y="5987017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0599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B104A-C3D8-CA0A-3974-1454B0A7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C0C18-5BE9-0FA6-CDFE-6006E1DC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Specification Dataset- Key statistics and data types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62F5C-368D-6623-6DAA-7DCD855473B8}"/>
              </a:ext>
            </a:extLst>
          </p:cNvPr>
          <p:cNvSpPr txBox="1"/>
          <p:nvPr/>
        </p:nvSpPr>
        <p:spPr>
          <a:xfrm>
            <a:off x="8536577" y="199287"/>
            <a:ext cx="3226526" cy="1155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>
                <a:solidFill>
                  <a:srgbClr val="FFFFFF"/>
                </a:solidFill>
              </a:rPr>
              <a:t>Limitation : no look up table to explain us specifications entries which are in form of and ID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7379CC-2A06-1844-77F5-0467C50E6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014" y="2808449"/>
            <a:ext cx="2563416" cy="35269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0DFCB4-A33A-3175-F6D0-3430658A9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837" y="2728500"/>
            <a:ext cx="3238707" cy="3247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3A7E41-7CD0-0C57-E0CF-EF6E6FD80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226" y="1762106"/>
            <a:ext cx="8771317" cy="17323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756404E-9C90-6059-5DE9-B75C1DA17E34}"/>
              </a:ext>
            </a:extLst>
          </p:cNvPr>
          <p:cNvSpPr txBox="1"/>
          <p:nvPr/>
        </p:nvSpPr>
        <p:spPr>
          <a:xfrm>
            <a:off x="412622" y="6412044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7938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1E5A17-E3AB-590B-39CB-A889C3A5F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Verify Data Quality</a:t>
            </a:r>
          </a:p>
        </p:txBody>
      </p:sp>
    </p:spTree>
    <p:extLst>
      <p:ext uri="{BB962C8B-B14F-4D97-AF65-F5344CB8AC3E}">
        <p14:creationId xmlns:p14="http://schemas.microsoft.com/office/powerpoint/2010/main" val="1003602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C2EDA1-F933-1CCC-19B8-228FA6A2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6999883" cy="9679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Missing Value and Duplicates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8E9FB0-1E12-8FD0-CD91-5AD8AE57F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21" y="2251316"/>
            <a:ext cx="1708332" cy="39035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B51D60-44A2-6A89-14CF-1952BC6B5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973" y="2251317"/>
            <a:ext cx="2422455" cy="39035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0B0206-41F7-79A2-C1EC-81C0BC3DC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169" y="2502034"/>
            <a:ext cx="2502912" cy="34021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70D4CE0-1E46-338D-9F54-7DBF63BF02A8}"/>
              </a:ext>
            </a:extLst>
          </p:cNvPr>
          <p:cNvSpPr txBox="1"/>
          <p:nvPr/>
        </p:nvSpPr>
        <p:spPr>
          <a:xfrm>
            <a:off x="412622" y="6412044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CC29CD-6429-9963-C133-DD6F68898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365" y="1850082"/>
            <a:ext cx="2781688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3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E45E7-5FB2-45C0-E706-23028B5BE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Additional quality checks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8FCA4-0486-5540-9546-4B45DFD3B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20" y="2074437"/>
            <a:ext cx="5750936" cy="3353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6699A-BF9B-F294-C090-8535BDC65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415" y="1963178"/>
            <a:ext cx="5613231" cy="33539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A7A58F-B791-2854-5BA2-3E80268E72BB}"/>
              </a:ext>
            </a:extLst>
          </p:cNvPr>
          <p:cNvSpPr txBox="1"/>
          <p:nvPr/>
        </p:nvSpPr>
        <p:spPr>
          <a:xfrm>
            <a:off x="412622" y="6412044"/>
            <a:ext cx="2302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Chinelo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0331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EFA9E3-348D-892B-A0E6-A08EDBBF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Feature Engineering </a:t>
            </a:r>
          </a:p>
        </p:txBody>
      </p:sp>
    </p:spTree>
    <p:extLst>
      <p:ext uri="{BB962C8B-B14F-4D97-AF65-F5344CB8AC3E}">
        <p14:creationId xmlns:p14="http://schemas.microsoft.com/office/powerpoint/2010/main" val="492826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774AA-0037-3FE5-3048-2BD3D959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dirty="0">
                <a:solidFill>
                  <a:srgbClr val="FFFFFF"/>
                </a:solidFill>
              </a:rPr>
              <a:t>1) Merging Relational Datasets: Combined multiple datasets using       </a:t>
            </a:r>
            <a:r>
              <a:rPr lang="en-US" sz="1900" dirty="0" err="1">
                <a:solidFill>
                  <a:srgbClr val="FFFFFF"/>
                </a:solidFill>
              </a:rPr>
              <a:t>tube_assembly_id</a:t>
            </a:r>
            <a:r>
              <a:rPr lang="en-US" sz="1900" dirty="0">
                <a:solidFill>
                  <a:srgbClr val="FFFFFF"/>
                </a:solidFill>
              </a:rPr>
              <a:t> as the primary key to create a unified dataset.</a:t>
            </a:r>
            <a:br>
              <a:rPr lang="en-US" sz="1900" dirty="0">
                <a:solidFill>
                  <a:srgbClr val="FFFFFF"/>
                </a:solidFill>
              </a:rPr>
            </a:br>
            <a:endParaRPr lang="en-US" sz="19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5EA05-A9D0-4E90-D375-B16EC820B04E}"/>
              </a:ext>
            </a:extLst>
          </p:cNvPr>
          <p:cNvSpPr txBox="1"/>
          <p:nvPr/>
        </p:nvSpPr>
        <p:spPr>
          <a:xfrm>
            <a:off x="496979" y="2017748"/>
            <a:ext cx="4692532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dirty="0" err="1"/>
              <a:t>NewTrain</a:t>
            </a:r>
            <a:r>
              <a:rPr lang="en-US" sz="1900" dirty="0"/>
              <a:t> = </a:t>
            </a:r>
            <a:r>
              <a:rPr lang="en-US" sz="1900" dirty="0" err="1"/>
              <a:t>pd.merge</a:t>
            </a:r>
            <a:r>
              <a:rPr lang="en-US" sz="1900" dirty="0"/>
              <a:t>(train, tube, on ='</a:t>
            </a:r>
            <a:r>
              <a:rPr lang="en-US" sz="1900" dirty="0" err="1"/>
              <a:t>tube_assembly_id</a:t>
            </a:r>
            <a:r>
              <a:rPr lang="en-US" sz="1900" dirty="0"/>
              <a:t>')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6D7F0-45FC-8711-7B24-AB7805F64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3215544"/>
            <a:ext cx="5131088" cy="192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FDC48C-26C2-75A9-4B16-C59FFACE0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4526468" cy="39978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28B75C-64EE-D8D4-A49E-5B2AF61399DD}"/>
              </a:ext>
            </a:extLst>
          </p:cNvPr>
          <p:cNvSpPr txBox="1"/>
          <p:nvPr/>
        </p:nvSpPr>
        <p:spPr>
          <a:xfrm>
            <a:off x="496979" y="6215646"/>
            <a:ext cx="2675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Group work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618139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7A5FD-1DF5-2504-4A76-35480415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353160"/>
            <a:ext cx="11245543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Correlation Between Cost and Numeric Features after merging tube and train data sets'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3FC99-2815-2B4E-78F5-2A28D8272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20" y="1565561"/>
            <a:ext cx="7143168" cy="4964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0C6283-4907-90BF-AD35-5E2765F71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856" y="2290388"/>
            <a:ext cx="3289176" cy="2762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80C9DE-A1B2-03A4-5442-2CA4A8A112AD}"/>
              </a:ext>
            </a:extLst>
          </p:cNvPr>
          <p:cNvSpPr txBox="1"/>
          <p:nvPr/>
        </p:nvSpPr>
        <p:spPr>
          <a:xfrm>
            <a:off x="7923208" y="5581510"/>
            <a:ext cx="3739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highlights the importance of calculation of additional features such as total weight and total quantity based on available data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E2CFC2-71C0-C520-DB26-2ACF2A4831EA}"/>
              </a:ext>
            </a:extLst>
          </p:cNvPr>
          <p:cNvSpPr txBox="1"/>
          <p:nvPr/>
        </p:nvSpPr>
        <p:spPr>
          <a:xfrm>
            <a:off x="390018" y="6530062"/>
            <a:ext cx="605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 &amp; Takal </a:t>
            </a:r>
            <a:r>
              <a:rPr lang="en-US" dirty="0" err="1"/>
              <a:t>Ebrahimkhel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03134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52C043-C4F8-F1DA-75D9-5F561E3DC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956" y="1758300"/>
            <a:ext cx="3539407" cy="3341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7D53AB-A3C0-65E8-DA2D-F6BD49A38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42" y="1632103"/>
            <a:ext cx="1410892" cy="410585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635BAB2-35BF-429E-90BF-9B8148BC4E4D}"/>
              </a:ext>
            </a:extLst>
          </p:cNvPr>
          <p:cNvSpPr/>
          <p:nvPr/>
        </p:nvSpPr>
        <p:spPr>
          <a:xfrm>
            <a:off x="2130191" y="31866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0ACF4E0-C361-3BE6-7C4C-5F378EA60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189"/>
          </a:xfrm>
          <a:solidFill>
            <a:schemeClr val="tx2"/>
          </a:solidFill>
        </p:spPr>
        <p:txBody>
          <a:bodyPr>
            <a:no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2) Date Feature Extraction: Created new columns by splitting </a:t>
            </a:r>
            <a:r>
              <a:rPr lang="en-US" sz="2800" dirty="0" err="1">
                <a:solidFill>
                  <a:schemeClr val="bg1"/>
                </a:solidFill>
              </a:rPr>
              <a:t>quote_date</a:t>
            </a:r>
            <a:r>
              <a:rPr lang="en-US" sz="2800" dirty="0">
                <a:solidFill>
                  <a:schemeClr val="bg1"/>
                </a:solidFill>
              </a:rPr>
              <a:t> into day, month, and year for better time-based analysis.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DE" sz="28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A830CF-7E40-99FD-6512-B0AC7096978C}"/>
              </a:ext>
            </a:extLst>
          </p:cNvPr>
          <p:cNvSpPr txBox="1"/>
          <p:nvPr/>
        </p:nvSpPr>
        <p:spPr>
          <a:xfrm>
            <a:off x="7492999" y="2892753"/>
            <a:ext cx="45538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Captures Seasonal &amp; Monthly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Machine Learning Model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Better feature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F4E18-C3F5-459F-C722-2CEB83DE8E66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85138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F84A-C0F3-5E59-FF6A-7DAC31DE1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5953A6F-FC6C-DFD4-A266-FC6855F0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189"/>
          </a:xfrm>
          <a:solidFill>
            <a:schemeClr val="tx2"/>
          </a:solidFill>
        </p:spPr>
        <p:txBody>
          <a:bodyPr>
            <a:no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3) Categorical Encoding: Converted categorical/text variables into numerical format to make them suitable for machine learning models.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DE" sz="2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6B92F-FFFD-B543-4EB7-DCD09C278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0" y="2357288"/>
            <a:ext cx="981212" cy="2457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23FC32-0234-7F25-9CB1-83FAE8849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969" y="1652204"/>
            <a:ext cx="2667372" cy="43630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29DFF0-2385-4730-5106-D75A1BFBC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396" y="2042919"/>
            <a:ext cx="1362265" cy="27721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B11521-C784-B898-F9A4-20AD0F48B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334" y="2284380"/>
            <a:ext cx="4106543" cy="2289239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D8AF9D36-6938-1FFC-528D-C840C25F4A10}"/>
              </a:ext>
            </a:extLst>
          </p:cNvPr>
          <p:cNvSpPr/>
          <p:nvPr/>
        </p:nvSpPr>
        <p:spPr>
          <a:xfrm>
            <a:off x="4841823" y="317791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B160FB-24A5-5083-EEC4-0E913C4663E5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504428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298C-48C6-8B6F-4351-A4694136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A27EF2-A593-E494-E019-AA5B8BF8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263515"/>
          </a:xfrm>
          <a:solidFill>
            <a:schemeClr val="tx2"/>
          </a:solidFill>
        </p:spPr>
        <p:txBody>
          <a:bodyPr>
            <a:no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4) End Forming Features: Used lookup table (</a:t>
            </a:r>
            <a:r>
              <a:rPr lang="en-US" sz="2800" dirty="0" err="1">
                <a:solidFill>
                  <a:schemeClr val="bg1"/>
                </a:solidFill>
              </a:rPr>
              <a:t>tube_end_form</a:t>
            </a:r>
            <a:r>
              <a:rPr lang="en-US" sz="2800" dirty="0">
                <a:solidFill>
                  <a:schemeClr val="bg1"/>
                </a:solidFill>
              </a:rPr>
              <a:t>) to extract forming information from </a:t>
            </a:r>
            <a:r>
              <a:rPr lang="en-US" sz="2800" dirty="0" err="1">
                <a:solidFill>
                  <a:schemeClr val="bg1"/>
                </a:solidFill>
              </a:rPr>
              <a:t>end_a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dirty="0" err="1">
                <a:solidFill>
                  <a:schemeClr val="bg1"/>
                </a:solidFill>
              </a:rPr>
              <a:t>end_x</a:t>
            </a:r>
            <a:r>
              <a:rPr lang="en-US" sz="2800" dirty="0">
                <a:solidFill>
                  <a:schemeClr val="bg1"/>
                </a:solidFill>
              </a:rPr>
              <a:t> columns. Created new relevant forming features and removed missing values.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DE" sz="2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42C20-41CC-CA40-0601-5EC112783052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8972A7-8D01-647F-971B-FD223C944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441" y="2965594"/>
            <a:ext cx="1686160" cy="2248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9E9CA8-C6CB-5067-C0DC-D2097756D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408" y="2808410"/>
            <a:ext cx="943107" cy="2562583"/>
          </a:xfrm>
          <a:prstGeom prst="rect">
            <a:avLst/>
          </a:prstGeom>
        </p:spPr>
      </p:pic>
      <p:sp>
        <p:nvSpPr>
          <p:cNvPr id="20" name="Cross 19">
            <a:extLst>
              <a:ext uri="{FF2B5EF4-FFF2-40B4-BE49-F238E27FC236}">
                <a16:creationId xmlns:a16="http://schemas.microsoft.com/office/drawing/2014/main" id="{8F745D18-14D0-05AB-FADD-14E0938ACC69}"/>
              </a:ext>
            </a:extLst>
          </p:cNvPr>
          <p:cNvSpPr/>
          <p:nvPr/>
        </p:nvSpPr>
        <p:spPr>
          <a:xfrm>
            <a:off x="2623278" y="3789686"/>
            <a:ext cx="914400" cy="914400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A762439-FAAA-22B9-0E04-4947F775BFFC}"/>
              </a:ext>
            </a:extLst>
          </p:cNvPr>
          <p:cNvSpPr/>
          <p:nvPr/>
        </p:nvSpPr>
        <p:spPr>
          <a:xfrm>
            <a:off x="6370820" y="397239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2B57294-1D35-1CA2-142C-AEF7B9921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152" y="2555962"/>
            <a:ext cx="2372056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530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419B6-48B0-9615-FC55-D68BCDA2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695C149-E666-8524-E1CF-3C7DD89A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189"/>
          </a:xfrm>
          <a:solidFill>
            <a:schemeClr val="tx2"/>
          </a:solidFill>
        </p:spPr>
        <p:txBody>
          <a:bodyPr>
            <a:no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5) Bill of Materials (BOM) Aggregation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DE" sz="2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E415BA-0773-666E-67B6-41C3D4E9D9D8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F0E49-44CE-5709-9A57-1BE3127E6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00" y="1578429"/>
            <a:ext cx="5051752" cy="4255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78FA9-A48F-B33C-BB11-58BD1D3B9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09251"/>
            <a:ext cx="3505689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70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4D1E-DD09-130A-BA17-20B99418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39F1C2B-7D3D-04C2-80FC-EFF015EC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29390"/>
          </a:xfrm>
          <a:solidFill>
            <a:schemeClr val="tx2"/>
          </a:solidFill>
        </p:spPr>
        <p:txBody>
          <a:bodyPr>
            <a:no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6) Data Cleaning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DE" sz="2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6BA823-DE1A-9173-2060-CED6E7F30264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125003-1171-BAB8-537D-E1606CAF8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05" y="1136321"/>
            <a:ext cx="2343477" cy="488700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196B2A8-3A1A-6990-3D83-2D0B1896333C}"/>
              </a:ext>
            </a:extLst>
          </p:cNvPr>
          <p:cNvSpPr/>
          <p:nvPr/>
        </p:nvSpPr>
        <p:spPr>
          <a:xfrm>
            <a:off x="3035040" y="322088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F41E2-3610-2144-E1E6-4E40B635E9B1}"/>
              </a:ext>
            </a:extLst>
          </p:cNvPr>
          <p:cNvSpPr txBox="1"/>
          <p:nvPr/>
        </p:nvSpPr>
        <p:spPr>
          <a:xfrm>
            <a:off x="4186304" y="2586041"/>
            <a:ext cx="32828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Replacing missing values in forming with 0 </a:t>
            </a:r>
          </a:p>
          <a:p>
            <a:pPr marL="285750" indent="-285750">
              <a:buFontTx/>
              <a:buChar char="-"/>
            </a:pPr>
            <a:r>
              <a:rPr lang="en-US" dirty="0"/>
              <a:t>Remove date as it is now extracted to new features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Material ID , not much useful information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F4ED9-58B0-BB5A-359F-A43B2E130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68" y="1310859"/>
            <a:ext cx="3467584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09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0FD1-AD97-5258-2A5F-E3E44B2C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B46532-E984-9AEC-632C-18BF78903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189"/>
          </a:xfrm>
          <a:solidFill>
            <a:schemeClr val="tx2"/>
          </a:solidFill>
        </p:spPr>
        <p:txBody>
          <a:bodyPr>
            <a:no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6) Bill of Materials (BOM) Aggregation with Component type to import weight feature for each component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DE" sz="2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BF93A4-6300-0276-1850-194006907955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F0A88-AE89-A649-97C9-9463B3F01887}"/>
              </a:ext>
            </a:extLst>
          </p:cNvPr>
          <p:cNvSpPr txBox="1"/>
          <p:nvPr/>
        </p:nvSpPr>
        <p:spPr>
          <a:xfrm>
            <a:off x="328942" y="1843950"/>
            <a:ext cx="545726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0" i="0" dirty="0">
                <a:solidFill>
                  <a:srgbClr val="0C0C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a total of 11 comp_[name] files, which contains the details for each component including weight.</a:t>
            </a:r>
          </a:p>
          <a:p>
            <a:pPr algn="just">
              <a:buNone/>
            </a:pPr>
            <a:r>
              <a:rPr lang="en-US" sz="2000" b="0" i="0" dirty="0">
                <a:solidFill>
                  <a:srgbClr val="0C0C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 heavier a tube is, the more expensive it can be. In addition, the more quantity required, the more expensive a tube can be.</a:t>
            </a:r>
          </a:p>
          <a:p>
            <a:pPr algn="just">
              <a:buNone/>
            </a:pPr>
            <a:r>
              <a:rPr lang="en-US" sz="2000" b="0" i="0" dirty="0">
                <a:solidFill>
                  <a:srgbClr val="0C0C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Thus, we'll try to extract the total quantity and total weight features for each tube.</a:t>
            </a:r>
          </a:p>
          <a:p>
            <a:pPr algn="just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4DFE83-F537-CE8E-8CB8-DF3646127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0" y="1995571"/>
            <a:ext cx="1876687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084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8AF9-2745-3CEF-3FD4-75E5F4B4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876F64E-5BA8-074F-AC85-9D8030889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189"/>
          </a:xfrm>
          <a:solidFill>
            <a:schemeClr val="tx2"/>
          </a:solidFill>
        </p:spPr>
        <p:txBody>
          <a:bodyPr>
            <a:no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6) Bill of Materials (BOM) Aggregation with Component type to import weight feature for each component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DE" sz="2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D4C067-AA3E-B7CA-72E9-2FA6E836553F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C94F5-3C63-F534-F1BF-8DB6485E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68" y="1834641"/>
            <a:ext cx="6782747" cy="2019582"/>
          </a:xfrm>
          <a:prstGeom prst="rect">
            <a:avLst/>
          </a:prstGeom>
        </p:spPr>
      </p:pic>
      <p:sp>
        <p:nvSpPr>
          <p:cNvPr id="5" name="Cross 4">
            <a:extLst>
              <a:ext uri="{FF2B5EF4-FFF2-40B4-BE49-F238E27FC236}">
                <a16:creationId xmlns:a16="http://schemas.microsoft.com/office/drawing/2014/main" id="{BE7B3142-7E3A-AEF3-14CD-458E8D08E298}"/>
              </a:ext>
            </a:extLst>
          </p:cNvPr>
          <p:cNvSpPr/>
          <p:nvPr/>
        </p:nvSpPr>
        <p:spPr>
          <a:xfrm>
            <a:off x="7317451" y="2328219"/>
            <a:ext cx="914400" cy="914400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0D118F-0063-BA29-F086-B01D84AAF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223" y="1517513"/>
            <a:ext cx="1371791" cy="1333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9ED59A-196E-A567-511A-8D404A3EB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957" y="1660408"/>
            <a:ext cx="2267266" cy="11907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FCCEA4-F2C7-DB6D-EA2E-BDD06E0B9B5F}"/>
              </a:ext>
            </a:extLst>
          </p:cNvPr>
          <p:cNvSpPr txBox="1"/>
          <p:nvPr/>
        </p:nvSpPr>
        <p:spPr>
          <a:xfrm>
            <a:off x="8231851" y="3105834"/>
            <a:ext cx="3758881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(this table is 3 col of </a:t>
            </a:r>
            <a:r>
              <a:rPr lang="en-US" dirty="0" err="1"/>
              <a:t>com_boss</a:t>
            </a:r>
            <a:r>
              <a:rPr lang="en-US" dirty="0"/>
              <a:t>)we have 10 </a:t>
            </a:r>
            <a:r>
              <a:rPr lang="en-US" dirty="0" err="1"/>
              <a:t>othe</a:t>
            </a:r>
            <a:r>
              <a:rPr lang="en-US" dirty="0"/>
              <a:t> comp as listed in last slide</a:t>
            </a:r>
            <a:endParaRPr lang="en-DE" dirty="0"/>
          </a:p>
        </p:txBody>
      </p:sp>
      <p:sp>
        <p:nvSpPr>
          <p:cNvPr id="17" name="Equals 16">
            <a:extLst>
              <a:ext uri="{FF2B5EF4-FFF2-40B4-BE49-F238E27FC236}">
                <a16:creationId xmlns:a16="http://schemas.microsoft.com/office/drawing/2014/main" id="{7DC98282-5A10-AB61-EDE2-D7EE1D15DAD3}"/>
              </a:ext>
            </a:extLst>
          </p:cNvPr>
          <p:cNvSpPr/>
          <p:nvPr/>
        </p:nvSpPr>
        <p:spPr>
          <a:xfrm>
            <a:off x="1094281" y="4597569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FD8580-DC9F-EB81-A629-6C42F00CE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0238" y="4201943"/>
            <a:ext cx="4972744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163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74CB8-D3D9-7209-49E9-549EF3CA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913ABAD-D138-26A5-3CBC-9AD95F88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189"/>
          </a:xfrm>
          <a:solidFill>
            <a:schemeClr val="tx2"/>
          </a:solidFill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7) Determining Total quantity and weight of tube from Dataset bill of material</a:t>
            </a:r>
            <a:br>
              <a:rPr lang="en-US" sz="3600" dirty="0">
                <a:solidFill>
                  <a:schemeClr val="bg1"/>
                </a:solidFill>
              </a:rPr>
            </a:b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C5E7D-DA0B-C428-74A8-3EF0E4D88D96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4CA80-6591-621A-98F7-60D1C9CF7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7" y="2481130"/>
            <a:ext cx="5858693" cy="1895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20BC06-9FCB-4F89-F5D4-E20829FBF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451" y="2374051"/>
            <a:ext cx="1838582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104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7355-076A-5374-6B2C-A04B0183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2F95A6-C9CC-A4DF-C878-AEA9B1137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189"/>
          </a:xfrm>
          <a:solidFill>
            <a:schemeClr val="tx2"/>
          </a:solidFill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 Final Clean , merged and Dataset including added new columns/features</a:t>
            </a:r>
            <a:br>
              <a:rPr lang="en-US" sz="3600" dirty="0">
                <a:solidFill>
                  <a:schemeClr val="bg1"/>
                </a:solidFill>
              </a:rPr>
            </a:br>
            <a:endParaRPr lang="en-DE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DBC744-4AD8-83F4-42C3-FF3D643BCE95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91D910-7834-4495-8A2B-82983683E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23" y="1754614"/>
            <a:ext cx="3648584" cy="3639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CE9C11-5309-A313-FE50-1C7C3E29F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089" y="1754614"/>
            <a:ext cx="3658111" cy="36390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04479C-718B-2F29-84AD-BE23AC9BE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200" y="2387033"/>
            <a:ext cx="3534268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725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A97E3-54CC-23F6-399B-6E4A518E9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orrelation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3F6582-FCEA-F186-7F78-CE5F952B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573" y="1646640"/>
            <a:ext cx="6704305" cy="51378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29958-3E7C-BBD8-A394-53F939984BAA}"/>
              </a:ext>
            </a:extLst>
          </p:cNvPr>
          <p:cNvSpPr txBox="1"/>
          <p:nvPr/>
        </p:nvSpPr>
        <p:spPr>
          <a:xfrm>
            <a:off x="328942" y="6230258"/>
            <a:ext cx="400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Prepared by : Mohammad Sharif Azimy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540858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3"/>
          <p:cNvSpPr txBox="1">
            <a:spLocks noGrp="1"/>
          </p:cNvSpPr>
          <p:nvPr>
            <p:ph type="title" idx="4294967295"/>
          </p:nvPr>
        </p:nvSpPr>
        <p:spPr>
          <a:xfrm>
            <a:off x="1684400" y="3013200"/>
            <a:ext cx="88232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"/>
              <a:t>Machine Learning Algorithms (Overview)</a:t>
            </a:r>
            <a:endParaRPr/>
          </a:p>
        </p:txBody>
      </p:sp>
      <p:sp>
        <p:nvSpPr>
          <p:cNvPr id="436" name="Google Shape;436;p6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9055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4"/>
          <p:cNvSpPr txBox="1">
            <a:spLocks noGrp="1"/>
          </p:cNvSpPr>
          <p:nvPr>
            <p:ph type="title"/>
          </p:nvPr>
        </p:nvSpPr>
        <p:spPr>
          <a:xfrm>
            <a:off x="430816" y="1079933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Linear Regression</a:t>
            </a:r>
            <a:endParaRPr/>
          </a:p>
          <a:p>
            <a:pPr marL="1828754"/>
            <a:r>
              <a:rPr lang="en"/>
              <a:t> /</a:t>
            </a:r>
            <a:endParaRPr/>
          </a:p>
          <a:p>
            <a:r>
              <a:rPr lang="en"/>
              <a:t>Cross-Validation</a:t>
            </a:r>
            <a:endParaRPr/>
          </a:p>
        </p:txBody>
      </p:sp>
      <p:sp>
        <p:nvSpPr>
          <p:cNvPr id="442" name="Google Shape;442;p6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50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4"/>
          <p:cNvSpPr txBox="1"/>
          <p:nvPr/>
        </p:nvSpPr>
        <p:spPr>
          <a:xfrm>
            <a:off x="6449033" y="1163967"/>
            <a:ext cx="52992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733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Used to predict price (continuous value)</a:t>
            </a:r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" sz="1733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Finds relationship between features and cost</a:t>
            </a:r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4"/>
          <p:cNvSpPr txBox="1"/>
          <p:nvPr/>
        </p:nvSpPr>
        <p:spPr>
          <a:xfrm>
            <a:off x="6512033" y="4110600"/>
            <a:ext cx="5173200" cy="1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733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Splits data into multiple parts</a:t>
            </a:r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609585"/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609585"/>
            <a:r>
              <a:rPr lang="en" sz="1733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Tests model several times</a:t>
            </a:r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609585"/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609585"/>
            <a:r>
              <a:rPr lang="en" sz="1733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Gives more reliable results</a:t>
            </a:r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64"/>
          <p:cNvSpPr/>
          <p:nvPr/>
        </p:nvSpPr>
        <p:spPr>
          <a:xfrm>
            <a:off x="6512033" y="4320333"/>
            <a:ext cx="440400" cy="1048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64"/>
          <p:cNvSpPr/>
          <p:nvPr/>
        </p:nvSpPr>
        <p:spPr>
          <a:xfrm>
            <a:off x="6830500" y="4849867"/>
            <a:ext cx="440400" cy="1048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64"/>
          <p:cNvSpPr/>
          <p:nvPr/>
        </p:nvSpPr>
        <p:spPr>
          <a:xfrm>
            <a:off x="7411233" y="5421400"/>
            <a:ext cx="440400" cy="604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64"/>
          <p:cNvSpPr/>
          <p:nvPr/>
        </p:nvSpPr>
        <p:spPr>
          <a:xfrm>
            <a:off x="6337633" y="1377667"/>
            <a:ext cx="440400" cy="1048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64"/>
          <p:cNvSpPr/>
          <p:nvPr/>
        </p:nvSpPr>
        <p:spPr>
          <a:xfrm>
            <a:off x="6574867" y="1905967"/>
            <a:ext cx="440400" cy="1048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64"/>
          <p:cNvCxnSpPr>
            <a:endCxn id="446" idx="2"/>
          </p:cNvCxnSpPr>
          <p:nvPr/>
        </p:nvCxnSpPr>
        <p:spPr>
          <a:xfrm>
            <a:off x="4268000" y="2726267"/>
            <a:ext cx="2575600" cy="2228400"/>
          </a:xfrm>
          <a:prstGeom prst="curvedConnector4">
            <a:avLst>
              <a:gd name="adj1" fmla="val 49746"/>
              <a:gd name="adj2" fmla="val 11424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64"/>
          <p:cNvCxnSpPr>
            <a:endCxn id="445" idx="2"/>
          </p:cNvCxnSpPr>
          <p:nvPr/>
        </p:nvCxnSpPr>
        <p:spPr>
          <a:xfrm>
            <a:off x="4257533" y="2757933"/>
            <a:ext cx="2267600" cy="1667200"/>
          </a:xfrm>
          <a:prstGeom prst="curvedConnector4">
            <a:avLst>
              <a:gd name="adj1" fmla="val 49711"/>
              <a:gd name="adj2" fmla="val 11904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64"/>
          <p:cNvCxnSpPr>
            <a:endCxn id="447" idx="2"/>
          </p:cNvCxnSpPr>
          <p:nvPr/>
        </p:nvCxnSpPr>
        <p:spPr>
          <a:xfrm>
            <a:off x="4267984" y="2820600"/>
            <a:ext cx="3150800" cy="2661200"/>
          </a:xfrm>
          <a:prstGeom prst="curvedConnector4">
            <a:avLst>
              <a:gd name="adj1" fmla="val 49880"/>
              <a:gd name="adj2" fmla="val 11193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64"/>
          <p:cNvCxnSpPr>
            <a:endCxn id="448" idx="2"/>
          </p:cNvCxnSpPr>
          <p:nvPr/>
        </p:nvCxnSpPr>
        <p:spPr>
          <a:xfrm rot="10800000" flipH="1">
            <a:off x="4645533" y="1482467"/>
            <a:ext cx="1705200" cy="588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64"/>
          <p:cNvCxnSpPr>
            <a:endCxn id="449" idx="2"/>
          </p:cNvCxnSpPr>
          <p:nvPr/>
        </p:nvCxnSpPr>
        <p:spPr>
          <a:xfrm>
            <a:off x="4645567" y="1614767"/>
            <a:ext cx="1942400" cy="396000"/>
          </a:xfrm>
          <a:prstGeom prst="curvedConnector4">
            <a:avLst>
              <a:gd name="adj1" fmla="val 49663"/>
              <a:gd name="adj2" fmla="val 18017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5" name="Google Shape;45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7467" y="2202601"/>
            <a:ext cx="2957759" cy="1949967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4"/>
          <p:cNvSpPr txBox="1"/>
          <p:nvPr/>
        </p:nvSpPr>
        <p:spPr>
          <a:xfrm>
            <a:off x="2411833" y="5400400"/>
            <a:ext cx="33660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533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Used?</a:t>
            </a:r>
            <a:endParaRPr sz="2533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" sz="17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Suitable for pricing prediction</a:t>
            </a:r>
            <a:endParaRPr sz="17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" sz="17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Simple and easy to interpret</a:t>
            </a:r>
            <a:endParaRPr sz="17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64"/>
          <p:cNvSpPr txBox="1"/>
          <p:nvPr/>
        </p:nvSpPr>
        <p:spPr>
          <a:xfrm>
            <a:off x="9114563" y="6358833"/>
            <a:ext cx="2183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70000"/>
              </a:lnSpc>
              <a:spcBef>
                <a:spcPts val="1333"/>
              </a:spcBef>
              <a:buClr>
                <a:schemeClr val="dk1"/>
              </a:buClr>
              <a:buSzPts val="275"/>
            </a:pPr>
            <a:r>
              <a:rPr lang="en" sz="146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Chinelo Lydia Nweke</a:t>
            </a:r>
            <a:endParaRPr sz="1467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1863801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5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Extreme Gradient Boosting (XGBoost) for quote forecasting</a:t>
            </a:r>
            <a:endParaRPr/>
          </a:p>
        </p:txBody>
      </p:sp>
      <p:sp>
        <p:nvSpPr>
          <p:cNvPr id="463" name="Google Shape;463;p65"/>
          <p:cNvSpPr txBox="1">
            <a:spLocks noGrp="1"/>
          </p:cNvSpPr>
          <p:nvPr>
            <p:ph type="body" idx="1"/>
          </p:nvPr>
        </p:nvSpPr>
        <p:spPr>
          <a:xfrm>
            <a:off x="6192900" y="696600"/>
            <a:ext cx="5555200" cy="54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">
                <a:solidFill>
                  <a:schemeClr val="dk1"/>
                </a:solidFill>
              </a:rPr>
              <a:t>- XGBoost is a gradient boosting library that builds many decision trees sequentially to improve predictions.</a:t>
            </a:r>
            <a:endParaRPr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>
                <a:solidFill>
                  <a:schemeClr val="dk1"/>
                </a:solidFill>
              </a:rPr>
              <a:t>- Plan: Use XGBoost to model the supplier quote price with strong predictive accuracy.</a:t>
            </a:r>
            <a:endParaRPr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>
                <a:solidFill>
                  <a:schemeClr val="dk1"/>
                </a:solidFill>
              </a:rPr>
              <a:t>- Benefit from gradient boosted trees that handle nonlinear relationships and feature interactions.</a:t>
            </a:r>
            <a:endParaRPr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>
                <a:solidFill>
                  <a:schemeClr val="dk1"/>
                </a:solidFill>
              </a:rPr>
              <a:t>- Apply it to the merged dataset with tube geometry, component counts, and pricing regime indicators.</a:t>
            </a:r>
            <a:endParaRPr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>
                <a:solidFill>
                  <a:schemeClr val="dk1"/>
                </a:solidFill>
              </a:rPr>
              <a:t>- Leverage built-in regularization and tree-based feature importance for model stability and interpretability.</a:t>
            </a:r>
            <a:endParaRPr>
              <a:solidFill>
                <a:schemeClr val="dk1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64" name="Google Shape;464;p6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51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65"/>
          <p:cNvSpPr txBox="1"/>
          <p:nvPr/>
        </p:nvSpPr>
        <p:spPr>
          <a:xfrm>
            <a:off x="9412200" y="6278633"/>
            <a:ext cx="1884400" cy="4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Takal Ebrahimkhel</a:t>
            </a:r>
            <a:endParaRPr sz="146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881133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0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4942000" cy="334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 err="1"/>
              <a:t>CatBoost</a:t>
            </a:r>
            <a:r>
              <a:rPr lang="en-US" dirty="0"/>
              <a:t>(Decision Tree)</a:t>
            </a:r>
            <a:endParaRPr dirty="0"/>
          </a:p>
        </p:txBody>
      </p:sp>
      <p:sp>
        <p:nvSpPr>
          <p:cNvPr id="498" name="Google Shape;498;p70"/>
          <p:cNvSpPr txBox="1">
            <a:spLocks noGrp="1"/>
          </p:cNvSpPr>
          <p:nvPr>
            <p:ph type="body" idx="1"/>
          </p:nvPr>
        </p:nvSpPr>
        <p:spPr>
          <a:xfrm>
            <a:off x="6192899" y="667899"/>
            <a:ext cx="5835311" cy="577644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/>
          <a:p>
            <a:pPr marL="194729" indent="0">
              <a:lnSpc>
                <a:spcPct val="120000"/>
              </a:lnSpc>
              <a:buNone/>
            </a:pPr>
            <a:r>
              <a:rPr lang="en-US" sz="1600" b="1" dirty="0"/>
              <a:t>Features</a:t>
            </a:r>
          </a:p>
          <a:p>
            <a:pPr>
              <a:lnSpc>
                <a:spcPct val="120000"/>
              </a:lnSpc>
            </a:pPr>
            <a:endParaRPr lang="en-US" sz="1600" b="1" dirty="0"/>
          </a:p>
          <a:p>
            <a:pPr>
              <a:lnSpc>
                <a:spcPct val="120000"/>
              </a:lnSpc>
            </a:pPr>
            <a:r>
              <a:rPr lang="en-US" sz="1600" b="1" dirty="0"/>
              <a:t>Native categorical handling</a:t>
            </a:r>
            <a:r>
              <a:rPr lang="en-US" sz="1600" dirty="0"/>
              <a:t> works directly with categorical features (no manual encoding) </a:t>
            </a:r>
          </a:p>
          <a:p>
            <a:pPr>
              <a:lnSpc>
                <a:spcPct val="120000"/>
              </a:lnSpc>
            </a:pPr>
            <a:r>
              <a:rPr lang="en-US" sz="1600" b="1" dirty="0"/>
              <a:t>Ordered boosting</a:t>
            </a:r>
            <a:r>
              <a:rPr lang="en-US" sz="1600" dirty="0"/>
              <a:t>: reduces overfitting and improves generalization </a:t>
            </a:r>
          </a:p>
          <a:p>
            <a:pPr>
              <a:lnSpc>
                <a:spcPct val="120000"/>
              </a:lnSpc>
            </a:pPr>
            <a:r>
              <a:rPr lang="en-US" sz="1600" b="1" dirty="0"/>
              <a:t>Symmetric decision trees</a:t>
            </a:r>
            <a:r>
              <a:rPr lang="en-US" sz="1600" dirty="0"/>
              <a:t>: faster training and more stable predictions </a:t>
            </a:r>
          </a:p>
          <a:p>
            <a:pPr>
              <a:lnSpc>
                <a:spcPct val="120000"/>
              </a:lnSpc>
            </a:pPr>
            <a:r>
              <a:rPr lang="en-US" sz="1600" b="1" dirty="0"/>
              <a:t>Minimal preprocessing</a:t>
            </a:r>
            <a:r>
              <a:rPr lang="en-US" sz="1600" dirty="0"/>
              <a:t>: handles missing values and mixed data types automatically </a:t>
            </a:r>
          </a:p>
          <a:p>
            <a:pPr>
              <a:lnSpc>
                <a:spcPct val="120000"/>
              </a:lnSpc>
            </a:pPr>
            <a:r>
              <a:rPr lang="en-US" sz="1600" b="1" dirty="0"/>
              <a:t>High performance</a:t>
            </a:r>
            <a:r>
              <a:rPr lang="en-US" sz="1600" dirty="0"/>
              <a:t>: strong accuracy on tabular datasets with little tuning </a:t>
            </a:r>
          </a:p>
          <a:p>
            <a:pPr>
              <a:lnSpc>
                <a:spcPct val="120000"/>
              </a:lnSpc>
            </a:pPr>
            <a:br>
              <a:rPr lang="en-US" sz="1600" dirty="0"/>
            </a:br>
            <a:endParaRPr lang="en-US" sz="1600" dirty="0"/>
          </a:p>
          <a:p>
            <a:pPr marL="194729" indent="0">
              <a:lnSpc>
                <a:spcPct val="120000"/>
              </a:lnSpc>
              <a:buNone/>
            </a:pPr>
            <a:r>
              <a:rPr lang="en-DE" sz="1600" b="1" dirty="0"/>
              <a:t> </a:t>
            </a:r>
            <a:r>
              <a:rPr lang="en-US" sz="1600" b="1" dirty="0"/>
              <a:t>Applications</a:t>
            </a:r>
          </a:p>
          <a:p>
            <a:pPr marL="194729" indent="0">
              <a:lnSpc>
                <a:spcPct val="120000"/>
              </a:lnSpc>
              <a:buNone/>
            </a:pPr>
            <a:endParaRPr lang="en-US" sz="1600" b="1" dirty="0"/>
          </a:p>
          <a:p>
            <a:pPr>
              <a:lnSpc>
                <a:spcPct val="120000"/>
              </a:lnSpc>
            </a:pPr>
            <a:r>
              <a:rPr lang="en-US" sz="1600" b="1" dirty="0"/>
              <a:t>Structured/tabular data problems</a:t>
            </a:r>
            <a:r>
              <a:rPr lang="en-US" sz="1600" dirty="0"/>
              <a:t> ( </a:t>
            </a:r>
          </a:p>
          <a:p>
            <a:pPr>
              <a:lnSpc>
                <a:spcPct val="120000"/>
              </a:lnSpc>
            </a:pPr>
            <a:r>
              <a:rPr lang="en-US" sz="1600" b="1" dirty="0"/>
              <a:t>Regression &amp; classification tasks</a:t>
            </a:r>
            <a:r>
              <a:rPr lang="en-US" sz="1600" dirty="0"/>
              <a:t> </a:t>
            </a:r>
          </a:p>
          <a:p>
            <a:pPr>
              <a:lnSpc>
                <a:spcPct val="120000"/>
              </a:lnSpc>
            </a:pPr>
            <a:r>
              <a:rPr lang="en-US" sz="1600" b="1" dirty="0"/>
              <a:t>Industry use cases</a:t>
            </a:r>
            <a:r>
              <a:rPr lang="en-US" sz="1600" dirty="0"/>
              <a:t>: demand forecasting, risk modeling, recommendation systems </a:t>
            </a:r>
          </a:p>
          <a:p>
            <a:pPr>
              <a:lnSpc>
                <a:spcPct val="120000"/>
              </a:lnSpc>
            </a:pPr>
            <a:r>
              <a:rPr lang="en-US" sz="1600" b="1" dirty="0"/>
              <a:t>Datasets with many categorical variables</a:t>
            </a:r>
            <a:r>
              <a:rPr lang="en-US" sz="1600" dirty="0"/>
              <a:t> where traditional models struggle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endParaRPr sz="1600" dirty="0"/>
          </a:p>
        </p:txBody>
      </p:sp>
      <p:sp>
        <p:nvSpPr>
          <p:cNvPr id="499" name="Google Shape;499;p7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>
                <a:latin typeface="Roboto"/>
                <a:ea typeface="Roboto"/>
                <a:cs typeface="Roboto"/>
                <a:sym typeface="Roboto"/>
              </a:rPr>
              <a:pPr/>
              <a:t>52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13D31A-5B37-2A8C-6B4E-7BFC3696D5AD}"/>
              </a:ext>
            </a:extLst>
          </p:cNvPr>
          <p:cNvSpPr txBox="1"/>
          <p:nvPr/>
        </p:nvSpPr>
        <p:spPr>
          <a:xfrm>
            <a:off x="8476343" y="6217623"/>
            <a:ext cx="266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Mohammad Sharif Azimy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755290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" name="Rectangle 5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Google Shape;504;p71"/>
          <p:cNvSpPr txBox="1">
            <a:spLocks noGrp="1"/>
          </p:cNvSpPr>
          <p:nvPr>
            <p:ph type="title" idx="4294967295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your attention</a:t>
            </a:r>
          </a:p>
          <a:p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</a:t>
            </a:r>
          </a:p>
          <a:p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09" name="Graphic 508" descr="Questions">
            <a:extLst>
              <a:ext uri="{FF2B5EF4-FFF2-40B4-BE49-F238E27FC236}">
                <a16:creationId xmlns:a16="http://schemas.microsoft.com/office/drawing/2014/main" id="{E031ED34-6CA8-CAEF-3876-0FDD6CBCD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9919" y="1966293"/>
            <a:ext cx="4452160" cy="4452160"/>
          </a:xfrm>
          <a:prstGeom prst="rect">
            <a:avLst/>
          </a:prstGeom>
        </p:spPr>
      </p:pic>
      <p:sp>
        <p:nvSpPr>
          <p:cNvPr id="505" name="Google Shape;505;p71"/>
          <p:cNvSpPr txBox="1">
            <a:spLocks noGrp="1"/>
          </p:cNvSpPr>
          <p:nvPr>
            <p:ph type="sldNum" idx="12"/>
          </p:nvPr>
        </p:nvSpPr>
        <p:spPr>
          <a:xfrm>
            <a:off x="11704319" y="6455664"/>
            <a:ext cx="448056" cy="3651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81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2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"/>
              <a:t>References</a:t>
            </a:r>
            <a:endParaRPr/>
          </a:p>
        </p:txBody>
      </p:sp>
      <p:sp>
        <p:nvSpPr>
          <p:cNvPr id="511" name="Google Shape;511;p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54</a:t>
            </a:fld>
            <a:endParaRPr/>
          </a:p>
        </p:txBody>
      </p:sp>
      <p:sp>
        <p:nvSpPr>
          <p:cNvPr id="512" name="Google Shape;512;p72"/>
          <p:cNvSpPr txBox="1"/>
          <p:nvPr/>
        </p:nvSpPr>
        <p:spPr>
          <a:xfrm>
            <a:off x="600867" y="1966467"/>
            <a:ext cx="10610800" cy="4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733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Literature:</a:t>
            </a:r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sz="1733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09585" indent="-414856">
              <a:buClr>
                <a:schemeClr val="dk2"/>
              </a:buClr>
              <a:buSzPts val="1300"/>
              <a:buFont typeface="Roboto"/>
              <a:buChar char="-"/>
            </a:pPr>
            <a:r>
              <a:rPr lang="en" sz="1400" b="1">
                <a:solidFill>
                  <a:srgbClr val="20202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Liu, Yang (2022): Supply chain analytics. Concepts, Techniques and Applications. </a:t>
            </a:r>
            <a:r>
              <a:rPr lang="en" sz="1400">
                <a:solidFill>
                  <a:srgbClr val="20202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Cham: Palgrave Macmillan.</a:t>
            </a:r>
            <a:endParaRPr sz="1400">
              <a:solidFill>
                <a:srgbClr val="20202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endParaRPr sz="1400">
              <a:solidFill>
                <a:srgbClr val="20202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endParaRPr sz="1400">
              <a:solidFill>
                <a:srgbClr val="20202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r>
              <a:rPr lang="en" sz="1400">
                <a:solidFill>
                  <a:srgbClr val="20202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Code: Joint Group Jupyter</a:t>
            </a:r>
            <a:endParaRPr sz="1400">
              <a:solidFill>
                <a:srgbClr val="20202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38269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</TotalTime>
  <Words>2026</Words>
  <Application>Microsoft Macintosh PowerPoint</Application>
  <PresentationFormat>Widescreen</PresentationFormat>
  <Paragraphs>323</Paragraphs>
  <Slides>54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Aptos</vt:lpstr>
      <vt:lpstr>Aptos Display</vt:lpstr>
      <vt:lpstr>Arial</vt:lpstr>
      <vt:lpstr>Merriweather</vt:lpstr>
      <vt:lpstr>Roboto</vt:lpstr>
      <vt:lpstr>Times New Roman</vt:lpstr>
      <vt:lpstr>Office Theme</vt:lpstr>
      <vt:lpstr>Supply Management </vt:lpstr>
      <vt:lpstr>Table of Contents</vt:lpstr>
      <vt:lpstr>Introduction</vt:lpstr>
      <vt:lpstr>Forecasting Caterpillar tube assembly Price  </vt:lpstr>
      <vt:lpstr>Project domain / scope and focus</vt:lpstr>
      <vt:lpstr>Project objectives </vt:lpstr>
      <vt:lpstr>Tasks and milestones - CRISP-DM</vt:lpstr>
      <vt:lpstr>Deliverables</vt:lpstr>
      <vt:lpstr>Business Case</vt:lpstr>
      <vt:lpstr>Supply Management Context  </vt:lpstr>
      <vt:lpstr>What are tube assemblies?</vt:lpstr>
      <vt:lpstr>Why pricing is difficult</vt:lpstr>
      <vt:lpstr>Supplier quote process</vt:lpstr>
      <vt:lpstr>Pricing structure</vt:lpstr>
      <vt:lpstr>Business Context</vt:lpstr>
      <vt:lpstr>Business problem</vt:lpstr>
      <vt:lpstr>Business impact</vt:lpstr>
      <vt:lpstr>Success criteria</vt:lpstr>
      <vt:lpstr>Dataset Exploration</vt:lpstr>
      <vt:lpstr>Key tables and relationship model</vt:lpstr>
      <vt:lpstr>Train Dataset-Number of column and rows</vt:lpstr>
      <vt:lpstr>Train Dataset- Key statistics and data types </vt:lpstr>
      <vt:lpstr>Tube Assembly – Cost Distribution(Train Dataset)</vt:lpstr>
      <vt:lpstr>Cost clusters</vt:lpstr>
      <vt:lpstr>Tube Dataset-Number of column and rows</vt:lpstr>
      <vt:lpstr>Tube Dataset- Key statistics and data types </vt:lpstr>
      <vt:lpstr>Tube Dataset- Numeric Features Distribution</vt:lpstr>
      <vt:lpstr>Bill of Material Dataset-Number of column and rows</vt:lpstr>
      <vt:lpstr>Bill of Material Dataset- Key statistics and data types </vt:lpstr>
      <vt:lpstr>Bill of Material Dataset- Key statistics and data types </vt:lpstr>
      <vt:lpstr>Specification Dataset-Number of column and rows</vt:lpstr>
      <vt:lpstr>Specification Dataset- Key statistics and data types </vt:lpstr>
      <vt:lpstr>Verify Data Quality</vt:lpstr>
      <vt:lpstr>Missing Value and Duplicates</vt:lpstr>
      <vt:lpstr>Additional quality checks</vt:lpstr>
      <vt:lpstr>Feature Engineering </vt:lpstr>
      <vt:lpstr>1) Merging Relational Datasets: Combined multiple datasets using       tube_assembly_id as the primary key to create a unified dataset. </vt:lpstr>
      <vt:lpstr>Correlation Between Cost and Numeric Features after merging tube and train data sets'</vt:lpstr>
      <vt:lpstr>  2) Date Feature Extraction: Created new columns by splitting quote_date into day, month, and year for better time-based analysis.  </vt:lpstr>
      <vt:lpstr>   3) Categorical Encoding: Converted categorical/text variables into numerical format to make them suitable for machine learning models.   </vt:lpstr>
      <vt:lpstr>   4) End Forming Features: Used lookup table (tube_end_form) to extract forming information from end_a and end_x columns. Created new relevant forming features and removed missing values.     </vt:lpstr>
      <vt:lpstr>   5) Bill of Materials (BOM) Aggregation    </vt:lpstr>
      <vt:lpstr>    6) Data Cleaning    </vt:lpstr>
      <vt:lpstr>   6) Bill of Materials (BOM) Aggregation with Component type to import weight feature for each component    </vt:lpstr>
      <vt:lpstr>   6) Bill of Materials (BOM) Aggregation with Component type to import weight feature for each component    </vt:lpstr>
      <vt:lpstr>7) Determining Total quantity and weight of tube from Dataset bill of material </vt:lpstr>
      <vt:lpstr> Final Clean , merged and Dataset including added new columns/features </vt:lpstr>
      <vt:lpstr>Correlation matrix</vt:lpstr>
      <vt:lpstr>Machine Learning Algorithms (Overview)</vt:lpstr>
      <vt:lpstr>Linear Regression  / Cross-Validation</vt:lpstr>
      <vt:lpstr>Extreme Gradient Boosting (XGBoost) for quote forecasting</vt:lpstr>
      <vt:lpstr>CatBoost(Decision Tree)</vt:lpstr>
      <vt:lpstr>Thank you for your attention  Q&amp;A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Sharif Azimy</dc:creator>
  <cp:lastModifiedBy>Takal Ebrahimkhel</cp:lastModifiedBy>
  <cp:revision>79</cp:revision>
  <dcterms:created xsi:type="dcterms:W3CDTF">2026-05-04T19:35:31Z</dcterms:created>
  <dcterms:modified xsi:type="dcterms:W3CDTF">2026-05-05T17:48:13Z</dcterms:modified>
</cp:coreProperties>
</file>